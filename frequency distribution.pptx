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1"/>
  </p:sldMasterIdLst>
  <p:notesMasterIdLst>
    <p:notesMasterId r:id="rId11"/>
  </p:notesMasterIdLst>
  <p:sldIdLst>
    <p:sldId id="259" r:id="rId2"/>
    <p:sldId id="260" r:id="rId3"/>
    <p:sldId id="261" r:id="rId4"/>
    <p:sldId id="263" r:id="rId5"/>
    <p:sldId id="265" r:id="rId6"/>
    <p:sldId id="266" r:id="rId7"/>
    <p:sldId id="267" r:id="rId8"/>
    <p:sldId id="264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9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FE3"/>
    <a:srgbClr val="2E363A"/>
    <a:srgbClr val="A8B7BF"/>
    <a:srgbClr val="667982"/>
    <a:srgbClr val="4C5960"/>
    <a:srgbClr val="7D858C"/>
    <a:srgbClr val="F6F8FA"/>
    <a:srgbClr val="EFF1F3"/>
    <a:srgbClr val="262324"/>
    <a:srgbClr val="75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4" autoAdjust="0"/>
    <p:restoredTop sz="83622" autoAdjust="0"/>
  </p:normalViewPr>
  <p:slideViewPr>
    <p:cSldViewPr snapToGrid="0">
      <p:cViewPr varScale="1">
        <p:scale>
          <a:sx n="138" d="100"/>
          <a:sy n="138" d="100"/>
        </p:scale>
        <p:origin x="1164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06.11.2025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E412FDE-1CFE-48F6-820F-9C443C301228}" type="datetime1">
              <a:rPr lang="et-EE" smtClean="0"/>
              <a:t>06.11.2025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161756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1CF8E31-244F-4A6A-A7D5-704B96C48AAE}" type="datetime1">
              <a:rPr lang="et-EE" smtClean="0"/>
              <a:t>06.11.2025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2296B-3A94-4787-AA7D-8DC0AEE88FD4}" type="datetime1">
              <a:rPr lang="et-EE" smtClean="0"/>
              <a:t>06.11.2025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751C1-87AF-4EAC-9696-BB82432B7753}" type="datetime1">
              <a:rPr lang="et-EE" smtClean="0"/>
              <a:t>06.11.2025</a:t>
            </a:fld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3E3B0-4572-4FE0-8E55-6746BFAADA96}" type="datetime1">
              <a:rPr lang="et-EE" smtClean="0"/>
              <a:t>06.11.2025</a:t>
            </a:fld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4D14-98D7-455C-9D0D-2863E0C0AA0D}" type="datetime1">
              <a:rPr lang="et-EE" smtClean="0"/>
              <a:t>06.11.2025</a:t>
            </a:fld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7DBE-8AE5-4A6F-9E25-F62C693D8ED5}" type="datetime1">
              <a:rPr lang="et-EE" smtClean="0"/>
              <a:t>06.11.2025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B51F9-97BE-4EFF-9934-D6DB8E40FF5E}" type="datetime1">
              <a:rPr lang="et-EE" smtClean="0"/>
              <a:t>06.11.2025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C0CFC-214E-42F4-8B82-CC6D451BD70F}" type="datetime1">
              <a:rPr lang="et-EE" smtClean="0"/>
              <a:t>06.11.2025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58BF1-41C1-47B8-ACAE-F9884B88C63A}" type="datetime1">
              <a:rPr lang="et-EE" smtClean="0"/>
              <a:t>06.11.2025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7C7EEDD-722C-4F14-9239-A37AD281B51F}" type="datetime1">
              <a:rPr lang="et-EE" smtClean="0"/>
              <a:t>06.11.2025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0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2603F-F808-43FF-B812-C17E5CEA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miniLISA</a:t>
            </a:r>
            <a:r>
              <a:rPr lang="en-US" dirty="0"/>
              <a:t> setup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90063-910B-40B8-98D9-E2142313E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06.11.2025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B4D55A-7E80-4713-862F-2AC3D4D96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1746D-3571-4DE9-9B56-F2133D118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B7C8C37C-5791-43AE-B00A-AEB2A464FF01}"/>
              </a:ext>
            </a:extLst>
          </p:cNvPr>
          <p:cNvSpPr txBox="1">
            <a:spLocks/>
          </p:cNvSpPr>
          <p:nvPr/>
        </p:nvSpPr>
        <p:spPr>
          <a:xfrm>
            <a:off x="224442" y="1161756"/>
            <a:ext cx="8158331" cy="43654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675343-F94E-4B20-90F4-2F48F27501A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5683"/>
          <a:stretch/>
        </p:blipFill>
        <p:spPr>
          <a:xfrm>
            <a:off x="3288196" y="520553"/>
            <a:ext cx="7270996" cy="609637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EEF9492-E1DE-4D27-A986-0FDF2F2607FA}"/>
              </a:ext>
            </a:extLst>
          </p:cNvPr>
          <p:cNvSpPr/>
          <p:nvPr/>
        </p:nvSpPr>
        <p:spPr>
          <a:xfrm>
            <a:off x="4892272" y="2687501"/>
            <a:ext cx="993308" cy="118361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3019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D9F6870-74BB-4A46-888D-AA64695B5071}"/>
              </a:ext>
            </a:extLst>
          </p:cNvPr>
          <p:cNvSpPr/>
          <p:nvPr/>
        </p:nvSpPr>
        <p:spPr>
          <a:xfrm>
            <a:off x="2460061" y="3943623"/>
            <a:ext cx="4581283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LISA Clock Signal Distribution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06.11.2025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12F82A-626F-410A-BCED-46E113EFCE4F}"/>
              </a:ext>
            </a:extLst>
          </p:cNvPr>
          <p:cNvSpPr/>
          <p:nvPr/>
        </p:nvSpPr>
        <p:spPr>
          <a:xfrm>
            <a:off x="2710704" y="422269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32176D-7AB3-4A54-AE1F-60ABA2B6D5B5}"/>
              </a:ext>
            </a:extLst>
          </p:cNvPr>
          <p:cNvSpPr/>
          <p:nvPr/>
        </p:nvSpPr>
        <p:spPr>
          <a:xfrm>
            <a:off x="4083113" y="5335547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39563A-3FCB-4A82-8A7D-AA87F5A1B3B3}"/>
              </a:ext>
            </a:extLst>
          </p:cNvPr>
          <p:cNvSpPr/>
          <p:nvPr/>
        </p:nvSpPr>
        <p:spPr>
          <a:xfrm>
            <a:off x="5504192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F2BBC93-AE81-4603-8E16-5BE14E7E8BE6}"/>
              </a:ext>
            </a:extLst>
          </p:cNvPr>
          <p:cNvSpPr/>
          <p:nvPr/>
        </p:nvSpPr>
        <p:spPr>
          <a:xfrm>
            <a:off x="5571496" y="4222699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878811" y="3530909"/>
            <a:ext cx="905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MCLK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92EE3F13-C552-450D-AC3C-A9EECA19BCDE}"/>
              </a:ext>
            </a:extLst>
          </p:cNvPr>
          <p:cNvCxnSpPr>
            <a:stCxn id="8" idx="2"/>
            <a:endCxn id="18" idx="1"/>
          </p:cNvCxnSpPr>
          <p:nvPr/>
        </p:nvCxnSpPr>
        <p:spPr>
          <a:xfrm rot="16200000" flipH="1">
            <a:off x="2063179" y="3790429"/>
            <a:ext cx="439172" cy="85587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91637F17-F0AF-4D21-B90F-5CBE318CDB12}"/>
              </a:ext>
            </a:extLst>
          </p:cNvPr>
          <p:cNvCxnSpPr>
            <a:cxnSpLocks/>
            <a:stCxn id="18" idx="3"/>
            <a:endCxn id="20" idx="0"/>
          </p:cNvCxnSpPr>
          <p:nvPr/>
        </p:nvCxnSpPr>
        <p:spPr>
          <a:xfrm>
            <a:off x="4001075" y="4437954"/>
            <a:ext cx="727224" cy="897593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stCxn id="17" idx="3"/>
            <a:endCxn id="21" idx="1"/>
          </p:cNvCxnSpPr>
          <p:nvPr/>
        </p:nvCxnSpPr>
        <p:spPr>
          <a:xfrm>
            <a:off x="4001076" y="3124780"/>
            <a:ext cx="1503116" cy="1270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2A09AC6C-5C1B-45E0-A00D-212426B6EEAF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4001076" y="3124780"/>
            <a:ext cx="1570420" cy="1313175"/>
          </a:xfrm>
          <a:prstGeom prst="curvedConnector3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4951118-2C4D-4F70-89B6-4B0A615C19FD}"/>
              </a:ext>
            </a:extLst>
          </p:cNvPr>
          <p:cNvSpPr/>
          <p:nvPr/>
        </p:nvSpPr>
        <p:spPr>
          <a:xfrm>
            <a:off x="8153400" y="421836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Left-side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1BA847-D460-4096-8858-0C59C12A8ACC}"/>
              </a:ext>
            </a:extLst>
          </p:cNvPr>
          <p:cNvSpPr txBox="1"/>
          <p:nvPr/>
        </p:nvSpPr>
        <p:spPr>
          <a:xfrm>
            <a:off x="2412871" y="4897463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Right-side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0F4E2D-3980-472B-9B1D-D59708BBE466}"/>
              </a:ext>
            </a:extLst>
          </p:cNvPr>
          <p:cNvSpPr txBox="1"/>
          <p:nvPr/>
        </p:nvSpPr>
        <p:spPr>
          <a:xfrm>
            <a:off x="2710704" y="2730465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8B01F2-7A5B-417A-8E27-0585A757DB8D}"/>
              </a:ext>
            </a:extLst>
          </p:cNvPr>
          <p:cNvSpPr txBox="1"/>
          <p:nvPr/>
        </p:nvSpPr>
        <p:spPr>
          <a:xfrm>
            <a:off x="2725785" y="4062769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2.391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7E5F6D-B009-495A-8AFB-C26B38E2415B}"/>
              </a:ext>
            </a:extLst>
          </p:cNvPr>
          <p:cNvSpPr txBox="1"/>
          <p:nvPr/>
        </p:nvSpPr>
        <p:spPr>
          <a:xfrm>
            <a:off x="5586577" y="4060258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2.391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39EE31-022F-454C-A9F1-6C310DEB8CB5}"/>
              </a:ext>
            </a:extLst>
          </p:cNvPr>
          <p:cNvSpPr txBox="1"/>
          <p:nvPr/>
        </p:nvSpPr>
        <p:spPr>
          <a:xfrm>
            <a:off x="5519273" y="2727747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77561D-FF41-431E-8BFB-8C3E33AE160F}"/>
              </a:ext>
            </a:extLst>
          </p:cNvPr>
          <p:cNvCxnSpPr>
            <a:stCxn id="21" idx="3"/>
            <a:endCxn id="45" idx="1"/>
          </p:cNvCxnSpPr>
          <p:nvPr/>
        </p:nvCxnSpPr>
        <p:spPr>
          <a:xfrm>
            <a:off x="6794563" y="3124780"/>
            <a:ext cx="1308168" cy="63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70FD4D-ACE9-43E0-B56E-7BDF13EBCB94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861867" y="4433624"/>
            <a:ext cx="1291533" cy="43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FDBFFE-B56B-441E-BFC6-9FAB4AFFA696}"/>
              </a:ext>
            </a:extLst>
          </p:cNvPr>
          <p:cNvSpPr txBox="1"/>
          <p:nvPr/>
        </p:nvSpPr>
        <p:spPr>
          <a:xfrm>
            <a:off x="7113457" y="4132893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9552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D9F6870-74BB-4A46-888D-AA64695B5071}"/>
              </a:ext>
            </a:extLst>
          </p:cNvPr>
          <p:cNvSpPr/>
          <p:nvPr/>
        </p:nvSpPr>
        <p:spPr>
          <a:xfrm>
            <a:off x="2460061" y="3943623"/>
            <a:ext cx="4581283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LISA Timing Jitters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06.11.2025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12F82A-626F-410A-BCED-46E113EFCE4F}"/>
              </a:ext>
            </a:extLst>
          </p:cNvPr>
          <p:cNvSpPr/>
          <p:nvPr/>
        </p:nvSpPr>
        <p:spPr>
          <a:xfrm>
            <a:off x="2710704" y="422269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32176D-7AB3-4A54-AE1F-60ABA2B6D5B5}"/>
              </a:ext>
            </a:extLst>
          </p:cNvPr>
          <p:cNvSpPr/>
          <p:nvPr/>
        </p:nvSpPr>
        <p:spPr>
          <a:xfrm>
            <a:off x="4083113" y="5335547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39563A-3FCB-4A82-8A7D-AA87F5A1B3B3}"/>
              </a:ext>
            </a:extLst>
          </p:cNvPr>
          <p:cNvSpPr/>
          <p:nvPr/>
        </p:nvSpPr>
        <p:spPr>
          <a:xfrm>
            <a:off x="5504192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F2BBC93-AE81-4603-8E16-5BE14E7E8BE6}"/>
              </a:ext>
            </a:extLst>
          </p:cNvPr>
          <p:cNvSpPr/>
          <p:nvPr/>
        </p:nvSpPr>
        <p:spPr>
          <a:xfrm>
            <a:off x="5571496" y="4222699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878811" y="3530909"/>
            <a:ext cx="905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MCLK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92EE3F13-C552-450D-AC3C-A9EECA19BCDE}"/>
              </a:ext>
            </a:extLst>
          </p:cNvPr>
          <p:cNvCxnSpPr>
            <a:stCxn id="8" idx="2"/>
            <a:endCxn id="18" idx="1"/>
          </p:cNvCxnSpPr>
          <p:nvPr/>
        </p:nvCxnSpPr>
        <p:spPr>
          <a:xfrm rot="16200000" flipH="1">
            <a:off x="2063179" y="3790429"/>
            <a:ext cx="439172" cy="85587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91637F17-F0AF-4D21-B90F-5CBE318CDB12}"/>
              </a:ext>
            </a:extLst>
          </p:cNvPr>
          <p:cNvCxnSpPr>
            <a:cxnSpLocks/>
            <a:stCxn id="18" idx="3"/>
            <a:endCxn id="20" idx="0"/>
          </p:cNvCxnSpPr>
          <p:nvPr/>
        </p:nvCxnSpPr>
        <p:spPr>
          <a:xfrm>
            <a:off x="4001075" y="4437954"/>
            <a:ext cx="727224" cy="897593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stCxn id="17" idx="3"/>
            <a:endCxn id="21" idx="1"/>
          </p:cNvCxnSpPr>
          <p:nvPr/>
        </p:nvCxnSpPr>
        <p:spPr>
          <a:xfrm>
            <a:off x="4001076" y="3124780"/>
            <a:ext cx="1503116" cy="1270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2A09AC6C-5C1B-45E0-A00D-212426B6EEAF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4001076" y="3124780"/>
            <a:ext cx="1570420" cy="1313175"/>
          </a:xfrm>
          <a:prstGeom prst="curvedConnector3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4951118-2C4D-4F70-89B6-4B0A615C19FD}"/>
              </a:ext>
            </a:extLst>
          </p:cNvPr>
          <p:cNvSpPr/>
          <p:nvPr/>
        </p:nvSpPr>
        <p:spPr>
          <a:xfrm>
            <a:off x="8153400" y="421836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Left-side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1BA847-D460-4096-8858-0C59C12A8ACC}"/>
              </a:ext>
            </a:extLst>
          </p:cNvPr>
          <p:cNvSpPr txBox="1"/>
          <p:nvPr/>
        </p:nvSpPr>
        <p:spPr>
          <a:xfrm>
            <a:off x="2412871" y="4897463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Right-side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0F4E2D-3980-472B-9B1D-D59708BBE466}"/>
              </a:ext>
            </a:extLst>
          </p:cNvPr>
          <p:cNvSpPr txBox="1"/>
          <p:nvPr/>
        </p:nvSpPr>
        <p:spPr>
          <a:xfrm>
            <a:off x="2710704" y="2730465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8B01F2-7A5B-417A-8E27-0585A757DB8D}"/>
              </a:ext>
            </a:extLst>
          </p:cNvPr>
          <p:cNvSpPr txBox="1"/>
          <p:nvPr/>
        </p:nvSpPr>
        <p:spPr>
          <a:xfrm>
            <a:off x="2725785" y="4062769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2.391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7E5F6D-B009-495A-8AFB-C26B38E2415B}"/>
              </a:ext>
            </a:extLst>
          </p:cNvPr>
          <p:cNvSpPr txBox="1"/>
          <p:nvPr/>
        </p:nvSpPr>
        <p:spPr>
          <a:xfrm>
            <a:off x="5586577" y="4060258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2.391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39EE31-022F-454C-A9F1-6C310DEB8CB5}"/>
              </a:ext>
            </a:extLst>
          </p:cNvPr>
          <p:cNvSpPr txBox="1"/>
          <p:nvPr/>
        </p:nvSpPr>
        <p:spPr>
          <a:xfrm>
            <a:off x="5519273" y="2727747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77561D-FF41-431E-8BFB-8C3E33AE160F}"/>
              </a:ext>
            </a:extLst>
          </p:cNvPr>
          <p:cNvCxnSpPr>
            <a:stCxn id="21" idx="3"/>
            <a:endCxn id="45" idx="1"/>
          </p:cNvCxnSpPr>
          <p:nvPr/>
        </p:nvCxnSpPr>
        <p:spPr>
          <a:xfrm>
            <a:off x="6794563" y="3124780"/>
            <a:ext cx="1308168" cy="63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70FD4D-ACE9-43E0-B56E-7BDF13EBCB94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861867" y="4433624"/>
            <a:ext cx="1291533" cy="43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FDBFFE-B56B-441E-BFC6-9FAB4AFFA696}"/>
              </a:ext>
            </a:extLst>
          </p:cNvPr>
          <p:cNvSpPr txBox="1"/>
          <p:nvPr/>
        </p:nvSpPr>
        <p:spPr>
          <a:xfrm>
            <a:off x="7113457" y="4132893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25382C-B5FC-4D18-947B-955CCD0E723C}"/>
                  </a:ext>
                </a:extLst>
              </p:cNvPr>
              <p:cNvSpPr txBox="1"/>
              <p:nvPr/>
            </p:nvSpPr>
            <p:spPr>
              <a:xfrm>
                <a:off x="1101906" y="3248086"/>
                <a:ext cx="5369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25382C-B5FC-4D18-947B-955CCD0E7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906" y="3248086"/>
                <a:ext cx="536942" cy="276999"/>
              </a:xfrm>
              <a:prstGeom prst="rect">
                <a:avLst/>
              </a:prstGeom>
              <a:blipFill>
                <a:blip r:embed="rId4"/>
                <a:stretch>
                  <a:fillRect l="-4545" r="-4545" b="-2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4DCE8B3-749B-4157-A330-7294451C03D3}"/>
                  </a:ext>
                </a:extLst>
              </p:cNvPr>
              <p:cNvSpPr txBox="1"/>
              <p:nvPr/>
            </p:nvSpPr>
            <p:spPr>
              <a:xfrm>
                <a:off x="3146255" y="3277199"/>
                <a:ext cx="921663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4DCE8B3-749B-4157-A330-7294451C0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6255" y="3277199"/>
                <a:ext cx="921663" cy="289182"/>
              </a:xfrm>
              <a:prstGeom prst="rect">
                <a:avLst/>
              </a:prstGeom>
              <a:blipFill>
                <a:blip r:embed="rId5"/>
                <a:stretch>
                  <a:fillRect l="-3974" r="-2649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30F4E76-731F-424F-8043-C8EE3566BE63}"/>
              </a:ext>
            </a:extLst>
          </p:cNvPr>
          <p:cNvSpPr txBox="1"/>
          <p:nvPr/>
        </p:nvSpPr>
        <p:spPr>
          <a:xfrm>
            <a:off x="9581519" y="3232671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12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left side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8ADB6D-A485-4C0D-8F1B-1627F9F5F0C4}"/>
              </a:ext>
            </a:extLst>
          </p:cNvPr>
          <p:cNvSpPr txBox="1"/>
          <p:nvPr/>
        </p:nvSpPr>
        <p:spPr>
          <a:xfrm>
            <a:off x="9581519" y="3739999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13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right side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41F18FB-41E9-4D3A-92F2-17AC112B0C6C}"/>
                  </a:ext>
                </a:extLst>
              </p:cNvPr>
              <p:cNvSpPr txBox="1"/>
              <p:nvPr/>
            </p:nvSpPr>
            <p:spPr>
              <a:xfrm>
                <a:off x="4684594" y="2097191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41F18FB-41E9-4D3A-92F2-17AC112B0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4594" y="2097191"/>
                <a:ext cx="1288751" cy="289182"/>
              </a:xfrm>
              <a:prstGeom prst="rect">
                <a:avLst/>
              </a:prstGeom>
              <a:blipFill>
                <a:blip r:embed="rId6"/>
                <a:stretch>
                  <a:fillRect l="-2830" r="-1415" b="-1702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/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blipFill>
                <a:blip r:embed="rId7"/>
                <a:stretch>
                  <a:fillRect l="-3636" r="-1818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2A04C8-9B98-4A4B-8F99-1458582B41BB}"/>
                  </a:ext>
                </a:extLst>
              </p:cNvPr>
              <p:cNvSpPr txBox="1"/>
              <p:nvPr/>
            </p:nvSpPr>
            <p:spPr>
              <a:xfrm>
                <a:off x="5541538" y="3300758"/>
                <a:ext cx="1103379" cy="3310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2A04C8-9B98-4A4B-8F99-1458582B4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1538" y="3300758"/>
                <a:ext cx="1103379" cy="331053"/>
              </a:xfrm>
              <a:prstGeom prst="rect">
                <a:avLst/>
              </a:prstGeom>
              <a:blipFill>
                <a:blip r:embed="rId8"/>
                <a:stretch>
                  <a:fillRect l="-3315" r="-1657" b="-1636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B57774-55A4-4075-8653-D3B722F93D0C}"/>
                  </a:ext>
                </a:extLst>
              </p:cNvPr>
              <p:cNvSpPr txBox="1"/>
              <p:nvPr/>
            </p:nvSpPr>
            <p:spPr>
              <a:xfrm>
                <a:off x="3116937" y="4576461"/>
                <a:ext cx="921663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B57774-55A4-4075-8653-D3B722F93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6937" y="4576461"/>
                <a:ext cx="921663" cy="289182"/>
              </a:xfrm>
              <a:prstGeom prst="rect">
                <a:avLst/>
              </a:prstGeom>
              <a:blipFill>
                <a:blip r:embed="rId9"/>
                <a:stretch>
                  <a:fillRect l="-3947" r="-1974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222A66-1018-45A6-81B6-16771DEF9BA1}"/>
                  </a:ext>
                </a:extLst>
              </p:cNvPr>
              <p:cNvSpPr txBox="1"/>
              <p:nvPr/>
            </p:nvSpPr>
            <p:spPr>
              <a:xfrm>
                <a:off x="5545049" y="4598492"/>
                <a:ext cx="1103379" cy="3310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222A66-1018-45A6-81B6-16771DEF9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5049" y="4598492"/>
                <a:ext cx="1103379" cy="331053"/>
              </a:xfrm>
              <a:prstGeom prst="rect">
                <a:avLst/>
              </a:prstGeom>
              <a:blipFill>
                <a:blip r:embed="rId10"/>
                <a:stretch>
                  <a:fillRect l="-3867" r="-1657" b="-1636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D48D45F-F8CA-486D-A00E-8CD0953BB04C}"/>
                  </a:ext>
                </a:extLst>
              </p:cNvPr>
              <p:cNvSpPr txBox="1"/>
              <p:nvPr/>
            </p:nvSpPr>
            <p:spPr>
              <a:xfrm>
                <a:off x="4326027" y="4858871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D48D45F-F8CA-486D-A00E-8CD0953BB0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027" y="4858871"/>
                <a:ext cx="1288751" cy="289182"/>
              </a:xfrm>
              <a:prstGeom prst="rect">
                <a:avLst/>
              </a:prstGeom>
              <a:blipFill>
                <a:blip r:embed="rId11"/>
                <a:stretch>
                  <a:fillRect l="-3318" r="-1896" b="-1702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5836414-5062-4E93-AE65-AAFE7B1C8219}"/>
                  </a:ext>
                </a:extLst>
              </p:cNvPr>
              <p:cNvSpPr txBox="1"/>
              <p:nvPr/>
            </p:nvSpPr>
            <p:spPr>
              <a:xfrm>
                <a:off x="5328970" y="5390217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5836414-5062-4E93-AE65-AAFE7B1C8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970" y="5390217"/>
                <a:ext cx="1005019" cy="289182"/>
              </a:xfrm>
              <a:prstGeom prst="rect">
                <a:avLst/>
              </a:prstGeom>
              <a:blipFill>
                <a:blip r:embed="rId12"/>
                <a:stretch>
                  <a:fillRect l="-3636" r="-1818" b="-125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79494-969C-42B3-AB1A-D7E3A167C5B3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13608" y="3704016"/>
            <a:ext cx="8989157" cy="359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DF1FDF8-59AF-4D96-B982-ED5DCB1D34B0}"/>
                  </a:ext>
                </a:extLst>
              </p:cNvPr>
              <p:cNvSpPr txBox="1"/>
              <p:nvPr/>
            </p:nvSpPr>
            <p:spPr>
              <a:xfrm>
                <a:off x="4290285" y="3841477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𝟏𝟏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DF1FDF8-59AF-4D96-B982-ED5DCB1D3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85" y="3841477"/>
                <a:ext cx="1288751" cy="289182"/>
              </a:xfrm>
              <a:prstGeom prst="rect">
                <a:avLst/>
              </a:prstGeom>
              <a:blipFill>
                <a:blip r:embed="rId13"/>
                <a:stretch>
                  <a:fillRect l="-3318" r="-1896" b="-1458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073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miniLISA</a:t>
            </a:r>
            <a:r>
              <a:rPr lang="en-US" dirty="0"/>
              <a:t> Timing Jitters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06.11.2025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4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 Generator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570918" y="3530909"/>
            <a:ext cx="11480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Rb CLOCK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cxnSpLocks/>
            <a:stCxn id="17" idx="3"/>
            <a:endCxn id="45" idx="1"/>
          </p:cNvCxnSpPr>
          <p:nvPr/>
        </p:nvCxnSpPr>
        <p:spPr>
          <a:xfrm>
            <a:off x="4001076" y="3124780"/>
            <a:ext cx="4101655" cy="635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(Left-side)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0F4E76-731F-424F-8043-C8EE3566BE63}"/>
              </a:ext>
            </a:extLst>
          </p:cNvPr>
          <p:cNvSpPr txBox="1"/>
          <p:nvPr/>
        </p:nvSpPr>
        <p:spPr>
          <a:xfrm>
            <a:off x="9581519" y="3232671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12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left side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79494-969C-42B3-AB1A-D7E3A167C5B3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13608" y="3704016"/>
            <a:ext cx="8989157" cy="359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1226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47495C-E889-C33D-FE6E-36B6F145D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11491-8DAC-F9A2-DD6D-F3D5F8975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4FE2A-033C-64DD-0F86-2505B6540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5</a:t>
            </a:fld>
            <a:endParaRPr lang="et-EE" dirty="0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BF79BB5-2E66-2259-F09B-BE2781DE5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4795" y="88034"/>
            <a:ext cx="119334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729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9F320-70E3-A2C2-2E3C-321FDCA36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A452A-92A1-FCC0-8693-F01395C8B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10A4E-B94C-4AEB-B8A8-87813803A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C4D3B1-EADB-E674-5FAF-1DD677EFA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6</a:t>
            </a:fld>
            <a:endParaRPr lang="et-EE" dirty="0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AD63652-646E-6B2B-A4A8-C79B73941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4795" y="88034"/>
            <a:ext cx="1193344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5E68E50-EFAD-1FA4-1011-50DCABD3627F}"/>
              </a:ext>
            </a:extLst>
          </p:cNvPr>
          <p:cNvSpPr/>
          <p:nvPr/>
        </p:nvSpPr>
        <p:spPr>
          <a:xfrm>
            <a:off x="2576515" y="616527"/>
            <a:ext cx="1344321" cy="1835728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704177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3AC39-4D13-C598-E7F2-713DBDF2F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t-EE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BAE43A56-8151-8C49-1D5C-B4A9BF584C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4800294"/>
              </p:ext>
            </p:extLst>
          </p:nvPr>
        </p:nvGraphicFramePr>
        <p:xfrm>
          <a:off x="431656" y="2255703"/>
          <a:ext cx="10515597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99671">
                  <a:extLst>
                    <a:ext uri="{9D8B030D-6E8A-4147-A177-3AD203B41FA5}">
                      <a16:colId xmlns:a16="http://schemas.microsoft.com/office/drawing/2014/main" val="4192847850"/>
                    </a:ext>
                  </a:extLst>
                </a:gridCol>
                <a:gridCol w="2710727">
                  <a:extLst>
                    <a:ext uri="{9D8B030D-6E8A-4147-A177-3AD203B41FA5}">
                      <a16:colId xmlns:a16="http://schemas.microsoft.com/office/drawing/2014/main" val="207940950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5160136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Purpose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# of channels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199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PDH laser controls (Laser 1, Ref)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(4)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083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Sideband modulation (o(10MHz))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(1), Pro (2)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256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Phasemeter sampling clock (80 MHz)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(1), Pro (2)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6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Pilot tone (37.5 MHz)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(4)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(1), Pro (2)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5034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PLL laser locks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Labs (4)</a:t>
                      </a:r>
                      <a:endParaRPr lang="et-EE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0261161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21AAAD-B72B-D52F-8B1A-802461F78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2772C1-C538-0BB2-8525-2345950A4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351CC-D976-3C95-EE2A-53BDE1F9D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7</a:t>
            </a:fld>
            <a:endParaRPr lang="et-E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8BA451-5BE9-FEE2-AB07-2CA808339A29}"/>
              </a:ext>
            </a:extLst>
          </p:cNvPr>
          <p:cNvSpPr txBox="1"/>
          <p:nvPr/>
        </p:nvSpPr>
        <p:spPr>
          <a:xfrm>
            <a:off x="491836" y="1524000"/>
            <a:ext cx="6096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Moku and function generator output channels can potentially be covered with one Delta, 2 Pros and 2 Labs. (?)</a:t>
            </a:r>
            <a:endParaRPr lang="et-EE" sz="16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6C0809-17DD-897B-F16D-F0BA37E6AB5D}"/>
              </a:ext>
            </a:extLst>
          </p:cNvPr>
          <p:cNvSpPr txBox="1"/>
          <p:nvPr/>
        </p:nvSpPr>
        <p:spPr>
          <a:xfrm>
            <a:off x="568036" y="5021140"/>
            <a:ext cx="609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But this is assuming we have the ZCU phasemeters.</a:t>
            </a:r>
            <a:endParaRPr lang="et-EE" sz="16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935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987110-6B25-1DAC-D816-85BEF3611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E2B7505-9C58-C328-C6B9-6EC5AA4E7141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1F0B6D-BC62-9134-6D8A-9E58E79D4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miniLISA</a:t>
            </a:r>
            <a:r>
              <a:rPr lang="en-US" dirty="0"/>
              <a:t> Timing Jitters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C800A-3254-32A2-AF00-F9C1E6F0F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3163DD-608E-4A51-C188-A396ACEFC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FE1221-66AE-6356-2B8E-FC76471E2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8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A22B67D-D573-64D8-ECC5-C906D043E7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A9B9E5E-A8DE-5852-64ED-813357886E5E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 Generator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D2B1A3-64E3-B529-374A-B1BBEFF5A3E6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39D8D9-F39D-AE39-84C5-DE8FAAFB0C31}"/>
              </a:ext>
            </a:extLst>
          </p:cNvPr>
          <p:cNvSpPr txBox="1"/>
          <p:nvPr/>
        </p:nvSpPr>
        <p:spPr>
          <a:xfrm>
            <a:off x="570918" y="3530909"/>
            <a:ext cx="11480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Rb CLOCK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8823952F-2131-8C30-726D-BBC5CB994F3B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1D753214-A460-490C-2011-B0605EB71DEB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81ABF5D6-18E1-AEC2-A9F4-033CF9DD1BBA}"/>
              </a:ext>
            </a:extLst>
          </p:cNvPr>
          <p:cNvCxnSpPr>
            <a:cxnSpLocks/>
            <a:stCxn id="17" idx="3"/>
            <a:endCxn id="45" idx="1"/>
          </p:cNvCxnSpPr>
          <p:nvPr/>
        </p:nvCxnSpPr>
        <p:spPr>
          <a:xfrm>
            <a:off x="4001076" y="3124780"/>
            <a:ext cx="4101655" cy="635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BE33605-CCAD-E6EF-1474-E8D1F996719D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A163AC-F442-E9D8-5B0E-FC49AC56504E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(Left-side)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B86DAE7-10D4-F68B-821C-523FBA27CCBC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919051-5373-1886-DBE0-A53A78AC9035}"/>
              </a:ext>
            </a:extLst>
          </p:cNvPr>
          <p:cNvSpPr txBox="1"/>
          <p:nvPr/>
        </p:nvSpPr>
        <p:spPr>
          <a:xfrm>
            <a:off x="9581519" y="3232671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12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left side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9FF08A6-2FB6-F903-F481-868A052E9A21}"/>
                  </a:ext>
                </a:extLst>
              </p:cNvPr>
              <p:cNvSpPr txBox="1"/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blipFill>
                <a:blip r:embed="rId4"/>
                <a:stretch>
                  <a:fillRect l="-3636" r="-1818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F0F328E-BC0C-301B-3926-C5A9BF4305E2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13608" y="3704016"/>
            <a:ext cx="8989157" cy="359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C11741B-7ED9-6F3E-523D-F22CC92BB5DA}"/>
                  </a:ext>
                </a:extLst>
              </p:cNvPr>
              <p:cNvSpPr txBox="1"/>
              <p:nvPr/>
            </p:nvSpPr>
            <p:spPr>
              <a:xfrm>
                <a:off x="2978546" y="3279329"/>
                <a:ext cx="838306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𝑭𝑮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3F0F518-04B2-45FC-9688-09BAEBC1F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8546" y="3279329"/>
                <a:ext cx="838306" cy="289182"/>
              </a:xfrm>
              <a:prstGeom prst="rect">
                <a:avLst/>
              </a:prstGeom>
              <a:blipFill>
                <a:blip r:embed="rId5"/>
                <a:stretch>
                  <a:fillRect l="-5109" r="-2920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C662E42-C74D-BBF2-18D2-8012E8E83C60}"/>
              </a:ext>
            </a:extLst>
          </p:cNvPr>
          <p:cNvSpPr txBox="1"/>
          <p:nvPr/>
        </p:nvSpPr>
        <p:spPr>
          <a:xfrm>
            <a:off x="2009823" y="5022238"/>
            <a:ext cx="5103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The function generators can be the DELTA and the two PROs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457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427B-EC2F-4D77-8F28-73403F592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Requirements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71C74-A605-4A56-B7DF-E149C02A2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937608"/>
            <a:ext cx="11430676" cy="599233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After the pilot tone correction, LISA PM measurements are in the time base of the pilot tone. This is to say, the pilot tone is the “ultimate” PM time reference. </a:t>
            </a:r>
          </a:p>
          <a:p>
            <a:pPr marL="0" indent="0">
              <a:buNone/>
            </a:pPr>
            <a:r>
              <a:rPr lang="en-US" dirty="0"/>
              <a:t>The pilot tone includes the timing jitters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dirty="0"/>
              <a:t>However, the sidebands include terms</a:t>
            </a:r>
          </a:p>
          <a:p>
            <a:endParaRPr lang="en-US" sz="800" dirty="0"/>
          </a:p>
          <a:p>
            <a:pPr marL="0" indent="0">
              <a:buNone/>
            </a:pPr>
            <a:r>
              <a:rPr lang="en-US" dirty="0"/>
              <a:t>So there are some requitements set on these paths (excluding EOM noise)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ighlight>
                  <a:srgbClr val="D8DFE3"/>
                </a:highlight>
              </a:rPr>
              <a:t>Our setup doesn’t seem to include similar sources though, so currently its not that relevant.</a:t>
            </a:r>
          </a:p>
          <a:p>
            <a:pPr marL="0" indent="0">
              <a:buNone/>
            </a:pP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1B9F9-3C4E-424C-A598-A7D08BD01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06.11.2025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112F6-E106-47B0-A81C-1A179D17A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D1BD4-13D9-41B5-BA69-866A6E38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9</a:t>
            </a:fld>
            <a:endParaRPr lang="et-E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977FDA-1022-4FDD-9FDA-8093006C44FD}"/>
                  </a:ext>
                </a:extLst>
              </p:cNvPr>
              <p:cNvSpPr txBox="1"/>
              <p:nvPr/>
            </p:nvSpPr>
            <p:spPr>
              <a:xfrm>
                <a:off x="5688858" y="1829982"/>
                <a:ext cx="3380797" cy="4413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977FDA-1022-4FDD-9FDA-8093006C44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858" y="1829982"/>
                <a:ext cx="3380797" cy="441339"/>
              </a:xfrm>
              <a:prstGeom prst="rect">
                <a:avLst/>
              </a:prstGeom>
              <a:blipFill>
                <a:blip r:embed="rId2"/>
                <a:stretch>
                  <a:fillRect l="-541" r="-360" b="-1232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FBFADA-832D-4553-B676-11E6EF451DDE}"/>
                  </a:ext>
                </a:extLst>
              </p:cNvPr>
              <p:cNvSpPr txBox="1"/>
              <p:nvPr/>
            </p:nvSpPr>
            <p:spPr>
              <a:xfrm>
                <a:off x="5688858" y="2582305"/>
                <a:ext cx="4949881" cy="385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FBFADA-832D-4553-B676-11E6EF451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858" y="2582305"/>
                <a:ext cx="4949881" cy="385555"/>
              </a:xfrm>
              <a:prstGeom prst="rect">
                <a:avLst/>
              </a:prstGeom>
              <a:blipFill>
                <a:blip r:embed="rId3"/>
                <a:stretch>
                  <a:fillRect l="-246" r="-123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13A95C-E3FB-42EF-BDD9-0AA64D72B9EE}"/>
                  </a:ext>
                </a:extLst>
              </p:cNvPr>
              <p:cNvSpPr txBox="1"/>
              <p:nvPr/>
            </p:nvSpPr>
            <p:spPr>
              <a:xfrm>
                <a:off x="4174915" y="3860215"/>
                <a:ext cx="4480778" cy="4215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&lt;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𝟏𝟎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𝒑𝒔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/√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𝑯𝒛</m:t>
                      </m:r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13A95C-E3FB-42EF-BDD9-0AA64D72B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915" y="3860215"/>
                <a:ext cx="4480778" cy="4215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BB33F2-A88B-43B5-B3D9-F25B76EB055E}"/>
                  </a:ext>
                </a:extLst>
              </p:cNvPr>
              <p:cNvSpPr txBox="1"/>
              <p:nvPr/>
            </p:nvSpPr>
            <p:spPr>
              <a:xfrm>
                <a:off x="4174915" y="4373869"/>
                <a:ext cx="4704878" cy="47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&lt;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𝟓𝟎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𝒇𝒔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/√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𝑯𝒛</m:t>
                      </m:r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BB33F2-A88B-43B5-B3D9-F25B76EB0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915" y="4373869"/>
                <a:ext cx="4704878" cy="4773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00360E2-4689-4A90-99F6-B330907E34F4}"/>
              </a:ext>
            </a:extLst>
          </p:cNvPr>
          <p:cNvSpPr txBox="1"/>
          <p:nvPr/>
        </p:nvSpPr>
        <p:spPr>
          <a:xfrm>
            <a:off x="2102656" y="3985633"/>
            <a:ext cx="18357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Sideband generation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A2C05C-0891-49C7-83E8-3910D2457370}"/>
              </a:ext>
            </a:extLst>
          </p:cNvPr>
          <p:cNvSpPr txBox="1"/>
          <p:nvPr/>
        </p:nvSpPr>
        <p:spPr>
          <a:xfrm>
            <a:off x="1493829" y="4458667"/>
            <a:ext cx="27478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Sideband vs PT (very important)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3365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647</TotalTime>
  <Words>471</Words>
  <Application>Microsoft Office PowerPoint</Application>
  <PresentationFormat>Widescreen</PresentationFormat>
  <Paragraphs>139</Paragraphs>
  <Slides>9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 Math</vt:lpstr>
      <vt:lpstr>Office Theme</vt:lpstr>
      <vt:lpstr>miniLISA setup</vt:lpstr>
      <vt:lpstr>LISA Clock Signal Distribution</vt:lpstr>
      <vt:lpstr>LISA Timing Jitters</vt:lpstr>
      <vt:lpstr>miniLISA Timing Jitters</vt:lpstr>
      <vt:lpstr>PowerPoint Presentation</vt:lpstr>
      <vt:lpstr>PowerPoint Presentation</vt:lpstr>
      <vt:lpstr>PowerPoint Presentation</vt:lpstr>
      <vt:lpstr>miniLISA Timing Jitters</vt:lpstr>
      <vt:lpstr>About Requirements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Karin Kruuse</cp:lastModifiedBy>
  <cp:revision>225</cp:revision>
  <dcterms:created xsi:type="dcterms:W3CDTF">2023-08-26T08:59:13Z</dcterms:created>
  <dcterms:modified xsi:type="dcterms:W3CDTF">2025-11-07T08:34:06Z</dcterms:modified>
</cp:coreProperties>
</file>