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7"/>
  </p:notesMasterIdLst>
  <p:sldIdLst>
    <p:sldId id="259" r:id="rId2"/>
    <p:sldId id="260" r:id="rId3"/>
    <p:sldId id="261" r:id="rId4"/>
    <p:sldId id="263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9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FE3"/>
    <a:srgbClr val="2E363A"/>
    <a:srgbClr val="A8B7BF"/>
    <a:srgbClr val="667982"/>
    <a:srgbClr val="4C5960"/>
    <a:srgbClr val="7D858C"/>
    <a:srgbClr val="F6F8FA"/>
    <a:srgbClr val="EFF1F3"/>
    <a:srgbClr val="262324"/>
    <a:srgbClr val="75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4" autoAdjust="0"/>
    <p:restoredTop sz="83622" autoAdjust="0"/>
  </p:normalViewPr>
  <p:slideViewPr>
    <p:cSldViewPr snapToGrid="0">
      <p:cViewPr varScale="1">
        <p:scale>
          <a:sx n="137" d="100"/>
          <a:sy n="137" d="100"/>
        </p:scale>
        <p:origin x="1192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28.10.2025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E412FDE-1CFE-48F6-820F-9C443C301228}" type="datetime1">
              <a:rPr lang="et-EE" smtClean="0"/>
              <a:t>28.10.2025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161756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1CF8E31-244F-4A6A-A7D5-704B96C48AAE}" type="datetime1">
              <a:rPr lang="et-EE" smtClean="0"/>
              <a:t>28.10.2025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2296B-3A94-4787-AA7D-8DC0AEE88FD4}" type="datetime1">
              <a:rPr lang="et-EE" smtClean="0"/>
              <a:t>28.10.2025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51C1-87AF-4EAC-9696-BB82432B7753}" type="datetime1">
              <a:rPr lang="et-EE" smtClean="0"/>
              <a:t>28.10.2025</a:t>
            </a:fld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E3B0-4572-4FE0-8E55-6746BFAADA96}" type="datetime1">
              <a:rPr lang="et-EE" smtClean="0"/>
              <a:t>28.10.2025</a:t>
            </a:fld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4D14-98D7-455C-9D0D-2863E0C0AA0D}" type="datetime1">
              <a:rPr lang="et-EE" smtClean="0"/>
              <a:t>28.10.2025</a:t>
            </a:fld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DBE-8AE5-4A6F-9E25-F62C693D8ED5}" type="datetime1">
              <a:rPr lang="et-EE" smtClean="0"/>
              <a:t>28.10.2025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51F9-97BE-4EFF-9934-D6DB8E40FF5E}" type="datetime1">
              <a:rPr lang="et-EE" smtClean="0"/>
              <a:t>28.10.2025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0CFC-214E-42F4-8B82-CC6D451BD70F}" type="datetime1">
              <a:rPr lang="et-EE" smtClean="0"/>
              <a:t>28.10.2025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8BF1-41C1-47B8-ACAE-F9884B88C63A}" type="datetime1">
              <a:rPr lang="et-EE" smtClean="0"/>
              <a:t>28.10.2025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7C7EEDD-722C-4F14-9239-A37AD281B51F}" type="datetime1">
              <a:rPr lang="et-EE" smtClean="0"/>
              <a:t>28.10.2025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603F-F808-43FF-B812-C17E5CEA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miniLISA</a:t>
            </a:r>
            <a:r>
              <a:rPr lang="en-US" dirty="0"/>
              <a:t> setup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0063-910B-40B8-98D9-E2142313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28.10.2025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4D55A-7E80-4713-862F-2AC3D4D9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746D-3571-4DE9-9B56-F2133D11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</a:t>
            </a:fld>
            <a:endParaRPr lang="et-EE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7C8C37C-5791-43AE-B00A-AEB2A464FF01}"/>
              </a:ext>
            </a:extLst>
          </p:cNvPr>
          <p:cNvSpPr txBox="1">
            <a:spLocks/>
          </p:cNvSpPr>
          <p:nvPr/>
        </p:nvSpPr>
        <p:spPr>
          <a:xfrm>
            <a:off x="224442" y="1161756"/>
            <a:ext cx="8158331" cy="4365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675343-F94E-4B20-90F4-2F48F27501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83"/>
          <a:stretch/>
        </p:blipFill>
        <p:spPr>
          <a:xfrm>
            <a:off x="3288196" y="520553"/>
            <a:ext cx="7270996" cy="60963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EF9492-E1DE-4D27-A986-0FDF2F2607FA}"/>
              </a:ext>
            </a:extLst>
          </p:cNvPr>
          <p:cNvSpPr/>
          <p:nvPr/>
        </p:nvSpPr>
        <p:spPr>
          <a:xfrm>
            <a:off x="4892272" y="2687501"/>
            <a:ext cx="993308" cy="11836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301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D9F6870-74BB-4A46-888D-AA64695B5071}"/>
              </a:ext>
            </a:extLst>
          </p:cNvPr>
          <p:cNvSpPr/>
          <p:nvPr/>
        </p:nvSpPr>
        <p:spPr>
          <a:xfrm>
            <a:off x="2460061" y="3943623"/>
            <a:ext cx="4581283" cy="988666"/>
          </a:xfrm>
          <a:prstGeom prst="rect">
            <a:avLst/>
          </a:prstGeom>
          <a:solidFill>
            <a:srgbClr val="D8DF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8AB860-1E12-4770-9AD4-17D9F22AB956}"/>
              </a:ext>
            </a:extLst>
          </p:cNvPr>
          <p:cNvSpPr/>
          <p:nvPr/>
        </p:nvSpPr>
        <p:spPr>
          <a:xfrm>
            <a:off x="2460062" y="2614595"/>
            <a:ext cx="4581282" cy="988666"/>
          </a:xfrm>
          <a:prstGeom prst="rect">
            <a:avLst/>
          </a:prstGeom>
          <a:solidFill>
            <a:srgbClr val="D8DF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9F56D-7B38-44D0-BCA9-2BD2C76A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LISA Clock Signal Distribution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39F9-2655-48AE-8370-D2B11312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28.10.2025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52C6-AA44-4ED0-A395-0930B4D1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B60CC-586C-4442-B665-8C176F09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</a:t>
            </a:fld>
            <a:endParaRPr lang="et-E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50A82D5-196C-4B1C-BBB4-94D2518D7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6043" y="3481217"/>
            <a:ext cx="517565" cy="51756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B68CEC7-E427-490F-AA91-76C8112678F6}"/>
              </a:ext>
            </a:extLst>
          </p:cNvPr>
          <p:cNvSpPr/>
          <p:nvPr/>
        </p:nvSpPr>
        <p:spPr>
          <a:xfrm>
            <a:off x="2710705" y="2909524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Synthesizer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12F82A-626F-410A-BCED-46E113EFCE4F}"/>
              </a:ext>
            </a:extLst>
          </p:cNvPr>
          <p:cNvSpPr/>
          <p:nvPr/>
        </p:nvSpPr>
        <p:spPr>
          <a:xfrm>
            <a:off x="2710704" y="4222698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Synthesizer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807373-DB0A-4A25-965D-29EC0C25045D}"/>
              </a:ext>
            </a:extLst>
          </p:cNvPr>
          <p:cNvSpPr/>
          <p:nvPr/>
        </p:nvSpPr>
        <p:spPr>
          <a:xfrm>
            <a:off x="4325218" y="1387361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Sideband EOM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32176D-7AB3-4A54-AE1F-60ABA2B6D5B5}"/>
              </a:ext>
            </a:extLst>
          </p:cNvPr>
          <p:cNvSpPr/>
          <p:nvPr/>
        </p:nvSpPr>
        <p:spPr>
          <a:xfrm>
            <a:off x="4083113" y="5335547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Sideband EOM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39563A-3FCB-4A82-8A7D-AA87F5A1B3B3}"/>
              </a:ext>
            </a:extLst>
          </p:cNvPr>
          <p:cNvSpPr/>
          <p:nvPr/>
        </p:nvSpPr>
        <p:spPr>
          <a:xfrm>
            <a:off x="5504192" y="2909524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Divider (÷64)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2BBC93-AE81-4603-8E16-5BE14E7E8BE6}"/>
              </a:ext>
            </a:extLst>
          </p:cNvPr>
          <p:cNvSpPr/>
          <p:nvPr/>
        </p:nvSpPr>
        <p:spPr>
          <a:xfrm>
            <a:off x="5571496" y="4222699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Divider (÷64)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11B50C-07B4-4A98-B390-9FA2C80029C5}"/>
              </a:ext>
            </a:extLst>
          </p:cNvPr>
          <p:cNvSpPr txBox="1"/>
          <p:nvPr/>
        </p:nvSpPr>
        <p:spPr>
          <a:xfrm>
            <a:off x="878811" y="3530909"/>
            <a:ext cx="9051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MCLK</a:t>
            </a:r>
          </a:p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MHz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A6FA362F-4E49-4D2F-AACC-110B80B884C7}"/>
              </a:ext>
            </a:extLst>
          </p:cNvPr>
          <p:cNvCxnSpPr>
            <a:stCxn id="8" idx="0"/>
            <a:endCxn id="17" idx="1"/>
          </p:cNvCxnSpPr>
          <p:nvPr/>
        </p:nvCxnSpPr>
        <p:spPr>
          <a:xfrm rot="5400000" flipH="1" flipV="1">
            <a:off x="2104547" y="2875060"/>
            <a:ext cx="356437" cy="855879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92EE3F13-C552-450D-AC3C-A9EECA19BCDE}"/>
              </a:ext>
            </a:extLst>
          </p:cNvPr>
          <p:cNvCxnSpPr>
            <a:stCxn id="8" idx="2"/>
            <a:endCxn id="18" idx="1"/>
          </p:cNvCxnSpPr>
          <p:nvPr/>
        </p:nvCxnSpPr>
        <p:spPr>
          <a:xfrm rot="16200000" flipH="1">
            <a:off x="2063179" y="3790429"/>
            <a:ext cx="439172" cy="855878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3ECE8F94-B1FC-4C0B-924D-944A8B60DEC5}"/>
              </a:ext>
            </a:extLst>
          </p:cNvPr>
          <p:cNvCxnSpPr>
            <a:stCxn id="17" idx="3"/>
            <a:endCxn id="19" idx="2"/>
          </p:cNvCxnSpPr>
          <p:nvPr/>
        </p:nvCxnSpPr>
        <p:spPr>
          <a:xfrm flipV="1">
            <a:off x="4001076" y="1817872"/>
            <a:ext cx="969328" cy="1306908"/>
          </a:xfrm>
          <a:prstGeom prst="curvedConnector2">
            <a:avLst/>
          </a:prstGeom>
          <a:ln w="28575">
            <a:solidFill>
              <a:srgbClr val="2E363A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91637F17-F0AF-4D21-B90F-5CBE318CDB12}"/>
              </a:ext>
            </a:extLst>
          </p:cNvPr>
          <p:cNvCxnSpPr>
            <a:cxnSpLocks/>
            <a:stCxn id="18" idx="3"/>
            <a:endCxn id="20" idx="0"/>
          </p:cNvCxnSpPr>
          <p:nvPr/>
        </p:nvCxnSpPr>
        <p:spPr>
          <a:xfrm>
            <a:off x="4001075" y="4437954"/>
            <a:ext cx="727224" cy="897593"/>
          </a:xfrm>
          <a:prstGeom prst="curvedConnector2">
            <a:avLst/>
          </a:prstGeom>
          <a:ln w="28575">
            <a:solidFill>
              <a:srgbClr val="2E363A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57A27422-1159-4DE3-B875-2C667470EF7B}"/>
              </a:ext>
            </a:extLst>
          </p:cNvPr>
          <p:cNvCxnSpPr>
            <a:stCxn id="17" idx="3"/>
            <a:endCxn id="21" idx="1"/>
          </p:cNvCxnSpPr>
          <p:nvPr/>
        </p:nvCxnSpPr>
        <p:spPr>
          <a:xfrm>
            <a:off x="4001076" y="3124780"/>
            <a:ext cx="1503116" cy="12700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2A09AC6C-5C1B-45E0-A00D-212426B6EEAF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4001076" y="3124780"/>
            <a:ext cx="1570420" cy="1313175"/>
          </a:xfrm>
          <a:prstGeom prst="curvedConnector3">
            <a:avLst/>
          </a:prstGeom>
          <a:ln w="28575">
            <a:solidFill>
              <a:srgbClr val="2E363A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FA6CD36-D876-4937-8E8E-796B736DE1A0}"/>
              </a:ext>
            </a:extLst>
          </p:cNvPr>
          <p:cNvSpPr/>
          <p:nvPr/>
        </p:nvSpPr>
        <p:spPr>
          <a:xfrm>
            <a:off x="8102731" y="2915874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 ADC Channels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951118-2C4D-4F70-89B6-4B0A615C19FD}"/>
              </a:ext>
            </a:extLst>
          </p:cNvPr>
          <p:cNvSpPr/>
          <p:nvPr/>
        </p:nvSpPr>
        <p:spPr>
          <a:xfrm>
            <a:off x="8153400" y="4218368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 ADC Channels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EC201E-CFD6-4FC9-97BF-B1C9526CEFFF}"/>
              </a:ext>
            </a:extLst>
          </p:cNvPr>
          <p:cNvSpPr txBox="1"/>
          <p:nvPr/>
        </p:nvSpPr>
        <p:spPr>
          <a:xfrm>
            <a:off x="2460061" y="2103977"/>
            <a:ext cx="243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Left-side Frequency Distribution Module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1BA847-D460-4096-8858-0C59C12A8ACC}"/>
              </a:ext>
            </a:extLst>
          </p:cNvPr>
          <p:cNvSpPr txBox="1"/>
          <p:nvPr/>
        </p:nvSpPr>
        <p:spPr>
          <a:xfrm>
            <a:off x="2412871" y="4897463"/>
            <a:ext cx="243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Right-side Frequency Distribution Module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0F4E2D-3980-472B-9B1D-D59708BBE466}"/>
              </a:ext>
            </a:extLst>
          </p:cNvPr>
          <p:cNvSpPr txBox="1"/>
          <p:nvPr/>
        </p:nvSpPr>
        <p:spPr>
          <a:xfrm>
            <a:off x="2710704" y="2730465"/>
            <a:ext cx="1260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MHz -&gt; 2.39 GHz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8B01F2-7A5B-417A-8E27-0585A757DB8D}"/>
              </a:ext>
            </a:extLst>
          </p:cNvPr>
          <p:cNvSpPr txBox="1"/>
          <p:nvPr/>
        </p:nvSpPr>
        <p:spPr>
          <a:xfrm>
            <a:off x="2725785" y="4062769"/>
            <a:ext cx="1260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MHz -&gt; 2.391 GHz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7E5F6D-B009-495A-8AFB-C26B38E2415B}"/>
              </a:ext>
            </a:extLst>
          </p:cNvPr>
          <p:cNvSpPr txBox="1"/>
          <p:nvPr/>
        </p:nvSpPr>
        <p:spPr>
          <a:xfrm>
            <a:off x="5586577" y="4060258"/>
            <a:ext cx="1260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2.391 GHz -&gt; 37.5 MHz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39EE31-022F-454C-A9F1-6C310DEB8CB5}"/>
              </a:ext>
            </a:extLst>
          </p:cNvPr>
          <p:cNvSpPr txBox="1"/>
          <p:nvPr/>
        </p:nvSpPr>
        <p:spPr>
          <a:xfrm>
            <a:off x="5519273" y="2727747"/>
            <a:ext cx="1260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2.39 GHz -&gt; 37.5 MHz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77561D-FF41-431E-8BFB-8C3E33AE160F}"/>
              </a:ext>
            </a:extLst>
          </p:cNvPr>
          <p:cNvCxnSpPr>
            <a:stCxn id="21" idx="3"/>
            <a:endCxn id="45" idx="1"/>
          </p:cNvCxnSpPr>
          <p:nvPr/>
        </p:nvCxnSpPr>
        <p:spPr>
          <a:xfrm>
            <a:off x="6794563" y="3124780"/>
            <a:ext cx="1308168" cy="63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C70FD4D-ACE9-43E0-B56E-7BDF13EBCB94}"/>
              </a:ext>
            </a:extLst>
          </p:cNvPr>
          <p:cNvCxnSpPr>
            <a:cxnSpLocks/>
            <a:stCxn id="22" idx="3"/>
            <a:endCxn id="47" idx="1"/>
          </p:cNvCxnSpPr>
          <p:nvPr/>
        </p:nvCxnSpPr>
        <p:spPr>
          <a:xfrm flipV="1">
            <a:off x="6861867" y="4433624"/>
            <a:ext cx="1291533" cy="43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7AC5950-4441-402D-B3BA-306896372C12}"/>
              </a:ext>
            </a:extLst>
          </p:cNvPr>
          <p:cNvSpPr txBox="1"/>
          <p:nvPr/>
        </p:nvSpPr>
        <p:spPr>
          <a:xfrm>
            <a:off x="7091217" y="2835469"/>
            <a:ext cx="967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 Tone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FDBFFE-B56B-441E-BFC6-9FAB4AFFA696}"/>
              </a:ext>
            </a:extLst>
          </p:cNvPr>
          <p:cNvSpPr txBox="1"/>
          <p:nvPr/>
        </p:nvSpPr>
        <p:spPr>
          <a:xfrm>
            <a:off x="7113457" y="4132893"/>
            <a:ext cx="967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 Tone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552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D9F6870-74BB-4A46-888D-AA64695B5071}"/>
              </a:ext>
            </a:extLst>
          </p:cNvPr>
          <p:cNvSpPr/>
          <p:nvPr/>
        </p:nvSpPr>
        <p:spPr>
          <a:xfrm>
            <a:off x="2460061" y="3943623"/>
            <a:ext cx="4581283" cy="988666"/>
          </a:xfrm>
          <a:prstGeom prst="rect">
            <a:avLst/>
          </a:prstGeom>
          <a:solidFill>
            <a:srgbClr val="D8DF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8AB860-1E12-4770-9AD4-17D9F22AB956}"/>
              </a:ext>
            </a:extLst>
          </p:cNvPr>
          <p:cNvSpPr/>
          <p:nvPr/>
        </p:nvSpPr>
        <p:spPr>
          <a:xfrm>
            <a:off x="2460062" y="2614595"/>
            <a:ext cx="4581282" cy="988666"/>
          </a:xfrm>
          <a:prstGeom prst="rect">
            <a:avLst/>
          </a:prstGeom>
          <a:solidFill>
            <a:srgbClr val="D8DF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9F56D-7B38-44D0-BCA9-2BD2C76A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LISA Timing Jitters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39F9-2655-48AE-8370-D2B11312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28.10.2025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52C6-AA44-4ED0-A395-0930B4D1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B60CC-586C-4442-B665-8C176F09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3</a:t>
            </a:fld>
            <a:endParaRPr lang="et-E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50A82D5-196C-4B1C-BBB4-94D2518D7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6043" y="3481217"/>
            <a:ext cx="517565" cy="51756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B68CEC7-E427-490F-AA91-76C8112678F6}"/>
              </a:ext>
            </a:extLst>
          </p:cNvPr>
          <p:cNvSpPr/>
          <p:nvPr/>
        </p:nvSpPr>
        <p:spPr>
          <a:xfrm>
            <a:off x="2710705" y="2909524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Synthesizer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12F82A-626F-410A-BCED-46E113EFCE4F}"/>
              </a:ext>
            </a:extLst>
          </p:cNvPr>
          <p:cNvSpPr/>
          <p:nvPr/>
        </p:nvSpPr>
        <p:spPr>
          <a:xfrm>
            <a:off x="2710704" y="4222698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Synthesizer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807373-DB0A-4A25-965D-29EC0C25045D}"/>
              </a:ext>
            </a:extLst>
          </p:cNvPr>
          <p:cNvSpPr/>
          <p:nvPr/>
        </p:nvSpPr>
        <p:spPr>
          <a:xfrm>
            <a:off x="4325218" y="1387361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Sideband EOM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32176D-7AB3-4A54-AE1F-60ABA2B6D5B5}"/>
              </a:ext>
            </a:extLst>
          </p:cNvPr>
          <p:cNvSpPr/>
          <p:nvPr/>
        </p:nvSpPr>
        <p:spPr>
          <a:xfrm>
            <a:off x="4083113" y="5335547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Sideband EOM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39563A-3FCB-4A82-8A7D-AA87F5A1B3B3}"/>
              </a:ext>
            </a:extLst>
          </p:cNvPr>
          <p:cNvSpPr/>
          <p:nvPr/>
        </p:nvSpPr>
        <p:spPr>
          <a:xfrm>
            <a:off x="5504192" y="2909524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Divider (÷64)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2BBC93-AE81-4603-8E16-5BE14E7E8BE6}"/>
              </a:ext>
            </a:extLst>
          </p:cNvPr>
          <p:cNvSpPr/>
          <p:nvPr/>
        </p:nvSpPr>
        <p:spPr>
          <a:xfrm>
            <a:off x="5571496" y="4222699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Divider (÷64)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11B50C-07B4-4A98-B390-9FA2C80029C5}"/>
              </a:ext>
            </a:extLst>
          </p:cNvPr>
          <p:cNvSpPr txBox="1"/>
          <p:nvPr/>
        </p:nvSpPr>
        <p:spPr>
          <a:xfrm>
            <a:off x="878811" y="3530909"/>
            <a:ext cx="9051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MCLK</a:t>
            </a:r>
          </a:p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MHz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A6FA362F-4E49-4D2F-AACC-110B80B884C7}"/>
              </a:ext>
            </a:extLst>
          </p:cNvPr>
          <p:cNvCxnSpPr>
            <a:stCxn id="8" idx="0"/>
            <a:endCxn id="17" idx="1"/>
          </p:cNvCxnSpPr>
          <p:nvPr/>
        </p:nvCxnSpPr>
        <p:spPr>
          <a:xfrm rot="5400000" flipH="1" flipV="1">
            <a:off x="2104547" y="2875060"/>
            <a:ext cx="356437" cy="855879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92EE3F13-C552-450D-AC3C-A9EECA19BCDE}"/>
              </a:ext>
            </a:extLst>
          </p:cNvPr>
          <p:cNvCxnSpPr>
            <a:stCxn id="8" idx="2"/>
            <a:endCxn id="18" idx="1"/>
          </p:cNvCxnSpPr>
          <p:nvPr/>
        </p:nvCxnSpPr>
        <p:spPr>
          <a:xfrm rot="16200000" flipH="1">
            <a:off x="2063179" y="3790429"/>
            <a:ext cx="439172" cy="855878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3ECE8F94-B1FC-4C0B-924D-944A8B60DEC5}"/>
              </a:ext>
            </a:extLst>
          </p:cNvPr>
          <p:cNvCxnSpPr>
            <a:stCxn id="17" idx="3"/>
            <a:endCxn id="19" idx="2"/>
          </p:cNvCxnSpPr>
          <p:nvPr/>
        </p:nvCxnSpPr>
        <p:spPr>
          <a:xfrm flipV="1">
            <a:off x="4001076" y="1817872"/>
            <a:ext cx="969328" cy="1306908"/>
          </a:xfrm>
          <a:prstGeom prst="curvedConnector2">
            <a:avLst/>
          </a:prstGeom>
          <a:ln w="28575">
            <a:solidFill>
              <a:srgbClr val="2E363A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91637F17-F0AF-4D21-B90F-5CBE318CDB12}"/>
              </a:ext>
            </a:extLst>
          </p:cNvPr>
          <p:cNvCxnSpPr>
            <a:cxnSpLocks/>
            <a:stCxn id="18" idx="3"/>
            <a:endCxn id="20" idx="0"/>
          </p:cNvCxnSpPr>
          <p:nvPr/>
        </p:nvCxnSpPr>
        <p:spPr>
          <a:xfrm>
            <a:off x="4001075" y="4437954"/>
            <a:ext cx="727224" cy="897593"/>
          </a:xfrm>
          <a:prstGeom prst="curvedConnector2">
            <a:avLst/>
          </a:prstGeom>
          <a:ln w="28575">
            <a:solidFill>
              <a:srgbClr val="2E363A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57A27422-1159-4DE3-B875-2C667470EF7B}"/>
              </a:ext>
            </a:extLst>
          </p:cNvPr>
          <p:cNvCxnSpPr>
            <a:stCxn id="17" idx="3"/>
            <a:endCxn id="21" idx="1"/>
          </p:cNvCxnSpPr>
          <p:nvPr/>
        </p:nvCxnSpPr>
        <p:spPr>
          <a:xfrm>
            <a:off x="4001076" y="3124780"/>
            <a:ext cx="1503116" cy="12700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2A09AC6C-5C1B-45E0-A00D-212426B6EEAF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4001076" y="3124780"/>
            <a:ext cx="1570420" cy="1313175"/>
          </a:xfrm>
          <a:prstGeom prst="curvedConnector3">
            <a:avLst/>
          </a:prstGeom>
          <a:ln w="28575">
            <a:solidFill>
              <a:srgbClr val="2E363A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FA6CD36-D876-4937-8E8E-796B736DE1A0}"/>
              </a:ext>
            </a:extLst>
          </p:cNvPr>
          <p:cNvSpPr/>
          <p:nvPr/>
        </p:nvSpPr>
        <p:spPr>
          <a:xfrm>
            <a:off x="8102731" y="2915874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 ADC Channels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951118-2C4D-4F70-89B6-4B0A615C19FD}"/>
              </a:ext>
            </a:extLst>
          </p:cNvPr>
          <p:cNvSpPr/>
          <p:nvPr/>
        </p:nvSpPr>
        <p:spPr>
          <a:xfrm>
            <a:off x="8153400" y="4218368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 ADC Channels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EC201E-CFD6-4FC9-97BF-B1C9526CEFFF}"/>
              </a:ext>
            </a:extLst>
          </p:cNvPr>
          <p:cNvSpPr txBox="1"/>
          <p:nvPr/>
        </p:nvSpPr>
        <p:spPr>
          <a:xfrm>
            <a:off x="2460061" y="2103977"/>
            <a:ext cx="243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Left-side Frequency Distribution Module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1BA847-D460-4096-8858-0C59C12A8ACC}"/>
              </a:ext>
            </a:extLst>
          </p:cNvPr>
          <p:cNvSpPr txBox="1"/>
          <p:nvPr/>
        </p:nvSpPr>
        <p:spPr>
          <a:xfrm>
            <a:off x="2412871" y="4897463"/>
            <a:ext cx="243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Right-side Frequency Distribution Module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0F4E2D-3980-472B-9B1D-D59708BBE466}"/>
              </a:ext>
            </a:extLst>
          </p:cNvPr>
          <p:cNvSpPr txBox="1"/>
          <p:nvPr/>
        </p:nvSpPr>
        <p:spPr>
          <a:xfrm>
            <a:off x="2710704" y="2730465"/>
            <a:ext cx="1260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MHz -&gt; 2.39 GHz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8B01F2-7A5B-417A-8E27-0585A757DB8D}"/>
              </a:ext>
            </a:extLst>
          </p:cNvPr>
          <p:cNvSpPr txBox="1"/>
          <p:nvPr/>
        </p:nvSpPr>
        <p:spPr>
          <a:xfrm>
            <a:off x="2725785" y="4062769"/>
            <a:ext cx="1260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MHz -&gt; 2.391 GHz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7E5F6D-B009-495A-8AFB-C26B38E2415B}"/>
              </a:ext>
            </a:extLst>
          </p:cNvPr>
          <p:cNvSpPr txBox="1"/>
          <p:nvPr/>
        </p:nvSpPr>
        <p:spPr>
          <a:xfrm>
            <a:off x="5586577" y="4060258"/>
            <a:ext cx="1260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2.391 GHz -&gt; 37.5 MHz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39EE31-022F-454C-A9F1-6C310DEB8CB5}"/>
              </a:ext>
            </a:extLst>
          </p:cNvPr>
          <p:cNvSpPr txBox="1"/>
          <p:nvPr/>
        </p:nvSpPr>
        <p:spPr>
          <a:xfrm>
            <a:off x="5519273" y="2727747"/>
            <a:ext cx="1260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2.39 GHz -&gt; 37.5 MHz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77561D-FF41-431E-8BFB-8C3E33AE160F}"/>
              </a:ext>
            </a:extLst>
          </p:cNvPr>
          <p:cNvCxnSpPr>
            <a:stCxn id="21" idx="3"/>
            <a:endCxn id="45" idx="1"/>
          </p:cNvCxnSpPr>
          <p:nvPr/>
        </p:nvCxnSpPr>
        <p:spPr>
          <a:xfrm>
            <a:off x="6794563" y="3124780"/>
            <a:ext cx="1308168" cy="63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C70FD4D-ACE9-43E0-B56E-7BDF13EBCB94}"/>
              </a:ext>
            </a:extLst>
          </p:cNvPr>
          <p:cNvCxnSpPr>
            <a:cxnSpLocks/>
            <a:stCxn id="22" idx="3"/>
            <a:endCxn id="47" idx="1"/>
          </p:cNvCxnSpPr>
          <p:nvPr/>
        </p:nvCxnSpPr>
        <p:spPr>
          <a:xfrm flipV="1">
            <a:off x="6861867" y="4433624"/>
            <a:ext cx="1291533" cy="43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7AC5950-4441-402D-B3BA-306896372C12}"/>
              </a:ext>
            </a:extLst>
          </p:cNvPr>
          <p:cNvSpPr txBox="1"/>
          <p:nvPr/>
        </p:nvSpPr>
        <p:spPr>
          <a:xfrm>
            <a:off x="7091217" y="2835469"/>
            <a:ext cx="967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 Tone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FDBFFE-B56B-441E-BFC6-9FAB4AFFA696}"/>
              </a:ext>
            </a:extLst>
          </p:cNvPr>
          <p:cNvSpPr txBox="1"/>
          <p:nvPr/>
        </p:nvSpPr>
        <p:spPr>
          <a:xfrm>
            <a:off x="7113457" y="4132893"/>
            <a:ext cx="967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 Tone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25382C-B5FC-4D18-947B-955CCD0E723C}"/>
                  </a:ext>
                </a:extLst>
              </p:cNvPr>
              <p:cNvSpPr txBox="1"/>
              <p:nvPr/>
            </p:nvSpPr>
            <p:spPr>
              <a:xfrm>
                <a:off x="1101906" y="3248086"/>
                <a:ext cx="5369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𝑪𝑳𝑲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25382C-B5FC-4D18-947B-955CCD0E7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906" y="3248086"/>
                <a:ext cx="536942" cy="276999"/>
              </a:xfrm>
              <a:prstGeom prst="rect">
                <a:avLst/>
              </a:prstGeom>
              <a:blipFill>
                <a:blip r:embed="rId4"/>
                <a:stretch>
                  <a:fillRect l="-4545" r="-4545" b="-2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4DCE8B3-749B-4157-A330-7294451C03D3}"/>
                  </a:ext>
                </a:extLst>
              </p:cNvPr>
              <p:cNvSpPr txBox="1"/>
              <p:nvPr/>
            </p:nvSpPr>
            <p:spPr>
              <a:xfrm>
                <a:off x="3146255" y="3277199"/>
                <a:ext cx="921663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𝑷𝑳𝑳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4DCE8B3-749B-4157-A330-7294451C0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55" y="3277199"/>
                <a:ext cx="921663" cy="289182"/>
              </a:xfrm>
              <a:prstGeom prst="rect">
                <a:avLst/>
              </a:prstGeom>
              <a:blipFill>
                <a:blip r:embed="rId5"/>
                <a:stretch>
                  <a:fillRect l="-3974" r="-2649" b="-1489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30F4E76-731F-424F-8043-C8EE3566BE63}"/>
              </a:ext>
            </a:extLst>
          </p:cNvPr>
          <p:cNvSpPr txBox="1"/>
          <p:nvPr/>
        </p:nvSpPr>
        <p:spPr>
          <a:xfrm>
            <a:off x="9581519" y="3232671"/>
            <a:ext cx="1882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SC1, 12 side or</a:t>
            </a:r>
          </a:p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SC1 left side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8ADB6D-A485-4C0D-8F1B-1627F9F5F0C4}"/>
              </a:ext>
            </a:extLst>
          </p:cNvPr>
          <p:cNvSpPr txBox="1"/>
          <p:nvPr/>
        </p:nvSpPr>
        <p:spPr>
          <a:xfrm>
            <a:off x="9581519" y="3739999"/>
            <a:ext cx="1882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SC1, 13 side or</a:t>
            </a:r>
          </a:p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SC1 right side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41F18FB-41E9-4D3A-92F2-17AC112B0C6C}"/>
                  </a:ext>
                </a:extLst>
              </p:cNvPr>
              <p:cNvSpPr txBox="1"/>
              <p:nvPr/>
            </p:nvSpPr>
            <p:spPr>
              <a:xfrm>
                <a:off x="4684594" y="2097191"/>
                <a:ext cx="128875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𝒉𝒂𝒓𝒏𝒆𝒔𝒔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41F18FB-41E9-4D3A-92F2-17AC112B0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594" y="2097191"/>
                <a:ext cx="1288751" cy="289182"/>
              </a:xfrm>
              <a:prstGeom prst="rect">
                <a:avLst/>
              </a:prstGeom>
              <a:blipFill>
                <a:blip r:embed="rId6"/>
                <a:stretch>
                  <a:fillRect l="-2830" r="-1415" b="-1702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92F738-6D97-4C46-984B-CD792E8A77FC}"/>
                  </a:ext>
                </a:extLst>
              </p:cNvPr>
              <p:cNvSpPr txBox="1"/>
              <p:nvPr/>
            </p:nvSpPr>
            <p:spPr>
              <a:xfrm>
                <a:off x="5615589" y="1420240"/>
                <a:ext cx="1005019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𝑬𝑶𝑴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92F738-6D97-4C46-984B-CD792E8A7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589" y="1420240"/>
                <a:ext cx="1005019" cy="289182"/>
              </a:xfrm>
              <a:prstGeom prst="rect">
                <a:avLst/>
              </a:prstGeom>
              <a:blipFill>
                <a:blip r:embed="rId7"/>
                <a:stretch>
                  <a:fillRect l="-3636" r="-1818" b="-1489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92A04C8-9B98-4A4B-8F99-1458582B41BB}"/>
                  </a:ext>
                </a:extLst>
              </p:cNvPr>
              <p:cNvSpPr txBox="1"/>
              <p:nvPr/>
            </p:nvSpPr>
            <p:spPr>
              <a:xfrm>
                <a:off x="5541538" y="3300758"/>
                <a:ext cx="1103379" cy="331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𝑷𝑻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𝒈𝒆𝒏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92A04C8-9B98-4A4B-8F99-1458582B4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538" y="3300758"/>
                <a:ext cx="1103379" cy="331053"/>
              </a:xfrm>
              <a:prstGeom prst="rect">
                <a:avLst/>
              </a:prstGeom>
              <a:blipFill>
                <a:blip r:embed="rId8"/>
                <a:stretch>
                  <a:fillRect l="-3315" r="-1657" b="-1636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6B57774-55A4-4075-8653-D3B722F93D0C}"/>
                  </a:ext>
                </a:extLst>
              </p:cNvPr>
              <p:cNvSpPr txBox="1"/>
              <p:nvPr/>
            </p:nvSpPr>
            <p:spPr>
              <a:xfrm>
                <a:off x="3116937" y="4576461"/>
                <a:ext cx="921663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𝑷𝑳𝑳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6B57774-55A4-4075-8653-D3B722F93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937" y="4576461"/>
                <a:ext cx="921663" cy="289182"/>
              </a:xfrm>
              <a:prstGeom prst="rect">
                <a:avLst/>
              </a:prstGeom>
              <a:blipFill>
                <a:blip r:embed="rId9"/>
                <a:stretch>
                  <a:fillRect l="-3947" r="-1974" b="-1489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A222A66-1018-45A6-81B6-16771DEF9BA1}"/>
                  </a:ext>
                </a:extLst>
              </p:cNvPr>
              <p:cNvSpPr txBox="1"/>
              <p:nvPr/>
            </p:nvSpPr>
            <p:spPr>
              <a:xfrm>
                <a:off x="5545049" y="4598492"/>
                <a:ext cx="1103379" cy="331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𝑷𝑻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𝒈𝒆𝒏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A222A66-1018-45A6-81B6-16771DEF9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049" y="4598492"/>
                <a:ext cx="1103379" cy="331053"/>
              </a:xfrm>
              <a:prstGeom prst="rect">
                <a:avLst/>
              </a:prstGeom>
              <a:blipFill>
                <a:blip r:embed="rId10"/>
                <a:stretch>
                  <a:fillRect l="-3867" r="-1657" b="-1636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D48D45F-F8CA-486D-A00E-8CD0953BB04C}"/>
                  </a:ext>
                </a:extLst>
              </p:cNvPr>
              <p:cNvSpPr txBox="1"/>
              <p:nvPr/>
            </p:nvSpPr>
            <p:spPr>
              <a:xfrm>
                <a:off x="4326027" y="4858871"/>
                <a:ext cx="128875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𝒉𝒂𝒓𝒏𝒆𝒔𝒔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D48D45F-F8CA-486D-A00E-8CD0953BB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027" y="4858871"/>
                <a:ext cx="1288751" cy="289182"/>
              </a:xfrm>
              <a:prstGeom prst="rect">
                <a:avLst/>
              </a:prstGeom>
              <a:blipFill>
                <a:blip r:embed="rId11"/>
                <a:stretch>
                  <a:fillRect l="-3318" r="-1896" b="-1702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5836414-5062-4E93-AE65-AAFE7B1C8219}"/>
                  </a:ext>
                </a:extLst>
              </p:cNvPr>
              <p:cNvSpPr txBox="1"/>
              <p:nvPr/>
            </p:nvSpPr>
            <p:spPr>
              <a:xfrm>
                <a:off x="5328970" y="5390217"/>
                <a:ext cx="1005019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𝑬𝑶𝑴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5836414-5062-4E93-AE65-AAFE7B1C8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970" y="5390217"/>
                <a:ext cx="1005019" cy="289182"/>
              </a:xfrm>
              <a:prstGeom prst="rect">
                <a:avLst/>
              </a:prstGeom>
              <a:blipFill>
                <a:blip r:embed="rId12"/>
                <a:stretch>
                  <a:fillRect l="-3636" r="-1818" b="-125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079494-969C-42B3-AB1A-D7E3A167C5B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113608" y="3704016"/>
            <a:ext cx="8989157" cy="359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DF1FDF8-59AF-4D96-B982-ED5DCB1D34B0}"/>
                  </a:ext>
                </a:extLst>
              </p:cNvPr>
              <p:cNvSpPr txBox="1"/>
              <p:nvPr/>
            </p:nvSpPr>
            <p:spPr>
              <a:xfrm>
                <a:off x="4290285" y="3841477"/>
                <a:ext cx="128875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𝒉𝒂𝒓𝒏𝒆𝒔𝒔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DF1FDF8-59AF-4D96-B982-ED5DCB1D3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85" y="3841477"/>
                <a:ext cx="1288751" cy="289182"/>
              </a:xfrm>
              <a:prstGeom prst="rect">
                <a:avLst/>
              </a:prstGeom>
              <a:blipFill>
                <a:blip r:embed="rId13"/>
                <a:stretch>
                  <a:fillRect l="-3318" r="-1896" b="-1458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073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A8AB860-1E12-4770-9AD4-17D9F22AB956}"/>
              </a:ext>
            </a:extLst>
          </p:cNvPr>
          <p:cNvSpPr/>
          <p:nvPr/>
        </p:nvSpPr>
        <p:spPr>
          <a:xfrm>
            <a:off x="2460062" y="2614595"/>
            <a:ext cx="4581282" cy="988666"/>
          </a:xfrm>
          <a:prstGeom prst="rect">
            <a:avLst/>
          </a:prstGeom>
          <a:solidFill>
            <a:srgbClr val="D8DF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9F56D-7B38-44D0-BCA9-2BD2C76A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LISA Timing Jitters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39F9-2655-48AE-8370-D2B11312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28.10.2025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52C6-AA44-4ED0-A395-0930B4D1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B60CC-586C-4442-B665-8C176F09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4</a:t>
            </a:fld>
            <a:endParaRPr lang="et-E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50A82D5-196C-4B1C-BBB4-94D2518D7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6043" y="3481217"/>
            <a:ext cx="517565" cy="51756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B68CEC7-E427-490F-AA91-76C8112678F6}"/>
              </a:ext>
            </a:extLst>
          </p:cNvPr>
          <p:cNvSpPr/>
          <p:nvPr/>
        </p:nvSpPr>
        <p:spPr>
          <a:xfrm>
            <a:off x="2710705" y="2909524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Generator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807373-DB0A-4A25-965D-29EC0C25045D}"/>
              </a:ext>
            </a:extLst>
          </p:cNvPr>
          <p:cNvSpPr/>
          <p:nvPr/>
        </p:nvSpPr>
        <p:spPr>
          <a:xfrm>
            <a:off x="4325218" y="1387361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Sideband EOM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11B50C-07B4-4A98-B390-9FA2C80029C5}"/>
              </a:ext>
            </a:extLst>
          </p:cNvPr>
          <p:cNvSpPr txBox="1"/>
          <p:nvPr/>
        </p:nvSpPr>
        <p:spPr>
          <a:xfrm>
            <a:off x="570918" y="3530909"/>
            <a:ext cx="11480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 CLOCK</a:t>
            </a:r>
          </a:p>
          <a:p>
            <a:pPr algn="ctr"/>
            <a:r>
              <a:rPr lang="en-US" sz="8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MHz</a:t>
            </a:r>
            <a:endParaRPr lang="LID4096" sz="8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A6FA362F-4E49-4D2F-AACC-110B80B884C7}"/>
              </a:ext>
            </a:extLst>
          </p:cNvPr>
          <p:cNvCxnSpPr>
            <a:stCxn id="8" idx="0"/>
            <a:endCxn id="17" idx="1"/>
          </p:cNvCxnSpPr>
          <p:nvPr/>
        </p:nvCxnSpPr>
        <p:spPr>
          <a:xfrm rot="5400000" flipH="1" flipV="1">
            <a:off x="2104547" y="2875060"/>
            <a:ext cx="356437" cy="855879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3ECE8F94-B1FC-4C0B-924D-944A8B60DEC5}"/>
              </a:ext>
            </a:extLst>
          </p:cNvPr>
          <p:cNvCxnSpPr>
            <a:stCxn id="17" idx="3"/>
            <a:endCxn id="19" idx="2"/>
          </p:cNvCxnSpPr>
          <p:nvPr/>
        </p:nvCxnSpPr>
        <p:spPr>
          <a:xfrm flipV="1">
            <a:off x="4001076" y="1817872"/>
            <a:ext cx="969328" cy="1306908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57A27422-1159-4DE3-B875-2C667470EF7B}"/>
              </a:ext>
            </a:extLst>
          </p:cNvPr>
          <p:cNvCxnSpPr>
            <a:cxnSpLocks/>
            <a:stCxn id="17" idx="3"/>
            <a:endCxn id="45" idx="1"/>
          </p:cNvCxnSpPr>
          <p:nvPr/>
        </p:nvCxnSpPr>
        <p:spPr>
          <a:xfrm>
            <a:off x="4001076" y="3124780"/>
            <a:ext cx="4101655" cy="6350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FA6CD36-D876-4937-8E8E-796B736DE1A0}"/>
              </a:ext>
            </a:extLst>
          </p:cNvPr>
          <p:cNvSpPr/>
          <p:nvPr/>
        </p:nvSpPr>
        <p:spPr>
          <a:xfrm>
            <a:off x="8102731" y="2915874"/>
            <a:ext cx="1290371" cy="430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 ADC Channels</a:t>
            </a:r>
            <a:endParaRPr lang="LID4096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EC201E-CFD6-4FC9-97BF-B1C9526CEFFF}"/>
              </a:ext>
            </a:extLst>
          </p:cNvPr>
          <p:cNvSpPr txBox="1"/>
          <p:nvPr/>
        </p:nvSpPr>
        <p:spPr>
          <a:xfrm>
            <a:off x="2460061" y="2103977"/>
            <a:ext cx="243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(Left-side) Frequency Distribution Module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AC5950-4441-402D-B3BA-306896372C12}"/>
              </a:ext>
            </a:extLst>
          </p:cNvPr>
          <p:cNvSpPr txBox="1"/>
          <p:nvPr/>
        </p:nvSpPr>
        <p:spPr>
          <a:xfrm>
            <a:off x="7091217" y="2835469"/>
            <a:ext cx="967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 Tone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0F4E76-731F-424F-8043-C8EE3566BE63}"/>
              </a:ext>
            </a:extLst>
          </p:cNvPr>
          <p:cNvSpPr txBox="1"/>
          <p:nvPr/>
        </p:nvSpPr>
        <p:spPr>
          <a:xfrm>
            <a:off x="9581519" y="3232671"/>
            <a:ext cx="1882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SC1, 12 side or</a:t>
            </a:r>
          </a:p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SC1 left side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92F738-6D97-4C46-984B-CD792E8A77FC}"/>
                  </a:ext>
                </a:extLst>
              </p:cNvPr>
              <p:cNvSpPr txBox="1"/>
              <p:nvPr/>
            </p:nvSpPr>
            <p:spPr>
              <a:xfrm>
                <a:off x="5615589" y="1420240"/>
                <a:ext cx="1005019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𝑬𝑶𝑴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92F738-6D97-4C46-984B-CD792E8A7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589" y="1420240"/>
                <a:ext cx="1005019" cy="289182"/>
              </a:xfrm>
              <a:prstGeom prst="rect">
                <a:avLst/>
              </a:prstGeom>
              <a:blipFill>
                <a:blip r:embed="rId4"/>
                <a:stretch>
                  <a:fillRect l="-3636" r="-1818" b="-1489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079494-969C-42B3-AB1A-D7E3A167C5B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113608" y="3704016"/>
            <a:ext cx="8989157" cy="359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3F0F518-04B2-45FC-9688-09BAEBC1F934}"/>
                  </a:ext>
                </a:extLst>
              </p:cNvPr>
              <p:cNvSpPr txBox="1"/>
              <p:nvPr/>
            </p:nvSpPr>
            <p:spPr>
              <a:xfrm>
                <a:off x="2978546" y="3279329"/>
                <a:ext cx="838306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𝑭𝑮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LID4096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3F0F518-04B2-45FC-9688-09BAEBC1F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546" y="3279329"/>
                <a:ext cx="838306" cy="289182"/>
              </a:xfrm>
              <a:prstGeom prst="rect">
                <a:avLst/>
              </a:prstGeom>
              <a:blipFill>
                <a:blip r:embed="rId5"/>
                <a:stretch>
                  <a:fillRect l="-5109" r="-2920" b="-1489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226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427B-EC2F-4D77-8F28-73403F59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Requirements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1C74-A605-4A56-B7DF-E149C02A2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3" y="937608"/>
            <a:ext cx="11430676" cy="59923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After the pilot tone correction, LISA PM measurements are in the time base of the pilot tone. This is to say, the pilot tone is the “ultimate” PM time reference. </a:t>
            </a:r>
          </a:p>
          <a:p>
            <a:pPr marL="0" indent="0">
              <a:buNone/>
            </a:pPr>
            <a:r>
              <a:rPr lang="en-US" dirty="0"/>
              <a:t>The pilot tone includes the timing jitters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However, the sidebands include terms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So there are some requitements set on these paths (excluding EOM noise)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D8DFE3"/>
                </a:highlight>
              </a:rPr>
              <a:t>Our setup doesn’t seem to include similar sources though, so currently its not that relevant.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1B9F9-3C4E-424C-A598-A7D08BD0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28.10.2025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112F6-E106-47B0-A81C-1A179D17A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D1BD4-13D9-41B5-BA69-866A6E38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5</a:t>
            </a:fld>
            <a:endParaRPr lang="et-E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977FDA-1022-4FDD-9FDA-8093006C44FD}"/>
                  </a:ext>
                </a:extLst>
              </p:cNvPr>
              <p:cNvSpPr txBox="1"/>
              <p:nvPr/>
            </p:nvSpPr>
            <p:spPr>
              <a:xfrm>
                <a:off x="5688858" y="1829982"/>
                <a:ext cx="3380797" cy="441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𝑪𝑳𝑲</m:t>
                          </m:r>
                        </m:sub>
                      </m:sSub>
                      <m:sSub>
                        <m:sSubPr>
                          <m:ctrlPr>
                            <a:rPr lang="en-150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𝑷𝑳𝑳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  <m:sSub>
                        <m:sSubPr>
                          <m:ctrlPr>
                            <a:rPr lang="en-150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𝑷𝑻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𝒈𝒆𝒏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LID4096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977FDA-1022-4FDD-9FDA-8093006C4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858" y="1829982"/>
                <a:ext cx="3380797" cy="441339"/>
              </a:xfrm>
              <a:prstGeom prst="rect">
                <a:avLst/>
              </a:prstGeom>
              <a:blipFill>
                <a:blip r:embed="rId2"/>
                <a:stretch>
                  <a:fillRect l="-541" r="-360" b="-123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FBFADA-832D-4553-B676-11E6EF451DDE}"/>
                  </a:ext>
                </a:extLst>
              </p:cNvPr>
              <p:cNvSpPr txBox="1"/>
              <p:nvPr/>
            </p:nvSpPr>
            <p:spPr>
              <a:xfrm>
                <a:off x="5688858" y="2582305"/>
                <a:ext cx="4949881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𝑪𝑳𝑲</m:t>
                          </m:r>
                        </m:sub>
                      </m:sSub>
                      <m:sSub>
                        <m:sSubPr>
                          <m:ctrlPr>
                            <a:rPr lang="en-150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𝑷𝑳𝑳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  <m:sSub>
                        <m:sSubPr>
                          <m:ctrlPr>
                            <a:rPr lang="en-150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𝒉𝒂𝒓𝒏𝒆𝒔𝒔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  <m:sSub>
                        <m:sSubPr>
                          <m:ctrlPr>
                            <a:rPr lang="en-150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𝑬𝑶𝑴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LID4096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FBFADA-832D-4553-B676-11E6EF451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858" y="2582305"/>
                <a:ext cx="4949881" cy="385555"/>
              </a:xfrm>
              <a:prstGeom prst="rect">
                <a:avLst/>
              </a:prstGeom>
              <a:blipFill>
                <a:blip r:embed="rId3"/>
                <a:stretch>
                  <a:fillRect l="-246" r="-123" b="-1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13A95C-E3FB-42EF-BDD9-0AA64D72B9EE}"/>
                  </a:ext>
                </a:extLst>
              </p:cNvPr>
              <p:cNvSpPr txBox="1"/>
              <p:nvPr/>
            </p:nvSpPr>
            <p:spPr>
              <a:xfrm>
                <a:off x="4174915" y="3860215"/>
                <a:ext cx="4480778" cy="421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𝑷𝑳𝑳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  <m:sSub>
                        <m:sSubPr>
                          <m:ctrlPr>
                            <a:rPr lang="en-150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𝒉𝒂𝒓𝒏𝒆𝒔𝒔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&lt;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𝒑𝒔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/√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𝑯𝒛</m:t>
                      </m:r>
                    </m:oMath>
                  </m:oMathPara>
                </a14:m>
                <a:endParaRPr lang="LID4096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13A95C-E3FB-42EF-BDD9-0AA64D72B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915" y="3860215"/>
                <a:ext cx="4480778" cy="4215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BB33F2-A88B-43B5-B3D9-F25B76EB055E}"/>
                  </a:ext>
                </a:extLst>
              </p:cNvPr>
              <p:cNvSpPr txBox="1"/>
              <p:nvPr/>
            </p:nvSpPr>
            <p:spPr>
              <a:xfrm>
                <a:off x="4174915" y="4373869"/>
                <a:ext cx="4704878" cy="477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150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𝒉𝒂𝒓𝒏𝒆𝒔𝒔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  <m:sSub>
                        <m:sSubPr>
                          <m:ctrlPr>
                            <a:rPr lang="en-150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𝑷𝑻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𝒈𝒆𝒏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𝟏𝟐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&lt;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𝒇𝒔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/√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𝑯𝒛</m:t>
                      </m:r>
                    </m:oMath>
                  </m:oMathPara>
                </a14:m>
                <a:endParaRPr lang="LID4096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BB33F2-A88B-43B5-B3D9-F25B76EB0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915" y="4373869"/>
                <a:ext cx="4704878" cy="477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00360E2-4689-4A90-99F6-B330907E34F4}"/>
              </a:ext>
            </a:extLst>
          </p:cNvPr>
          <p:cNvSpPr txBox="1"/>
          <p:nvPr/>
        </p:nvSpPr>
        <p:spPr>
          <a:xfrm>
            <a:off x="2102656" y="3985633"/>
            <a:ext cx="1835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highlight>
                  <a:srgbClr val="D8DFE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Sideband generation</a:t>
            </a:r>
            <a:endParaRPr lang="LID4096" sz="1400" dirty="0">
              <a:solidFill>
                <a:srgbClr val="667982"/>
              </a:solidFill>
              <a:highlight>
                <a:srgbClr val="D8DFE3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A2C05C-0891-49C7-83E8-3910D2457370}"/>
              </a:ext>
            </a:extLst>
          </p:cNvPr>
          <p:cNvSpPr txBox="1"/>
          <p:nvPr/>
        </p:nvSpPr>
        <p:spPr>
          <a:xfrm>
            <a:off x="1493829" y="4458667"/>
            <a:ext cx="27478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highlight>
                  <a:srgbClr val="D8DFE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Sideband vs PT (very important)</a:t>
            </a:r>
            <a:endParaRPr lang="LID4096" sz="1400" dirty="0">
              <a:solidFill>
                <a:srgbClr val="667982"/>
              </a:solidFill>
              <a:highlight>
                <a:srgbClr val="D8DFE3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365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310</Words>
  <Application>Microsoft Office PowerPoint</Application>
  <PresentationFormat>Widescreen</PresentationFormat>
  <Paragraphs>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miniLISA setup</vt:lpstr>
      <vt:lpstr>LISA Clock Signal Distribution</vt:lpstr>
      <vt:lpstr>LISA Timing Jitters</vt:lpstr>
      <vt:lpstr>LISA Timing Jitters</vt:lpstr>
      <vt:lpstr>About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221</cp:revision>
  <dcterms:created xsi:type="dcterms:W3CDTF">2023-08-26T08:59:13Z</dcterms:created>
  <dcterms:modified xsi:type="dcterms:W3CDTF">2025-10-28T14:16:07Z</dcterms:modified>
</cp:coreProperties>
</file>