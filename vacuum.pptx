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9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982"/>
    <a:srgbClr val="D8DFE3"/>
    <a:srgbClr val="4C5960"/>
    <a:srgbClr val="7D858C"/>
    <a:srgbClr val="2E363A"/>
    <a:srgbClr val="F6F8FA"/>
    <a:srgbClr val="A8B7BF"/>
    <a:srgbClr val="EFF1F3"/>
    <a:srgbClr val="262324"/>
    <a:srgbClr val="75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4" autoAdjust="0"/>
    <p:restoredTop sz="83622" autoAdjust="0"/>
  </p:normalViewPr>
  <p:slideViewPr>
    <p:cSldViewPr snapToGrid="0">
      <p:cViewPr varScale="1">
        <p:scale>
          <a:sx n="74" d="100"/>
          <a:sy n="74" d="100"/>
        </p:scale>
        <p:origin x="1027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19.09.2025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E412FDE-1CFE-48F6-820F-9C443C301228}" type="datetime1">
              <a:rPr lang="et-EE" smtClean="0"/>
              <a:t>19.09.2025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161756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1CF8E31-244F-4A6A-A7D5-704B96C48AAE}" type="datetime1">
              <a:rPr lang="et-EE" smtClean="0"/>
              <a:t>19.09.2025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2296B-3A94-4787-AA7D-8DC0AEE88FD4}" type="datetime1">
              <a:rPr lang="et-EE" smtClean="0"/>
              <a:t>19.09.2025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51C1-87AF-4EAC-9696-BB82432B7753}" type="datetime1">
              <a:rPr lang="et-EE" smtClean="0"/>
              <a:t>19.09.2025</a:t>
            </a:fld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E3B0-4572-4FE0-8E55-6746BFAADA96}" type="datetime1">
              <a:rPr lang="et-EE" smtClean="0"/>
              <a:t>19.09.2025</a:t>
            </a:fld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4D14-98D7-455C-9D0D-2863E0C0AA0D}" type="datetime1">
              <a:rPr lang="et-EE" smtClean="0"/>
              <a:t>19.09.2025</a:t>
            </a:fld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DBE-8AE5-4A6F-9E25-F62C693D8ED5}" type="datetime1">
              <a:rPr lang="et-EE" smtClean="0"/>
              <a:t>19.09.2025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51F9-97BE-4EFF-9934-D6DB8E40FF5E}" type="datetime1">
              <a:rPr lang="et-EE" smtClean="0"/>
              <a:t>19.09.2025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0CFC-214E-42F4-8B82-CC6D451BD70F}" type="datetime1">
              <a:rPr lang="et-EE" smtClean="0"/>
              <a:t>19.09.2025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8BF1-41C1-47B8-ACAE-F9884B88C63A}" type="datetime1">
              <a:rPr lang="et-EE" smtClean="0"/>
              <a:t>19.09.2025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7C7EEDD-722C-4F14-9239-A37AD281B51F}" type="datetime1">
              <a:rPr lang="et-EE" smtClean="0"/>
              <a:t>19.09.2025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5958452-E37F-4254-820F-31B25807A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163" y="1361994"/>
            <a:ext cx="6410837" cy="46318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52603F-F808-43FF-B812-C17E5CEA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Vacuum Tank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90063-910B-40B8-98D9-E2142313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19.09.2025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4D55A-7E80-4713-862F-2AC3D4D9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746D-3571-4DE9-9B56-F2133D11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</a:t>
            </a:fld>
            <a:endParaRPr lang="et-EE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7C8C37C-5791-43AE-B00A-AEB2A464FF01}"/>
              </a:ext>
            </a:extLst>
          </p:cNvPr>
          <p:cNvSpPr txBox="1">
            <a:spLocks/>
          </p:cNvSpPr>
          <p:nvPr/>
        </p:nvSpPr>
        <p:spPr>
          <a:xfrm>
            <a:off x="224442" y="1161756"/>
            <a:ext cx="8158331" cy="4365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9A70595-CD54-4F0F-A79D-4A2B18F6E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43" y="1161756"/>
            <a:ext cx="6410836" cy="4365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tank is going to cost around 15k (w/o tax)</a:t>
            </a:r>
          </a:p>
          <a:p>
            <a:pPr marL="0" indent="0">
              <a:buNone/>
            </a:pPr>
            <a:r>
              <a:rPr lang="en-US" dirty="0" err="1"/>
              <a:t>Pfiffer</a:t>
            </a:r>
            <a:r>
              <a:rPr lang="en-US" dirty="0"/>
              <a:t> and </a:t>
            </a:r>
            <a:r>
              <a:rPr lang="en-US" dirty="0" err="1"/>
              <a:t>Lesker</a:t>
            </a:r>
            <a:r>
              <a:rPr lang="en-US" dirty="0"/>
              <a:t> seem to have similar offers.</a:t>
            </a:r>
          </a:p>
          <a:p>
            <a:pPr marL="0" indent="0">
              <a:buNone/>
            </a:pPr>
            <a:r>
              <a:rPr lang="en-US" dirty="0"/>
              <a:t>50 cm diameter, 50 cm height – about 100 L volume</a:t>
            </a:r>
          </a:p>
          <a:p>
            <a:pPr marL="0" indent="0">
              <a:buNone/>
            </a:pPr>
            <a:r>
              <a:rPr lang="en-US" dirty="0"/>
              <a:t>4 additional flanges: for pumps (DN63 CF), venting and the gauge (DN40 CF)</a:t>
            </a:r>
          </a:p>
          <a:p>
            <a:pPr marL="0" indent="0">
              <a:buNone/>
            </a:pPr>
            <a:r>
              <a:rPr lang="en-US" dirty="0"/>
              <a:t>Top plate would be ISO K 500 as it is easier to handle than a similar size CF.</a:t>
            </a:r>
          </a:p>
        </p:txBody>
      </p:sp>
    </p:spTree>
    <p:extLst>
      <p:ext uri="{BB962C8B-B14F-4D97-AF65-F5344CB8AC3E}">
        <p14:creationId xmlns:p14="http://schemas.microsoft.com/office/powerpoint/2010/main" val="203301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5958452-E37F-4254-820F-31B25807A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484" y="1270015"/>
            <a:ext cx="6410837" cy="46318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52603F-F808-43FF-B812-C17E5CEA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Pumps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90063-910B-40B8-98D9-E2142313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19.09.2025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4D55A-7E80-4713-862F-2AC3D4D9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746D-3571-4DE9-9B56-F2133D11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2</a:t>
            </a:fld>
            <a:endParaRPr lang="et-EE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7C8C37C-5791-43AE-B00A-AEB2A464FF01}"/>
              </a:ext>
            </a:extLst>
          </p:cNvPr>
          <p:cNvSpPr txBox="1">
            <a:spLocks/>
          </p:cNvSpPr>
          <p:nvPr/>
        </p:nvSpPr>
        <p:spPr>
          <a:xfrm>
            <a:off x="224442" y="1161756"/>
            <a:ext cx="8158331" cy="4365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9A70595-CD54-4F0F-A79D-4A2B18F6E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43" y="1161756"/>
            <a:ext cx="5871558" cy="4365423"/>
          </a:xfrm>
        </p:spPr>
        <p:txBody>
          <a:bodyPr/>
          <a:lstStyle/>
          <a:p>
            <a:pPr marL="457200" indent="-457200">
              <a:buAutoNum type="arabicParenR"/>
            </a:pPr>
            <a:r>
              <a:rPr lang="en-US" dirty="0" err="1"/>
              <a:t>Leybold</a:t>
            </a:r>
            <a:r>
              <a:rPr lang="en-US" dirty="0"/>
              <a:t> Scroll pump</a:t>
            </a:r>
          </a:p>
          <a:p>
            <a:pPr marL="457200" indent="-457200">
              <a:buAutoNum type="arabicParenR"/>
            </a:pPr>
            <a:r>
              <a:rPr lang="en-US" dirty="0"/>
              <a:t>Leybold Turbo pump – 90 L/s</a:t>
            </a:r>
          </a:p>
          <a:p>
            <a:pPr marL="457200" indent="-457200">
              <a:buAutoNum type="arabicParenR"/>
            </a:pPr>
            <a:r>
              <a:rPr lang="en-US" dirty="0"/>
              <a:t>Gamma Vacuum Ion Pump – 75 L/s</a:t>
            </a:r>
          </a:p>
          <a:p>
            <a:pPr marL="1051560" lvl="1" indent="-457200"/>
            <a:r>
              <a:rPr lang="en-US" dirty="0"/>
              <a:t>20 kg, needs additional support</a:t>
            </a:r>
          </a:p>
          <a:p>
            <a:pPr marL="1051560" lvl="1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639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25</TotalTime>
  <Words>108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Vacuum Tank</vt:lpstr>
      <vt:lpstr>The Pumps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Karin Kruuse</cp:lastModifiedBy>
  <cp:revision>203</cp:revision>
  <dcterms:created xsi:type="dcterms:W3CDTF">2023-08-26T08:59:13Z</dcterms:created>
  <dcterms:modified xsi:type="dcterms:W3CDTF">2025-09-19T07:47:54Z</dcterms:modified>
</cp:coreProperties>
</file>