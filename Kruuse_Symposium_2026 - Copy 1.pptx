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25"/>
  </p:notesMasterIdLst>
  <p:sldIdLst>
    <p:sldId id="256" r:id="rId2"/>
    <p:sldId id="365" r:id="rId3"/>
    <p:sldId id="347" r:id="rId4"/>
    <p:sldId id="348" r:id="rId5"/>
    <p:sldId id="349" r:id="rId6"/>
    <p:sldId id="358" r:id="rId7"/>
    <p:sldId id="351" r:id="rId8"/>
    <p:sldId id="366" r:id="rId9"/>
    <p:sldId id="322" r:id="rId10"/>
    <p:sldId id="354" r:id="rId11"/>
    <p:sldId id="360" r:id="rId12"/>
    <p:sldId id="357" r:id="rId13"/>
    <p:sldId id="362" r:id="rId14"/>
    <p:sldId id="363" r:id="rId15"/>
    <p:sldId id="367" r:id="rId16"/>
    <p:sldId id="369" r:id="rId17"/>
    <p:sldId id="342" r:id="rId18"/>
    <p:sldId id="350" r:id="rId19"/>
    <p:sldId id="364" r:id="rId20"/>
    <p:sldId id="356" r:id="rId21"/>
    <p:sldId id="334" r:id="rId22"/>
    <p:sldId id="323" r:id="rId23"/>
    <p:sldId id="33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CFE3481-4DC0-5320-5BA5-9DED241133D6}" name="Karin Kruuse" initials="KK" userId="S::kruuseka@ut.ee::9d3667ca-44b3-49ee-bafc-89fda7f076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akruu" initials="k" lastIdx="20" clrIdx="0">
    <p:extLst>
      <p:ext uri="{19B8F6BF-5375-455C-9EA6-DF929625EA0E}">
        <p15:presenceInfo xmlns:p15="http://schemas.microsoft.com/office/powerpoint/2012/main" userId="kakru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4B4B"/>
    <a:srgbClr val="323232"/>
    <a:srgbClr val="2D1364"/>
    <a:srgbClr val="969696"/>
    <a:srgbClr val="646464"/>
    <a:srgbClr val="9CADB6"/>
    <a:srgbClr val="D71B2F"/>
    <a:srgbClr val="296024"/>
    <a:srgbClr val="821770"/>
    <a:srgbClr val="D8DF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940EF0-20C6-4F56-9500-723E26054F68}" v="619" dt="2026-06-17T05:48:05.179"/>
    <p1510:client id="{C4E7A8FC-0504-43EC-83FE-0C776D3BA21D}" v="50" dt="2026-06-16T19:11:17.190"/>
    <p1510:client id="{CBAA3118-9793-2816-690A-EB7D591EF4FF}" v="8" dt="2026-06-17T07:13:22.111"/>
    <p1510:client id="{E16CA2A6-B402-42CC-9337-F153E3CC8E64}" v="12" dt="2026-06-17T22:20:20.4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16" autoAdjust="0"/>
    <p:restoredTop sz="83878" autoAdjust="0"/>
  </p:normalViewPr>
  <p:slideViewPr>
    <p:cSldViewPr snapToGrid="0">
      <p:cViewPr varScale="1">
        <p:scale>
          <a:sx n="137" d="100"/>
          <a:sy n="137" d="100"/>
        </p:scale>
        <p:origin x="1340" y="8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23" d="100"/>
          <a:sy n="123" d="100"/>
        </p:scale>
        <p:origin x="4972" y="8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t-E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1B2D2-06A2-4596-9391-656CA05E965F}" type="datetimeFigureOut">
              <a:rPr lang="et-EE" smtClean="0"/>
              <a:t>18.06.2026</a:t>
            </a:fld>
            <a:endParaRPr lang="et-E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t-E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t-E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F329CB-E484-4F61-9C3E-A471CEC4EF7E}" type="slidenum">
              <a:rPr lang="et-EE" smtClean="0"/>
              <a:t>‹#›</a:t>
            </a:fld>
            <a:endParaRPr lang="et-EE" dirty="0"/>
          </a:p>
        </p:txBody>
      </p:sp>
    </p:spTree>
    <p:extLst>
      <p:ext uri="{BB962C8B-B14F-4D97-AF65-F5344CB8AC3E}">
        <p14:creationId xmlns:p14="http://schemas.microsoft.com/office/powerpoint/2010/main" val="2749125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t>
            </a:r>
            <a:r>
              <a:rPr lang="en-DE" dirty="0"/>
              <a:t>his is a status report</a:t>
            </a:r>
          </a:p>
        </p:txBody>
      </p:sp>
      <p:sp>
        <p:nvSpPr>
          <p:cNvPr id="4" name="Slide Number Placeholder 3"/>
          <p:cNvSpPr>
            <a:spLocks noGrp="1"/>
          </p:cNvSpPr>
          <p:nvPr>
            <p:ph type="sldNum" sz="quarter" idx="5"/>
          </p:nvPr>
        </p:nvSpPr>
        <p:spPr/>
        <p:txBody>
          <a:bodyPr/>
          <a:lstStyle/>
          <a:p>
            <a:fld id="{23F329CB-E484-4F61-9C3E-A471CEC4EF7E}" type="slidenum">
              <a:rPr lang="et-EE" smtClean="0"/>
              <a:t>1</a:t>
            </a:fld>
            <a:endParaRPr lang="et-EE" dirty="0"/>
          </a:p>
        </p:txBody>
      </p:sp>
    </p:spTree>
    <p:extLst>
      <p:ext uri="{BB962C8B-B14F-4D97-AF65-F5344CB8AC3E}">
        <p14:creationId xmlns:p14="http://schemas.microsoft.com/office/powerpoint/2010/main" val="11473349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US"/>
              <a:t>Simulations can only test what you think to simulate</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a:t>
            </a:fld>
            <a:endParaRPr lang="et-EE"/>
          </a:p>
        </p:txBody>
      </p:sp>
    </p:spTree>
    <p:extLst>
      <p:ext uri="{BB962C8B-B14F-4D97-AF65-F5344CB8AC3E}">
        <p14:creationId xmlns:p14="http://schemas.microsoft.com/office/powerpoint/2010/main" val="102623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3</a:t>
            </a:fld>
            <a:endParaRPr lang="et-EE"/>
          </a:p>
        </p:txBody>
      </p:sp>
    </p:spTree>
    <p:extLst>
      <p:ext uri="{BB962C8B-B14F-4D97-AF65-F5344CB8AC3E}">
        <p14:creationId xmlns:p14="http://schemas.microsoft.com/office/powerpoint/2010/main" val="38497155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4</a:t>
            </a:fld>
            <a:endParaRPr lang="et-EE"/>
          </a:p>
        </p:txBody>
      </p:sp>
    </p:spTree>
    <p:extLst>
      <p:ext uri="{BB962C8B-B14F-4D97-AF65-F5344CB8AC3E}">
        <p14:creationId xmlns:p14="http://schemas.microsoft.com/office/powerpoint/2010/main" val="29512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US" dirty="0">
              <a:ea typeface="Calibri"/>
              <a:cs typeface="Calibri"/>
            </a:endParaRP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5</a:t>
            </a:fld>
            <a:endParaRPr lang="et-EE"/>
          </a:p>
        </p:txBody>
      </p:sp>
    </p:spTree>
    <p:extLst>
      <p:ext uri="{BB962C8B-B14F-4D97-AF65-F5344CB8AC3E}">
        <p14:creationId xmlns:p14="http://schemas.microsoft.com/office/powerpoint/2010/main" val="1006203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F</a:t>
            </a:r>
            <a:r>
              <a:rPr lang="en-DE" dirty="0"/>
              <a:t>ix the signs</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6</a:t>
            </a:fld>
            <a:endParaRPr lang="et-EE"/>
          </a:p>
        </p:txBody>
      </p:sp>
    </p:spTree>
    <p:extLst>
      <p:ext uri="{BB962C8B-B14F-4D97-AF65-F5344CB8AC3E}">
        <p14:creationId xmlns:p14="http://schemas.microsoft.com/office/powerpoint/2010/main" val="35890550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Lasers</a:t>
            </a:r>
            <a:r>
              <a:rPr lang="et-EE" dirty="0"/>
              <a:t>, </a:t>
            </a:r>
            <a:r>
              <a:rPr lang="et-EE" dirty="0" err="1"/>
              <a:t>delaylines</a:t>
            </a:r>
            <a:r>
              <a:rPr lang="et-EE" dirty="0"/>
              <a:t>, </a:t>
            </a:r>
            <a:r>
              <a:rPr lang="et-EE" dirty="0" err="1"/>
              <a:t>locking</a:t>
            </a:r>
            <a:r>
              <a:rPr lang="et-EE" dirty="0"/>
              <a:t>, </a:t>
            </a:r>
            <a:r>
              <a:rPr lang="et-EE" dirty="0" err="1"/>
              <a:t>add</a:t>
            </a:r>
            <a:r>
              <a:rPr lang="et-EE" dirty="0"/>
              <a:t> </a:t>
            </a:r>
            <a:r>
              <a:rPr lang="et-EE" dirty="0" err="1"/>
              <a:t>pic</a:t>
            </a:r>
            <a:r>
              <a:rPr lang="et-EE" dirty="0"/>
              <a:t> of </a:t>
            </a:r>
            <a:r>
              <a:rPr lang="et-EE" dirty="0" err="1"/>
              <a:t>lab</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7</a:t>
            </a:fld>
            <a:endParaRPr lang="et-EE"/>
          </a:p>
        </p:txBody>
      </p:sp>
    </p:spTree>
    <p:extLst>
      <p:ext uri="{BB962C8B-B14F-4D97-AF65-F5344CB8AC3E}">
        <p14:creationId xmlns:p14="http://schemas.microsoft.com/office/powerpoint/2010/main" val="13824905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n-US" dirty="0"/>
              <a:t>The length variability, like how it affects the </a:t>
            </a:r>
            <a:br>
              <a:rPr lang="en-US" dirty="0"/>
            </a:br>
            <a:br>
              <a:rPr lang="en-US" dirty="0"/>
            </a:b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8</a:t>
            </a:fld>
            <a:endParaRPr lang="et-EE"/>
          </a:p>
        </p:txBody>
      </p:sp>
    </p:spTree>
    <p:extLst>
      <p:ext uri="{BB962C8B-B14F-4D97-AF65-F5344CB8AC3E}">
        <p14:creationId xmlns:p14="http://schemas.microsoft.com/office/powerpoint/2010/main" val="17668682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Designed for </a:t>
            </a:r>
            <a:r>
              <a:rPr lang="en-US" dirty="0" err="1"/>
              <a:t>softwawre</a:t>
            </a:r>
            <a:r>
              <a:rPr lang="en-US" dirty="0"/>
              <a:t> RF</a:t>
            </a:r>
            <a:endParaRPr lang="et-EE" dirty="0"/>
          </a:p>
        </p:txBody>
      </p:sp>
      <p:sp>
        <p:nvSpPr>
          <p:cNvPr id="4" name="Slide Number Placeholder 3"/>
          <p:cNvSpPr>
            <a:spLocks noGrp="1"/>
          </p:cNvSpPr>
          <p:nvPr>
            <p:ph type="sldNum" sz="quarter" idx="5"/>
          </p:nvPr>
        </p:nvSpPr>
        <p:spPr/>
        <p:txBody>
          <a:bodyPr/>
          <a:lstStyle/>
          <a:p>
            <a:fld id="{23F329CB-E484-4F61-9C3E-A471CEC4EF7E}" type="slidenum">
              <a:rPr lang="et-EE" smtClean="0"/>
              <a:t>9</a:t>
            </a:fld>
            <a:endParaRPr lang="et-EE"/>
          </a:p>
        </p:txBody>
      </p:sp>
    </p:spTree>
    <p:extLst>
      <p:ext uri="{BB962C8B-B14F-4D97-AF65-F5344CB8AC3E}">
        <p14:creationId xmlns:p14="http://schemas.microsoft.com/office/powerpoint/2010/main" val="1862085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10</a:t>
            </a:fld>
            <a:endParaRPr lang="et-EE"/>
          </a:p>
        </p:txBody>
      </p:sp>
    </p:spTree>
    <p:extLst>
      <p:ext uri="{BB962C8B-B14F-4D97-AF65-F5344CB8AC3E}">
        <p14:creationId xmlns:p14="http://schemas.microsoft.com/office/powerpoint/2010/main" val="4291730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Explain the extraction clearl</a:t>
            </a:r>
            <a:r>
              <a:rPr lang="en-US" dirty="0"/>
              <a:t>y</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11</a:t>
            </a:fld>
            <a:endParaRPr lang="et-EE"/>
          </a:p>
        </p:txBody>
      </p:sp>
    </p:spTree>
    <p:extLst>
      <p:ext uri="{BB962C8B-B14F-4D97-AF65-F5344CB8AC3E}">
        <p14:creationId xmlns:p14="http://schemas.microsoft.com/office/powerpoint/2010/main" val="32606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C</a:t>
            </a:r>
            <a:r>
              <a:rPr lang="en-DE" dirty="0"/>
              <a:t>larify the modulating freq.</a:t>
            </a:r>
            <a:endParaRPr lang="en-US" dirty="0"/>
          </a:p>
          <a:p>
            <a:r>
              <a:rPr lang="en-GB" dirty="0"/>
              <a:t>A</a:t>
            </a:r>
            <a:r>
              <a:rPr lang="en-DE" dirty="0"/>
              <a:t>dd clarifing notes for the terms/frequencies (already in previous slides)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12</a:t>
            </a:fld>
            <a:endParaRPr lang="et-EE"/>
          </a:p>
        </p:txBody>
      </p:sp>
    </p:spTree>
    <p:extLst>
      <p:ext uri="{BB962C8B-B14F-4D97-AF65-F5344CB8AC3E}">
        <p14:creationId xmlns:p14="http://schemas.microsoft.com/office/powerpoint/2010/main" val="187719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H</a:t>
            </a:r>
            <a:r>
              <a:rPr lang="en-DE" dirty="0"/>
              <a:t>ighlight the modulation frequency in the text, explain the GHz limitation better</a:t>
            </a:r>
            <a:br>
              <a:rPr lang="en-DE" dirty="0"/>
            </a:br>
            <a:r>
              <a:rPr lang="en-DE" dirty="0"/>
              <a:t>change slide text, this is sideband</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13</a:t>
            </a:fld>
            <a:endParaRPr lang="et-EE"/>
          </a:p>
        </p:txBody>
      </p:sp>
    </p:spTree>
    <p:extLst>
      <p:ext uri="{BB962C8B-B14F-4D97-AF65-F5344CB8AC3E}">
        <p14:creationId xmlns:p14="http://schemas.microsoft.com/office/powerpoint/2010/main" val="4110054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14</a:t>
            </a:fld>
            <a:endParaRPr lang="et-EE"/>
          </a:p>
        </p:txBody>
      </p:sp>
    </p:spTree>
    <p:extLst>
      <p:ext uri="{BB962C8B-B14F-4D97-AF65-F5344CB8AC3E}">
        <p14:creationId xmlns:p14="http://schemas.microsoft.com/office/powerpoint/2010/main" val="2896755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r>
              <a:rPr lang="en-GB" dirty="0"/>
              <a:t>S</a:t>
            </a:r>
            <a:r>
              <a:rPr lang="en-DE" dirty="0"/>
              <a:t>olution nr 1</a:t>
            </a:r>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15</a:t>
            </a:fld>
            <a:endParaRPr lang="et-EE"/>
          </a:p>
        </p:txBody>
      </p:sp>
    </p:spTree>
    <p:extLst>
      <p:ext uri="{BB962C8B-B14F-4D97-AF65-F5344CB8AC3E}">
        <p14:creationId xmlns:p14="http://schemas.microsoft.com/office/powerpoint/2010/main" val="330709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r>
              <a:rPr lang="en-GB" dirty="0"/>
              <a:t>O</a:t>
            </a:r>
            <a:r>
              <a:rPr lang="en-DE" dirty="0"/>
              <a:t>ur firmware currently doesn’t allow for GHz “front end”. </a:t>
            </a:r>
            <a:r>
              <a:rPr lang="en-GB" dirty="0"/>
              <a:t>S</a:t>
            </a:r>
            <a:r>
              <a:rPr lang="en-DE" dirty="0"/>
              <a:t>olution nr 2, add</a:t>
            </a:r>
            <a:br>
              <a:rPr lang="en-DE" dirty="0"/>
            </a:br>
            <a:r>
              <a:rPr lang="en-DE" dirty="0"/>
              <a:t>Clarify the solution properly. </a:t>
            </a:r>
            <a:r>
              <a:rPr lang="en-GB" dirty="0"/>
              <a:t>L</a:t>
            </a:r>
            <a:r>
              <a:rPr lang="en-DE" dirty="0"/>
              <a:t>ike why is this even an issue currently</a:t>
            </a:r>
            <a:br>
              <a:rPr lang="en-US" dirty="0"/>
            </a:br>
            <a:br>
              <a:rPr lang="en-US" dirty="0"/>
            </a:br>
            <a:r>
              <a:rPr lang="en-US" dirty="0"/>
              <a:t>internal IQ demodulation -- </a:t>
            </a:r>
            <a:endParaRPr lang="en-DE" dirty="0"/>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16</a:t>
            </a:fld>
            <a:endParaRPr lang="et-EE"/>
          </a:p>
        </p:txBody>
      </p:sp>
    </p:spTree>
    <p:extLst>
      <p:ext uri="{BB962C8B-B14F-4D97-AF65-F5344CB8AC3E}">
        <p14:creationId xmlns:p14="http://schemas.microsoft.com/office/powerpoint/2010/main" val="2433340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a:t>
            </a:r>
            <a:r>
              <a:rPr lang="en-DE" dirty="0"/>
              <a:t>ix the clock noise stuff</a:t>
            </a:r>
          </a:p>
          <a:p>
            <a:r>
              <a:rPr lang="en-GB" dirty="0"/>
              <a:t>A</a:t>
            </a:r>
            <a:r>
              <a:rPr lang="en-DE" dirty="0"/>
              <a:t>dd the cavity locking plans? – how u get the good beatnote (in the right range)</a:t>
            </a:r>
          </a:p>
          <a:p>
            <a:r>
              <a:rPr lang="en-GB" dirty="0"/>
              <a:t>T</a:t>
            </a:r>
            <a:r>
              <a:rPr lang="en-DE" dirty="0"/>
              <a:t>ake out delay line stuff, like put them together</a:t>
            </a:r>
          </a:p>
          <a:p>
            <a:endParaRPr lang="en-DE" dirty="0"/>
          </a:p>
        </p:txBody>
      </p:sp>
      <p:sp>
        <p:nvSpPr>
          <p:cNvPr id="4" name="Slide Number Placeholder 3"/>
          <p:cNvSpPr>
            <a:spLocks noGrp="1"/>
          </p:cNvSpPr>
          <p:nvPr>
            <p:ph type="sldNum" sz="quarter" idx="5"/>
          </p:nvPr>
        </p:nvSpPr>
        <p:spPr/>
        <p:txBody>
          <a:bodyPr/>
          <a:lstStyle/>
          <a:p>
            <a:fld id="{23F329CB-E484-4F61-9C3E-A471CEC4EF7E}" type="slidenum">
              <a:rPr lang="et-EE" smtClean="0"/>
              <a:t>17</a:t>
            </a:fld>
            <a:endParaRPr lang="et-EE" dirty="0"/>
          </a:p>
        </p:txBody>
      </p:sp>
    </p:spTree>
    <p:extLst>
      <p:ext uri="{BB962C8B-B14F-4D97-AF65-F5344CB8AC3E}">
        <p14:creationId xmlns:p14="http://schemas.microsoft.com/office/powerpoint/2010/main" val="1846322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Add</a:t>
            </a:r>
            <a:r>
              <a:rPr lang="et-EE" dirty="0"/>
              <a:t> </a:t>
            </a:r>
            <a:r>
              <a:rPr lang="et-EE" dirty="0" err="1"/>
              <a:t>fibers</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18</a:t>
            </a:fld>
            <a:endParaRPr lang="et-EE"/>
          </a:p>
        </p:txBody>
      </p:sp>
    </p:spTree>
    <p:extLst>
      <p:ext uri="{BB962C8B-B14F-4D97-AF65-F5344CB8AC3E}">
        <p14:creationId xmlns:p14="http://schemas.microsoft.com/office/powerpoint/2010/main" val="18843781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A</a:t>
            </a:r>
            <a:r>
              <a:rPr lang="en-DE" dirty="0"/>
              <a:t>dd something that indicates the residuals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19</a:t>
            </a:fld>
            <a:endParaRPr lang="et-EE"/>
          </a:p>
        </p:txBody>
      </p:sp>
    </p:spTree>
    <p:extLst>
      <p:ext uri="{BB962C8B-B14F-4D97-AF65-F5344CB8AC3E}">
        <p14:creationId xmlns:p14="http://schemas.microsoft.com/office/powerpoint/2010/main" val="16496785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T</a:t>
            </a:r>
            <a:r>
              <a:rPr lang="en-DE" dirty="0"/>
              <a:t>ake out</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20</a:t>
            </a:fld>
            <a:endParaRPr lang="et-EE"/>
          </a:p>
        </p:txBody>
      </p:sp>
    </p:spTree>
    <p:extLst>
      <p:ext uri="{BB962C8B-B14F-4D97-AF65-F5344CB8AC3E}">
        <p14:creationId xmlns:p14="http://schemas.microsoft.com/office/powerpoint/2010/main" val="614576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Update! </a:t>
            </a:r>
            <a:r>
              <a:rPr lang="et-EE" dirty="0" err="1"/>
              <a:t>If</a:t>
            </a:r>
            <a:r>
              <a:rPr lang="et-EE" dirty="0"/>
              <a:t> </a:t>
            </a:r>
            <a:r>
              <a:rPr lang="et-EE" dirty="0" err="1"/>
              <a:t>shown</a:t>
            </a:r>
            <a:r>
              <a:rPr lang="et-EE" dirty="0"/>
              <a:t>, show </a:t>
            </a:r>
            <a:r>
              <a:rPr lang="et-EE" dirty="0" err="1"/>
              <a:t>later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21</a:t>
            </a:fld>
            <a:endParaRPr lang="et-EE"/>
          </a:p>
        </p:txBody>
      </p:sp>
    </p:spTree>
    <p:extLst>
      <p:ext uri="{BB962C8B-B14F-4D97-AF65-F5344CB8AC3E}">
        <p14:creationId xmlns:p14="http://schemas.microsoft.com/office/powerpoint/2010/main" val="4035524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976B1-8AAD-DECC-0159-8FC0B234A4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4D550-559C-956A-6D77-8F86A480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7EA18-1B5C-2D68-E3AD-3784B5AE069D}"/>
              </a:ext>
            </a:extLst>
          </p:cNvPr>
          <p:cNvSpPr>
            <a:spLocks noGrp="1"/>
          </p:cNvSpPr>
          <p:nvPr>
            <p:ph type="body" idx="1"/>
          </p:nvPr>
        </p:nvSpPr>
        <p:spPr/>
        <p:txBody>
          <a:bodyPr/>
          <a:lstStyle/>
          <a:p>
            <a:r>
              <a:rPr lang="et-EE" dirty="0"/>
              <a:t>Decades ago a testbed was build in University of Florida. Our design, which i will soon enough get to, was very similar to ours – so it is the predecessor to our testbed. The experiments performed were able to show that with TDI it is infact possible to cancel the laser noise orders of magnitude while preserving the gravitational wave signal. The strain used here is about two orders of magnitude higher that what was expected for LISA though. Overall the testbed was largely limited by the technology of the time – the baseline noise was high and the possibilities with adding GWs were limited. The testbed also didnt include the laserfield modulation for clock noise removal.</a:t>
            </a:r>
          </a:p>
          <a:p>
            <a:endParaRPr lang="et-EE" dirty="0"/>
          </a:p>
          <a:p>
            <a:endParaRPr lang="et-EE" dirty="0"/>
          </a:p>
          <a:p>
            <a:endParaRPr lang="et-EE" dirty="0"/>
          </a:p>
        </p:txBody>
      </p:sp>
      <p:sp>
        <p:nvSpPr>
          <p:cNvPr id="4" name="Slide Number Placeholder 3">
            <a:extLst>
              <a:ext uri="{FF2B5EF4-FFF2-40B4-BE49-F238E27FC236}">
                <a16:creationId xmlns:a16="http://schemas.microsoft.com/office/drawing/2014/main" id="{F16B86E6-6763-FC4B-6A44-11F441A34C9B}"/>
              </a:ext>
            </a:extLst>
          </p:cNvPr>
          <p:cNvSpPr>
            <a:spLocks noGrp="1"/>
          </p:cNvSpPr>
          <p:nvPr>
            <p:ph type="sldNum" sz="quarter" idx="5"/>
          </p:nvPr>
        </p:nvSpPr>
        <p:spPr/>
        <p:txBody>
          <a:bodyPr/>
          <a:lstStyle/>
          <a:p>
            <a:fld id="{23F329CB-E484-4F61-9C3E-A471CEC4EF7E}" type="slidenum">
              <a:rPr lang="et-EE" smtClean="0"/>
              <a:t>22</a:t>
            </a:fld>
            <a:endParaRPr lang="et-EE"/>
          </a:p>
        </p:txBody>
      </p:sp>
    </p:spTree>
    <p:extLst>
      <p:ext uri="{BB962C8B-B14F-4D97-AF65-F5344CB8AC3E}">
        <p14:creationId xmlns:p14="http://schemas.microsoft.com/office/powerpoint/2010/main" val="350942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30F51-0FB3-8CC0-2E16-8647C969D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40F12-9724-12CD-77BA-A394D64D5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259571-8FC7-7DC7-EE6D-3269B11029A5}"/>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BEF85CED-5032-77DA-F212-E6B7C573A076}"/>
              </a:ext>
            </a:extLst>
          </p:cNvPr>
          <p:cNvSpPr>
            <a:spLocks noGrp="1"/>
          </p:cNvSpPr>
          <p:nvPr>
            <p:ph type="sldNum" sz="quarter" idx="5"/>
          </p:nvPr>
        </p:nvSpPr>
        <p:spPr/>
        <p:txBody>
          <a:bodyPr/>
          <a:lstStyle/>
          <a:p>
            <a:fld id="{23F329CB-E484-4F61-9C3E-A471CEC4EF7E}" type="slidenum">
              <a:rPr lang="et-EE" smtClean="0"/>
              <a:t>23</a:t>
            </a:fld>
            <a:endParaRPr lang="et-EE"/>
          </a:p>
        </p:txBody>
      </p:sp>
    </p:spTree>
    <p:extLst>
      <p:ext uri="{BB962C8B-B14F-4D97-AF65-F5344CB8AC3E}">
        <p14:creationId xmlns:p14="http://schemas.microsoft.com/office/powerpoint/2010/main" val="1219118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rgbClr val="323232"/>
                </a:solidFill>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223062" y="6356350"/>
            <a:ext cx="2743200" cy="365125"/>
          </a:xfrm>
        </p:spPr>
        <p:txBody>
          <a:bodyPr/>
          <a:lstStyle>
            <a:lvl1pPr>
              <a:defRPr>
                <a:solidFill>
                  <a:schemeClr val="tx1">
                    <a:lumMod val="75000"/>
                  </a:schemeClr>
                </a:solidFill>
              </a:defRPr>
            </a:lvl1pPr>
          </a:lstStyle>
          <a:p>
            <a:r>
              <a:rPr lang="LID4096" dirty="0"/>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chemeClr val="tx1">
                    <a:lumMod val="75000"/>
                  </a:schemeClr>
                </a:solidFill>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632951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4443" y="241069"/>
            <a:ext cx="10298083" cy="889462"/>
          </a:xfrm>
        </p:spPr>
        <p:txBody>
          <a:bodyPr>
            <a:normAutofit/>
          </a:bodyPr>
          <a:lstStyle>
            <a:lvl1pPr marL="91440">
              <a:defRPr sz="3600" b="1">
                <a:solidFill>
                  <a:srgbClr val="323232"/>
                </a:solidFill>
                <a:latin typeface="Helvetica" pitchFamily="2"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a:xfrm>
            <a:off x="224442" y="1252452"/>
            <a:ext cx="11266517" cy="4396648"/>
          </a:xfrm>
        </p:spPr>
        <p:txBody>
          <a:bodyPr/>
          <a:lstStyle>
            <a:lvl1pPr marL="91440">
              <a:defRPr sz="2400" b="0">
                <a:solidFill>
                  <a:srgbClr val="323232"/>
                </a:solidFill>
                <a:latin typeface="Helvetica" pitchFamily="2" charset="0"/>
                <a:cs typeface="Arial" panose="020B0604020202020204" pitchFamily="34" charset="0"/>
              </a:defRPr>
            </a:lvl1pPr>
            <a:lvl2pPr>
              <a:defRPr b="0">
                <a:solidFill>
                  <a:srgbClr val="323232"/>
                </a:solidFill>
                <a:latin typeface="Helvetica" pitchFamily="2" charset="0"/>
                <a:cs typeface="Arial" panose="020B0604020202020204" pitchFamily="34" charset="0"/>
              </a:defRPr>
            </a:lvl2pPr>
            <a:lvl3pPr>
              <a:defRPr b="0">
                <a:solidFill>
                  <a:srgbClr val="323232"/>
                </a:solidFill>
                <a:latin typeface="Helvetica" pitchFamily="2" charset="0"/>
                <a:cs typeface="Arial" panose="020B0604020202020204" pitchFamily="34" charset="0"/>
              </a:defRPr>
            </a:lvl3pPr>
            <a:lvl4pPr>
              <a:defRPr b="0">
                <a:solidFill>
                  <a:srgbClr val="323232"/>
                </a:solidFill>
                <a:latin typeface="Helvetica" pitchFamily="2" charset="0"/>
                <a:cs typeface="Arial" panose="020B0604020202020204" pitchFamily="34" charset="0"/>
              </a:defRPr>
            </a:lvl4pPr>
            <a:lvl5pPr>
              <a:defRPr b="0">
                <a:solidFill>
                  <a:srgbClr val="323232"/>
                </a:solidFill>
                <a:latin typeface="Helvetica" pitchFamily="2"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224443" y="6356350"/>
            <a:ext cx="2743200" cy="365125"/>
          </a:xfrm>
        </p:spPr>
        <p:txBody>
          <a:bodyPr/>
          <a:lstStyle>
            <a:lvl1pPr>
              <a:defRPr>
                <a:solidFill>
                  <a:srgbClr val="969696"/>
                </a:solidFill>
                <a:latin typeface="Helvetica" pitchFamily="2" charset="0"/>
                <a:cs typeface="Arial" panose="020B0604020202020204" pitchFamily="34" charset="0"/>
              </a:defRPr>
            </a:lvl1pPr>
          </a:lstStyle>
          <a:p>
            <a:r>
              <a:rPr lang="LID4096"/>
              <a:t>23.06.2026</a:t>
            </a:r>
            <a:endParaRPr lang="et-EE" dirty="0"/>
          </a:p>
        </p:txBody>
      </p:sp>
      <p:sp>
        <p:nvSpPr>
          <p:cNvPr id="5" name="Footer Placeholder 4"/>
          <p:cNvSpPr>
            <a:spLocks noGrp="1"/>
          </p:cNvSpPr>
          <p:nvPr>
            <p:ph type="ftr" sz="quarter" idx="11"/>
          </p:nvPr>
        </p:nvSpPr>
        <p:spPr/>
        <p:txBody>
          <a:bodyPr/>
          <a:lstStyle>
            <a:lvl1pPr>
              <a:defRPr>
                <a:solidFill>
                  <a:srgbClr val="969696"/>
                </a:solidFill>
                <a:latin typeface="Helvetica" pitchFamily="2" charset="0"/>
                <a:cs typeface="Arial" panose="020B0604020202020204" pitchFamily="34" charset="0"/>
              </a:defRPr>
            </a:lvl1p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rgbClr val="969696"/>
                </a:solidFill>
                <a:latin typeface="Helvetica" pitchFamily="2" charset="0"/>
                <a:cs typeface="Arial" panose="020B0604020202020204" pitchFamily="34" charset="0"/>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3184781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7" name="Date Placeholder 3">
            <a:extLst>
              <a:ext uri="{FF2B5EF4-FFF2-40B4-BE49-F238E27FC236}">
                <a16:creationId xmlns:a16="http://schemas.microsoft.com/office/drawing/2014/main" id="{D3CFE6F3-8EA7-20B6-44B8-4BBDC4361948}"/>
              </a:ext>
            </a:extLst>
          </p:cNvPr>
          <p:cNvSpPr txBox="1">
            <a:spLocks/>
          </p:cNvSpPr>
          <p:nvPr userDrawn="1"/>
        </p:nvSpPr>
        <p:spPr>
          <a:xfrm>
            <a:off x="376843" y="6508750"/>
            <a:ext cx="2743200" cy="365125"/>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t-EE" dirty="0"/>
              <a:t>28.08.2023</a:t>
            </a:r>
          </a:p>
        </p:txBody>
      </p:sp>
      <p:sp>
        <p:nvSpPr>
          <p:cNvPr id="8" name="Slide Number Placeholder 5">
            <a:extLst>
              <a:ext uri="{FF2B5EF4-FFF2-40B4-BE49-F238E27FC236}">
                <a16:creationId xmlns:a16="http://schemas.microsoft.com/office/drawing/2014/main" id="{F3BAF38B-E3FE-B466-B6EB-A14DD731454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883320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4180751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r>
              <a:rPr lang="LID4096"/>
              <a:t>23.06.2026</a:t>
            </a:r>
            <a:endParaRPr lang="et-EE" dirty="0"/>
          </a:p>
        </p:txBody>
      </p:sp>
      <p:sp>
        <p:nvSpPr>
          <p:cNvPr id="8" name="Footer Placeholder 7"/>
          <p:cNvSpPr>
            <a:spLocks noGrp="1"/>
          </p:cNvSpPr>
          <p:nvPr>
            <p:ph type="ftr" sz="quarter" idx="11"/>
          </p:nvPr>
        </p:nvSpPr>
        <p:spPr/>
        <p:txBody>
          <a:bodyPr/>
          <a:lstStyle/>
          <a:p>
            <a:r>
              <a:rPr lang="en-US"/>
              <a:t>16th International LISA Symposium</a:t>
            </a:r>
            <a:endParaRPr lang="et-EE" dirty="0"/>
          </a:p>
        </p:txBody>
      </p:sp>
      <p:sp>
        <p:nvSpPr>
          <p:cNvPr id="9" name="Slide Number Placeholder 8"/>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95068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r>
              <a:rPr lang="LID4096"/>
              <a:t>23.06.2026</a:t>
            </a:r>
            <a:endParaRPr lang="et-EE" dirty="0"/>
          </a:p>
        </p:txBody>
      </p:sp>
      <p:sp>
        <p:nvSpPr>
          <p:cNvPr id="4" name="Footer Placeholder 3"/>
          <p:cNvSpPr>
            <a:spLocks noGrp="1"/>
          </p:cNvSpPr>
          <p:nvPr>
            <p:ph type="ftr" sz="quarter" idx="11"/>
          </p:nvPr>
        </p:nvSpPr>
        <p:spPr/>
        <p:txBody>
          <a:bodyPr/>
          <a:lstStyle/>
          <a:p>
            <a:r>
              <a:rPr lang="en-US"/>
              <a:t>16th International LISA Symposium</a:t>
            </a:r>
            <a:endParaRPr lang="et-EE" dirty="0"/>
          </a:p>
        </p:txBody>
      </p:sp>
      <p:sp>
        <p:nvSpPr>
          <p:cNvPr id="5" name="Slide Number Placeholder 4"/>
          <p:cNvSpPr>
            <a:spLocks noGrp="1"/>
          </p:cNvSpPr>
          <p:nvPr>
            <p:ph type="sldNum" sz="quarter" idx="12"/>
          </p:nvPr>
        </p:nvSpPr>
        <p:spPr/>
        <p:txBody>
          <a:bodyPr/>
          <a:lstStyle/>
          <a:p>
            <a:fld id="{9F39E346-B1F3-4075-BD67-234EF0F10AC6}" type="slidenum">
              <a:rPr lang="et-EE" smtClean="0"/>
              <a:t>‹#›</a:t>
            </a:fld>
            <a:endParaRPr lang="et-EE" dirty="0"/>
          </a:p>
        </p:txBody>
      </p:sp>
      <p:sp>
        <p:nvSpPr>
          <p:cNvPr id="6" name="Title 1">
            <a:extLst>
              <a:ext uri="{FF2B5EF4-FFF2-40B4-BE49-F238E27FC236}">
                <a16:creationId xmlns:a16="http://schemas.microsoft.com/office/drawing/2014/main" id="{0069F6E4-9020-7783-DE83-4C47CF315C3E}"/>
              </a:ext>
            </a:extLst>
          </p:cNvPr>
          <p:cNvSpPr>
            <a:spLocks noGrp="1"/>
          </p:cNvSpPr>
          <p:nvPr>
            <p:ph type="title"/>
          </p:nvPr>
        </p:nvSpPr>
        <p:spPr>
          <a:xfrm>
            <a:off x="224443" y="241069"/>
            <a:ext cx="10298083" cy="889462"/>
          </a:xfrm>
        </p:spPr>
        <p:txBody>
          <a:bodyPr>
            <a:normAutofit/>
          </a:bodyPr>
          <a:lstStyle>
            <a:lvl1pPr marL="91440">
              <a:defRPr sz="3200" b="1">
                <a:solidFill>
                  <a:schemeClr val="tx1">
                    <a:lumMod val="95000"/>
                  </a:schemeClr>
                </a:solidFill>
                <a:latin typeface="Helvetica" pitchFamily="2" charset="0"/>
                <a:cs typeface="Arial" panose="020B0604020202020204" pitchFamily="34" charset="0"/>
              </a:defRPr>
            </a:lvl1pPr>
          </a:lstStyle>
          <a:p>
            <a:r>
              <a:rPr lang="en-US" dirty="0"/>
              <a:t>Click to edit Master title style</a:t>
            </a:r>
          </a:p>
        </p:txBody>
      </p:sp>
    </p:spTree>
    <p:extLst>
      <p:ext uri="{BB962C8B-B14F-4D97-AF65-F5344CB8AC3E}">
        <p14:creationId xmlns:p14="http://schemas.microsoft.com/office/powerpoint/2010/main" val="594470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LID4096"/>
              <a:t>23.06.2026</a:t>
            </a:r>
            <a:endParaRPr lang="et-EE" dirty="0"/>
          </a:p>
        </p:txBody>
      </p:sp>
      <p:sp>
        <p:nvSpPr>
          <p:cNvPr id="3" name="Footer Placeholder 2"/>
          <p:cNvSpPr>
            <a:spLocks noGrp="1"/>
          </p:cNvSpPr>
          <p:nvPr>
            <p:ph type="ftr" sz="quarter" idx="11"/>
          </p:nvPr>
        </p:nvSpPr>
        <p:spPr/>
        <p:txBody>
          <a:bodyPr/>
          <a:lstStyle/>
          <a:p>
            <a:r>
              <a:rPr lang="en-US"/>
              <a:t>16th International LISA Symposium</a:t>
            </a:r>
            <a:endParaRPr lang="et-EE" dirty="0"/>
          </a:p>
        </p:txBody>
      </p:sp>
      <p:sp>
        <p:nvSpPr>
          <p:cNvPr id="4" name="Slide Number Placeholder 3"/>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374633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192504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5869815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000484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89329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969696"/>
                </a:solidFill>
                <a:latin typeface="Helvetica" pitchFamily="2" charset="0"/>
              </a:defRPr>
            </a:lvl1pPr>
          </a:lstStyle>
          <a:p>
            <a:r>
              <a:rPr lang="LID4096"/>
              <a:t>23.06.2026</a:t>
            </a:r>
            <a:endParaRPr lang="et-E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969696"/>
                </a:solidFill>
                <a:latin typeface="Helvetica" pitchFamily="2" charset="0"/>
              </a:defRPr>
            </a:lvl1pPr>
          </a:lstStyle>
          <a:p>
            <a:r>
              <a:rPr lang="en-US"/>
              <a:t>16th International LISA Symposium</a:t>
            </a:r>
            <a:endParaRPr lang="et-EE" dirty="0"/>
          </a:p>
        </p:txBody>
      </p:sp>
      <p:sp>
        <p:nvSpPr>
          <p:cNvPr id="6" name="Slide Number Placeholder 5"/>
          <p:cNvSpPr>
            <a:spLocks noGrp="1"/>
          </p:cNvSpPr>
          <p:nvPr>
            <p:ph type="sldNum" sz="quarter" idx="4"/>
          </p:nvPr>
        </p:nvSpPr>
        <p:spPr>
          <a:xfrm>
            <a:off x="9250679" y="6356350"/>
            <a:ext cx="2743200" cy="365125"/>
          </a:xfrm>
          <a:prstGeom prst="rect">
            <a:avLst/>
          </a:prstGeom>
        </p:spPr>
        <p:txBody>
          <a:bodyPr vert="horz" lIns="91440" tIns="45720" rIns="91440" bIns="45720" rtlCol="0" anchor="ctr"/>
          <a:lstStyle>
            <a:lvl1pPr algn="r">
              <a:defRPr sz="1200">
                <a:solidFill>
                  <a:srgbClr val="969696"/>
                </a:solidFill>
                <a:latin typeface="Helvetica" pitchFamily="2" charset="0"/>
              </a:defRPr>
            </a:lvl1pPr>
          </a:lstStyle>
          <a:p>
            <a:fld id="{9F39E346-B1F3-4075-BD67-234EF0F10AC6}" type="slidenum">
              <a:rPr lang="et-EE" smtClean="0"/>
              <a:pPr/>
              <a:t>‹#›</a:t>
            </a:fld>
            <a:endParaRPr lang="et-EE" dirty="0"/>
          </a:p>
        </p:txBody>
      </p:sp>
      <p:pic>
        <p:nvPicPr>
          <p:cNvPr id="9" name="Picture 8">
            <a:extLst>
              <a:ext uri="{FF2B5EF4-FFF2-40B4-BE49-F238E27FC236}">
                <a16:creationId xmlns:a16="http://schemas.microsoft.com/office/drawing/2014/main" id="{48AA549F-3261-4FB8-90C4-DDE92830E82A}"/>
              </a:ext>
            </a:extLst>
          </p:cNvPr>
          <p:cNvPicPr>
            <a:picLocks noChangeAspect="1"/>
          </p:cNvPicPr>
          <p:nvPr userDrawn="1"/>
        </p:nvPicPr>
        <p:blipFill>
          <a:blip r:embed="rId13"/>
          <a:stretch>
            <a:fillRect/>
          </a:stretch>
        </p:blipFill>
        <p:spPr>
          <a:xfrm>
            <a:off x="8874266" y="230188"/>
            <a:ext cx="3119613" cy="701913"/>
          </a:xfrm>
          <a:prstGeom prst="rect">
            <a:avLst/>
          </a:prstGeom>
        </p:spPr>
      </p:pic>
    </p:spTree>
    <p:extLst>
      <p:ext uri="{BB962C8B-B14F-4D97-AF65-F5344CB8AC3E}">
        <p14:creationId xmlns:p14="http://schemas.microsoft.com/office/powerpoint/2010/main" val="1449894241"/>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p:txStyles>
    <p:titleStyle>
      <a:lvl1pPr algn="l" defTabSz="914400" rtl="0" eaLnBrk="1" latinLnBrk="0" hangingPunct="1">
        <a:lnSpc>
          <a:spcPct val="90000"/>
        </a:lnSpc>
        <a:spcBef>
          <a:spcPct val="0"/>
        </a:spcBef>
        <a:buNone/>
        <a:defRPr sz="4400" b="1" kern="1200">
          <a:solidFill>
            <a:srgbClr val="667982"/>
          </a:solidFill>
          <a:latin typeface="Helvetica" pitchFamily="2"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1"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1"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1"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png"/><Relationship Id="rId9"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2C0DE-565F-000C-3EEA-F6099D3D648C}"/>
              </a:ext>
            </a:extLst>
          </p:cNvPr>
          <p:cNvSpPr>
            <a:spLocks noGrp="1"/>
          </p:cNvSpPr>
          <p:nvPr>
            <p:ph type="ctrTitle"/>
          </p:nvPr>
        </p:nvSpPr>
        <p:spPr>
          <a:xfrm>
            <a:off x="645242" y="1122363"/>
            <a:ext cx="10575823" cy="2387600"/>
          </a:xfrm>
        </p:spPr>
        <p:txBody>
          <a:bodyPr>
            <a:normAutofit/>
          </a:bodyPr>
          <a:lstStyle/>
          <a:p>
            <a:pPr algn="l"/>
            <a:r>
              <a:rPr lang="en-US" sz="4000" b="1" noProof="0" dirty="0">
                <a:latin typeface="Helvetica" pitchFamily="2" charset="0"/>
              </a:rPr>
              <a:t>Testbed for Validating Second-Generation TDI and Clock Noise Correction for LISA</a:t>
            </a:r>
            <a:endParaRPr lang="en-US" dirty="0"/>
          </a:p>
        </p:txBody>
      </p:sp>
      <p:sp>
        <p:nvSpPr>
          <p:cNvPr id="3" name="Subtitle 2">
            <a:extLst>
              <a:ext uri="{FF2B5EF4-FFF2-40B4-BE49-F238E27FC236}">
                <a16:creationId xmlns:a16="http://schemas.microsoft.com/office/drawing/2014/main" id="{EED6BFAB-E9D0-DE83-B9D8-ED08B206570D}"/>
              </a:ext>
            </a:extLst>
          </p:cNvPr>
          <p:cNvSpPr>
            <a:spLocks noGrp="1"/>
          </p:cNvSpPr>
          <p:nvPr>
            <p:ph type="subTitle" idx="1"/>
          </p:nvPr>
        </p:nvSpPr>
        <p:spPr>
          <a:xfrm>
            <a:off x="645243" y="3602038"/>
            <a:ext cx="10363671" cy="1655762"/>
          </a:xfrm>
        </p:spPr>
        <p:txBody>
          <a:bodyPr vert="horz" lIns="91440" tIns="45720" rIns="91440" bIns="45720" rtlCol="0" anchor="t">
            <a:normAutofit/>
          </a:bodyPr>
          <a:lstStyle/>
          <a:p>
            <a:pPr algn="l"/>
            <a:r>
              <a:rPr lang="en-US" u="sng" noProof="0" dirty="0">
                <a:solidFill>
                  <a:srgbClr val="646464"/>
                </a:solidFill>
                <a:latin typeface="Helvetica"/>
                <a:cs typeface="Arial"/>
              </a:rPr>
              <a:t>Karin Kruuse</a:t>
            </a:r>
            <a:r>
              <a:rPr lang="en-US" noProof="0" dirty="0">
                <a:solidFill>
                  <a:srgbClr val="646464"/>
                </a:solidFill>
                <a:latin typeface="Helvetica"/>
                <a:cs typeface="Arial"/>
              </a:rPr>
              <a:t>, Reid Ferguson, </a:t>
            </a:r>
            <a:r>
              <a:rPr lang="en-US" noProof="0" dirty="0" err="1">
                <a:solidFill>
                  <a:srgbClr val="646464"/>
                </a:solidFill>
                <a:latin typeface="Helvetica"/>
                <a:cs typeface="Arial"/>
              </a:rPr>
              <a:t>Sourath</a:t>
            </a:r>
            <a:r>
              <a:rPr lang="en-US" noProof="0" dirty="0">
                <a:solidFill>
                  <a:srgbClr val="646464"/>
                </a:solidFill>
                <a:latin typeface="Helvetica"/>
                <a:cs typeface="Arial"/>
              </a:rPr>
              <a:t> Ghosh, Patrick Krieger, Daniele </a:t>
            </a:r>
            <a:r>
              <a:rPr lang="en-US" noProof="0" dirty="0" err="1">
                <a:solidFill>
                  <a:srgbClr val="646464"/>
                </a:solidFill>
                <a:latin typeface="Helvetica"/>
                <a:cs typeface="Arial"/>
              </a:rPr>
              <a:t>Vetrugno</a:t>
            </a:r>
            <a:r>
              <a:rPr lang="en-US" noProof="0" dirty="0">
                <a:solidFill>
                  <a:srgbClr val="646464"/>
                </a:solidFill>
                <a:latin typeface="Helvetica"/>
                <a:cs typeface="Arial"/>
              </a:rPr>
              <a:t>, Guido </a:t>
            </a:r>
            <a:r>
              <a:rPr lang="en-US" noProof="0" dirty="0" err="1">
                <a:solidFill>
                  <a:srgbClr val="646464"/>
                </a:solidFill>
                <a:latin typeface="Helvetica"/>
                <a:cs typeface="Arial"/>
              </a:rPr>
              <a:t>Mue</a:t>
            </a:r>
            <a:r>
              <a:rPr lang="en-US" dirty="0" err="1">
                <a:solidFill>
                  <a:srgbClr val="646464"/>
                </a:solidFill>
                <a:latin typeface="Helvetica"/>
                <a:cs typeface="Arial"/>
              </a:rPr>
              <a:t>ller</a:t>
            </a:r>
            <a:br>
              <a:rPr lang="en-US" sz="400" dirty="0">
                <a:solidFill>
                  <a:srgbClr val="646464"/>
                </a:solidFill>
                <a:latin typeface="Helvetica"/>
                <a:cs typeface="Arial"/>
              </a:rPr>
            </a:br>
            <a:br>
              <a:rPr lang="en-US" sz="600" dirty="0">
                <a:solidFill>
                  <a:srgbClr val="646464"/>
                </a:solidFill>
                <a:latin typeface="Helvetica"/>
                <a:cs typeface="Arial"/>
              </a:rPr>
            </a:br>
            <a:r>
              <a:rPr lang="en-US" sz="1400" b="0" dirty="0">
                <a:solidFill>
                  <a:srgbClr val="969696"/>
                </a:solidFill>
              </a:rPr>
              <a:t>Max Planck Institute for Gravitational Physics/Leibniz University Hannover</a:t>
            </a:r>
            <a:endParaRPr lang="en-US" sz="1400" b="0" noProof="0" dirty="0">
              <a:solidFill>
                <a:srgbClr val="969696"/>
              </a:solidFill>
              <a:latin typeface="Helvetica"/>
              <a:cs typeface="Arial"/>
            </a:endParaRPr>
          </a:p>
        </p:txBody>
      </p:sp>
      <p:sp>
        <p:nvSpPr>
          <p:cNvPr id="4" name="Date Placeholder 3">
            <a:extLst>
              <a:ext uri="{FF2B5EF4-FFF2-40B4-BE49-F238E27FC236}">
                <a16:creationId xmlns:a16="http://schemas.microsoft.com/office/drawing/2014/main" id="{14352F94-4D68-9AD9-C559-7E17DBBC93F0}"/>
              </a:ext>
            </a:extLst>
          </p:cNvPr>
          <p:cNvSpPr>
            <a:spLocks noGrp="1"/>
          </p:cNvSpPr>
          <p:nvPr>
            <p:ph type="dt" sz="half" idx="10"/>
          </p:nvPr>
        </p:nvSpPr>
        <p:spPr/>
        <p:txBody>
          <a:bodyPr/>
          <a:lstStyle/>
          <a:p>
            <a:r>
              <a:rPr lang="LID4096" noProof="0" dirty="0">
                <a:solidFill>
                  <a:srgbClr val="969696"/>
                </a:solidFill>
                <a:cs typeface="Arial" panose="020B0604020202020204" pitchFamily="34" charset="0"/>
              </a:rPr>
              <a:t>23.06.2026</a:t>
            </a:r>
            <a:endParaRPr lang="en-US" noProof="0" dirty="0">
              <a:solidFill>
                <a:srgbClr val="969696"/>
              </a:solidFill>
              <a:cs typeface="Arial" panose="020B0604020202020204" pitchFamily="34" charset="0"/>
            </a:endParaRPr>
          </a:p>
        </p:txBody>
      </p:sp>
      <p:sp>
        <p:nvSpPr>
          <p:cNvPr id="7" name="Footer Placeholder 14">
            <a:extLst>
              <a:ext uri="{FF2B5EF4-FFF2-40B4-BE49-F238E27FC236}">
                <a16:creationId xmlns:a16="http://schemas.microsoft.com/office/drawing/2014/main" id="{0541D75B-40C2-421E-A496-AB0AE904A4DC}"/>
              </a:ext>
            </a:extLst>
          </p:cNvPr>
          <p:cNvSpPr>
            <a:spLocks noGrp="1"/>
          </p:cNvSpPr>
          <p:nvPr>
            <p:ph type="ftr" sz="quarter" idx="11"/>
          </p:nvPr>
        </p:nvSpPr>
        <p:spPr>
          <a:xfrm>
            <a:off x="4038600" y="6356350"/>
            <a:ext cx="4114800" cy="365125"/>
          </a:xfrm>
        </p:spPr>
        <p:txBody>
          <a:bodyPr/>
          <a:lstStyle/>
          <a:p>
            <a:r>
              <a:rPr lang="en-US" dirty="0"/>
              <a:t>16th International LISA Symposium</a:t>
            </a:r>
            <a:endParaRPr lang="et-EE" dirty="0"/>
          </a:p>
        </p:txBody>
      </p:sp>
      <p:sp>
        <p:nvSpPr>
          <p:cNvPr id="5" name="Slide Number Placeholder 4">
            <a:extLst>
              <a:ext uri="{FF2B5EF4-FFF2-40B4-BE49-F238E27FC236}">
                <a16:creationId xmlns:a16="http://schemas.microsoft.com/office/drawing/2014/main" id="{F9085AF5-8F8C-460B-B44A-3FBE058FCDA8}"/>
              </a:ext>
            </a:extLst>
          </p:cNvPr>
          <p:cNvSpPr>
            <a:spLocks noGrp="1"/>
          </p:cNvSpPr>
          <p:nvPr>
            <p:ph type="sldNum" sz="quarter" idx="12"/>
          </p:nvPr>
        </p:nvSpPr>
        <p:spPr/>
        <p:txBody>
          <a:bodyPr/>
          <a:lstStyle/>
          <a:p>
            <a:fld id="{9F39E346-B1F3-4075-BD67-234EF0F10AC6}" type="slidenum">
              <a:rPr lang="et-EE" smtClean="0">
                <a:solidFill>
                  <a:srgbClr val="969696"/>
                </a:solidFill>
              </a:rPr>
              <a:pPr/>
              <a:t>1</a:t>
            </a:fld>
            <a:endParaRPr lang="et-EE" dirty="0">
              <a:solidFill>
                <a:srgbClr val="969696"/>
              </a:solidFill>
            </a:endParaRPr>
          </a:p>
        </p:txBody>
      </p:sp>
      <p:pic>
        <p:nvPicPr>
          <p:cNvPr id="11" name="Picture 10">
            <a:extLst>
              <a:ext uri="{FF2B5EF4-FFF2-40B4-BE49-F238E27FC236}">
                <a16:creationId xmlns:a16="http://schemas.microsoft.com/office/drawing/2014/main" id="{F0C933F3-BCF4-4263-B127-A81C44F38D25}"/>
              </a:ext>
            </a:extLst>
          </p:cNvPr>
          <p:cNvPicPr>
            <a:picLocks noChangeAspect="1"/>
          </p:cNvPicPr>
          <p:nvPr/>
        </p:nvPicPr>
        <p:blipFill>
          <a:blip r:embed="rId3"/>
          <a:stretch>
            <a:fillRect/>
          </a:stretch>
        </p:blipFill>
        <p:spPr>
          <a:xfrm>
            <a:off x="223062" y="182941"/>
            <a:ext cx="2458414" cy="709867"/>
          </a:xfrm>
          <a:prstGeom prst="rect">
            <a:avLst/>
          </a:prstGeom>
        </p:spPr>
      </p:pic>
    </p:spTree>
    <p:extLst>
      <p:ext uri="{BB962C8B-B14F-4D97-AF65-F5344CB8AC3E}">
        <p14:creationId xmlns:p14="http://schemas.microsoft.com/office/powerpoint/2010/main" val="1829742012"/>
      </p:ext>
    </p:extLst>
  </p:cSld>
  <p:clrMapOvr>
    <a:masterClrMapping/>
  </p:clrMapOvr>
  <mc:AlternateContent xmlns:mc="http://schemas.openxmlformats.org/markup-compatibility/2006" xmlns:p14="http://schemas.microsoft.com/office/powerpoint/2010/main">
    <mc:Choice Requires="p14">
      <p:transition spd="slow" p14:dur="2000" advTm="2245"/>
    </mc:Choice>
    <mc:Fallback xmlns="">
      <p:transition spd="slow" advTm="224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LISA Science Interferometer</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8" name="Content Placeholder 2">
            <a:extLst>
              <a:ext uri="{FF2B5EF4-FFF2-40B4-BE49-F238E27FC236}">
                <a16:creationId xmlns:a16="http://schemas.microsoft.com/office/drawing/2014/main" id="{EB9334A9-6F79-4633-ADDB-79A5792FCBBE}"/>
              </a:ext>
            </a:extLst>
          </p:cNvPr>
          <p:cNvSpPr>
            <a:spLocks noGrp="1"/>
          </p:cNvSpPr>
          <p:nvPr>
            <p:ph idx="1"/>
          </p:nvPr>
        </p:nvSpPr>
        <p:spPr>
          <a:xfrm>
            <a:off x="343479" y="1161756"/>
            <a:ext cx="11374387" cy="4652022"/>
          </a:xfrm>
        </p:spPr>
        <p:txBody>
          <a:bodyPr/>
          <a:lstStyle/>
          <a:p>
            <a:pPr marL="0" indent="0">
              <a:buNone/>
            </a:pPr>
            <a:r>
              <a:rPr lang="en-US" dirty="0"/>
              <a:t>Two primary noises in the LISA raw data – laser noise and clock timing jitter</a:t>
            </a:r>
            <a:endParaRPr lang="et-EE" dirty="0"/>
          </a:p>
        </p:txBody>
      </p:sp>
      <p:pic>
        <p:nvPicPr>
          <p:cNvPr id="13" name="Picture 12">
            <a:extLst>
              <a:ext uri="{FF2B5EF4-FFF2-40B4-BE49-F238E27FC236}">
                <a16:creationId xmlns:a16="http://schemas.microsoft.com/office/drawing/2014/main" id="{F2DC84A7-FF5B-49D6-9695-63062500573F}"/>
              </a:ext>
            </a:extLst>
          </p:cNvPr>
          <p:cNvPicPr>
            <a:picLocks noChangeAspect="1"/>
          </p:cNvPicPr>
          <p:nvPr/>
        </p:nvPicPr>
        <p:blipFill>
          <a:blip r:embed="rId3"/>
          <a:stretch>
            <a:fillRect/>
          </a:stretch>
        </p:blipFill>
        <p:spPr>
          <a:xfrm>
            <a:off x="1256782" y="2147313"/>
            <a:ext cx="9180595" cy="2563373"/>
          </a:xfrm>
          <a:prstGeom prst="rect">
            <a:avLst/>
          </a:prstGeom>
        </p:spPr>
      </p:pic>
      <p:pic>
        <p:nvPicPr>
          <p:cNvPr id="5" name="Graphic 4">
            <a:extLst>
              <a:ext uri="{FF2B5EF4-FFF2-40B4-BE49-F238E27FC236}">
                <a16:creationId xmlns:a16="http://schemas.microsoft.com/office/drawing/2014/main" id="{B3A2C3B1-2470-AD95-1FCA-770258288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84342" y="4864161"/>
            <a:ext cx="5133761" cy="888591"/>
          </a:xfrm>
          <a:prstGeom prst="rect">
            <a:avLst/>
          </a:prstGeom>
        </p:spPr>
      </p:pic>
    </p:spTree>
    <p:extLst>
      <p:ext uri="{BB962C8B-B14F-4D97-AF65-F5344CB8AC3E}">
        <p14:creationId xmlns:p14="http://schemas.microsoft.com/office/powerpoint/2010/main" val="704849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noProof="0" dirty="0">
              <a:latin typeface="Helvetica"/>
              <a:cs typeface="Arial"/>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3</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8" name="TextBox 7">
            <a:extLst>
              <a:ext uri="{FF2B5EF4-FFF2-40B4-BE49-F238E27FC236}">
                <a16:creationId xmlns:a16="http://schemas.microsoft.com/office/drawing/2014/main" id="{F9AFC456-2A69-4BBB-9C56-F2A8F08E3702}"/>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9" name="TextBox 8">
            <a:extLst>
              <a:ext uri="{FF2B5EF4-FFF2-40B4-BE49-F238E27FC236}">
                <a16:creationId xmlns:a16="http://schemas.microsoft.com/office/drawing/2014/main" id="{C109864D-8E8B-46E7-8EE3-60B02125B621}"/>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3166160813"/>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4</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0" name="Rectangle 9">
            <a:extLst>
              <a:ext uri="{FF2B5EF4-FFF2-40B4-BE49-F238E27FC236}">
                <a16:creationId xmlns:a16="http://schemas.microsoft.com/office/drawing/2014/main" id="{121D82ED-077F-4BB6-B619-FF99EE956918}"/>
              </a:ext>
            </a:extLst>
          </p:cNvPr>
          <p:cNvSpPr/>
          <p:nvPr/>
        </p:nvSpPr>
        <p:spPr>
          <a:xfrm>
            <a:off x="4622146" y="3835519"/>
            <a:ext cx="116016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1" name="Rectangle 10">
            <a:extLst>
              <a:ext uri="{FF2B5EF4-FFF2-40B4-BE49-F238E27FC236}">
                <a16:creationId xmlns:a16="http://schemas.microsoft.com/office/drawing/2014/main" id="{1D5D6F8E-102D-4FE7-A2BF-8E8C4628899C}"/>
              </a:ext>
            </a:extLst>
          </p:cNvPr>
          <p:cNvSpPr/>
          <p:nvPr/>
        </p:nvSpPr>
        <p:spPr>
          <a:xfrm>
            <a:off x="7409402" y="4929142"/>
            <a:ext cx="1238558"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2" name="TextBox 11">
            <a:extLst>
              <a:ext uri="{FF2B5EF4-FFF2-40B4-BE49-F238E27FC236}">
                <a16:creationId xmlns:a16="http://schemas.microsoft.com/office/drawing/2014/main" id="{7F913E01-B954-4183-B7C9-090D67979C07}"/>
              </a:ext>
            </a:extLst>
          </p:cNvPr>
          <p:cNvSpPr txBox="1"/>
          <p:nvPr/>
        </p:nvSpPr>
        <p:spPr>
          <a:xfrm>
            <a:off x="4013236" y="3511442"/>
            <a:ext cx="3538148" cy="369332"/>
          </a:xfrm>
          <a:prstGeom prst="rect">
            <a:avLst/>
          </a:prstGeom>
          <a:noFill/>
        </p:spPr>
        <p:txBody>
          <a:bodyPr wrap="non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Carrier from 281 THz to ~50MHz</a:t>
            </a:r>
          </a:p>
        </p:txBody>
      </p:sp>
      <p:sp>
        <p:nvSpPr>
          <p:cNvPr id="16" name="TextBox 15">
            <a:extLst>
              <a:ext uri="{FF2B5EF4-FFF2-40B4-BE49-F238E27FC236}">
                <a16:creationId xmlns:a16="http://schemas.microsoft.com/office/drawing/2014/main" id="{92EC3C2C-9002-46C2-B860-1390083E9A9C}"/>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7" name="TextBox 16">
            <a:extLst>
              <a:ext uri="{FF2B5EF4-FFF2-40B4-BE49-F238E27FC236}">
                <a16:creationId xmlns:a16="http://schemas.microsoft.com/office/drawing/2014/main" id="{0F825BDC-80F7-4492-956D-166A6DB5F9EC}"/>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54235674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5</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3" name="Rectangle 12">
            <a:extLst>
              <a:ext uri="{FF2B5EF4-FFF2-40B4-BE49-F238E27FC236}">
                <a16:creationId xmlns:a16="http://schemas.microsoft.com/office/drawing/2014/main" id="{7DF795BF-18EF-4B4D-82F1-5EF1F97736B2}"/>
              </a:ext>
            </a:extLst>
          </p:cNvPr>
          <p:cNvSpPr/>
          <p:nvPr/>
        </p:nvSpPr>
        <p:spPr>
          <a:xfrm>
            <a:off x="4553154" y="4878341"/>
            <a:ext cx="1222806"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5" name="Rectangle 14">
            <a:extLst>
              <a:ext uri="{FF2B5EF4-FFF2-40B4-BE49-F238E27FC236}">
                <a16:creationId xmlns:a16="http://schemas.microsoft.com/office/drawing/2014/main" id="{CD1C7B5D-38AF-4A19-931D-112748F7D886}"/>
              </a:ext>
            </a:extLst>
          </p:cNvPr>
          <p:cNvSpPr/>
          <p:nvPr/>
        </p:nvSpPr>
        <p:spPr>
          <a:xfrm>
            <a:off x="7577208" y="3820370"/>
            <a:ext cx="115238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6" name="TextBox 15">
            <a:extLst>
              <a:ext uri="{FF2B5EF4-FFF2-40B4-BE49-F238E27FC236}">
                <a16:creationId xmlns:a16="http://schemas.microsoft.com/office/drawing/2014/main" id="{44258E33-07B5-420F-92A6-E67CD80A86DE}"/>
              </a:ext>
            </a:extLst>
          </p:cNvPr>
          <p:cNvSpPr txBox="1"/>
          <p:nvPr/>
        </p:nvSpPr>
        <p:spPr>
          <a:xfrm>
            <a:off x="6262962" y="3284453"/>
            <a:ext cx="2987717" cy="646331"/>
          </a:xfrm>
          <a:prstGeom prst="rect">
            <a:avLst/>
          </a:prstGeom>
          <a:noFill/>
        </p:spPr>
        <p:txBody>
          <a:bodyPr wrap="squar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Inter-satellite interferometers</a:t>
            </a:r>
            <a:endParaRPr lang="et-EE" dirty="0">
              <a:solidFill>
                <a:srgbClr val="323232"/>
              </a:solidFill>
              <a:highlight>
                <a:srgbClr val="EFF1F3"/>
              </a:highlight>
              <a:latin typeface="Helvetica" pitchFamily="2" charset="0"/>
              <a:cs typeface="Arial" panose="020B0604020202020204" pitchFamily="34" charset="0"/>
            </a:endParaRPr>
          </a:p>
        </p:txBody>
      </p:sp>
      <p:sp>
        <p:nvSpPr>
          <p:cNvPr id="17" name="Rectangle 16">
            <a:extLst>
              <a:ext uri="{FF2B5EF4-FFF2-40B4-BE49-F238E27FC236}">
                <a16:creationId xmlns:a16="http://schemas.microsoft.com/office/drawing/2014/main" id="{37378D94-8214-4E4D-8556-2636B16A871F}"/>
              </a:ext>
            </a:extLst>
          </p:cNvPr>
          <p:cNvSpPr/>
          <p:nvPr/>
        </p:nvSpPr>
        <p:spPr>
          <a:xfrm>
            <a:off x="4813270" y="2617785"/>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8" name="Rectangle 17">
            <a:extLst>
              <a:ext uri="{FF2B5EF4-FFF2-40B4-BE49-F238E27FC236}">
                <a16:creationId xmlns:a16="http://schemas.microsoft.com/office/drawing/2014/main" id="{2C8E4A5E-228E-41A0-9A69-4A33508870CB}"/>
              </a:ext>
            </a:extLst>
          </p:cNvPr>
          <p:cNvSpPr/>
          <p:nvPr/>
        </p:nvSpPr>
        <p:spPr>
          <a:xfrm>
            <a:off x="8110957" y="1531790"/>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9" name="TextBox 18">
            <a:extLst>
              <a:ext uri="{FF2B5EF4-FFF2-40B4-BE49-F238E27FC236}">
                <a16:creationId xmlns:a16="http://schemas.microsoft.com/office/drawing/2014/main" id="{A32EB51B-296C-4CB5-9D7E-26B624BA01A3}"/>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20" name="TextBox 19">
            <a:extLst>
              <a:ext uri="{FF2B5EF4-FFF2-40B4-BE49-F238E27FC236}">
                <a16:creationId xmlns:a16="http://schemas.microsoft.com/office/drawing/2014/main" id="{9E312589-29D9-46D6-9CD0-977ACE7B2F22}"/>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993346484"/>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6</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3" name="TextBox 12">
            <a:extLst>
              <a:ext uri="{FF2B5EF4-FFF2-40B4-BE49-F238E27FC236}">
                <a16:creationId xmlns:a16="http://schemas.microsoft.com/office/drawing/2014/main" id="{D81A7C8E-3287-48E7-8037-82DBDDBA1F7D}"/>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4" name="TextBox 13">
            <a:extLst>
              <a:ext uri="{FF2B5EF4-FFF2-40B4-BE49-F238E27FC236}">
                <a16:creationId xmlns:a16="http://schemas.microsoft.com/office/drawing/2014/main" id="{AB3DD407-5ED4-4D1A-BF5E-0B889D7916E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EDA20D83-7C9C-DA1B-A5EE-98DD2525D8F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81876" y="2924520"/>
            <a:ext cx="5403987" cy="1008959"/>
          </a:xfrm>
          <a:prstGeom prst="rect">
            <a:avLst/>
          </a:prstGeom>
        </p:spPr>
      </p:pic>
      <p:pic>
        <p:nvPicPr>
          <p:cNvPr id="5" name="Graphic 4">
            <a:extLst>
              <a:ext uri="{FF2B5EF4-FFF2-40B4-BE49-F238E27FC236}">
                <a16:creationId xmlns:a16="http://schemas.microsoft.com/office/drawing/2014/main" id="{7416453F-DAE5-2A11-2FB2-A23E94751EE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5341620" y="5527992"/>
            <a:ext cx="6487160" cy="810895"/>
          </a:xfrm>
          <a:prstGeom prst="rect">
            <a:avLst/>
          </a:prstGeom>
        </p:spPr>
      </p:pic>
    </p:spTree>
    <p:extLst>
      <p:ext uri="{BB962C8B-B14F-4D97-AF65-F5344CB8AC3E}">
        <p14:creationId xmlns:p14="http://schemas.microsoft.com/office/powerpoint/2010/main" val="161676977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sz="3600" noProof="0" dirty="0">
                <a:latin typeface="Helvetica" pitchFamily="2" charset="0"/>
              </a:rPr>
              <a:t>Full Testbed</a:t>
            </a:r>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7</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3" name="Footer Placeholder 2">
            <a:extLst>
              <a:ext uri="{FF2B5EF4-FFF2-40B4-BE49-F238E27FC236}">
                <a16:creationId xmlns:a16="http://schemas.microsoft.com/office/drawing/2014/main" id="{211CA5C6-D35F-4A27-A55E-819E0BCB20E9}"/>
              </a:ext>
            </a:extLst>
          </p:cNvPr>
          <p:cNvSpPr>
            <a:spLocks noGrp="1"/>
          </p:cNvSpPr>
          <p:nvPr>
            <p:ph type="ftr" sz="quarter" idx="11"/>
          </p:nvPr>
        </p:nvSpPr>
        <p:spPr/>
        <p:txBody>
          <a:bodyPr/>
          <a:lstStyle/>
          <a:p>
            <a:r>
              <a:rPr lang="en-US"/>
              <a:t>16th International LISA Symposium</a:t>
            </a:r>
            <a:endParaRPr lang="et-EE" dirty="0"/>
          </a:p>
        </p:txBody>
      </p:sp>
      <p:pic>
        <p:nvPicPr>
          <p:cNvPr id="7" name="Picture 6">
            <a:extLst>
              <a:ext uri="{FF2B5EF4-FFF2-40B4-BE49-F238E27FC236}">
                <a16:creationId xmlns:a16="http://schemas.microsoft.com/office/drawing/2014/main" id="{FAB36162-81EB-4E08-B95C-0F45E32C9974}"/>
              </a:ext>
            </a:extLst>
          </p:cNvPr>
          <p:cNvPicPr>
            <a:picLocks noChangeAspect="1"/>
          </p:cNvPicPr>
          <p:nvPr/>
        </p:nvPicPr>
        <p:blipFill>
          <a:blip r:embed="rId3"/>
          <a:stretch>
            <a:fillRect/>
          </a:stretch>
        </p:blipFill>
        <p:spPr>
          <a:xfrm>
            <a:off x="4607591" y="685800"/>
            <a:ext cx="7012214" cy="5832201"/>
          </a:xfrm>
          <a:prstGeom prst="rect">
            <a:avLst/>
          </a:prstGeom>
        </p:spPr>
      </p:pic>
      <p:sp>
        <p:nvSpPr>
          <p:cNvPr id="8" name="Content Placeholder 2">
            <a:extLst>
              <a:ext uri="{FF2B5EF4-FFF2-40B4-BE49-F238E27FC236}">
                <a16:creationId xmlns:a16="http://schemas.microsoft.com/office/drawing/2014/main" id="{3FAA8F29-0E02-4E4A-8E0E-B6A25D3E11C4}"/>
              </a:ext>
            </a:extLst>
          </p:cNvPr>
          <p:cNvSpPr>
            <a:spLocks noGrp="1"/>
          </p:cNvSpPr>
          <p:nvPr>
            <p:ph idx="1"/>
          </p:nvPr>
        </p:nvSpPr>
        <p:spPr>
          <a:xfrm>
            <a:off x="326043" y="1110956"/>
            <a:ext cx="4664171" cy="4702822"/>
          </a:xfrm>
        </p:spPr>
        <p:txBody>
          <a:bodyPr vert="horz" lIns="91440" tIns="45720" rIns="91440" bIns="45720" rtlCol="0" anchor="t">
            <a:normAutofit/>
          </a:bodyPr>
          <a:lstStyle/>
          <a:p>
            <a:pPr marL="0" indent="0">
              <a:buNone/>
            </a:pPr>
            <a:r>
              <a:rPr lang="en-US" dirty="0"/>
              <a:t>One laser per spacecraft</a:t>
            </a:r>
          </a:p>
          <a:p>
            <a:pPr marL="0" indent="0">
              <a:buNone/>
            </a:pPr>
            <a:r>
              <a:rPr lang="en-US" dirty="0"/>
              <a:t>Cavity locked primary laser</a:t>
            </a:r>
          </a:p>
          <a:p>
            <a:pPr marL="0" indent="0">
              <a:buNone/>
            </a:pPr>
            <a:r>
              <a:rPr lang="en-US" dirty="0">
                <a:latin typeface="Helvetica"/>
                <a:cs typeface="Arial"/>
              </a:rPr>
              <a:t>Independent clocks</a:t>
            </a:r>
          </a:p>
          <a:p>
            <a:pPr marL="0" indent="0">
              <a:buNone/>
            </a:pPr>
            <a:r>
              <a:rPr lang="en-US" dirty="0"/>
              <a:t>Six separate delay lines</a:t>
            </a:r>
            <a:endParaRPr lang="et-EE" dirty="0"/>
          </a:p>
        </p:txBody>
      </p:sp>
    </p:spTree>
    <p:extLst>
      <p:ext uri="{BB962C8B-B14F-4D97-AF65-F5344CB8AC3E}">
        <p14:creationId xmlns:p14="http://schemas.microsoft.com/office/powerpoint/2010/main" val="291612426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t>Cavity Locking Two Lasers</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9" name="Content Placeholder 2">
            <a:extLst>
              <a:ext uri="{FF2B5EF4-FFF2-40B4-BE49-F238E27FC236}">
                <a16:creationId xmlns:a16="http://schemas.microsoft.com/office/drawing/2014/main" id="{A63368C6-E708-4AA5-8BEE-74686A269895}"/>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r>
              <a:rPr lang="en-US" dirty="0"/>
              <a:t>For LISA-like laser noise the primary laser should be cavity locked.</a:t>
            </a:r>
          </a:p>
          <a:p>
            <a:pPr marL="342900" indent="-342900"/>
            <a:r>
              <a:rPr lang="en-US" dirty="0"/>
              <a:t>Two lasers locked to separate cavities – 25 cm and 30 cm</a:t>
            </a:r>
          </a:p>
          <a:p>
            <a:pPr marL="342900" indent="-342900"/>
            <a:r>
              <a:rPr lang="en-US" dirty="0">
                <a:latin typeface="Helvetica"/>
                <a:cs typeface="Arial"/>
              </a:rPr>
              <a:t>Two separate Pound-Drever-Hall (PDH) locks</a:t>
            </a:r>
          </a:p>
          <a:p>
            <a:pPr marL="342900" indent="-342900"/>
            <a:r>
              <a:rPr lang="en-US" dirty="0">
                <a:latin typeface="Helvetica"/>
                <a:cs typeface="Arial"/>
              </a:rPr>
              <a:t>Beat note needs to be below 60 MHz</a:t>
            </a:r>
          </a:p>
          <a:p>
            <a:endParaRPr lang="et-EE" dirty="0"/>
          </a:p>
        </p:txBody>
      </p:sp>
      <p:pic>
        <p:nvPicPr>
          <p:cNvPr id="7" name="Picture 6">
            <a:extLst>
              <a:ext uri="{FF2B5EF4-FFF2-40B4-BE49-F238E27FC236}">
                <a16:creationId xmlns:a16="http://schemas.microsoft.com/office/drawing/2014/main" id="{4B09278E-BC94-4EDC-9796-6498DFCE891B}"/>
              </a:ext>
            </a:extLst>
          </p:cNvPr>
          <p:cNvPicPr>
            <a:picLocks noChangeAspect="1"/>
          </p:cNvPicPr>
          <p:nvPr/>
        </p:nvPicPr>
        <p:blipFill>
          <a:blip r:embed="rId3"/>
          <a:stretch>
            <a:fillRect/>
          </a:stretch>
        </p:blipFill>
        <p:spPr>
          <a:xfrm>
            <a:off x="-941902" y="3539578"/>
            <a:ext cx="7770150" cy="2816167"/>
          </a:xfrm>
          <a:prstGeom prst="rect">
            <a:avLst/>
          </a:prstGeom>
        </p:spPr>
      </p:pic>
      <p:pic>
        <p:nvPicPr>
          <p:cNvPr id="5" name="Picture 4">
            <a:extLst>
              <a:ext uri="{FF2B5EF4-FFF2-40B4-BE49-F238E27FC236}">
                <a16:creationId xmlns:a16="http://schemas.microsoft.com/office/drawing/2014/main" id="{A08C78D9-2096-2058-5D4E-CF43CCC35DE6}"/>
              </a:ext>
            </a:extLst>
          </p:cNvPr>
          <p:cNvPicPr>
            <a:picLocks noChangeAspect="1"/>
          </p:cNvPicPr>
          <p:nvPr/>
        </p:nvPicPr>
        <p:blipFill>
          <a:blip r:embed="rId4"/>
          <a:stretch>
            <a:fillRect/>
          </a:stretch>
        </p:blipFill>
        <p:spPr>
          <a:xfrm>
            <a:off x="7247868" y="2185737"/>
            <a:ext cx="4945293" cy="4531895"/>
          </a:xfrm>
          <a:prstGeom prst="rect">
            <a:avLst/>
          </a:prstGeom>
        </p:spPr>
      </p:pic>
      <p:sp>
        <p:nvSpPr>
          <p:cNvPr id="6" name="TextBox 5">
            <a:extLst>
              <a:ext uri="{FF2B5EF4-FFF2-40B4-BE49-F238E27FC236}">
                <a16:creationId xmlns:a16="http://schemas.microsoft.com/office/drawing/2014/main" id="{5F27296D-0A8E-9AAF-40D9-AEEEC9F44356}"/>
              </a:ext>
            </a:extLst>
          </p:cNvPr>
          <p:cNvSpPr txBox="1"/>
          <p:nvPr/>
        </p:nvSpPr>
        <p:spPr>
          <a:xfrm>
            <a:off x="326043" y="3293090"/>
            <a:ext cx="3590491"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solidFill>
                  <a:srgbClr val="4B4B4B"/>
                </a:solidFill>
                <a:latin typeface="Helvetica"/>
                <a:cs typeface="Helvetica"/>
              </a:rPr>
              <a:t>Illustrative cavity resonances</a:t>
            </a:r>
          </a:p>
        </p:txBody>
      </p:sp>
    </p:spTree>
    <p:extLst>
      <p:ext uri="{BB962C8B-B14F-4D97-AF65-F5344CB8AC3E}">
        <p14:creationId xmlns:p14="http://schemas.microsoft.com/office/powerpoint/2010/main" val="161264979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E98031B6-96F2-43BA-83FC-639284088401}"/>
              </a:ext>
            </a:extLst>
          </p:cNvPr>
          <p:cNvPicPr>
            <a:picLocks noChangeAspect="1"/>
          </p:cNvPicPr>
          <p:nvPr/>
        </p:nvPicPr>
        <p:blipFill>
          <a:blip r:embed="rId3"/>
          <a:stretch>
            <a:fillRect/>
          </a:stretch>
        </p:blipFill>
        <p:spPr>
          <a:xfrm>
            <a:off x="5926219" y="1806468"/>
            <a:ext cx="6096012" cy="4209297"/>
          </a:xfrm>
          <a:prstGeom prst="rect">
            <a:avLst/>
          </a:prstGeom>
        </p:spPr>
      </p:pic>
      <p:sp>
        <p:nvSpPr>
          <p:cNvPr id="2" name="Title 1">
            <a:extLst>
              <a:ext uri="{FF2B5EF4-FFF2-40B4-BE49-F238E27FC236}">
                <a16:creationId xmlns:a16="http://schemas.microsoft.com/office/drawing/2014/main" id="{BEF6B943-D49C-727C-A350-31F5A3331D69}"/>
              </a:ext>
            </a:extLst>
          </p:cNvPr>
          <p:cNvSpPr>
            <a:spLocks noGrp="1"/>
          </p:cNvSpPr>
          <p:nvPr>
            <p:ph type="title"/>
          </p:nvPr>
        </p:nvSpPr>
        <p:spPr/>
        <p:txBody>
          <a:bodyPr/>
          <a:lstStyle/>
          <a:p>
            <a:r>
              <a:rPr lang="en-US" dirty="0"/>
              <a:t>Delay Line</a:t>
            </a:r>
            <a:endParaRPr lang="et-EE" dirty="0"/>
          </a:p>
        </p:txBody>
      </p:sp>
      <p:sp>
        <p:nvSpPr>
          <p:cNvPr id="3" name="Content Placeholder 2">
            <a:extLst>
              <a:ext uri="{FF2B5EF4-FFF2-40B4-BE49-F238E27FC236}">
                <a16:creationId xmlns:a16="http://schemas.microsoft.com/office/drawing/2014/main" id="{F2A83280-550A-07EE-A9E9-6A0C4D0811D9}"/>
              </a:ext>
            </a:extLst>
          </p:cNvPr>
          <p:cNvSpPr>
            <a:spLocks noGrp="1"/>
          </p:cNvSpPr>
          <p:nvPr>
            <p:ph idx="1"/>
          </p:nvPr>
        </p:nvSpPr>
        <p:spPr>
          <a:xfrm>
            <a:off x="312889" y="1134542"/>
            <a:ext cx="11404978" cy="4679236"/>
          </a:xfrm>
        </p:spPr>
        <p:txBody>
          <a:bodyPr/>
          <a:lstStyle/>
          <a:p>
            <a:r>
              <a:rPr lang="et-EE" dirty="0"/>
              <a:t>Time varying delays</a:t>
            </a:r>
            <a:endParaRPr lang="en-US" dirty="0"/>
          </a:p>
          <a:p>
            <a:r>
              <a:rPr lang="en-US" dirty="0"/>
              <a:t>Doppler shifts for both the carrier and sidebands</a:t>
            </a:r>
          </a:p>
          <a:p>
            <a:r>
              <a:rPr lang="en-US" dirty="0"/>
              <a:t>Gravitational wave injection</a:t>
            </a:r>
          </a:p>
          <a:p>
            <a:endParaRPr lang="en-US" dirty="0"/>
          </a:p>
          <a:p>
            <a:endParaRPr lang="et-EE" dirty="0"/>
          </a:p>
        </p:txBody>
      </p:sp>
      <p:sp>
        <p:nvSpPr>
          <p:cNvPr id="4" name="Slide Number Placeholder 3">
            <a:extLst>
              <a:ext uri="{FF2B5EF4-FFF2-40B4-BE49-F238E27FC236}">
                <a16:creationId xmlns:a16="http://schemas.microsoft.com/office/drawing/2014/main" id="{A09F8D17-7164-DAC5-01A1-F8F2126DE6DE}"/>
              </a:ext>
            </a:extLst>
          </p:cNvPr>
          <p:cNvSpPr>
            <a:spLocks noGrp="1"/>
          </p:cNvSpPr>
          <p:nvPr>
            <p:ph type="sldNum" sz="quarter" idx="12"/>
          </p:nvPr>
        </p:nvSpPr>
        <p:spPr/>
        <p:txBody>
          <a:bodyPr/>
          <a:lstStyle/>
          <a:p>
            <a:fld id="{9F39E346-B1F3-4075-BD67-234EF0F10AC6}" type="slidenum">
              <a:rPr lang="et-EE" smtClean="0"/>
              <a:pPr/>
              <a:t>9</a:t>
            </a:fld>
            <a:endParaRPr lang="et-EE" dirty="0"/>
          </a:p>
        </p:txBody>
      </p:sp>
      <p:pic>
        <p:nvPicPr>
          <p:cNvPr id="9" name="Picture 8">
            <a:extLst>
              <a:ext uri="{FF2B5EF4-FFF2-40B4-BE49-F238E27FC236}">
                <a16:creationId xmlns:a16="http://schemas.microsoft.com/office/drawing/2014/main" id="{3FF7902F-24F2-F9ED-E2A8-52F04A2376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393" y="2854742"/>
            <a:ext cx="3477030" cy="2688903"/>
          </a:xfrm>
          <a:prstGeom prst="rect">
            <a:avLst/>
          </a:prstGeom>
        </p:spPr>
      </p:pic>
      <p:sp>
        <p:nvSpPr>
          <p:cNvPr id="10" name="TextBox 9">
            <a:extLst>
              <a:ext uri="{FF2B5EF4-FFF2-40B4-BE49-F238E27FC236}">
                <a16:creationId xmlns:a16="http://schemas.microsoft.com/office/drawing/2014/main" id="{4DDC4884-6EAE-CD2C-33D7-C4236B7BD784}"/>
              </a:ext>
            </a:extLst>
          </p:cNvPr>
          <p:cNvSpPr txBox="1"/>
          <p:nvPr/>
        </p:nvSpPr>
        <p:spPr>
          <a:xfrm>
            <a:off x="761302" y="5580234"/>
            <a:ext cx="2871933" cy="523220"/>
          </a:xfrm>
          <a:prstGeom prst="rect">
            <a:avLst/>
          </a:prstGeom>
          <a:noFill/>
        </p:spPr>
        <p:txBody>
          <a:bodyPr wrap="square" rtlCol="0">
            <a:spAutoFit/>
          </a:bodyPr>
          <a:lstStyle/>
          <a:p>
            <a:r>
              <a:rPr lang="en-US" sz="1400" noProof="0" dirty="0">
                <a:solidFill>
                  <a:srgbClr val="323232"/>
                </a:solidFill>
                <a:latin typeface="Helvetica" pitchFamily="2" charset="0"/>
                <a:cs typeface="Arial" panose="020B0604020202020204" pitchFamily="34" charset="0"/>
              </a:rPr>
              <a:t>AMD Zynq™ </a:t>
            </a:r>
            <a:r>
              <a:rPr lang="en-US" sz="1400" noProof="0" dirty="0" err="1">
                <a:solidFill>
                  <a:srgbClr val="323232"/>
                </a:solidFill>
                <a:latin typeface="Helvetica" pitchFamily="2" charset="0"/>
                <a:cs typeface="Arial" panose="020B0604020202020204" pitchFamily="34" charset="0"/>
              </a:rPr>
              <a:t>UltraScale</a:t>
            </a:r>
            <a:r>
              <a:rPr lang="en-US" sz="1400" noProof="0" dirty="0">
                <a:solidFill>
                  <a:srgbClr val="323232"/>
                </a:solidFill>
                <a:latin typeface="Helvetica" pitchFamily="2" charset="0"/>
                <a:cs typeface="Arial" panose="020B0604020202020204" pitchFamily="34" charset="0"/>
              </a:rPr>
              <a:t>+™ </a:t>
            </a:r>
            <a:r>
              <a:rPr lang="en-US" sz="1400" noProof="0" dirty="0" err="1">
                <a:solidFill>
                  <a:srgbClr val="323232"/>
                </a:solidFill>
                <a:latin typeface="Helvetica" pitchFamily="2" charset="0"/>
                <a:cs typeface="Arial" panose="020B0604020202020204" pitchFamily="34" charset="0"/>
              </a:rPr>
              <a:t>RFSoC</a:t>
            </a:r>
            <a:r>
              <a:rPr lang="en-US" sz="1400" noProof="0" dirty="0">
                <a:solidFill>
                  <a:srgbClr val="323232"/>
                </a:solidFill>
                <a:latin typeface="Helvetica" pitchFamily="2" charset="0"/>
                <a:cs typeface="Arial" panose="020B0604020202020204" pitchFamily="34" charset="0"/>
              </a:rPr>
              <a:t> ZCU208 Evaluation Kit</a:t>
            </a:r>
          </a:p>
        </p:txBody>
      </p:sp>
      <p:sp>
        <p:nvSpPr>
          <p:cNvPr id="5" name="Date Placeholder 4">
            <a:extLst>
              <a:ext uri="{FF2B5EF4-FFF2-40B4-BE49-F238E27FC236}">
                <a16:creationId xmlns:a16="http://schemas.microsoft.com/office/drawing/2014/main" id="{DC06A552-64E1-A995-5E3B-39264C410D43}"/>
              </a:ext>
            </a:extLst>
          </p:cNvPr>
          <p:cNvSpPr>
            <a:spLocks noGrp="1"/>
          </p:cNvSpPr>
          <p:nvPr>
            <p:ph type="dt" sz="half" idx="10"/>
          </p:nvPr>
        </p:nvSpPr>
        <p:spPr/>
        <p:txBody>
          <a:bodyPr/>
          <a:lstStyle/>
          <a:p>
            <a:r>
              <a:rPr lang="LID4096"/>
              <a:t>23.06.2026</a:t>
            </a:r>
            <a:endParaRPr lang="et-EE" dirty="0"/>
          </a:p>
        </p:txBody>
      </p:sp>
      <p:sp>
        <p:nvSpPr>
          <p:cNvPr id="6" name="Footer Placeholder 5">
            <a:extLst>
              <a:ext uri="{FF2B5EF4-FFF2-40B4-BE49-F238E27FC236}">
                <a16:creationId xmlns:a16="http://schemas.microsoft.com/office/drawing/2014/main" id="{904E0ECD-C8B4-1CD9-23F6-CC1276D22FA3}"/>
              </a:ext>
            </a:extLst>
          </p:cNvPr>
          <p:cNvSpPr>
            <a:spLocks noGrp="1"/>
          </p:cNvSpPr>
          <p:nvPr>
            <p:ph type="ftr" sz="quarter" idx="11"/>
          </p:nvPr>
        </p:nvSpPr>
        <p:spPr/>
        <p:txBody>
          <a:bodyPr/>
          <a:lstStyle/>
          <a:p>
            <a:r>
              <a:rPr lang="en-US" dirty="0"/>
              <a:t>16th International LISA Symposium</a:t>
            </a:r>
            <a:endParaRPr lang="et-EE" dirty="0"/>
          </a:p>
        </p:txBody>
      </p:sp>
      <p:sp>
        <p:nvSpPr>
          <p:cNvPr id="11" name="TextBox 10">
            <a:extLst>
              <a:ext uri="{FF2B5EF4-FFF2-40B4-BE49-F238E27FC236}">
                <a16:creationId xmlns:a16="http://schemas.microsoft.com/office/drawing/2014/main" id="{5A47551E-E6E0-DBF4-895F-E712C178CB73}"/>
              </a:ext>
            </a:extLst>
          </p:cNvPr>
          <p:cNvSpPr txBox="1"/>
          <p:nvPr/>
        </p:nvSpPr>
        <p:spPr>
          <a:xfrm>
            <a:off x="7640255" y="5911363"/>
            <a:ext cx="4816791" cy="375552"/>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Intrinsic noise floor of one board in purple</a:t>
            </a:r>
          </a:p>
        </p:txBody>
      </p:sp>
      <p:pic>
        <p:nvPicPr>
          <p:cNvPr id="12" name="Picture 11">
            <a:extLst>
              <a:ext uri="{FF2B5EF4-FFF2-40B4-BE49-F238E27FC236}">
                <a16:creationId xmlns:a16="http://schemas.microsoft.com/office/drawing/2014/main" id="{03CB97CD-C5F0-4F22-BD4C-71B76FB16752}"/>
              </a:ext>
            </a:extLst>
          </p:cNvPr>
          <p:cNvPicPr>
            <a:picLocks noChangeAspect="1"/>
          </p:cNvPicPr>
          <p:nvPr/>
        </p:nvPicPr>
        <p:blipFill>
          <a:blip r:embed="rId5"/>
          <a:stretch>
            <a:fillRect/>
          </a:stretch>
        </p:blipFill>
        <p:spPr>
          <a:xfrm>
            <a:off x="4108869" y="3040354"/>
            <a:ext cx="1844862" cy="2222551"/>
          </a:xfrm>
          <a:prstGeom prst="rect">
            <a:avLst/>
          </a:prstGeom>
        </p:spPr>
      </p:pic>
    </p:spTree>
    <p:extLst>
      <p:ext uri="{BB962C8B-B14F-4D97-AF65-F5344CB8AC3E}">
        <p14:creationId xmlns:p14="http://schemas.microsoft.com/office/powerpoint/2010/main" val="300518783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latin typeface="Helvetica"/>
                <a:cs typeface="Helvetica"/>
              </a:rPr>
              <a:t>PLL Lock of Far Spacecraft</a:t>
            </a:r>
            <a:endParaRPr lang="en-US"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10</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B6C7BFA-18A7-4961-ADFD-E4CA18E45B27}"/>
              </a:ext>
            </a:extLst>
          </p:cNvPr>
          <p:cNvPicPr>
            <a:picLocks noChangeAspect="1"/>
          </p:cNvPicPr>
          <p:nvPr/>
        </p:nvPicPr>
        <p:blipFill>
          <a:blip r:embed="rId3"/>
          <a:stretch>
            <a:fillRect/>
          </a:stretch>
        </p:blipFill>
        <p:spPr>
          <a:xfrm>
            <a:off x="5780763" y="2113494"/>
            <a:ext cx="5972201" cy="4052138"/>
          </a:xfrm>
          <a:prstGeom prst="rect">
            <a:avLst/>
          </a:prstGeom>
        </p:spPr>
      </p:pic>
      <p:sp>
        <p:nvSpPr>
          <p:cNvPr id="5" name="Content Placeholder 2">
            <a:extLst>
              <a:ext uri="{FF2B5EF4-FFF2-40B4-BE49-F238E27FC236}">
                <a16:creationId xmlns:a16="http://schemas.microsoft.com/office/drawing/2014/main" id="{13DE894E-C6DB-D7F5-9464-A8BEC60134A7}"/>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Photodetector readings are dominated by free running laser frequency noise.</a:t>
            </a:r>
          </a:p>
          <a:p>
            <a:pPr marL="0" indent="0">
              <a:spcBef>
                <a:spcPts val="0"/>
              </a:spcBef>
              <a:spcAft>
                <a:spcPts val="800"/>
              </a:spcAft>
              <a:buNone/>
            </a:pPr>
            <a:r>
              <a:rPr lang="en-US" dirty="0">
                <a:latin typeface="Helvetica"/>
                <a:cs typeface="Helvetica"/>
              </a:rPr>
              <a:t>Mixed output is orders of magnitude lower.</a:t>
            </a:r>
          </a:p>
          <a:p>
            <a:pPr marL="0" indent="0">
              <a:buNone/>
            </a:pPr>
            <a:endParaRPr lang="en-US" dirty="0"/>
          </a:p>
        </p:txBody>
      </p:sp>
      <p:pic>
        <p:nvPicPr>
          <p:cNvPr id="6" name="Content Placeholder 5">
            <a:extLst>
              <a:ext uri="{FF2B5EF4-FFF2-40B4-BE49-F238E27FC236}">
                <a16:creationId xmlns:a16="http://schemas.microsoft.com/office/drawing/2014/main" id="{EB343D02-584A-4A6B-9206-3BC4BE5E5E80}"/>
              </a:ext>
            </a:extLst>
          </p:cNvPr>
          <p:cNvPicPr>
            <a:picLocks noGrp="1" noChangeAspect="1"/>
          </p:cNvPicPr>
          <p:nvPr>
            <p:ph idx="1"/>
          </p:nvPr>
        </p:nvPicPr>
        <p:blipFill>
          <a:blip r:embed="rId4"/>
          <a:stretch>
            <a:fillRect/>
          </a:stretch>
        </p:blipFill>
        <p:spPr>
          <a:xfrm>
            <a:off x="30292" y="3743440"/>
            <a:ext cx="5832172" cy="2518918"/>
          </a:xfrm>
        </p:spPr>
      </p:pic>
      <p:pic>
        <p:nvPicPr>
          <p:cNvPr id="19" name="Graphic 18">
            <a:extLst>
              <a:ext uri="{FF2B5EF4-FFF2-40B4-BE49-F238E27FC236}">
                <a16:creationId xmlns:a16="http://schemas.microsoft.com/office/drawing/2014/main" id="{AAABE998-6DB7-43AB-AC8A-F13DC0A304B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9063" y="3552968"/>
            <a:ext cx="2365021" cy="390554"/>
          </a:xfrm>
          <a:prstGeom prst="rect">
            <a:avLst/>
          </a:prstGeom>
        </p:spPr>
      </p:pic>
      <p:pic>
        <p:nvPicPr>
          <p:cNvPr id="21" name="Graphic 20">
            <a:extLst>
              <a:ext uri="{FF2B5EF4-FFF2-40B4-BE49-F238E27FC236}">
                <a16:creationId xmlns:a16="http://schemas.microsoft.com/office/drawing/2014/main" id="{8B612996-EF55-4776-8619-4678D2E5C9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729764" y="5920211"/>
            <a:ext cx="2274461" cy="375599"/>
          </a:xfrm>
          <a:prstGeom prst="rect">
            <a:avLst/>
          </a:prstGeom>
        </p:spPr>
      </p:pic>
      <p:pic>
        <p:nvPicPr>
          <p:cNvPr id="24" name="Graphic 23">
            <a:extLst>
              <a:ext uri="{FF2B5EF4-FFF2-40B4-BE49-F238E27FC236}">
                <a16:creationId xmlns:a16="http://schemas.microsoft.com/office/drawing/2014/main" id="{33B8DABB-BCBC-4CF3-95E2-1B43A5074C4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22275" y="2436476"/>
            <a:ext cx="7910083" cy="683587"/>
          </a:xfrm>
          <a:prstGeom prst="rect">
            <a:avLst/>
          </a:prstGeom>
        </p:spPr>
      </p:pic>
    </p:spTree>
    <p:extLst>
      <p:ext uri="{BB962C8B-B14F-4D97-AF65-F5344CB8AC3E}">
        <p14:creationId xmlns:p14="http://schemas.microsoft.com/office/powerpoint/2010/main" val="48482857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638429EC-90EC-434F-9ACD-25D3135759DD}"/>
              </a:ext>
            </a:extLst>
          </p:cNvPr>
          <p:cNvPicPr>
            <a:picLocks noChangeAspect="1"/>
          </p:cNvPicPr>
          <p:nvPr/>
        </p:nvPicPr>
        <p:blipFill>
          <a:blip r:embed="rId3"/>
          <a:srcRect/>
          <a:stretch/>
        </p:blipFill>
        <p:spPr>
          <a:xfrm>
            <a:off x="5722031" y="1915158"/>
            <a:ext cx="5909492" cy="4052138"/>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Helvetica"/>
              </a:rPr>
              <a:t>PLL Lock of Far Spacecraft</a:t>
            </a:r>
            <a:endParaRPr lang="en-US"/>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11</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6" name="Content Placeholder 2">
            <a:extLst>
              <a:ext uri="{FF2B5EF4-FFF2-40B4-BE49-F238E27FC236}">
                <a16:creationId xmlns:a16="http://schemas.microsoft.com/office/drawing/2014/main" id="{1883147D-7337-8824-7EFA-B3F43D4F7C84}"/>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dirty="0">
                <a:latin typeface="Helvetica"/>
                <a:cs typeface="Helvetica"/>
              </a:rPr>
              <a:t>We can recover a LISA-like one-way laser noise transfer function</a:t>
            </a:r>
          </a:p>
          <a:p>
            <a:pPr marL="0" indent="0">
              <a:spcBef>
                <a:spcPts val="0"/>
              </a:spcBef>
              <a:spcAft>
                <a:spcPts val="800"/>
              </a:spcAft>
              <a:buNone/>
            </a:pPr>
            <a:endParaRPr lang="en-US" dirty="0">
              <a:cs typeface="Helvetica"/>
            </a:endParaRPr>
          </a:p>
        </p:txBody>
      </p:sp>
      <p:pic>
        <p:nvPicPr>
          <p:cNvPr id="11" name="Content Placeholder 5">
            <a:extLst>
              <a:ext uri="{FF2B5EF4-FFF2-40B4-BE49-F238E27FC236}">
                <a16:creationId xmlns:a16="http://schemas.microsoft.com/office/drawing/2014/main" id="{A21CCE60-CF5A-4C40-A3C9-2E19C62C7405}"/>
              </a:ext>
            </a:extLst>
          </p:cNvPr>
          <p:cNvPicPr>
            <a:picLocks noChangeAspect="1"/>
          </p:cNvPicPr>
          <p:nvPr/>
        </p:nvPicPr>
        <p:blipFill>
          <a:blip r:embed="rId4"/>
          <a:stretch>
            <a:fillRect/>
          </a:stretch>
        </p:blipFill>
        <p:spPr>
          <a:xfrm>
            <a:off x="16114" y="3743440"/>
            <a:ext cx="5832172" cy="2518918"/>
          </a:xfrm>
          <a:prstGeom prst="rect">
            <a:avLst/>
          </a:prstGeom>
        </p:spPr>
      </p:pic>
      <p:pic>
        <p:nvPicPr>
          <p:cNvPr id="9" name="Content Placeholder 8">
            <a:extLst>
              <a:ext uri="{FF2B5EF4-FFF2-40B4-BE49-F238E27FC236}">
                <a16:creationId xmlns:a16="http://schemas.microsoft.com/office/drawing/2014/main" id="{B48A5B7D-3469-4BE0-ADD4-31E056989502}"/>
              </a:ext>
            </a:extLst>
          </p:cNvPr>
          <p:cNvPicPr>
            <a:picLocks noGrp="1" noChangeAspect="1"/>
          </p:cNvPicPr>
          <p:nvPr>
            <p:ph idx="1"/>
          </p:nvPr>
        </p:nvPicPr>
        <p:blipFill>
          <a:blip r:embed="rId5">
            <a:extLst>
              <a:ext uri="{96DAC541-7B7A-43D3-8B79-37D633B846F1}">
                <asvg:svgBlip xmlns:asvg="http://schemas.microsoft.com/office/drawing/2016/SVG/main" r:embed="rId6"/>
              </a:ext>
            </a:extLst>
          </a:blip>
          <a:stretch>
            <a:fillRect/>
          </a:stretch>
        </p:blipFill>
        <p:spPr>
          <a:xfrm>
            <a:off x="765504" y="2983499"/>
            <a:ext cx="3951958" cy="759941"/>
          </a:xfrm>
        </p:spPr>
      </p:pic>
    </p:spTree>
    <p:extLst>
      <p:ext uri="{BB962C8B-B14F-4D97-AF65-F5344CB8AC3E}">
        <p14:creationId xmlns:p14="http://schemas.microsoft.com/office/powerpoint/2010/main" val="63131665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Clock Noise Transfer in LISA</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AD10AA72-B724-4054-9215-66EE93EC731F}"/>
              </a:ext>
            </a:extLst>
          </p:cNvPr>
          <p:cNvPicPr>
            <a:picLocks noChangeAspect="1"/>
          </p:cNvPicPr>
          <p:nvPr/>
        </p:nvPicPr>
        <p:blipFill>
          <a:blip r:embed="rId3"/>
          <a:stretch>
            <a:fillRect/>
          </a:stretch>
        </p:blipFill>
        <p:spPr>
          <a:xfrm>
            <a:off x="1505702" y="2147313"/>
            <a:ext cx="9180595" cy="2563373"/>
          </a:xfrm>
          <a:prstGeom prst="rect">
            <a:avLst/>
          </a:prstGeom>
        </p:spPr>
      </p:pic>
      <p:pic>
        <p:nvPicPr>
          <p:cNvPr id="3" name="Graphic 2">
            <a:extLst>
              <a:ext uri="{FF2B5EF4-FFF2-40B4-BE49-F238E27FC236}">
                <a16:creationId xmlns:a16="http://schemas.microsoft.com/office/drawing/2014/main" id="{6078BDEF-DF21-0540-54B8-8474653B96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49587" y="4409757"/>
            <a:ext cx="10329545" cy="1665605"/>
          </a:xfrm>
          <a:prstGeom prst="rect">
            <a:avLst/>
          </a:prstGeom>
        </p:spPr>
      </p:pic>
    </p:spTree>
    <p:extLst>
      <p:ext uri="{BB962C8B-B14F-4D97-AF65-F5344CB8AC3E}">
        <p14:creationId xmlns:p14="http://schemas.microsoft.com/office/powerpoint/2010/main" val="252974493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Sidebands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13</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2" name="TextBox 11">
            <a:extLst>
              <a:ext uri="{FF2B5EF4-FFF2-40B4-BE49-F238E27FC236}">
                <a16:creationId xmlns:a16="http://schemas.microsoft.com/office/drawing/2014/main" id="{918529D4-93BF-4F6F-A817-E5AFA6A58243}"/>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3" name="TextBox 12">
            <a:extLst>
              <a:ext uri="{FF2B5EF4-FFF2-40B4-BE49-F238E27FC236}">
                <a16:creationId xmlns:a16="http://schemas.microsoft.com/office/drawing/2014/main" id="{34692CC2-78A9-4612-82B5-4326B7ADBD8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0F680E06-78C7-10D1-030D-6F92AF0938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64801" y="2631020"/>
            <a:ext cx="7962265" cy="1228725"/>
          </a:xfrm>
          <a:prstGeom prst="rect">
            <a:avLst/>
          </a:prstGeom>
        </p:spPr>
      </p:pic>
      <p:pic>
        <p:nvPicPr>
          <p:cNvPr id="8" name="Graphic 7">
            <a:extLst>
              <a:ext uri="{FF2B5EF4-FFF2-40B4-BE49-F238E27FC236}">
                <a16:creationId xmlns:a16="http://schemas.microsoft.com/office/drawing/2014/main" id="{A72DC4A7-D5CF-22CC-CBA6-7F1C8BC6D618}"/>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6250500" y="5141277"/>
            <a:ext cx="8733399" cy="1228725"/>
          </a:xfrm>
          <a:prstGeom prst="rect">
            <a:avLst/>
          </a:prstGeom>
        </p:spPr>
      </p:pic>
      <p:sp>
        <p:nvSpPr>
          <p:cNvPr id="14" name="Rectangle 13">
            <a:extLst>
              <a:ext uri="{FF2B5EF4-FFF2-40B4-BE49-F238E27FC236}">
                <a16:creationId xmlns:a16="http://schemas.microsoft.com/office/drawing/2014/main" id="{AFAAE61E-886A-4F41-B2BE-E06F38EEE67C}"/>
              </a:ext>
            </a:extLst>
          </p:cNvPr>
          <p:cNvSpPr/>
          <p:nvPr/>
        </p:nvSpPr>
        <p:spPr>
          <a:xfrm>
            <a:off x="2461230" y="3962284"/>
            <a:ext cx="879569"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81926500"/>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A51093-ABD3-DBBF-F334-2F4A52949C54}"/>
              </a:ext>
            </a:extLst>
          </p:cNvPr>
          <p:cNvPicPr>
            <a:picLocks noChangeAspect="1"/>
          </p:cNvPicPr>
          <p:nvPr/>
        </p:nvPicPr>
        <p:blipFill>
          <a:blip r:embed="rId3"/>
          <a:stretch>
            <a:fillRect/>
          </a:stretch>
        </p:blipFill>
        <p:spPr>
          <a:xfrm>
            <a:off x="4508422" y="1702130"/>
            <a:ext cx="7212768" cy="4651169"/>
          </a:xfrm>
          <a:prstGeom prst="rect">
            <a:avLst/>
          </a:prstGeom>
        </p:spPr>
      </p:pic>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Clock Tone Transfer Limitation</a:t>
            </a: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14</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724150A-DF9C-4831-A5A5-FA94FA399B22}"/>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5" name="Picture 4">
            <a:extLst>
              <a:ext uri="{FF2B5EF4-FFF2-40B4-BE49-F238E27FC236}">
                <a16:creationId xmlns:a16="http://schemas.microsoft.com/office/drawing/2014/main" id="{428E6B2A-ECF9-45BE-87EE-C951D54B7C64}"/>
              </a:ext>
            </a:extLst>
          </p:cNvPr>
          <p:cNvPicPr>
            <a:picLocks noChangeAspect="1"/>
          </p:cNvPicPr>
          <p:nvPr/>
        </p:nvPicPr>
        <p:blipFill>
          <a:blip r:embed="rId4"/>
          <a:stretch>
            <a:fillRect/>
          </a:stretch>
        </p:blipFill>
        <p:spPr>
          <a:xfrm>
            <a:off x="393773" y="5009392"/>
            <a:ext cx="4882120" cy="792948"/>
          </a:xfrm>
          <a:prstGeom prst="rect">
            <a:avLst/>
          </a:prstGeom>
        </p:spPr>
      </p:pic>
      <p:sp>
        <p:nvSpPr>
          <p:cNvPr id="9" name="Rectangle 8">
            <a:extLst>
              <a:ext uri="{FF2B5EF4-FFF2-40B4-BE49-F238E27FC236}">
                <a16:creationId xmlns:a16="http://schemas.microsoft.com/office/drawing/2014/main" id="{A5904FEA-78BF-4C7B-AE51-E86E1F7B5BA5}"/>
              </a:ext>
            </a:extLst>
          </p:cNvPr>
          <p:cNvSpPr/>
          <p:nvPr/>
        </p:nvSpPr>
        <p:spPr>
          <a:xfrm>
            <a:off x="3058831" y="5402284"/>
            <a:ext cx="352764"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Content Placeholder 2">
            <a:extLst>
              <a:ext uri="{FF2B5EF4-FFF2-40B4-BE49-F238E27FC236}">
                <a16:creationId xmlns:a16="http://schemas.microsoft.com/office/drawing/2014/main" id="{C4646A4D-B256-BFDC-4BDE-1D221726CDF4}"/>
              </a:ext>
            </a:extLst>
          </p:cNvPr>
          <p:cNvSpPr txBox="1">
            <a:spLocks/>
          </p:cNvSpPr>
          <p:nvPr/>
        </p:nvSpPr>
        <p:spPr>
          <a:xfrm>
            <a:off x="318955" y="1011724"/>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a:latin typeface="Helvetica"/>
                <a:cs typeface="Helvetica"/>
              </a:rPr>
              <a:t>Modulator noise remains too loud if </a:t>
            </a:r>
            <a:r>
              <a:rPr lang="en-US" dirty="0">
                <a:latin typeface="Helvetica"/>
                <a:cs typeface="Helvetica"/>
              </a:rPr>
              <a:t>MHz modulation is used.</a:t>
            </a:r>
          </a:p>
          <a:p>
            <a:pPr marL="0" indent="0">
              <a:buNone/>
            </a:pPr>
            <a:endParaRPr lang="en-US" dirty="0"/>
          </a:p>
        </p:txBody>
      </p:sp>
    </p:spTree>
    <p:extLst>
      <p:ext uri="{BB962C8B-B14F-4D97-AF65-F5344CB8AC3E}">
        <p14:creationId xmlns:p14="http://schemas.microsoft.com/office/powerpoint/2010/main" val="1172276438"/>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dirty="0">
                <a:latin typeface="Helvetica"/>
                <a:cs typeface="Helvetica"/>
              </a:rPr>
              <a:t>GHz Modulation – Option 1</a:t>
            </a: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15</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tretch>
            <a:fillRect/>
          </a:stretch>
        </p:blipFill>
        <p:spPr>
          <a:xfrm>
            <a:off x="786809" y="1953252"/>
            <a:ext cx="10370289" cy="3737604"/>
          </a:xfrm>
          <a:prstGeom prst="rect">
            <a:avLst/>
          </a:prstGeom>
        </p:spPr>
      </p:pic>
      <p:sp>
        <p:nvSpPr>
          <p:cNvPr id="17" name="TextBox 16">
            <a:extLst>
              <a:ext uri="{FF2B5EF4-FFF2-40B4-BE49-F238E27FC236}">
                <a16:creationId xmlns:a16="http://schemas.microsoft.com/office/drawing/2014/main" id="{EE8CEE53-5ED7-6B2F-8011-5B32E1A1F189}"/>
              </a:ext>
            </a:extLst>
          </p:cNvPr>
          <p:cNvSpPr txBox="1"/>
          <p:nvPr/>
        </p:nvSpPr>
        <p:spPr>
          <a:xfrm>
            <a:off x="2576373" y="5720701"/>
            <a:ext cx="4898982" cy="338554"/>
          </a:xfrm>
          <a:prstGeom prst="rect">
            <a:avLst/>
          </a:prstGeom>
          <a:noFill/>
        </p:spPr>
        <p:txBody>
          <a:bodyPr wrap="square" lIns="91440" tIns="45720" rIns="91440" bIns="45720" rtlCol="0" anchor="t">
            <a:spAutoFit/>
          </a:bodyPr>
          <a:lstStyle/>
          <a:p>
            <a:pPr>
              <a:spcAft>
                <a:spcPts val="800"/>
              </a:spcAft>
            </a:pPr>
            <a:r>
              <a:rPr lang="en-US" sz="1600" dirty="0">
                <a:solidFill>
                  <a:srgbClr val="323232"/>
                </a:solidFill>
                <a:latin typeface="Helvetica"/>
                <a:cs typeface="Arial"/>
              </a:rPr>
              <a:t>Where to derive the modulating tone from?</a:t>
            </a:r>
            <a:endParaRPr lang="en-US" dirty="0"/>
          </a:p>
        </p:txBody>
      </p:sp>
      <p:cxnSp>
        <p:nvCxnSpPr>
          <p:cNvPr id="19" name="Straight Arrow Connector 18">
            <a:extLst>
              <a:ext uri="{FF2B5EF4-FFF2-40B4-BE49-F238E27FC236}">
                <a16:creationId xmlns:a16="http://schemas.microsoft.com/office/drawing/2014/main" id="{8060283C-DDA5-5E32-F920-1011850521E6}"/>
              </a:ext>
            </a:extLst>
          </p:cNvPr>
          <p:cNvCxnSpPr>
            <a:cxnSpLocks/>
          </p:cNvCxnSpPr>
          <p:nvPr/>
        </p:nvCxnSpPr>
        <p:spPr>
          <a:xfrm flipH="1" flipV="1">
            <a:off x="2967643" y="5018567"/>
            <a:ext cx="992978" cy="733061"/>
          </a:xfrm>
          <a:prstGeom prst="straightConnector1">
            <a:avLst/>
          </a:prstGeom>
          <a:ln w="28575">
            <a:solidFill>
              <a:srgbClr val="2D1364"/>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Heterodyned sideband beat notes add a new timing jitter to the mix.</a:t>
            </a:r>
          </a:p>
          <a:p>
            <a:pPr marL="0" indent="0">
              <a:buNone/>
            </a:pPr>
            <a:endParaRPr lang="en-US" dirty="0"/>
          </a:p>
        </p:txBody>
      </p:sp>
    </p:spTree>
    <p:extLst>
      <p:ext uri="{BB962C8B-B14F-4D97-AF65-F5344CB8AC3E}">
        <p14:creationId xmlns:p14="http://schemas.microsoft.com/office/powerpoint/2010/main" val="281416348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dirty="0">
                <a:latin typeface="Helvetica"/>
                <a:cs typeface="Helvetica"/>
              </a:rPr>
              <a:t>GHz Modulation – Option 2</a:t>
            </a: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16</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4E75D5C-766F-2115-BA72-1FC1E7AAFD9B}"/>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rcRect/>
          <a:stretch/>
        </p:blipFill>
        <p:spPr>
          <a:xfrm>
            <a:off x="794794" y="1953252"/>
            <a:ext cx="10352721" cy="3737604"/>
          </a:xfrm>
          <a:prstGeom prst="rect">
            <a:avLst/>
          </a:prstGeom>
        </p:spPr>
      </p:pic>
      <p:sp>
        <p:nvSpPr>
          <p:cNvPr id="11" name="Content Placeholder 2">
            <a:extLst>
              <a:ext uri="{FF2B5EF4-FFF2-40B4-BE49-F238E27FC236}">
                <a16:creationId xmlns:a16="http://schemas.microsoft.com/office/drawing/2014/main" id="{FBF5A435-10B4-4E5F-9468-9C5778A4A09E}"/>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endParaRPr lang="en-US" dirty="0">
              <a:latin typeface="Helvetica"/>
              <a:cs typeface="Helvetica"/>
            </a:endParaRPr>
          </a:p>
          <a:p>
            <a:pPr marL="0" indent="0">
              <a:buNone/>
            </a:pPr>
            <a:endParaRPr lang="en-US" dirty="0"/>
          </a:p>
        </p:txBody>
      </p:sp>
      <p:sp>
        <p:nvSpPr>
          <p:cNvPr id="12" name="Content Placeholder 2">
            <a:extLst>
              <a:ext uri="{FF2B5EF4-FFF2-40B4-BE49-F238E27FC236}">
                <a16:creationId xmlns:a16="http://schemas.microsoft.com/office/drawing/2014/main" id="{5C96A231-FB4F-46F6-8B18-B3DE8BF1187C}"/>
              </a:ext>
            </a:extLst>
          </p:cNvPr>
          <p:cNvSpPr txBox="1">
            <a:spLocks/>
          </p:cNvSpPr>
          <p:nvPr/>
        </p:nvSpPr>
        <p:spPr>
          <a:xfrm>
            <a:off x="478443" y="12633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15" name="Content Placeholder 2">
            <a:extLst>
              <a:ext uri="{FF2B5EF4-FFF2-40B4-BE49-F238E27FC236}">
                <a16:creationId xmlns:a16="http://schemas.microsoft.com/office/drawing/2014/main" id="{DD9E1CBC-ADBB-41D5-9A2A-956DD91BEF28}"/>
              </a:ext>
            </a:extLst>
          </p:cNvPr>
          <p:cNvSpPr txBox="1">
            <a:spLocks/>
          </p:cNvSpPr>
          <p:nvPr/>
        </p:nvSpPr>
        <p:spPr>
          <a:xfrm>
            <a:off x="321733" y="1002267"/>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dirty="0">
                <a:latin typeface="Helvetica"/>
                <a:cs typeface="Helvetica"/>
              </a:rPr>
              <a:t>Mixing of a GHz signal in the ADC – effectively increasing the bandwidth of the </a:t>
            </a:r>
            <a:r>
              <a:rPr lang="en-US">
                <a:latin typeface="Helvetica"/>
                <a:cs typeface="Helvetica"/>
              </a:rPr>
              <a:t>input of the electronics to 5 GHz.</a:t>
            </a:r>
            <a:endParaRPr lang="en-US"/>
          </a:p>
        </p:txBody>
      </p:sp>
      <p:cxnSp>
        <p:nvCxnSpPr>
          <p:cNvPr id="5" name="Straight Arrow Connector 4">
            <a:extLst>
              <a:ext uri="{FF2B5EF4-FFF2-40B4-BE49-F238E27FC236}">
                <a16:creationId xmlns:a16="http://schemas.microsoft.com/office/drawing/2014/main" id="{6FBD5CF6-C4F0-4635-B6AA-9F790F9CE66F}"/>
              </a:ext>
            </a:extLst>
          </p:cNvPr>
          <p:cNvCxnSpPr>
            <a:cxnSpLocks/>
          </p:cNvCxnSpPr>
          <p:nvPr/>
        </p:nvCxnSpPr>
        <p:spPr>
          <a:xfrm flipH="1">
            <a:off x="4961860" y="1953252"/>
            <a:ext cx="283535" cy="719064"/>
          </a:xfrm>
          <a:prstGeom prst="straightConnector1">
            <a:avLst/>
          </a:prstGeom>
          <a:ln>
            <a:solidFill>
              <a:srgbClr val="4B4B4B"/>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C95562D-DEB1-4EC7-AC10-DBFE82CCA6EC}"/>
              </a:ext>
            </a:extLst>
          </p:cNvPr>
          <p:cNvCxnSpPr>
            <a:cxnSpLocks/>
          </p:cNvCxnSpPr>
          <p:nvPr/>
        </p:nvCxnSpPr>
        <p:spPr>
          <a:xfrm>
            <a:off x="6337005" y="1953252"/>
            <a:ext cx="531628" cy="1987883"/>
          </a:xfrm>
          <a:prstGeom prst="straightConnector1">
            <a:avLst/>
          </a:prstGeom>
          <a:ln>
            <a:solidFill>
              <a:srgbClr val="4B4B4B"/>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EAC6612-9AB9-4419-A27F-5463AE4DA84D}"/>
              </a:ext>
            </a:extLst>
          </p:cNvPr>
          <p:cNvSpPr txBox="1"/>
          <p:nvPr/>
        </p:nvSpPr>
        <p:spPr>
          <a:xfrm>
            <a:off x="5214629" y="1539242"/>
            <a:ext cx="1606031" cy="523220"/>
          </a:xfrm>
          <a:prstGeom prst="rect">
            <a:avLst/>
          </a:prstGeom>
          <a:noFill/>
        </p:spPr>
        <p:txBody>
          <a:bodyPr wrap="square" rtlCol="0">
            <a:spAutoFit/>
          </a:bodyPr>
          <a:lstStyle/>
          <a:p>
            <a:pPr algn="l"/>
            <a:r>
              <a:rPr lang="en-US" sz="1400" dirty="0">
                <a:solidFill>
                  <a:srgbClr val="4B4B4B"/>
                </a:solidFill>
                <a:latin typeface="Arial" panose="020B0604020202020204" pitchFamily="34" charset="0"/>
                <a:cs typeface="Arial" panose="020B0604020202020204" pitchFamily="34" charset="0"/>
              </a:rPr>
              <a:t>Internal IQ demodulation</a:t>
            </a:r>
            <a:endParaRPr lang="LID4096" sz="1400" dirty="0">
              <a:solidFill>
                <a:srgbClr val="4B4B4B"/>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74567691"/>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5D086-B300-C6CE-6AA2-D79CB0669198}"/>
              </a:ext>
            </a:extLst>
          </p:cNvPr>
          <p:cNvSpPr>
            <a:spLocks noGrp="1"/>
          </p:cNvSpPr>
          <p:nvPr>
            <p:ph type="title"/>
          </p:nvPr>
        </p:nvSpPr>
        <p:spPr/>
        <p:txBody>
          <a:bodyPr/>
          <a:lstStyle/>
          <a:p>
            <a:r>
              <a:rPr lang="en-US" dirty="0"/>
              <a:t>Conclusions and Next Steps</a:t>
            </a:r>
            <a:endParaRPr lang="et-EE" dirty="0"/>
          </a:p>
        </p:txBody>
      </p:sp>
      <p:sp>
        <p:nvSpPr>
          <p:cNvPr id="4" name="Date Placeholder 3">
            <a:extLst>
              <a:ext uri="{FF2B5EF4-FFF2-40B4-BE49-F238E27FC236}">
                <a16:creationId xmlns:a16="http://schemas.microsoft.com/office/drawing/2014/main" id="{956532AB-325A-90E5-4BE9-718B609752E0}"/>
              </a:ext>
            </a:extLst>
          </p:cNvPr>
          <p:cNvSpPr>
            <a:spLocks noGrp="1"/>
          </p:cNvSpPr>
          <p:nvPr>
            <p:ph type="dt" sz="half" idx="10"/>
          </p:nvPr>
        </p:nvSpPr>
        <p:spPr/>
        <p:txBody>
          <a:bodyPr/>
          <a:lstStyle/>
          <a:p>
            <a:r>
              <a:rPr lang="LID4096"/>
              <a:t>23.06.2026</a:t>
            </a:r>
            <a:endParaRPr lang="et-EE" dirty="0"/>
          </a:p>
        </p:txBody>
      </p:sp>
      <p:sp>
        <p:nvSpPr>
          <p:cNvPr id="5" name="Footer Placeholder 4">
            <a:extLst>
              <a:ext uri="{FF2B5EF4-FFF2-40B4-BE49-F238E27FC236}">
                <a16:creationId xmlns:a16="http://schemas.microsoft.com/office/drawing/2014/main" id="{D161BBB6-CA89-C5E9-9576-AD8EAC07586D}"/>
              </a:ext>
            </a:extLst>
          </p:cNvPr>
          <p:cNvSpPr>
            <a:spLocks noGrp="1"/>
          </p:cNvSpPr>
          <p:nvPr>
            <p:ph type="ftr" sz="quarter" idx="11"/>
          </p:nvPr>
        </p:nvSpPr>
        <p:spPr/>
        <p:txBody>
          <a:bodyPr/>
          <a:lstStyle/>
          <a:p>
            <a:r>
              <a:rPr lang="en-US" dirty="0"/>
              <a:t>16th International LISA Symposium</a:t>
            </a:r>
            <a:endParaRPr lang="et-EE" dirty="0"/>
          </a:p>
        </p:txBody>
      </p:sp>
      <p:sp>
        <p:nvSpPr>
          <p:cNvPr id="6" name="Slide Number Placeholder 5">
            <a:extLst>
              <a:ext uri="{FF2B5EF4-FFF2-40B4-BE49-F238E27FC236}">
                <a16:creationId xmlns:a16="http://schemas.microsoft.com/office/drawing/2014/main" id="{3B833FAC-8990-085F-615C-1EA8DE63C6BA}"/>
              </a:ext>
            </a:extLst>
          </p:cNvPr>
          <p:cNvSpPr>
            <a:spLocks noGrp="1"/>
          </p:cNvSpPr>
          <p:nvPr>
            <p:ph type="sldNum" sz="quarter" idx="12"/>
          </p:nvPr>
        </p:nvSpPr>
        <p:spPr/>
        <p:txBody>
          <a:bodyPr/>
          <a:lstStyle/>
          <a:p>
            <a:fld id="{9F39E346-B1F3-4075-BD67-234EF0F10AC6}" type="slidenum">
              <a:rPr lang="et-EE" smtClean="0"/>
              <a:pPr/>
              <a:t>17</a:t>
            </a:fld>
            <a:endParaRPr lang="et-EE" dirty="0"/>
          </a:p>
        </p:txBody>
      </p:sp>
      <p:pic>
        <p:nvPicPr>
          <p:cNvPr id="8" name="Picture 7">
            <a:extLst>
              <a:ext uri="{FF2B5EF4-FFF2-40B4-BE49-F238E27FC236}">
                <a16:creationId xmlns:a16="http://schemas.microsoft.com/office/drawing/2014/main" id="{C21CB066-6031-0BD7-0BF7-10395700BC99}"/>
              </a:ext>
            </a:extLst>
          </p:cNvPr>
          <p:cNvPicPr>
            <a:picLocks noChangeAspect="1"/>
          </p:cNvPicPr>
          <p:nvPr/>
        </p:nvPicPr>
        <p:blipFill>
          <a:blip r:embed="rId3"/>
          <a:srcRect/>
          <a:stretch/>
        </p:blipFill>
        <p:spPr>
          <a:xfrm>
            <a:off x="6540940" y="1837781"/>
            <a:ext cx="5762820" cy="4793055"/>
          </a:xfrm>
          <a:prstGeom prst="rect">
            <a:avLst/>
          </a:prstGeom>
        </p:spPr>
      </p:pic>
      <p:sp>
        <p:nvSpPr>
          <p:cNvPr id="3" name="Content Placeholder 2">
            <a:extLst>
              <a:ext uri="{FF2B5EF4-FFF2-40B4-BE49-F238E27FC236}">
                <a16:creationId xmlns:a16="http://schemas.microsoft.com/office/drawing/2014/main" id="{27B071C9-EDE0-96B1-134E-664698E9C6B9}"/>
              </a:ext>
            </a:extLst>
          </p:cNvPr>
          <p:cNvSpPr>
            <a:spLocks noGrp="1"/>
          </p:cNvSpPr>
          <p:nvPr>
            <p:ph idx="1"/>
          </p:nvPr>
        </p:nvSpPr>
        <p:spPr>
          <a:xfrm>
            <a:off x="322765" y="1252452"/>
            <a:ext cx="11432355" cy="4396648"/>
          </a:xfrm>
        </p:spPr>
        <p:txBody>
          <a:bodyPr vert="horz" lIns="91440" tIns="45720" rIns="91440" bIns="45720" rtlCol="0" anchor="t">
            <a:normAutofit lnSpcReduction="10000"/>
          </a:bodyPr>
          <a:lstStyle/>
          <a:p>
            <a:pPr marL="0" indent="0">
              <a:buNone/>
            </a:pPr>
            <a:r>
              <a:rPr lang="en-US" dirty="0">
                <a:latin typeface="Helvetica"/>
                <a:cs typeface="Arial"/>
              </a:rPr>
              <a:t>✓ Delay line — working, below requirement</a:t>
            </a:r>
          </a:p>
          <a:p>
            <a:pPr marL="0" indent="0">
              <a:buNone/>
            </a:pPr>
            <a:r>
              <a:rPr lang="en-US" dirty="0">
                <a:latin typeface="Helvetica"/>
                <a:cs typeface="Arial"/>
              </a:rPr>
              <a:t>✓ PLL lock demonstrated with free running lasers</a:t>
            </a:r>
          </a:p>
          <a:p>
            <a:pPr marL="0" indent="0">
              <a:buNone/>
            </a:pPr>
            <a:r>
              <a:rPr lang="en-US" dirty="0">
                <a:latin typeface="Helvetica"/>
                <a:cs typeface="Arial"/>
              </a:rPr>
              <a:t>○ Assembling the optical layout and cavities</a:t>
            </a:r>
          </a:p>
          <a:p>
            <a:pPr marL="0" indent="0">
              <a:buNone/>
            </a:pPr>
            <a:r>
              <a:rPr lang="en-US" dirty="0">
                <a:latin typeface="Helvetica"/>
                <a:cs typeface="Arial"/>
              </a:rPr>
              <a:t>○ GHz sideband chain — under investigation</a:t>
            </a:r>
          </a:p>
          <a:p>
            <a:pPr marL="0" indent="0">
              <a:buNone/>
            </a:pPr>
            <a:r>
              <a:rPr lang="en-US" dirty="0">
                <a:latin typeface="Helvetica"/>
                <a:cs typeface="Arial"/>
              </a:rPr>
              <a:t>○ Delay board clock noise removal</a:t>
            </a:r>
          </a:p>
          <a:p>
            <a:pPr marL="0" indent="0">
              <a:buNone/>
            </a:pPr>
            <a:r>
              <a:rPr lang="en-US" dirty="0">
                <a:latin typeface="Helvetica"/>
                <a:cs typeface="Arial"/>
              </a:rPr>
              <a:t>○ Full TDI and clock noise removal</a:t>
            </a:r>
          </a:p>
          <a:p>
            <a:pPr marL="0" indent="0">
              <a:buNone/>
            </a:pPr>
            <a:endParaRPr lang="en-US" dirty="0">
              <a:latin typeface="Helvetica"/>
              <a:cs typeface="Arial"/>
            </a:endParaRPr>
          </a:p>
          <a:p>
            <a:pPr marL="0" indent="0">
              <a:buNone/>
            </a:pPr>
            <a:endParaRPr lang="en-US" dirty="0">
              <a:latin typeface="Helvetica"/>
              <a:cs typeface="Arial"/>
            </a:endParaRPr>
          </a:p>
          <a:p>
            <a:pPr marL="0" indent="0">
              <a:buNone/>
            </a:pPr>
            <a:r>
              <a:rPr lang="en-US" dirty="0">
                <a:latin typeface="Helvetica"/>
                <a:cs typeface="Arial"/>
              </a:rPr>
              <a:t>Thank you for listening!</a:t>
            </a:r>
            <a:endParaRPr lang="et-EE" dirty="0"/>
          </a:p>
        </p:txBody>
      </p:sp>
    </p:spTree>
    <p:extLst>
      <p:ext uri="{BB962C8B-B14F-4D97-AF65-F5344CB8AC3E}">
        <p14:creationId xmlns:p14="http://schemas.microsoft.com/office/powerpoint/2010/main" val="91392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2A8D76C-7AD9-4CF6-AAF8-FC86A7BE3837}"/>
              </a:ext>
            </a:extLst>
          </p:cNvPr>
          <p:cNvPicPr>
            <a:picLocks noChangeAspect="1"/>
          </p:cNvPicPr>
          <p:nvPr/>
        </p:nvPicPr>
        <p:blipFill>
          <a:blip r:embed="rId3"/>
          <a:stretch>
            <a:fillRect/>
          </a:stretch>
        </p:blipFill>
        <p:spPr>
          <a:xfrm>
            <a:off x="5602547" y="1993227"/>
            <a:ext cx="6265394" cy="4721277"/>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Modulation Noise Characterization</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3" name="Picture 2">
            <a:extLst>
              <a:ext uri="{FF2B5EF4-FFF2-40B4-BE49-F238E27FC236}">
                <a16:creationId xmlns:a16="http://schemas.microsoft.com/office/drawing/2014/main" id="{C2885FD6-0492-85D3-963B-554E76E4CB5D}"/>
              </a:ext>
            </a:extLst>
          </p:cNvPr>
          <p:cNvPicPr>
            <a:picLocks noChangeAspect="1"/>
          </p:cNvPicPr>
          <p:nvPr/>
        </p:nvPicPr>
        <p:blipFill>
          <a:blip r:embed="rId4"/>
          <a:stretch>
            <a:fillRect/>
          </a:stretch>
        </p:blipFill>
        <p:spPr>
          <a:xfrm>
            <a:off x="-179398" y="1673103"/>
            <a:ext cx="6889505" cy="2546797"/>
          </a:xfrm>
          <a:prstGeom prst="rect">
            <a:avLst/>
          </a:prstGeom>
        </p:spPr>
      </p:pic>
      <p:sp>
        <p:nvSpPr>
          <p:cNvPr id="6" name="Content Placeholder 2">
            <a:extLst>
              <a:ext uri="{FF2B5EF4-FFF2-40B4-BE49-F238E27FC236}">
                <a16:creationId xmlns:a16="http://schemas.microsoft.com/office/drawing/2014/main" id="{8767BAE2-7B60-4C07-1F4C-87C6320DBAB4}"/>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endParaRPr lang="en-US" dirty="0">
              <a:latin typeface="Helvetica"/>
              <a:cs typeface="Arial"/>
            </a:endParaRPr>
          </a:p>
          <a:p>
            <a:endParaRPr lang="et-EE" dirty="0"/>
          </a:p>
        </p:txBody>
      </p:sp>
    </p:spTree>
    <p:extLst>
      <p:ext uri="{BB962C8B-B14F-4D97-AF65-F5344CB8AC3E}">
        <p14:creationId xmlns:p14="http://schemas.microsoft.com/office/powerpoint/2010/main" val="3344876952"/>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Arial"/>
              </a:rPr>
              <a:t>What to do with the clock noise?</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19</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3" name="Picture 2">
            <a:extLst>
              <a:ext uri="{FF2B5EF4-FFF2-40B4-BE49-F238E27FC236}">
                <a16:creationId xmlns:a16="http://schemas.microsoft.com/office/drawing/2014/main" id="{1D97E33F-819A-7080-723E-3BA7208FD2D5}"/>
              </a:ext>
            </a:extLst>
          </p:cNvPr>
          <p:cNvPicPr>
            <a:picLocks noChangeAspect="1"/>
          </p:cNvPicPr>
          <p:nvPr/>
        </p:nvPicPr>
        <p:blipFill>
          <a:blip r:embed="rId3"/>
          <a:srcRect l="49496" t="12787" b="121"/>
          <a:stretch>
            <a:fillRect/>
          </a:stretch>
        </p:blipFill>
        <p:spPr>
          <a:xfrm>
            <a:off x="5475640" y="1798872"/>
            <a:ext cx="6157460" cy="4437786"/>
          </a:xfrm>
          <a:prstGeom prst="rect">
            <a:avLst/>
          </a:prstGeom>
        </p:spPr>
      </p:pic>
      <p:sp>
        <p:nvSpPr>
          <p:cNvPr id="10" name="TextBox 9">
            <a:extLst>
              <a:ext uri="{FF2B5EF4-FFF2-40B4-BE49-F238E27FC236}">
                <a16:creationId xmlns:a16="http://schemas.microsoft.com/office/drawing/2014/main" id="{8BBB8E01-32C5-421F-9CC9-8D61E8DD1CF9}"/>
              </a:ext>
            </a:extLst>
          </p:cNvPr>
          <p:cNvSpPr txBox="1"/>
          <p:nvPr/>
        </p:nvSpPr>
        <p:spPr>
          <a:xfrm>
            <a:off x="346696" y="1837702"/>
            <a:ext cx="5633288" cy="1021883"/>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We are working on another layer of post processing remove this noise</a:t>
            </a:r>
          </a:p>
          <a:p>
            <a:pPr>
              <a:lnSpc>
                <a:spcPct val="150000"/>
              </a:lnSpc>
            </a:pPr>
            <a:r>
              <a:rPr lang="en-US" sz="1400" dirty="0">
                <a:solidFill>
                  <a:srgbClr val="323232"/>
                </a:solidFill>
                <a:latin typeface="Arial"/>
                <a:cs typeface="Arial"/>
              </a:rPr>
              <a:t>Can be done after TDI and LISA-like clock noise removal</a:t>
            </a:r>
            <a:endParaRPr lang="en-US" sz="1400" dirty="0">
              <a:solidFill>
                <a:srgbClr val="323232"/>
              </a:solidFill>
              <a:latin typeface="Arial" panose="020B0604020202020204" pitchFamily="34" charset="0"/>
              <a:cs typeface="Arial" panose="020B0604020202020204" pitchFamily="34" charset="0"/>
            </a:endParaRPr>
          </a:p>
        </p:txBody>
      </p:sp>
      <p:sp>
        <p:nvSpPr>
          <p:cNvPr id="8" name="Content Placeholder 2">
            <a:extLst>
              <a:ext uri="{FF2B5EF4-FFF2-40B4-BE49-F238E27FC236}">
                <a16:creationId xmlns:a16="http://schemas.microsoft.com/office/drawing/2014/main" id="{109A804B-2067-5686-7250-48BD80C57AEF}"/>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rgbClr val="646464"/>
                </a:solidFill>
                <a:latin typeface="Helvetica"/>
                <a:cs typeface="Arial"/>
              </a:rPr>
              <a:t>Tests of Delay Line Board Clock Phase Noise</a:t>
            </a:r>
            <a:endParaRPr lang="en-US" sz="2000" dirty="0">
              <a:solidFill>
                <a:srgbClr val="646464"/>
              </a:solidFill>
            </a:endParaRPr>
          </a:p>
        </p:txBody>
      </p:sp>
      <p:sp>
        <p:nvSpPr>
          <p:cNvPr id="11" name="TextBox 10">
            <a:extLst>
              <a:ext uri="{FF2B5EF4-FFF2-40B4-BE49-F238E27FC236}">
                <a16:creationId xmlns:a16="http://schemas.microsoft.com/office/drawing/2014/main" id="{21BA968D-CE33-4647-937E-7DBFC682141A}"/>
              </a:ext>
            </a:extLst>
          </p:cNvPr>
          <p:cNvSpPr txBox="1"/>
          <p:nvPr/>
        </p:nvSpPr>
        <p:spPr>
          <a:xfrm>
            <a:off x="1552696" y="3487767"/>
            <a:ext cx="3221287" cy="307777"/>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Only if the residuals are added  </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150341F-1B44-4284-992E-1C343FA9FD51}"/>
              </a:ext>
            </a:extLst>
          </p:cNvPr>
          <p:cNvSpPr txBox="1"/>
          <p:nvPr/>
        </p:nvSpPr>
        <p:spPr>
          <a:xfrm>
            <a:off x="1706313" y="4240344"/>
            <a:ext cx="3221287" cy="523220"/>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And </a:t>
            </a:r>
            <a:r>
              <a:rPr lang="en-US" sz="1400" dirty="0" err="1">
                <a:solidFill>
                  <a:srgbClr val="667982"/>
                </a:solidFill>
                <a:highlight>
                  <a:srgbClr val="FF0000"/>
                </a:highlight>
                <a:latin typeface="Arial" panose="020B0604020202020204" pitchFamily="34" charset="0"/>
                <a:cs typeface="Arial" panose="020B0604020202020204" pitchFamily="34" charset="0"/>
              </a:rPr>
              <a:t>rhen</a:t>
            </a:r>
            <a:r>
              <a:rPr lang="en-US" sz="1400" dirty="0">
                <a:solidFill>
                  <a:srgbClr val="667982"/>
                </a:solidFill>
                <a:highlight>
                  <a:srgbClr val="FF0000"/>
                </a:highlight>
                <a:latin typeface="Arial" panose="020B0604020202020204" pitchFamily="34" charset="0"/>
                <a:cs typeface="Arial" panose="020B0604020202020204" pitchFamily="34" charset="0"/>
              </a:rPr>
              <a:t> other noises should also be added</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904528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Helvetica"/>
              </a:rPr>
              <a:t>Experiments so Far</a:t>
            </a:r>
            <a:endParaRPr lang="et-EE" b="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20</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8" name="Picture 7">
            <a:extLst>
              <a:ext uri="{FF2B5EF4-FFF2-40B4-BE49-F238E27FC236}">
                <a16:creationId xmlns:a16="http://schemas.microsoft.com/office/drawing/2014/main" id="{80C7F36F-0BE6-44B0-8935-8FDE8D19AA0F}"/>
              </a:ext>
            </a:extLst>
          </p:cNvPr>
          <p:cNvPicPr>
            <a:picLocks noChangeAspect="1"/>
          </p:cNvPicPr>
          <p:nvPr/>
        </p:nvPicPr>
        <p:blipFill>
          <a:blip r:embed="rId3"/>
          <a:stretch>
            <a:fillRect/>
          </a:stretch>
        </p:blipFill>
        <p:spPr>
          <a:xfrm>
            <a:off x="5298287" y="1715125"/>
            <a:ext cx="6320242" cy="4351202"/>
          </a:xfrm>
          <a:prstGeom prst="rect">
            <a:avLst/>
          </a:prstGeom>
        </p:spPr>
      </p:pic>
      <p:sp>
        <p:nvSpPr>
          <p:cNvPr id="13" name="TextBox 12">
            <a:extLst>
              <a:ext uri="{FF2B5EF4-FFF2-40B4-BE49-F238E27FC236}">
                <a16:creationId xmlns:a16="http://schemas.microsoft.com/office/drawing/2014/main" id="{1785AE95-5F85-497E-9EA5-E874146C9CE8}"/>
              </a:ext>
            </a:extLst>
          </p:cNvPr>
          <p:cNvSpPr txBox="1"/>
          <p:nvPr/>
        </p:nvSpPr>
        <p:spPr>
          <a:xfrm>
            <a:off x="341076" y="1874558"/>
            <a:ext cx="4816791" cy="1021883"/>
          </a:xfrm>
          <a:prstGeom prst="rect">
            <a:avLst/>
          </a:prstGeom>
          <a:noFill/>
        </p:spPr>
        <p:txBody>
          <a:bodyPr wrap="square" lIns="91440" tIns="45720" rIns="91440" bIns="45720" rtlCol="0" anchor="t">
            <a:spAutoFit/>
          </a:bodyPr>
          <a:lstStyle/>
          <a:p>
            <a:pPr>
              <a:lnSpc>
                <a:spcPct val="150000"/>
              </a:lnSpc>
            </a:pPr>
            <a:r>
              <a:rPr lang="en-US" sz="1400" dirty="0">
                <a:solidFill>
                  <a:srgbClr val="667982"/>
                </a:solidFill>
                <a:latin typeface="Arial"/>
                <a:cs typeface="Arial"/>
              </a:rPr>
              <a:t>A new baseline measurement with an optical signal and free running delay line board clock reveals a potential </a:t>
            </a:r>
            <a:r>
              <a:rPr lang="en-US" sz="1400">
                <a:solidFill>
                  <a:srgbClr val="667982"/>
                </a:solidFill>
                <a:latin typeface="Arial"/>
                <a:cs typeface="Arial"/>
              </a:rPr>
              <a:t>problem.</a:t>
            </a:r>
            <a:endParaRPr lang="LID4096" sz="1400">
              <a:solidFill>
                <a:srgbClr val="667982"/>
              </a:solidFill>
              <a:latin typeface="Arial"/>
              <a:cs typeface="Arial"/>
            </a:endParaRPr>
          </a:p>
        </p:txBody>
      </p:sp>
      <p:sp>
        <p:nvSpPr>
          <p:cNvPr id="5" name="Content Placeholder 2">
            <a:extLst>
              <a:ext uri="{FF2B5EF4-FFF2-40B4-BE49-F238E27FC236}">
                <a16:creationId xmlns:a16="http://schemas.microsoft.com/office/drawing/2014/main" id="{2E04BD2C-BD48-E6EE-2A47-EE6F96E04CF8}"/>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latin typeface="Helvetica"/>
                <a:cs typeface="Arial"/>
              </a:rPr>
              <a:t>Tests of Delay Line Board Clock Phase Noise</a:t>
            </a:r>
            <a:endParaRPr lang="en-US" sz="2000"/>
          </a:p>
        </p:txBody>
      </p:sp>
      <p:pic>
        <p:nvPicPr>
          <p:cNvPr id="14" name="Graphic 13">
            <a:extLst>
              <a:ext uri="{FF2B5EF4-FFF2-40B4-BE49-F238E27FC236}">
                <a16:creationId xmlns:a16="http://schemas.microsoft.com/office/drawing/2014/main" id="{0EB02806-D553-45C1-8ED3-7D6D1D2A8D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1773" y="3736507"/>
            <a:ext cx="4766625" cy="1375487"/>
          </a:xfrm>
          <a:prstGeom prst="rect">
            <a:avLst/>
          </a:prstGeom>
        </p:spPr>
      </p:pic>
    </p:spTree>
    <p:extLst>
      <p:ext uri="{BB962C8B-B14F-4D97-AF65-F5344CB8AC3E}">
        <p14:creationId xmlns:p14="http://schemas.microsoft.com/office/powerpoint/2010/main" val="173669934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Experiments so Far</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21</a:t>
            </a:fld>
            <a:endParaRPr lang="et-EE" dirty="0"/>
          </a:p>
        </p:txBody>
      </p:sp>
      <p:pic>
        <p:nvPicPr>
          <p:cNvPr id="8" name="Picture 7" descr="A close-up of a graph&#10;&#10;AI-generated content may be incorrect.">
            <a:extLst>
              <a:ext uri="{FF2B5EF4-FFF2-40B4-BE49-F238E27FC236}">
                <a16:creationId xmlns:a16="http://schemas.microsoft.com/office/drawing/2014/main" id="{9F8BC057-3266-6B4F-E196-6B8F3690442B}"/>
              </a:ext>
            </a:extLst>
          </p:cNvPr>
          <p:cNvPicPr>
            <a:picLocks noChangeAspect="1"/>
          </p:cNvPicPr>
          <p:nvPr/>
        </p:nvPicPr>
        <p:blipFill>
          <a:blip r:embed="rId3"/>
          <a:stretch>
            <a:fillRect/>
          </a:stretch>
        </p:blipFill>
        <p:spPr>
          <a:xfrm>
            <a:off x="228701" y="1923296"/>
            <a:ext cx="11404392" cy="3803309"/>
          </a:xfrm>
          <a:prstGeom prst="rect">
            <a:avLst/>
          </a:prstGeom>
        </p:spPr>
      </p:pic>
      <p:sp>
        <p:nvSpPr>
          <p:cNvPr id="11" name="TextBox 10">
            <a:extLst>
              <a:ext uri="{FF2B5EF4-FFF2-40B4-BE49-F238E27FC236}">
                <a16:creationId xmlns:a16="http://schemas.microsoft.com/office/drawing/2014/main" id="{50CA1F94-AB10-2E1A-8631-A94B04E05942}"/>
              </a:ext>
            </a:extLst>
          </p:cNvPr>
          <p:cNvSpPr txBox="1"/>
          <p:nvPr/>
        </p:nvSpPr>
        <p:spPr>
          <a:xfrm>
            <a:off x="6096000" y="5725117"/>
            <a:ext cx="5537093" cy="307777"/>
          </a:xfrm>
          <a:prstGeom prst="rect">
            <a:avLst/>
          </a:prstGeom>
          <a:noFill/>
        </p:spPr>
        <p:txBody>
          <a:bodyPr wrap="none" rtlCol="0">
            <a:spAutoFit/>
          </a:bodyPr>
          <a:lstStyle/>
          <a:p>
            <a:r>
              <a:rPr lang="en-US" sz="1400" dirty="0">
                <a:solidFill>
                  <a:srgbClr val="323232"/>
                </a:solidFill>
                <a:latin typeface="Arial" panose="020B0604020202020204" pitchFamily="34" charset="0"/>
                <a:cs typeface="Arial" panose="020B0604020202020204" pitchFamily="34" charset="0"/>
              </a:rPr>
              <a:t>R. Ferguson </a:t>
            </a:r>
            <a:r>
              <a:rPr lang="en-US" sz="1400" i="1" dirty="0">
                <a:solidFill>
                  <a:srgbClr val="323232"/>
                </a:solidFill>
                <a:latin typeface="Arial" panose="020B0604020202020204" pitchFamily="34" charset="0"/>
                <a:cs typeface="Arial" panose="020B0604020202020204" pitchFamily="34" charset="0"/>
              </a:rPr>
              <a:t>et al</a:t>
            </a:r>
            <a:r>
              <a:rPr lang="en-US" sz="1400" dirty="0">
                <a:solidFill>
                  <a:srgbClr val="323232"/>
                </a:solidFill>
                <a:latin typeface="Arial" panose="020B0604020202020204" pitchFamily="34" charset="0"/>
                <a:cs typeface="Arial" panose="020B0604020202020204" pitchFamily="34" charset="0"/>
              </a:rPr>
              <a:t>., </a:t>
            </a:r>
            <a:r>
              <a:rPr lang="en-US" sz="1400" i="1" dirty="0">
                <a:solidFill>
                  <a:srgbClr val="323232"/>
                </a:solidFill>
                <a:latin typeface="Arial" panose="020B0604020202020204" pitchFamily="34" charset="0"/>
                <a:cs typeface="Arial" panose="020B0604020202020204" pitchFamily="34" charset="0"/>
              </a:rPr>
              <a:t>Applying TDI to Hardware-Simulated Data</a:t>
            </a:r>
            <a:r>
              <a:rPr lang="en-US" sz="1400" dirty="0">
                <a:solidFill>
                  <a:srgbClr val="323232"/>
                </a:solidFill>
                <a:latin typeface="Arial" panose="020B0604020202020204" pitchFamily="34" charset="0"/>
                <a:cs typeface="Arial" panose="020B0604020202020204" pitchFamily="34" charset="0"/>
              </a:rPr>
              <a:t>, 2025</a:t>
            </a:r>
            <a:endParaRPr lang="et-EE" sz="1400" dirty="0">
              <a:solidFill>
                <a:srgbClr val="323232"/>
              </a:solidFill>
              <a:latin typeface="Arial" panose="020B0604020202020204" pitchFamily="34" charset="0"/>
              <a:cs typeface="Arial" panose="020B0604020202020204" pitchFamily="34" charset="0"/>
            </a:endParaRPr>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6" name="Picture 15">
            <a:extLst>
              <a:ext uri="{FF2B5EF4-FFF2-40B4-BE49-F238E27FC236}">
                <a16:creationId xmlns:a16="http://schemas.microsoft.com/office/drawing/2014/main" id="{A3D99B80-29FF-503F-B919-DE4CC7398B4B}"/>
              </a:ext>
            </a:extLst>
          </p:cNvPr>
          <p:cNvPicPr>
            <a:picLocks noChangeAspect="1"/>
          </p:cNvPicPr>
          <p:nvPr/>
        </p:nvPicPr>
        <p:blipFill>
          <a:blip r:embed="rId4"/>
          <a:stretch>
            <a:fillRect/>
          </a:stretch>
        </p:blipFill>
        <p:spPr>
          <a:xfrm>
            <a:off x="6209799" y="1495087"/>
            <a:ext cx="5423294" cy="590476"/>
          </a:xfrm>
          <a:prstGeom prst="rect">
            <a:avLst/>
          </a:prstGeom>
        </p:spPr>
      </p:pic>
      <p:sp>
        <p:nvSpPr>
          <p:cNvPr id="5" name="Content Placeholder 2">
            <a:extLst>
              <a:ext uri="{FF2B5EF4-FFF2-40B4-BE49-F238E27FC236}">
                <a16:creationId xmlns:a16="http://schemas.microsoft.com/office/drawing/2014/main" id="{54D0D5E0-D2B3-DC6F-A458-233C944EA817}"/>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r>
              <a:rPr lang="en-US" sz="2000">
                <a:latin typeface="Helvetica"/>
                <a:cs typeface="Arial"/>
              </a:rPr>
              <a:t>Fully electronic tests of TDI.</a:t>
            </a:r>
            <a:endParaRPr lang="en-US" sz="2000" noProof="0"/>
          </a:p>
        </p:txBody>
      </p:sp>
    </p:spTree>
    <p:extLst>
      <p:ext uri="{BB962C8B-B14F-4D97-AF65-F5344CB8AC3E}">
        <p14:creationId xmlns:p14="http://schemas.microsoft.com/office/powerpoint/2010/main" val="4022390619"/>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E692BC-5D04-12E0-7F65-0227E5C29CB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08E3B6D2-33FF-4BE7-3563-45DB85285476}"/>
              </a:ext>
            </a:extLst>
          </p:cNvPr>
          <p:cNvGrpSpPr/>
          <p:nvPr/>
        </p:nvGrpSpPr>
        <p:grpSpPr>
          <a:xfrm>
            <a:off x="2143062" y="1715801"/>
            <a:ext cx="7376596" cy="4460219"/>
            <a:chOff x="1742532" y="1024639"/>
            <a:chExt cx="8199828" cy="4909255"/>
          </a:xfrm>
        </p:grpSpPr>
        <p:pic>
          <p:nvPicPr>
            <p:cNvPr id="5" name="Picture 4">
              <a:extLst>
                <a:ext uri="{FF2B5EF4-FFF2-40B4-BE49-F238E27FC236}">
                  <a16:creationId xmlns:a16="http://schemas.microsoft.com/office/drawing/2014/main" id="{8FD17766-9253-4EE2-98ED-07E6BFB11759}"/>
                </a:ext>
              </a:extLst>
            </p:cNvPr>
            <p:cNvPicPr>
              <a:picLocks noChangeAspect="1"/>
            </p:cNvPicPr>
            <p:nvPr/>
          </p:nvPicPr>
          <p:blipFill>
            <a:blip r:embed="rId3"/>
            <a:stretch>
              <a:fillRect/>
            </a:stretch>
          </p:blipFill>
          <p:spPr>
            <a:xfrm>
              <a:off x="1742532" y="1024639"/>
              <a:ext cx="8199828" cy="4909255"/>
            </a:xfrm>
            <a:prstGeom prst="rect">
              <a:avLst/>
            </a:prstGeom>
          </p:spPr>
        </p:pic>
        <p:sp>
          <p:nvSpPr>
            <p:cNvPr id="6" name="TextBox 5">
              <a:extLst>
                <a:ext uri="{FF2B5EF4-FFF2-40B4-BE49-F238E27FC236}">
                  <a16:creationId xmlns:a16="http://schemas.microsoft.com/office/drawing/2014/main" id="{EDA59605-C185-40C8-8260-0EDE25A81F68}"/>
                </a:ext>
              </a:extLst>
            </p:cNvPr>
            <p:cNvSpPr txBox="1"/>
            <p:nvPr/>
          </p:nvSpPr>
          <p:spPr>
            <a:xfrm>
              <a:off x="5332672" y="3378200"/>
              <a:ext cx="2209414" cy="575896"/>
            </a:xfrm>
            <a:prstGeom prst="rect">
              <a:avLst/>
            </a:prstGeom>
            <a:solidFill>
              <a:schemeClr val="tx1"/>
            </a:solidFill>
            <a:ln>
              <a:solidFill>
                <a:schemeClr val="bg1"/>
              </a:solidFill>
              <a:prstDash val="dash"/>
            </a:ln>
          </p:spPr>
          <p:txBody>
            <a:bodyPr wrap="square" rtlCol="0">
              <a:spAutoFit/>
            </a:bodyPr>
            <a:lstStyle/>
            <a:p>
              <a:pPr algn="l"/>
              <a:r>
                <a:rPr lang="et-EE" sz="1400" dirty="0">
                  <a:solidFill>
                    <a:schemeClr val="bg1"/>
                  </a:solidFill>
                  <a:highlight>
                    <a:srgbClr val="D8DFE3"/>
                  </a:highlight>
                  <a:latin typeface="Courier New" panose="02070309020205020404" pitchFamily="49" charset="0"/>
                  <a:cs typeface="Courier New" panose="02070309020205020404" pitchFamily="49" charset="0"/>
                </a:rPr>
                <a:t>Strain amplitude 4.35×10</a:t>
              </a:r>
              <a:r>
                <a:rPr lang="et-EE" sz="1400" baseline="30000" dirty="0">
                  <a:solidFill>
                    <a:schemeClr val="bg1"/>
                  </a:solidFill>
                  <a:highlight>
                    <a:srgbClr val="D8DFE3"/>
                  </a:highlight>
                  <a:latin typeface="Courier New" panose="02070309020205020404" pitchFamily="49" charset="0"/>
                  <a:cs typeface="Courier New" panose="02070309020205020404" pitchFamily="49" charset="0"/>
                </a:rPr>
                <a:t>−20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B7D864D7-4659-44D5-93C7-DADE89854019}"/>
                </a:ext>
              </a:extLst>
            </p:cNvPr>
            <p:cNvSpPr txBox="1"/>
            <p:nvPr/>
          </p:nvSpPr>
          <p:spPr>
            <a:xfrm>
              <a:off x="4046688" y="2681182"/>
              <a:ext cx="1069906" cy="338763"/>
            </a:xfrm>
            <a:prstGeom prst="rect">
              <a:avLst/>
            </a:prstGeom>
            <a:solidFill>
              <a:schemeClr val="tx1"/>
            </a:solidFill>
            <a:ln>
              <a:solidFill>
                <a:schemeClr val="bg1"/>
              </a:solidFill>
              <a:prstDash val="dash"/>
            </a:ln>
          </p:spPr>
          <p:txBody>
            <a:bodyPr wrap="square" rtlCol="0">
              <a:spAutoFit/>
            </a:bodyPr>
            <a:lstStyle/>
            <a:p>
              <a:pPr algn="l"/>
              <a:r>
                <a:rPr lang="en-US" sz="1400" dirty="0">
                  <a:solidFill>
                    <a:schemeClr val="bg1"/>
                  </a:solidFill>
                  <a:highlight>
                    <a:srgbClr val="D8DFE3"/>
                  </a:highlight>
                  <a:latin typeface="Courier New" panose="02070309020205020404" pitchFamily="49" charset="0"/>
                  <a:cs typeface="Courier New" panose="02070309020205020404" pitchFamily="49" charset="0"/>
                </a:rPr>
                <a:t>TDI 1.0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3" name="Rectangle 2">
              <a:extLst>
                <a:ext uri="{FF2B5EF4-FFF2-40B4-BE49-F238E27FC236}">
                  <a16:creationId xmlns:a16="http://schemas.microsoft.com/office/drawing/2014/main" id="{A7027607-EC24-4EE7-885B-340442F6FB63}"/>
                </a:ext>
              </a:extLst>
            </p:cNvPr>
            <p:cNvSpPr/>
            <p:nvPr/>
          </p:nvSpPr>
          <p:spPr>
            <a:xfrm>
              <a:off x="4046688" y="3936097"/>
              <a:ext cx="1085031" cy="348122"/>
            </a:xfrm>
            <a:prstGeom prst="rect">
              <a:avLst/>
            </a:prstGeom>
            <a:solidFill>
              <a:schemeClr val="tx1"/>
            </a:solidFill>
            <a:ln w="952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highlight>
                    <a:srgbClr val="D8DFE3"/>
                  </a:highlight>
                  <a:latin typeface="Courier New" panose="02070309020205020404" pitchFamily="49" charset="0"/>
                  <a:cs typeface="Courier New" panose="02070309020205020404" pitchFamily="49" charset="0"/>
                </a:rPr>
                <a:t>TDI 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grpSp>
      <p:sp>
        <p:nvSpPr>
          <p:cNvPr id="2" name="Title 1">
            <a:extLst>
              <a:ext uri="{FF2B5EF4-FFF2-40B4-BE49-F238E27FC236}">
                <a16:creationId xmlns:a16="http://schemas.microsoft.com/office/drawing/2014/main" id="{A1E2004A-8C3A-8DA8-42F2-B8BAC8661CF0}"/>
              </a:ext>
            </a:extLst>
          </p:cNvPr>
          <p:cNvSpPr>
            <a:spLocks noGrp="1"/>
          </p:cNvSpPr>
          <p:nvPr>
            <p:ph type="title"/>
          </p:nvPr>
        </p:nvSpPr>
        <p:spPr/>
        <p:txBody>
          <a:bodyPr>
            <a:normAutofit/>
          </a:bodyPr>
          <a:lstStyle/>
          <a:p>
            <a:r>
              <a:rPr lang="en-US" noProof="0" dirty="0"/>
              <a:t>Predecessor Testbed</a:t>
            </a:r>
          </a:p>
        </p:txBody>
      </p:sp>
      <p:sp>
        <p:nvSpPr>
          <p:cNvPr id="4" name="Slide Number Placeholder 3">
            <a:extLst>
              <a:ext uri="{FF2B5EF4-FFF2-40B4-BE49-F238E27FC236}">
                <a16:creationId xmlns:a16="http://schemas.microsoft.com/office/drawing/2014/main" id="{33D03556-D078-1238-23F2-77D595FE2839}"/>
              </a:ext>
            </a:extLst>
          </p:cNvPr>
          <p:cNvSpPr>
            <a:spLocks noGrp="1"/>
          </p:cNvSpPr>
          <p:nvPr>
            <p:ph type="sldNum" sz="quarter" idx="12"/>
          </p:nvPr>
        </p:nvSpPr>
        <p:spPr/>
        <p:txBody>
          <a:bodyPr/>
          <a:lstStyle/>
          <a:p>
            <a:fld id="{9F39E346-B1F3-4075-BD67-234EF0F10AC6}" type="slidenum">
              <a:rPr lang="en-US" noProof="0" smtClean="0"/>
              <a:pPr/>
              <a:t>22</a:t>
            </a:fld>
            <a:endParaRPr lang="en-US" noProof="0" dirty="0"/>
          </a:p>
        </p:txBody>
      </p:sp>
      <p:sp>
        <p:nvSpPr>
          <p:cNvPr id="10" name="Content Placeholder 2">
            <a:extLst>
              <a:ext uri="{FF2B5EF4-FFF2-40B4-BE49-F238E27FC236}">
                <a16:creationId xmlns:a16="http://schemas.microsoft.com/office/drawing/2014/main" id="{9A34A598-540E-5734-16C9-2C47F725D56A}"/>
              </a:ext>
            </a:extLst>
          </p:cNvPr>
          <p:cNvSpPr>
            <a:spLocks noGrp="1"/>
          </p:cNvSpPr>
          <p:nvPr>
            <p:ph idx="1"/>
          </p:nvPr>
        </p:nvSpPr>
        <p:spPr>
          <a:xfrm>
            <a:off x="348620" y="1231301"/>
            <a:ext cx="11301513" cy="506358"/>
          </a:xfrm>
        </p:spPr>
        <p:txBody>
          <a:bodyPr>
            <a:normAutofit/>
          </a:bodyPr>
          <a:lstStyle/>
          <a:p>
            <a:pPr marL="0" indent="0">
              <a:buNone/>
            </a:pPr>
            <a:r>
              <a:rPr lang="en-US" sz="1800" noProof="0" dirty="0"/>
              <a:t>Results from University of Florida Laser Interferometry Simulator</a:t>
            </a:r>
          </a:p>
        </p:txBody>
      </p:sp>
      <p:sp>
        <p:nvSpPr>
          <p:cNvPr id="11" name="Date Placeholder 10">
            <a:extLst>
              <a:ext uri="{FF2B5EF4-FFF2-40B4-BE49-F238E27FC236}">
                <a16:creationId xmlns:a16="http://schemas.microsoft.com/office/drawing/2014/main" id="{6A23D580-B774-F957-40F9-5D9F9AA338E7}"/>
              </a:ext>
            </a:extLst>
          </p:cNvPr>
          <p:cNvSpPr>
            <a:spLocks noGrp="1"/>
          </p:cNvSpPr>
          <p:nvPr>
            <p:ph type="dt" sz="half" idx="10"/>
          </p:nvPr>
        </p:nvSpPr>
        <p:spPr/>
        <p:txBody>
          <a:bodyPr/>
          <a:lstStyle/>
          <a:p>
            <a:r>
              <a:rPr lang="LID4096"/>
              <a:t>23.06.2026</a:t>
            </a:r>
            <a:endParaRPr lang="et-EE" dirty="0"/>
          </a:p>
        </p:txBody>
      </p:sp>
      <p:sp>
        <p:nvSpPr>
          <p:cNvPr id="12" name="Footer Placeholder 11">
            <a:extLst>
              <a:ext uri="{FF2B5EF4-FFF2-40B4-BE49-F238E27FC236}">
                <a16:creationId xmlns:a16="http://schemas.microsoft.com/office/drawing/2014/main" id="{B06F9ECD-4246-B8E3-DDAC-75294EBD17DA}"/>
              </a:ext>
            </a:extLst>
          </p:cNvPr>
          <p:cNvSpPr>
            <a:spLocks noGrp="1"/>
          </p:cNvSpPr>
          <p:nvPr>
            <p:ph type="ftr" sz="quarter" idx="11"/>
          </p:nvPr>
        </p:nvSpPr>
        <p:spPr/>
        <p:txBody>
          <a:bodyPr/>
          <a:lstStyle/>
          <a:p>
            <a:r>
              <a:rPr lang="en-US" dirty="0"/>
              <a:t>16th International LISA Symposium</a:t>
            </a:r>
            <a:endParaRPr lang="et-EE" dirty="0"/>
          </a:p>
        </p:txBody>
      </p:sp>
      <p:sp>
        <p:nvSpPr>
          <p:cNvPr id="14" name="TextBox 13">
            <a:extLst>
              <a:ext uri="{FF2B5EF4-FFF2-40B4-BE49-F238E27FC236}">
                <a16:creationId xmlns:a16="http://schemas.microsoft.com/office/drawing/2014/main" id="{D5C9A108-DB7E-46DC-94D7-46A20921A60C}"/>
              </a:ext>
            </a:extLst>
          </p:cNvPr>
          <p:cNvSpPr txBox="1"/>
          <p:nvPr/>
        </p:nvSpPr>
        <p:spPr>
          <a:xfrm>
            <a:off x="8799041"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Mitryk</a:t>
            </a:r>
            <a:r>
              <a:rPr lang="en-US" sz="1000" noProof="0" dirty="0">
                <a:solidFill>
                  <a:srgbClr val="667982"/>
                </a:solidFill>
                <a:highlight>
                  <a:srgbClr val="D8DFE3"/>
                </a:highlight>
                <a:latin typeface="Helvetica" pitchFamily="2" charset="0"/>
                <a:cs typeface="Arial" panose="020B0604020202020204" pitchFamily="34" charset="0"/>
              </a:rPr>
              <a:t>, 2012</a:t>
            </a:r>
          </a:p>
        </p:txBody>
      </p:sp>
    </p:spTree>
    <p:extLst>
      <p:ext uri="{BB962C8B-B14F-4D97-AF65-F5344CB8AC3E}">
        <p14:creationId xmlns:p14="http://schemas.microsoft.com/office/powerpoint/2010/main" val="1428808930"/>
      </p:ext>
    </p:extLst>
  </p:cSld>
  <p:clrMapOvr>
    <a:masterClrMapping/>
  </p:clrMapOvr>
  <mc:AlternateContent xmlns:mc="http://schemas.openxmlformats.org/markup-compatibility/2006" xmlns:p14="http://schemas.microsoft.com/office/powerpoint/2010/main">
    <mc:Choice Requires="p14">
      <p:transition spd="slow" p14:dur="2000" advTm="96214"/>
    </mc:Choice>
    <mc:Fallback xmlns="">
      <p:transition spd="slow" advTm="96214"/>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79F2B7-3E97-987C-1F8F-BFFDB77472C5}"/>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CB0E40C1-D0F4-5B81-7D0B-7B7EA7C1B50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flipV="1">
            <a:off x="347080" y="1258658"/>
            <a:ext cx="6512410" cy="4898608"/>
          </a:xfrm>
        </p:spPr>
      </p:pic>
      <p:sp>
        <p:nvSpPr>
          <p:cNvPr id="2" name="Title 1">
            <a:extLst>
              <a:ext uri="{FF2B5EF4-FFF2-40B4-BE49-F238E27FC236}">
                <a16:creationId xmlns:a16="http://schemas.microsoft.com/office/drawing/2014/main" id="{8FD3DE69-A0A5-0E67-45B2-66D4B04D1A8B}"/>
              </a:ext>
            </a:extLst>
          </p:cNvPr>
          <p:cNvSpPr>
            <a:spLocks noGrp="1"/>
          </p:cNvSpPr>
          <p:nvPr>
            <p:ph type="title"/>
          </p:nvPr>
        </p:nvSpPr>
        <p:spPr/>
        <p:txBody>
          <a:bodyPr/>
          <a:lstStyle/>
          <a:p>
            <a:r>
              <a:rPr lang="en-US" noProof="0" dirty="0"/>
              <a:t>LISA Laser Frequency Noise</a:t>
            </a:r>
          </a:p>
        </p:txBody>
      </p:sp>
      <p:sp>
        <p:nvSpPr>
          <p:cNvPr id="11" name="TextBox 10">
            <a:extLst>
              <a:ext uri="{FF2B5EF4-FFF2-40B4-BE49-F238E27FC236}">
                <a16:creationId xmlns:a16="http://schemas.microsoft.com/office/drawing/2014/main" id="{03606E55-529A-F087-D786-76F77DA97E66}"/>
              </a:ext>
            </a:extLst>
          </p:cNvPr>
          <p:cNvSpPr txBox="1"/>
          <p:nvPr/>
        </p:nvSpPr>
        <p:spPr>
          <a:xfrm>
            <a:off x="2105900"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Jennrich</a:t>
            </a:r>
            <a:r>
              <a:rPr lang="en-US" sz="1000" noProof="0" dirty="0">
                <a:solidFill>
                  <a:srgbClr val="667982"/>
                </a:solidFill>
                <a:highlight>
                  <a:srgbClr val="D8DFE3"/>
                </a:highlight>
                <a:latin typeface="Helvetica" pitchFamily="2" charset="0"/>
                <a:cs typeface="Arial" panose="020B0604020202020204" pitchFamily="34" charset="0"/>
              </a:rPr>
              <a:t>, 2010</a:t>
            </a:r>
          </a:p>
        </p:txBody>
      </p:sp>
      <p:grpSp>
        <p:nvGrpSpPr>
          <p:cNvPr id="10" name="Group 9">
            <a:extLst>
              <a:ext uri="{FF2B5EF4-FFF2-40B4-BE49-F238E27FC236}">
                <a16:creationId xmlns:a16="http://schemas.microsoft.com/office/drawing/2014/main" id="{9BA6C6D6-1744-4E3A-909A-BC6A784BE97C}"/>
              </a:ext>
            </a:extLst>
          </p:cNvPr>
          <p:cNvGrpSpPr/>
          <p:nvPr/>
        </p:nvGrpSpPr>
        <p:grpSpPr>
          <a:xfrm>
            <a:off x="1109306" y="2845853"/>
            <a:ext cx="4901366" cy="2588881"/>
            <a:chOff x="1109306" y="3170775"/>
            <a:chExt cx="4901366" cy="2588881"/>
          </a:xfrm>
        </p:grpSpPr>
        <p:sp>
          <p:nvSpPr>
            <p:cNvPr id="3" name="Rectangle 2">
              <a:extLst>
                <a:ext uri="{FF2B5EF4-FFF2-40B4-BE49-F238E27FC236}">
                  <a16:creationId xmlns:a16="http://schemas.microsoft.com/office/drawing/2014/main" id="{097C700B-BEFD-1DB1-391D-B8D45AE3D918}"/>
                </a:ext>
              </a:extLst>
            </p:cNvPr>
            <p:cNvSpPr>
              <a:spLocks/>
            </p:cNvSpPr>
            <p:nvPr/>
          </p:nvSpPr>
          <p:spPr>
            <a:xfrm>
              <a:off x="5654412" y="3170775"/>
              <a:ext cx="356260" cy="223633"/>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841B7AD5-5349-2E93-AE64-46FC4946C53D}"/>
                </a:ext>
              </a:extLst>
            </p:cNvPr>
            <p:cNvSpPr>
              <a:spLocks/>
            </p:cNvSpPr>
            <p:nvPr/>
          </p:nvSpPr>
          <p:spPr>
            <a:xfrm>
              <a:off x="1109306" y="3170775"/>
              <a:ext cx="356260" cy="301905"/>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Rectangle 6">
              <a:extLst>
                <a:ext uri="{FF2B5EF4-FFF2-40B4-BE49-F238E27FC236}">
                  <a16:creationId xmlns:a16="http://schemas.microsoft.com/office/drawing/2014/main" id="{B6E60CCF-DE7E-D947-714E-958A9480DFC4}"/>
                </a:ext>
              </a:extLst>
            </p:cNvPr>
            <p:cNvSpPr>
              <a:spLocks/>
            </p:cNvSpPr>
            <p:nvPr/>
          </p:nvSpPr>
          <p:spPr>
            <a:xfrm>
              <a:off x="4321593" y="5467180"/>
              <a:ext cx="293153" cy="2924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TextBox 11">
            <a:extLst>
              <a:ext uri="{FF2B5EF4-FFF2-40B4-BE49-F238E27FC236}">
                <a16:creationId xmlns:a16="http://schemas.microsoft.com/office/drawing/2014/main" id="{E33240BA-3E4B-997D-7CDB-1A43F3CDA916}"/>
              </a:ext>
            </a:extLst>
          </p:cNvPr>
          <p:cNvSpPr txBox="1"/>
          <p:nvPr/>
        </p:nvSpPr>
        <p:spPr>
          <a:xfrm>
            <a:off x="2060103" y="2762588"/>
            <a:ext cx="3054928" cy="707886"/>
          </a:xfrm>
          <a:prstGeom prst="rect">
            <a:avLst/>
          </a:prstGeom>
          <a:noFill/>
        </p:spPr>
        <p:txBody>
          <a:bodyPr wrap="square" rtlCol="0">
            <a:spAutoFit/>
          </a:bodyPr>
          <a:lstStyle/>
          <a:p>
            <a:pPr algn="l"/>
            <a:r>
              <a:rPr lang="en-US" sz="2000" dirty="0">
                <a:solidFill>
                  <a:srgbClr val="667982"/>
                </a:solidFill>
                <a:highlight>
                  <a:srgbClr val="D8DFE3"/>
                </a:highlight>
                <a:latin typeface="Helvetica" pitchFamily="2" charset="0"/>
                <a:cs typeface="Arial" panose="020B0604020202020204" pitchFamily="34" charset="0"/>
              </a:rPr>
              <a:t>Unequal arm lengths and laser frequency noise</a:t>
            </a:r>
            <a:endParaRPr lang="et-EE" sz="2000" dirty="0">
              <a:solidFill>
                <a:srgbClr val="667982"/>
              </a:solidFill>
              <a:highlight>
                <a:srgbClr val="D8DFE3"/>
              </a:highlight>
              <a:latin typeface="Helvetica" pitchFamily="2" charset="0"/>
              <a:cs typeface="Arial" panose="020B0604020202020204" pitchFamily="34" charset="0"/>
            </a:endParaRPr>
          </a:p>
        </p:txBody>
      </p:sp>
      <p:sp>
        <p:nvSpPr>
          <p:cNvPr id="14" name="Slide Number Placeholder 3">
            <a:extLst>
              <a:ext uri="{FF2B5EF4-FFF2-40B4-BE49-F238E27FC236}">
                <a16:creationId xmlns:a16="http://schemas.microsoft.com/office/drawing/2014/main" id="{0CE284B1-7819-615D-87C3-38688B8CA8D6}"/>
              </a:ext>
            </a:extLst>
          </p:cNvPr>
          <p:cNvSpPr>
            <a:spLocks noGrp="1"/>
          </p:cNvSpPr>
          <p:nvPr>
            <p:ph type="sldNum" sz="quarter" idx="12"/>
          </p:nvPr>
        </p:nvSpPr>
        <p:spPr>
          <a:xfrm>
            <a:off x="9250679" y="6356350"/>
            <a:ext cx="2743200" cy="365125"/>
          </a:xfrm>
        </p:spPr>
        <p:txBody>
          <a:bodyPr/>
          <a:lstStyle/>
          <a:p>
            <a:fld id="{9F39E346-B1F3-4075-BD67-234EF0F10AC6}" type="slidenum">
              <a:rPr lang="en-US" noProof="0" smtClean="0"/>
              <a:pPr/>
              <a:t>23</a:t>
            </a:fld>
            <a:endParaRPr lang="en-US" noProof="0" dirty="0"/>
          </a:p>
        </p:txBody>
      </p:sp>
      <p:sp>
        <p:nvSpPr>
          <p:cNvPr id="13" name="Date Placeholder 12">
            <a:extLst>
              <a:ext uri="{FF2B5EF4-FFF2-40B4-BE49-F238E27FC236}">
                <a16:creationId xmlns:a16="http://schemas.microsoft.com/office/drawing/2014/main" id="{3646E73C-1B4C-5552-291E-25D5CB8A1F7E}"/>
              </a:ext>
            </a:extLst>
          </p:cNvPr>
          <p:cNvSpPr>
            <a:spLocks noGrp="1"/>
          </p:cNvSpPr>
          <p:nvPr>
            <p:ph type="dt" sz="half" idx="10"/>
          </p:nvPr>
        </p:nvSpPr>
        <p:spPr/>
        <p:txBody>
          <a:bodyPr/>
          <a:lstStyle/>
          <a:p>
            <a:r>
              <a:rPr lang="LID4096"/>
              <a:t>23.06.2026</a:t>
            </a:r>
            <a:endParaRPr lang="et-EE" dirty="0"/>
          </a:p>
        </p:txBody>
      </p:sp>
      <p:sp>
        <p:nvSpPr>
          <p:cNvPr id="15" name="Footer Placeholder 14">
            <a:extLst>
              <a:ext uri="{FF2B5EF4-FFF2-40B4-BE49-F238E27FC236}">
                <a16:creationId xmlns:a16="http://schemas.microsoft.com/office/drawing/2014/main" id="{2FA399B7-D03B-DDC6-E5AE-3C022DEB4322}"/>
              </a:ext>
            </a:extLst>
          </p:cNvPr>
          <p:cNvSpPr>
            <a:spLocks noGrp="1"/>
          </p:cNvSpPr>
          <p:nvPr>
            <p:ph type="ftr" sz="quarter" idx="11"/>
          </p:nvPr>
        </p:nvSpPr>
        <p:spPr/>
        <p:txBody>
          <a:bodyPr/>
          <a:lstStyle/>
          <a:p>
            <a:r>
              <a:rPr lang="en-US" dirty="0">
                <a:solidFill>
                  <a:srgbClr val="A8B7BF"/>
                </a:solidFill>
              </a:rPr>
              <a:t>16th International LISA Symposium</a:t>
            </a:r>
            <a:endParaRPr lang="et-EE" dirty="0">
              <a:solidFill>
                <a:srgbClr val="A8B7BF"/>
              </a:solidFill>
            </a:endParaRPr>
          </a:p>
        </p:txBody>
      </p:sp>
      <p:sp>
        <p:nvSpPr>
          <p:cNvPr id="16" name="TextBox 15">
            <a:extLst>
              <a:ext uri="{FF2B5EF4-FFF2-40B4-BE49-F238E27FC236}">
                <a16:creationId xmlns:a16="http://schemas.microsoft.com/office/drawing/2014/main" id="{2A62B713-251E-ABF2-4A4F-69D4082805E7}"/>
              </a:ext>
            </a:extLst>
          </p:cNvPr>
          <p:cNvSpPr txBox="1"/>
          <p:nvPr/>
        </p:nvSpPr>
        <p:spPr>
          <a:xfrm>
            <a:off x="7322211" y="1885857"/>
            <a:ext cx="4344284"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As per LISA requirements</a:t>
            </a:r>
            <a:endParaRPr lang="et-EE" dirty="0">
              <a:solidFill>
                <a:srgbClr val="667982"/>
              </a:solidFill>
              <a:latin typeface="Helvetica" pitchFamily="2" charset="0"/>
              <a:cs typeface="Arial" panose="020B0604020202020204" pitchFamily="34" charset="0"/>
            </a:endParaRPr>
          </a:p>
        </p:txBody>
      </p:sp>
      <p:sp>
        <p:nvSpPr>
          <p:cNvPr id="4" name="TextBox 3">
            <a:extLst>
              <a:ext uri="{FF2B5EF4-FFF2-40B4-BE49-F238E27FC236}">
                <a16:creationId xmlns:a16="http://schemas.microsoft.com/office/drawing/2014/main" id="{903FEEFB-EC0E-E8C0-919D-DE237E09D8DE}"/>
              </a:ext>
            </a:extLst>
          </p:cNvPr>
          <p:cNvSpPr txBox="1"/>
          <p:nvPr/>
        </p:nvSpPr>
        <p:spPr>
          <a:xfrm>
            <a:off x="6754283" y="3242380"/>
            <a:ext cx="4901239"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Hence for the arm length uncertainty we get</a:t>
            </a:r>
            <a:endParaRPr lang="et-EE" dirty="0">
              <a:solidFill>
                <a:srgbClr val="667982"/>
              </a:solidFill>
              <a:latin typeface="Helvetica" pitchFamily="2" charset="0"/>
              <a:cs typeface="Arial" panose="020B0604020202020204" pitchFamily="34" charset="0"/>
            </a:endParaRPr>
          </a:p>
        </p:txBody>
      </p:sp>
      <p:pic>
        <p:nvPicPr>
          <p:cNvPr id="8" name="Picture 7" descr="A math equation with numbers and symbols&#10;&#10;AI-generated content may be incorrect.">
            <a:extLst>
              <a:ext uri="{FF2B5EF4-FFF2-40B4-BE49-F238E27FC236}">
                <a16:creationId xmlns:a16="http://schemas.microsoft.com/office/drawing/2014/main" id="{94BBD61C-6E53-E254-18F0-BCCD64F3FD46}"/>
              </a:ext>
            </a:extLst>
          </p:cNvPr>
          <p:cNvPicPr>
            <a:picLocks noChangeAspect="1"/>
          </p:cNvPicPr>
          <p:nvPr/>
        </p:nvPicPr>
        <p:blipFill>
          <a:blip r:embed="rId4"/>
          <a:srcRect t="13493"/>
          <a:stretch>
            <a:fillRect/>
          </a:stretch>
        </p:blipFill>
        <p:spPr>
          <a:xfrm>
            <a:off x="7894780" y="2274807"/>
            <a:ext cx="1599573" cy="785578"/>
          </a:xfrm>
          <a:prstGeom prst="rect">
            <a:avLst/>
          </a:prstGeom>
        </p:spPr>
      </p:pic>
      <p:pic>
        <p:nvPicPr>
          <p:cNvPr id="18" name="Picture 17" descr="A number and symbol on a white background&#10;&#10;AI-generated content may be incorrect.">
            <a:extLst>
              <a:ext uri="{FF2B5EF4-FFF2-40B4-BE49-F238E27FC236}">
                <a16:creationId xmlns:a16="http://schemas.microsoft.com/office/drawing/2014/main" id="{264369EB-260B-9576-918B-C747397A9113}"/>
              </a:ext>
            </a:extLst>
          </p:cNvPr>
          <p:cNvPicPr>
            <a:picLocks noChangeAspect="1"/>
          </p:cNvPicPr>
          <p:nvPr/>
        </p:nvPicPr>
        <p:blipFill>
          <a:blip r:embed="rId5"/>
          <a:srcRect t="13764" b="10197"/>
          <a:stretch>
            <a:fillRect/>
          </a:stretch>
        </p:blipFill>
        <p:spPr>
          <a:xfrm>
            <a:off x="6307736" y="3606371"/>
            <a:ext cx="5458706" cy="769461"/>
          </a:xfrm>
          <a:prstGeom prst="rect">
            <a:avLst/>
          </a:prstGeom>
        </p:spPr>
      </p:pic>
      <p:sp>
        <p:nvSpPr>
          <p:cNvPr id="19" name="TextBox 18">
            <a:extLst>
              <a:ext uri="{FF2B5EF4-FFF2-40B4-BE49-F238E27FC236}">
                <a16:creationId xmlns:a16="http://schemas.microsoft.com/office/drawing/2014/main" id="{5D9E715E-D4BA-544B-C067-81032BCE9141}"/>
              </a:ext>
            </a:extLst>
          </p:cNvPr>
          <p:cNvSpPr txBox="1"/>
          <p:nvPr/>
        </p:nvSpPr>
        <p:spPr>
          <a:xfrm>
            <a:off x="6307736" y="4739823"/>
            <a:ext cx="5670441"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But to be sensitive enough to detect GWs, we need</a:t>
            </a:r>
            <a:endParaRPr lang="et-EE" dirty="0">
              <a:solidFill>
                <a:srgbClr val="667982"/>
              </a:solidFill>
              <a:latin typeface="Helvetica" pitchFamily="2" charset="0"/>
              <a:cs typeface="Arial" panose="020B0604020202020204" pitchFamily="34" charset="0"/>
            </a:endParaRPr>
          </a:p>
        </p:txBody>
      </p:sp>
      <p:pic>
        <p:nvPicPr>
          <p:cNvPr id="22" name="Picture 21" descr="A close up of a number&#10;&#10;AI-generated content may be incorrect.">
            <a:extLst>
              <a:ext uri="{FF2B5EF4-FFF2-40B4-BE49-F238E27FC236}">
                <a16:creationId xmlns:a16="http://schemas.microsoft.com/office/drawing/2014/main" id="{368CF62F-964C-8805-483C-CC5F8CA76C5A}"/>
              </a:ext>
            </a:extLst>
          </p:cNvPr>
          <p:cNvPicPr>
            <a:picLocks noChangeAspect="1"/>
          </p:cNvPicPr>
          <p:nvPr/>
        </p:nvPicPr>
        <p:blipFill>
          <a:blip r:embed="rId6"/>
          <a:stretch>
            <a:fillRect/>
          </a:stretch>
        </p:blipFill>
        <p:spPr>
          <a:xfrm>
            <a:off x="6970410" y="5102834"/>
            <a:ext cx="3993226" cy="510584"/>
          </a:xfrm>
          <a:prstGeom prst="rect">
            <a:avLst/>
          </a:prstGeom>
        </p:spPr>
      </p:pic>
    </p:spTree>
    <p:extLst>
      <p:ext uri="{BB962C8B-B14F-4D97-AF65-F5344CB8AC3E}">
        <p14:creationId xmlns:p14="http://schemas.microsoft.com/office/powerpoint/2010/main" val="3359804855"/>
      </p:ext>
    </p:extLst>
  </p:cSld>
  <p:clrMapOvr>
    <a:masterClrMapping/>
  </p:clrMapOvr>
  <mc:AlternateContent xmlns:mc="http://schemas.openxmlformats.org/markup-compatibility/2006" xmlns:p14="http://schemas.microsoft.com/office/powerpoint/2010/main">
    <mc:Choice Requires="p14">
      <p:transition spd="slow" p14:dur="2000" advTm="2617"/>
    </mc:Choice>
    <mc:Fallback xmlns="">
      <p:transition spd="slow" advTm="2617"/>
    </mc:Fallback>
  </mc:AlternateContent>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dirty="0" smtClean="0">
            <a:solidFill>
              <a:srgbClr val="66798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B1DC66D-E5F2-47AE-95B4-0173315A923C}">
  <we:reference id="wa200010001" version="1.0.0.1" store="en-US" storeType="OMEX"/>
  <we:alternateReferences>
    <we:reference id="wa200010001" version="1.0.0.1" store="en-US" storeType="OMEX"/>
  </we:alternateReferences>
  <we:properties>
    <we:property name="claude.fileId" value="&quot;bd6d9704-7f75-4984-a044-2c5291c8eb3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 2013 - 2022</Template>
  <TotalTime>0</TotalTime>
  <Words>1032</Words>
  <Application>Microsoft Office PowerPoint</Application>
  <PresentationFormat>Widescreen</PresentationFormat>
  <Paragraphs>200</Paragraphs>
  <Slides>23</Slides>
  <Notes>23</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Helvetica</vt:lpstr>
      <vt:lpstr>Office Theme</vt:lpstr>
      <vt:lpstr>Testbed for Validating Second-Generation TDI and Clock Noise Correction for LISA</vt:lpstr>
      <vt:lpstr>LISA Science Interferometer</vt:lpstr>
      <vt:lpstr>Replicating the LISA Arm in the Lab</vt:lpstr>
      <vt:lpstr>Replicating the LISA Arm in the Lab</vt:lpstr>
      <vt:lpstr>Replicating the LISA Arm in the Lab</vt:lpstr>
      <vt:lpstr>Replicating the LISA Arm in the Lab</vt:lpstr>
      <vt:lpstr>Full Testbed</vt:lpstr>
      <vt:lpstr>Cavity Locking Two Lasers</vt:lpstr>
      <vt:lpstr>Delay Line</vt:lpstr>
      <vt:lpstr>PLL Lock of Far Spacecraft</vt:lpstr>
      <vt:lpstr>PLL Lock of Far Spacecraft</vt:lpstr>
      <vt:lpstr>Clock Noise Transfer in LISA</vt:lpstr>
      <vt:lpstr>Sidebands in the Lab</vt:lpstr>
      <vt:lpstr>Clock Tone Transfer Limitation</vt:lpstr>
      <vt:lpstr>GHz Modulation – Option 1</vt:lpstr>
      <vt:lpstr>GHz Modulation – Option 2</vt:lpstr>
      <vt:lpstr>Conclusions and Next Steps</vt:lpstr>
      <vt:lpstr>Modulation Noise Characterization</vt:lpstr>
      <vt:lpstr>What to do with the clock noise?</vt:lpstr>
      <vt:lpstr>Experiments so Far</vt:lpstr>
      <vt:lpstr>Experiments so Far</vt:lpstr>
      <vt:lpstr>Predecessor Testbed</vt:lpstr>
      <vt:lpstr>LISA Laser Frequency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 Terramechanics-based Wheel-terrain Contact Model into a Multi-body Simulation Environment</dc:title>
  <dc:creator>Karin Kruuse</dc:creator>
  <cp:lastModifiedBy>kakruu</cp:lastModifiedBy>
  <cp:revision>755</cp:revision>
  <dcterms:created xsi:type="dcterms:W3CDTF">2023-08-26T08:59:13Z</dcterms:created>
  <dcterms:modified xsi:type="dcterms:W3CDTF">2026-06-18T06:47:44Z</dcterms:modified>
</cp:coreProperties>
</file>