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26"/>
  </p:notesMasterIdLst>
  <p:sldIdLst>
    <p:sldId id="256" r:id="rId2"/>
    <p:sldId id="365" r:id="rId3"/>
    <p:sldId id="347" r:id="rId4"/>
    <p:sldId id="348" r:id="rId5"/>
    <p:sldId id="349" r:id="rId6"/>
    <p:sldId id="358" r:id="rId7"/>
    <p:sldId id="351" r:id="rId8"/>
    <p:sldId id="366" r:id="rId9"/>
    <p:sldId id="322" r:id="rId10"/>
    <p:sldId id="354" r:id="rId11"/>
    <p:sldId id="360" r:id="rId12"/>
    <p:sldId id="370" r:id="rId13"/>
    <p:sldId id="323" r:id="rId14"/>
    <p:sldId id="357" r:id="rId15"/>
    <p:sldId id="362" r:id="rId16"/>
    <p:sldId id="363" r:id="rId17"/>
    <p:sldId id="367" r:id="rId18"/>
    <p:sldId id="369" r:id="rId19"/>
    <p:sldId id="342" r:id="rId20"/>
    <p:sldId id="350" r:id="rId21"/>
    <p:sldId id="364" r:id="rId22"/>
    <p:sldId id="356" r:id="rId23"/>
    <p:sldId id="334" r:id="rId24"/>
    <p:sldId id="33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20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4B4B"/>
    <a:srgbClr val="323232"/>
    <a:srgbClr val="2D1364"/>
    <a:srgbClr val="969696"/>
    <a:srgbClr val="646464"/>
    <a:srgbClr val="9CADB6"/>
    <a:srgbClr val="D71B2F"/>
    <a:srgbClr val="296024"/>
    <a:srgbClr val="821770"/>
    <a:srgbClr val="D8D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40EF0-20C6-4F56-9500-723E26054F68}" v="619" dt="2026-06-17T05:48:05.179"/>
    <p1510:client id="{C4E7A8FC-0504-43EC-83FE-0C776D3BA21D}" v="50" dt="2026-06-16T19:11:17.190"/>
    <p1510:client id="{CBAA3118-9793-2816-690A-EB7D591EF4FF}" v="8" dt="2026-06-17T07:13:22.111"/>
    <p1510:client id="{E16CA2A6-B402-42CC-9337-F153E3CC8E64}" v="12" dt="2026-06-17T22:20:20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 autoAdjust="0"/>
    <p:restoredTop sz="83946" autoAdjust="0"/>
  </p:normalViewPr>
  <p:slideViewPr>
    <p:cSldViewPr snapToGrid="0">
      <p:cViewPr varScale="1">
        <p:scale>
          <a:sx n="106" d="100"/>
          <a:sy n="106" d="100"/>
        </p:scale>
        <p:origin x="148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2" y="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18.06.26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DE" dirty="0"/>
              <a:t>his is a status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47334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Simulations can only test what you think to simulate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2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026239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3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49715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4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129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5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006203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A049-E70D-CD53-3885-41916A52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D07E9-C8C4-D8FD-EE6A-F1650336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C9500-DDB0-8444-EBE5-9708575F9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DE" dirty="0"/>
              <a:t>ix the signs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96030-26B2-128A-B33C-3FBBA8B30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6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9055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E9A6-7755-F626-D554-73782C32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18AA-C72D-C4AC-4567-9473BB65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540E-6962-EB2D-8236-48FB1727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 err="1"/>
              <a:t>Lasers</a:t>
            </a:r>
            <a:r>
              <a:rPr lang="et-EE" dirty="0"/>
              <a:t>, </a:t>
            </a:r>
            <a:r>
              <a:rPr lang="et-EE" dirty="0" err="1"/>
              <a:t>delaylines</a:t>
            </a:r>
            <a:r>
              <a:rPr lang="et-EE" dirty="0"/>
              <a:t>, </a:t>
            </a:r>
            <a:r>
              <a:rPr lang="et-EE" dirty="0" err="1"/>
              <a:t>locking</a:t>
            </a:r>
            <a:r>
              <a:rPr lang="et-EE" dirty="0"/>
              <a:t>, </a:t>
            </a:r>
            <a:r>
              <a:rPr lang="et-EE" dirty="0" err="1"/>
              <a:t>add</a:t>
            </a:r>
            <a:r>
              <a:rPr lang="et-EE" dirty="0"/>
              <a:t> </a:t>
            </a:r>
            <a:r>
              <a:rPr lang="et-EE" dirty="0" err="1"/>
              <a:t>pic</a:t>
            </a:r>
            <a:r>
              <a:rPr lang="et-EE" dirty="0"/>
              <a:t> of </a:t>
            </a:r>
            <a:r>
              <a:rPr lang="et-EE" dirty="0" err="1"/>
              <a:t>lab</a:t>
            </a:r>
            <a:br>
              <a:rPr lang="et-EE" dirty="0"/>
            </a:br>
            <a:r>
              <a:rPr lang="et-EE" dirty="0" err="1"/>
              <a:t>more</a:t>
            </a:r>
            <a:r>
              <a:rPr lang="et-EE" dirty="0"/>
              <a:t> </a:t>
            </a:r>
            <a:r>
              <a:rPr lang="et-EE" dirty="0" err="1"/>
              <a:t>fluent</a:t>
            </a:r>
            <a:r>
              <a:rPr lang="et-EE" dirty="0"/>
              <a:t> – </a:t>
            </a:r>
            <a:r>
              <a:rPr lang="et-EE" dirty="0" err="1"/>
              <a:t>streamline</a:t>
            </a:r>
            <a:r>
              <a:rPr lang="et-EE" dirty="0"/>
              <a:t> </a:t>
            </a:r>
            <a:r>
              <a:rPr lang="et-EE" dirty="0" err="1"/>
              <a:t>the</a:t>
            </a:r>
            <a:r>
              <a:rPr lang="et-EE" dirty="0"/>
              <a:t> </a:t>
            </a:r>
            <a:r>
              <a:rPr lang="et-EE" dirty="0" err="1"/>
              <a:t>talking</a:t>
            </a:r>
            <a:r>
              <a:rPr lang="et-EE" dirty="0"/>
              <a:t> </a:t>
            </a:r>
            <a:r>
              <a:rPr lang="et-EE" dirty="0" err="1"/>
              <a:t>about</a:t>
            </a:r>
            <a:r>
              <a:rPr lang="et-EE" dirty="0"/>
              <a:t> </a:t>
            </a:r>
            <a:r>
              <a:rPr lang="et-EE" dirty="0" err="1"/>
              <a:t>the</a:t>
            </a:r>
            <a:r>
              <a:rPr lang="et-EE" dirty="0"/>
              <a:t> pair </a:t>
            </a:r>
            <a:r>
              <a:rPr lang="et-EE" dirty="0" err="1"/>
              <a:t>o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C9B9-B835-B607-2A1B-5D66CCA2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7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2490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E9A6-7755-F626-D554-73782C32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18AA-C72D-C4AC-4567-9473BB65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540E-6962-EB2D-8236-48FB1727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length variability, like how it affects the </a:t>
            </a:r>
            <a:br>
              <a:rPr lang="en-US" dirty="0"/>
            </a:br>
            <a:endParaRPr lang="en-US" dirty="0"/>
          </a:p>
          <a:p>
            <a:r>
              <a:rPr lang="et-EE" dirty="0" err="1"/>
              <a:t>more</a:t>
            </a:r>
            <a:r>
              <a:rPr lang="et-EE" dirty="0"/>
              <a:t> </a:t>
            </a:r>
            <a:r>
              <a:rPr lang="et-EE" dirty="0" err="1"/>
              <a:t>fluent</a:t>
            </a:r>
            <a:r>
              <a:rPr lang="et-EE" dirty="0"/>
              <a:t> – </a:t>
            </a:r>
            <a:r>
              <a:rPr lang="et-EE" dirty="0" err="1"/>
              <a:t>streamline</a:t>
            </a:r>
            <a:r>
              <a:rPr lang="et-EE" dirty="0"/>
              <a:t> </a:t>
            </a:r>
            <a:r>
              <a:rPr lang="et-EE" dirty="0" err="1"/>
              <a:t>the</a:t>
            </a:r>
            <a:r>
              <a:rPr lang="et-EE" dirty="0"/>
              <a:t> </a:t>
            </a:r>
            <a:r>
              <a:rPr lang="et-EE" dirty="0" err="1"/>
              <a:t>talking</a:t>
            </a:r>
            <a:r>
              <a:rPr lang="et-EE" dirty="0"/>
              <a:t> </a:t>
            </a:r>
            <a:r>
              <a:rPr lang="et-EE" dirty="0" err="1"/>
              <a:t>about</a:t>
            </a:r>
            <a:r>
              <a:rPr lang="et-EE" dirty="0"/>
              <a:t> </a:t>
            </a:r>
            <a:r>
              <a:rPr lang="et-EE" dirty="0" err="1"/>
              <a:t>the</a:t>
            </a:r>
            <a:r>
              <a:rPr lang="et-EE" dirty="0"/>
              <a:t> pair of </a:t>
            </a:r>
            <a:r>
              <a:rPr lang="et-EE" dirty="0" err="1"/>
              <a:t>resonances</a:t>
            </a:r>
            <a:br>
              <a:rPr lang="en-US" dirty="0"/>
            </a:b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C9B9-B835-B607-2A1B-5D66CCA2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8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766868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Designed for </a:t>
            </a:r>
            <a:r>
              <a:rPr lang="en-US" dirty="0" err="1"/>
              <a:t>softwawre</a:t>
            </a:r>
            <a:r>
              <a:rPr lang="en-US" dirty="0"/>
              <a:t> RF</a:t>
            </a:r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9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862085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E9A6-7755-F626-D554-73782C32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18AA-C72D-C4AC-4567-9473BB65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540E-6962-EB2D-8236-48FB1727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 err="1"/>
              <a:t>Dont</a:t>
            </a:r>
            <a:r>
              <a:rPr lang="et-EE" dirty="0"/>
              <a:t> have </a:t>
            </a:r>
            <a:r>
              <a:rPr lang="et-EE" dirty="0" err="1"/>
              <a:t>the</a:t>
            </a:r>
            <a:r>
              <a:rPr lang="et-EE" dirty="0"/>
              <a:t> PM in </a:t>
            </a:r>
            <a:r>
              <a:rPr lang="et-EE" dirty="0" err="1"/>
              <a:t>the</a:t>
            </a:r>
            <a:r>
              <a:rPr lang="et-EE" dirty="0"/>
              <a:t> SC</a:t>
            </a:r>
            <a:br>
              <a:rPr lang="et-EE" dirty="0"/>
            </a:br>
            <a:r>
              <a:rPr lang="et-EE" dirty="0" err="1"/>
              <a:t>add</a:t>
            </a:r>
            <a:r>
              <a:rPr lang="et-EE" dirty="0"/>
              <a:t> </a:t>
            </a:r>
            <a:r>
              <a:rPr lang="et-EE" dirty="0" err="1"/>
              <a:t>the</a:t>
            </a:r>
            <a:r>
              <a:rPr lang="et-EE" dirty="0"/>
              <a:t> </a:t>
            </a:r>
            <a:r>
              <a:rPr lang="et-EE" dirty="0" err="1"/>
              <a:t>out</a:t>
            </a:r>
            <a:r>
              <a:rPr lang="et-EE" dirty="0"/>
              <a:t> of loop </a:t>
            </a:r>
            <a:r>
              <a:rPr lang="et-EE" dirty="0" err="1"/>
              <a:t>noise</a:t>
            </a:r>
            <a:r>
              <a:rPr lang="et-EE" dirty="0"/>
              <a:t> on </a:t>
            </a:r>
            <a:r>
              <a:rPr lang="et-EE" dirty="0" err="1"/>
              <a:t>the</a:t>
            </a:r>
            <a:r>
              <a:rPr lang="et-EE" dirty="0"/>
              <a:t> </a:t>
            </a:r>
            <a:r>
              <a:rPr lang="et-EE" dirty="0" err="1"/>
              <a:t>plot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C9B9-B835-B607-2A1B-5D66CCA2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10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29173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E9A6-7755-F626-D554-73782C32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18AA-C72D-C4AC-4567-9473BB65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540E-6962-EB2D-8236-48FB1727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Explain the extraction </a:t>
            </a:r>
            <a:r>
              <a:rPr lang="et-EE" dirty="0" err="1"/>
              <a:t>clearl</a:t>
            </a:r>
            <a:r>
              <a:rPr lang="en-US" dirty="0"/>
              <a:t>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is results w the LFN, this has been done in Florida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C9B9-B835-B607-2A1B-5D66CCA2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11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26060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F2B2-53AD-918D-D2F7-A650E9BF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C4757-9866-749F-120B-E46057117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1CE29-3E7A-179F-28CE-7E0635DDB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Transistion</a:t>
            </a:r>
            <a:r>
              <a:rPr lang="en-US" dirty="0"/>
              <a:t> from LFN to clock noise, mention Florida, higher phase fidelity, tech and added clocks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Show TDI and GW injection, like we can do that w the electronics (at the expense of the clock noise time)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53D4B-06DB-3B17-0A3B-CBE883B72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12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86399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76B1-8AAD-DECC-0159-8FC0B234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4D550-559C-956A-6D77-8F86A480A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7EA18-1B5C-2D68-E3AD-3784B5AE0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B86E6-6763-FC4B-6A44-11F441A34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13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09421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DE" dirty="0"/>
              <a:t>larify the modulating freq.</a:t>
            </a:r>
            <a:endParaRPr lang="en-US" dirty="0"/>
          </a:p>
          <a:p>
            <a:r>
              <a:rPr lang="en-GB" dirty="0"/>
              <a:t>A</a:t>
            </a:r>
            <a:r>
              <a:rPr lang="en-DE" dirty="0"/>
              <a:t>dd clarifing notes for the terms/frequencies (already in previous slides)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14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877195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A049-E70D-CD53-3885-41916A52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D07E9-C8C4-D8FD-EE6A-F1650336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C9500-DDB0-8444-EBE5-9708575F9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</a:t>
            </a:r>
            <a:r>
              <a:rPr lang="en-DE" dirty="0"/>
              <a:t>ighlight the modulation frequency in the text, explain the GHz limitation better</a:t>
            </a:r>
            <a:br>
              <a:rPr lang="en-DE" dirty="0"/>
            </a:b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96030-26B2-128A-B33C-3FBBA8B30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15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110054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A049-E70D-CD53-3885-41916A52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D07E9-C8C4-D8FD-EE6A-F1650336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C9500-DDB0-8444-EBE5-9708575F9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DE" dirty="0"/>
              <a:t>his is extreme case, we are exploring some ideas, like why the factor of 200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96030-26B2-128A-B33C-3FBBA8B30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16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96755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0F2F-6F26-6A89-591D-1AEA8319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F9E8F-258E-A526-9101-D397A2556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6B824-30A5-399C-617D-FB89E9793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May be bullet lies, PM clocking from SB, reference </a:t>
            </a:r>
            <a:r>
              <a:rPr lang="en-GB" dirty="0" err="1"/>
              <a:t>meas</a:t>
            </a:r>
            <a:r>
              <a:rPr lang="en-GB" dirty="0"/>
              <a:t>, </a:t>
            </a:r>
            <a:r>
              <a:rPr lang="en-GB"/>
              <a:t>ADC mixing, aliasing, 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3C2BA-C813-E8C2-29B9-8C29CE37F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17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07099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0F2F-6F26-6A89-591D-1AEA8319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F9E8F-258E-A526-9101-D397A2556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6B824-30A5-399C-617D-FB89E9793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</a:t>
            </a:r>
            <a:r>
              <a:rPr lang="en-DE" dirty="0"/>
              <a:t>ur firmware currently doesn’t allow for GHz “front end”. </a:t>
            </a:r>
            <a:r>
              <a:rPr lang="en-GB" dirty="0"/>
              <a:t>S</a:t>
            </a:r>
            <a:r>
              <a:rPr lang="en-DE" dirty="0"/>
              <a:t>olution nr 2, add</a:t>
            </a:r>
            <a:br>
              <a:rPr lang="en-DE" dirty="0"/>
            </a:br>
            <a:r>
              <a:rPr lang="en-DE" dirty="0"/>
              <a:t>Clarify the solution properly. </a:t>
            </a:r>
            <a:r>
              <a:rPr lang="en-GB" dirty="0"/>
              <a:t>L</a:t>
            </a:r>
            <a:r>
              <a:rPr lang="en-DE" dirty="0"/>
              <a:t>ike why is this even an issue currently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internal IQ demodulation -- 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3C2BA-C813-E8C2-29B9-8C29CE37F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18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4333408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en-DE" dirty="0"/>
              <a:t>ix the clock noise stuff</a:t>
            </a:r>
          </a:p>
          <a:p>
            <a:r>
              <a:rPr lang="en-GB" dirty="0"/>
              <a:t>A</a:t>
            </a:r>
            <a:r>
              <a:rPr lang="en-DE" dirty="0"/>
              <a:t>dd the cavity locking plans? – how u get the good beatnote (in the right range)</a:t>
            </a:r>
          </a:p>
          <a:p>
            <a:r>
              <a:rPr lang="en-GB" dirty="0"/>
              <a:t>T</a:t>
            </a:r>
            <a:r>
              <a:rPr lang="en-DE" dirty="0"/>
              <a:t>ake out delay line stuff, like put them together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19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8463226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E9A6-7755-F626-D554-73782C32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18AA-C72D-C4AC-4567-9473BB65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540E-6962-EB2D-8236-48FB1727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 err="1"/>
              <a:t>Add</a:t>
            </a:r>
            <a:r>
              <a:rPr lang="et-EE" dirty="0"/>
              <a:t> </a:t>
            </a:r>
            <a:r>
              <a:rPr lang="et-EE" dirty="0" err="1"/>
              <a:t>fibers</a:t>
            </a:r>
            <a:r>
              <a:rPr lang="et-EE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C9B9-B835-B607-2A1B-5D66CCA2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20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884378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DE" dirty="0"/>
              <a:t>dd something that indicates the residuals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21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649678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FBA-726D-2434-A624-0D90F392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52C87-543A-C50F-F5D5-A8E147E5C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3358-E8CF-64CF-C32E-487E3A372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DE" dirty="0"/>
              <a:t>ake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51D3B-B880-91F1-E0E7-25AA06AF8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22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61457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E9A6-7755-F626-D554-73782C32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18AA-C72D-C4AC-4567-9473BB65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540E-6962-EB2D-8236-48FB1727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Update! </a:t>
            </a:r>
            <a:r>
              <a:rPr lang="et-EE" dirty="0" err="1"/>
              <a:t>If</a:t>
            </a:r>
            <a:r>
              <a:rPr lang="et-EE" dirty="0"/>
              <a:t> </a:t>
            </a:r>
            <a:r>
              <a:rPr lang="et-EE" dirty="0" err="1"/>
              <a:t>shown</a:t>
            </a:r>
            <a:r>
              <a:rPr lang="et-EE" dirty="0"/>
              <a:t>, show </a:t>
            </a:r>
            <a:r>
              <a:rPr lang="et-EE" dirty="0" err="1"/>
              <a:t>later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C9B9-B835-B607-2A1B-5D66CCA2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23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035524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0F51-0FB3-8CC0-2E16-8647C969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40F12-9724-12CD-77BA-A394D64D5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59571-8FC7-7DC7-EE6D-3269B1102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5CED-5032-77DA-F212-E6B7C573A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F329CB-E484-4F61-9C3E-A471CEC4EF7E}" type="slidenum">
              <a:rPr lang="et-EE" smtClean="0"/>
              <a:t>24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219118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32323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 dirty="0"/>
              <a:t>23.06.2026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2" y="1252452"/>
            <a:ext cx="11266517" cy="4396648"/>
          </a:xfrm>
        </p:spPr>
        <p:txBody>
          <a:bodyPr/>
          <a:lstStyle>
            <a:lvl1pPr marL="91440">
              <a:defRPr sz="2400" b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rgbClr val="969696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69696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69696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dirty="0"/>
              <a:t>28.08.2023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969696"/>
                </a:solidFill>
                <a:latin typeface="Helvetica" pitchFamily="2" charset="0"/>
              </a:defRPr>
            </a:lvl1pPr>
          </a:lstStyle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969696"/>
                </a:solidFill>
                <a:latin typeface="Helvetica" pitchFamily="2" charset="0"/>
              </a:defRPr>
            </a:lvl1pPr>
          </a:lstStyle>
          <a:p>
            <a:r>
              <a:rPr lang="en-US"/>
              <a:t>16th International LISA Symposium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969696"/>
                </a:solidFill>
                <a:latin typeface="Helvetica" pitchFamily="2" charset="0"/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AA549F-3261-4FB8-90C4-DDE92830E82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874266" y="230188"/>
            <a:ext cx="3119613" cy="70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Helvetica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Helvetica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Helvetica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Helvetica" pitchFamily="2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Helvetica" pitchFamily="2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C0DE-565F-000C-3EEA-F6099D3D6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242" y="1122363"/>
            <a:ext cx="10575823" cy="2387600"/>
          </a:xfrm>
        </p:spPr>
        <p:txBody>
          <a:bodyPr>
            <a:normAutofit/>
          </a:bodyPr>
          <a:lstStyle/>
          <a:p>
            <a:pPr algn="l"/>
            <a:r>
              <a:rPr lang="en-US" sz="4000" b="1" noProof="0" dirty="0">
                <a:latin typeface="Helvetica" pitchFamily="2" charset="0"/>
              </a:rPr>
              <a:t>Testbed for Validating Second-Generation TDI and Clock Noise Correction for LISA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6BFAB-E9D0-DE83-B9D8-ED08B2065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243" y="3602038"/>
            <a:ext cx="1036367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u="sng" noProof="0" dirty="0">
                <a:solidFill>
                  <a:srgbClr val="646464"/>
                </a:solidFill>
                <a:latin typeface="Helvetica"/>
                <a:cs typeface="Arial"/>
              </a:rPr>
              <a:t>Karin Kruuse</a:t>
            </a:r>
            <a:r>
              <a:rPr lang="en-US" noProof="0" dirty="0">
                <a:solidFill>
                  <a:srgbClr val="646464"/>
                </a:solidFill>
                <a:latin typeface="Helvetica"/>
                <a:cs typeface="Arial"/>
              </a:rPr>
              <a:t>, Reid Ferguson, </a:t>
            </a:r>
            <a:r>
              <a:rPr lang="en-US" noProof="0" dirty="0" err="1">
                <a:solidFill>
                  <a:srgbClr val="646464"/>
                </a:solidFill>
                <a:latin typeface="Helvetica"/>
                <a:cs typeface="Arial"/>
              </a:rPr>
              <a:t>Sourath</a:t>
            </a:r>
            <a:r>
              <a:rPr lang="en-US" noProof="0" dirty="0">
                <a:solidFill>
                  <a:srgbClr val="646464"/>
                </a:solidFill>
                <a:latin typeface="Helvetica"/>
                <a:cs typeface="Arial"/>
              </a:rPr>
              <a:t> Ghosh, Patrick Krieger, Daniele </a:t>
            </a:r>
            <a:r>
              <a:rPr lang="en-US" noProof="0" dirty="0" err="1">
                <a:solidFill>
                  <a:srgbClr val="646464"/>
                </a:solidFill>
                <a:latin typeface="Helvetica"/>
                <a:cs typeface="Arial"/>
              </a:rPr>
              <a:t>Vetrugno</a:t>
            </a:r>
            <a:r>
              <a:rPr lang="en-US" noProof="0" dirty="0">
                <a:solidFill>
                  <a:srgbClr val="646464"/>
                </a:solidFill>
                <a:latin typeface="Helvetica"/>
                <a:cs typeface="Arial"/>
              </a:rPr>
              <a:t>, Guido </a:t>
            </a:r>
            <a:r>
              <a:rPr lang="en-US" noProof="0" dirty="0" err="1">
                <a:solidFill>
                  <a:srgbClr val="646464"/>
                </a:solidFill>
                <a:latin typeface="Helvetica"/>
                <a:cs typeface="Arial"/>
              </a:rPr>
              <a:t>Mue</a:t>
            </a:r>
            <a:r>
              <a:rPr lang="en-US" dirty="0" err="1">
                <a:solidFill>
                  <a:srgbClr val="646464"/>
                </a:solidFill>
                <a:latin typeface="Helvetica"/>
                <a:cs typeface="Arial"/>
              </a:rPr>
              <a:t>ller</a:t>
            </a:r>
            <a:br>
              <a:rPr lang="en-US" sz="400" dirty="0">
                <a:solidFill>
                  <a:srgbClr val="646464"/>
                </a:solidFill>
                <a:latin typeface="Helvetica"/>
                <a:cs typeface="Arial"/>
              </a:rPr>
            </a:br>
            <a:br>
              <a:rPr lang="en-US" sz="600" dirty="0">
                <a:solidFill>
                  <a:srgbClr val="646464"/>
                </a:solidFill>
                <a:latin typeface="Helvetica"/>
                <a:cs typeface="Arial"/>
              </a:rPr>
            </a:br>
            <a:r>
              <a:rPr lang="en-US" sz="1400" b="0" dirty="0">
                <a:solidFill>
                  <a:srgbClr val="969696"/>
                </a:solidFill>
              </a:rPr>
              <a:t>Max Planck Institute for Gravitational Physics/Leibniz University Hannover</a:t>
            </a:r>
            <a:endParaRPr lang="en-US" sz="1400" b="0" noProof="0" dirty="0">
              <a:solidFill>
                <a:srgbClr val="969696"/>
              </a:solidFill>
              <a:latin typeface="Helvetica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52F94-4D68-9AD9-C559-7E17DBBC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 noProof="0" dirty="0">
                <a:solidFill>
                  <a:srgbClr val="969696"/>
                </a:solidFill>
                <a:cs typeface="Arial" panose="020B0604020202020204" pitchFamily="34" charset="0"/>
              </a:rPr>
              <a:t>23.06.2026</a:t>
            </a:r>
            <a:endParaRPr lang="en-US" noProof="0" dirty="0">
              <a:solidFill>
                <a:srgbClr val="969696"/>
              </a:solidFill>
              <a:cs typeface="Arial" panose="020B0604020202020204" pitchFamily="34" charset="0"/>
            </a:endParaRPr>
          </a:p>
        </p:txBody>
      </p:sp>
      <p:sp>
        <p:nvSpPr>
          <p:cNvPr id="7" name="Footer Placeholder 14">
            <a:extLst>
              <a:ext uri="{FF2B5EF4-FFF2-40B4-BE49-F238E27FC236}">
                <a16:creationId xmlns:a16="http://schemas.microsoft.com/office/drawing/2014/main" id="{0541D75B-40C2-421E-A496-AB0AE904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85AF5-8F8C-460B-B44A-3FBE058F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>
                <a:solidFill>
                  <a:srgbClr val="969696"/>
                </a:solidFill>
              </a:rPr>
              <a:pPr/>
              <a:t>1</a:t>
            </a:fld>
            <a:endParaRPr lang="et-EE" dirty="0">
              <a:solidFill>
                <a:srgbClr val="969696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C933F3-BCF4-4263-B127-A81C44F38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62" y="182941"/>
            <a:ext cx="2458414" cy="70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4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5"/>
    </mc:Choice>
    <mc:Fallback xmlns="">
      <p:transition spd="slow" advTm="224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LISA Science Interferometer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23E14E-4446-C8D3-113A-0782DAA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9334A9-6F79-4633-ADDB-79A5792FC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79" y="1161756"/>
            <a:ext cx="11374387" cy="46520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Two primary noises in the LISA raw data – laser noise and clock timing jitter</a:t>
            </a:r>
            <a:endParaRPr lang="et-E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DC84A7-FF5B-49D6-9695-630625005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82" y="2147313"/>
            <a:ext cx="9180595" cy="25633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3A2C3B1-2470-AD95-1FCA-770258288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4342" y="4864161"/>
            <a:ext cx="5133761" cy="88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Replicating the LISA Arm in the Lab</a:t>
            </a:r>
            <a:endParaRPr lang="en-US" noProof="0" dirty="0">
              <a:latin typeface="Helvetica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23E14E-4446-C8D3-113A-0782DAA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6F1A6F-38A1-4210-B6D9-09E7BD003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484" y="1156046"/>
            <a:ext cx="8609594" cy="51747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AFC456-2A69-4BBB-9C56-F2A8F08E3702}"/>
              </a:ext>
            </a:extLst>
          </p:cNvPr>
          <p:cNvSpPr txBox="1"/>
          <p:nvPr/>
        </p:nvSpPr>
        <p:spPr>
          <a:xfrm>
            <a:off x="805000" y="2071763"/>
            <a:ext cx="130048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LISA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9864D-8E8B-46E7-8EE3-60B02125B621}"/>
              </a:ext>
            </a:extLst>
          </p:cNvPr>
          <p:cNvSpPr txBox="1"/>
          <p:nvPr/>
        </p:nvSpPr>
        <p:spPr>
          <a:xfrm>
            <a:off x="724548" y="4586182"/>
            <a:ext cx="172194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Testbed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616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Replicating the LISA Arm in the Lab</a:t>
            </a: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23E14E-4446-C8D3-113A-0782DAA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6F1A6F-38A1-4210-B6D9-09E7BD003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484" y="1156046"/>
            <a:ext cx="8609594" cy="51747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21D82ED-077F-4BB6-B619-FF99EE956918}"/>
              </a:ext>
            </a:extLst>
          </p:cNvPr>
          <p:cNvSpPr/>
          <p:nvPr/>
        </p:nvSpPr>
        <p:spPr>
          <a:xfrm>
            <a:off x="4622146" y="3835519"/>
            <a:ext cx="1160164" cy="565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5D6F8E-102D-4FE7-A2BF-8E8C4628899C}"/>
              </a:ext>
            </a:extLst>
          </p:cNvPr>
          <p:cNvSpPr/>
          <p:nvPr/>
        </p:nvSpPr>
        <p:spPr>
          <a:xfrm>
            <a:off x="7409402" y="4929142"/>
            <a:ext cx="1238558" cy="565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913E01-B954-4183-B7C9-090D67979C07}"/>
              </a:ext>
            </a:extLst>
          </p:cNvPr>
          <p:cNvSpPr txBox="1"/>
          <p:nvPr/>
        </p:nvSpPr>
        <p:spPr>
          <a:xfrm>
            <a:off x="4013236" y="3511442"/>
            <a:ext cx="353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323232"/>
                </a:solidFill>
                <a:highlight>
                  <a:srgbClr val="EFF1F3"/>
                </a:highlight>
                <a:latin typeface="Helvetica" pitchFamily="2" charset="0"/>
                <a:cs typeface="Arial" panose="020B0604020202020204" pitchFamily="34" charset="0"/>
              </a:rPr>
              <a:t>Carrier from 281 THz to ~50MHz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EC3C2C-9002-46C2-B860-1390083E9A9C}"/>
              </a:ext>
            </a:extLst>
          </p:cNvPr>
          <p:cNvSpPr txBox="1"/>
          <p:nvPr/>
        </p:nvSpPr>
        <p:spPr>
          <a:xfrm>
            <a:off x="805000" y="2071763"/>
            <a:ext cx="130048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LISA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25BDC-80F7-4492-956D-166A6DB5F9EC}"/>
              </a:ext>
            </a:extLst>
          </p:cNvPr>
          <p:cNvSpPr txBox="1"/>
          <p:nvPr/>
        </p:nvSpPr>
        <p:spPr>
          <a:xfrm>
            <a:off x="724548" y="4586182"/>
            <a:ext cx="172194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Testbed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235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Replicating the LISA Arm in the Lab</a:t>
            </a: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23E14E-4446-C8D3-113A-0782DAA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6F1A6F-38A1-4210-B6D9-09E7BD003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484" y="1156046"/>
            <a:ext cx="8609594" cy="517478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DF795BF-18EF-4B4D-82F1-5EF1F97736B2}"/>
              </a:ext>
            </a:extLst>
          </p:cNvPr>
          <p:cNvSpPr/>
          <p:nvPr/>
        </p:nvSpPr>
        <p:spPr>
          <a:xfrm>
            <a:off x="4553154" y="4878341"/>
            <a:ext cx="1222806" cy="565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1C7B5D-38AF-4A19-931D-112748F7D886}"/>
              </a:ext>
            </a:extLst>
          </p:cNvPr>
          <p:cNvSpPr/>
          <p:nvPr/>
        </p:nvSpPr>
        <p:spPr>
          <a:xfrm>
            <a:off x="7577208" y="3820370"/>
            <a:ext cx="1152384" cy="565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258E33-07B5-420F-92A6-E67CD80A86DE}"/>
              </a:ext>
            </a:extLst>
          </p:cNvPr>
          <p:cNvSpPr txBox="1"/>
          <p:nvPr/>
        </p:nvSpPr>
        <p:spPr>
          <a:xfrm>
            <a:off x="6262962" y="3284453"/>
            <a:ext cx="2987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323232"/>
                </a:solidFill>
                <a:highlight>
                  <a:srgbClr val="EFF1F3"/>
                </a:highlight>
                <a:latin typeface="Helvetica" pitchFamily="2" charset="0"/>
                <a:cs typeface="Arial" panose="020B0604020202020204" pitchFamily="34" charset="0"/>
              </a:rPr>
              <a:t>Inter-satellite interferometers</a:t>
            </a:r>
            <a:endParaRPr lang="et-EE" dirty="0">
              <a:solidFill>
                <a:srgbClr val="323232"/>
              </a:solidFill>
              <a:highlight>
                <a:srgbClr val="EFF1F3"/>
              </a:highlight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378D94-8214-4E4D-8556-2636B16A871F}"/>
              </a:ext>
            </a:extLst>
          </p:cNvPr>
          <p:cNvSpPr/>
          <p:nvPr/>
        </p:nvSpPr>
        <p:spPr>
          <a:xfrm>
            <a:off x="4813270" y="2617785"/>
            <a:ext cx="351287" cy="4811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8E4A5E-228E-41A0-9A69-4A33508870CB}"/>
              </a:ext>
            </a:extLst>
          </p:cNvPr>
          <p:cNvSpPr/>
          <p:nvPr/>
        </p:nvSpPr>
        <p:spPr>
          <a:xfrm>
            <a:off x="8110957" y="1531790"/>
            <a:ext cx="351287" cy="4811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2EB51B-296C-4CB5-9D7E-26B624BA01A3}"/>
              </a:ext>
            </a:extLst>
          </p:cNvPr>
          <p:cNvSpPr txBox="1"/>
          <p:nvPr/>
        </p:nvSpPr>
        <p:spPr>
          <a:xfrm>
            <a:off x="805000" y="2071763"/>
            <a:ext cx="130048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LISA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312589-29D9-46D6-9CD0-977ACE7B2F22}"/>
              </a:ext>
            </a:extLst>
          </p:cNvPr>
          <p:cNvSpPr txBox="1"/>
          <p:nvPr/>
        </p:nvSpPr>
        <p:spPr>
          <a:xfrm>
            <a:off x="724548" y="4586182"/>
            <a:ext cx="172194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Testbed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334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7A4A-3FF4-D844-2193-477D8DF3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DCA-1161-1C7E-A435-54E85457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Replicating the LISA Arm in the Lab</a:t>
            </a: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F45F2-2DEF-DAEE-8252-CC910251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34E1D7-CA3C-8A3F-D655-C976C66A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625B93-6E97-8D07-A8EE-ACDF8633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9E17CC-9801-4929-ADE5-A9CE31DE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45" y="1237556"/>
            <a:ext cx="6402078" cy="17875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78ECA1-263A-4A9E-A678-9AC8CC3AE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93" y="3646424"/>
            <a:ext cx="6646315" cy="23325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1A7C8E-3287-48E7-8037-82DBDDBA1F7D}"/>
              </a:ext>
            </a:extLst>
          </p:cNvPr>
          <p:cNvSpPr txBox="1"/>
          <p:nvPr/>
        </p:nvSpPr>
        <p:spPr>
          <a:xfrm>
            <a:off x="10185723" y="2429168"/>
            <a:ext cx="130048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LISA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3DD407-5ED4-4D1A-BF5E-0B889D7916E3}"/>
              </a:ext>
            </a:extLst>
          </p:cNvPr>
          <p:cNvSpPr txBox="1"/>
          <p:nvPr/>
        </p:nvSpPr>
        <p:spPr>
          <a:xfrm>
            <a:off x="10105271" y="4943587"/>
            <a:ext cx="172194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Testbed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A20D83-7C9C-DA1B-A5EE-98DD2525D8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1876" y="2924520"/>
            <a:ext cx="5403987" cy="100895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416453F-DAE5-2A11-2FB2-A23E94751E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341620" y="5527992"/>
            <a:ext cx="6487160" cy="81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6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B29D3-61A0-11BF-0E79-F5A9A88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45B0-E716-5B13-C8A6-61CB8E5E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noProof="0" dirty="0">
                <a:latin typeface="Helvetica" pitchFamily="2" charset="0"/>
              </a:rPr>
              <a:t>Full Testbed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09217-8DE7-2E62-D338-9927CAB7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7</a:t>
            </a:fld>
            <a:endParaRPr lang="et-E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826941B-A5AA-80E4-DA25-D7824FEC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CA5C6-D35F-4A27-A55E-819E0BCB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16th International LISA Symposium</a:t>
            </a:r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36162-81EB-4E08-B95C-0F45E32C9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591" y="685800"/>
            <a:ext cx="7012214" cy="583220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AA8F29-0E02-4E4A-8E0E-B6A25D3E1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43" y="1110956"/>
            <a:ext cx="4664171" cy="4702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One laser per spacecraft</a:t>
            </a:r>
          </a:p>
          <a:p>
            <a:pPr marL="0" indent="0">
              <a:buNone/>
            </a:pPr>
            <a:r>
              <a:rPr lang="en-US" dirty="0"/>
              <a:t>Cavity locked primary laser</a:t>
            </a:r>
          </a:p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Independent clocks</a:t>
            </a:r>
          </a:p>
          <a:p>
            <a:pPr marL="0" indent="0">
              <a:buNone/>
            </a:pPr>
            <a:r>
              <a:rPr lang="en-US" dirty="0"/>
              <a:t>Six separate delay lines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91612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B29D3-61A0-11BF-0E79-F5A9A88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45B0-E716-5B13-C8A6-61CB8E5E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Cavity Locking Two Lasers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09217-8DE7-2E62-D338-9927CAB7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8</a:t>
            </a:fld>
            <a:endParaRPr lang="et-E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826941B-A5AA-80E4-DA25-D7824FEC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1872D0-6525-8475-B34F-E953A18B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3368C6-E708-4AA5-8BEE-74686A269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43" y="1110956"/>
            <a:ext cx="11391824" cy="4702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For LISA-like laser noise the primary laser should be cavity locked.</a:t>
            </a:r>
          </a:p>
          <a:p>
            <a:pPr marL="342900" indent="-342900"/>
            <a:r>
              <a:rPr lang="en-US" dirty="0"/>
              <a:t>Two lasers locked to separate cavities – 25 cm and 30 cm</a:t>
            </a:r>
          </a:p>
          <a:p>
            <a:pPr marL="342900" indent="-342900"/>
            <a:r>
              <a:rPr lang="en-US" dirty="0">
                <a:latin typeface="Helvetica"/>
                <a:cs typeface="Arial"/>
              </a:rPr>
              <a:t>Two separate Pound-Drever-Hall (PDH) locks</a:t>
            </a:r>
          </a:p>
          <a:p>
            <a:pPr marL="342900" indent="-342900"/>
            <a:r>
              <a:rPr lang="en-US" dirty="0">
                <a:latin typeface="Helvetica"/>
                <a:cs typeface="Arial"/>
              </a:rPr>
              <a:t>Beat note needs to be below 60 MHz</a:t>
            </a:r>
          </a:p>
          <a:p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9278E-BC94-4EDC-9796-6498DFCE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1902" y="3539578"/>
            <a:ext cx="7770150" cy="28161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8C78D9-2096-2058-5D4E-CF43CCC35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868" y="2185737"/>
            <a:ext cx="4945293" cy="45318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27296D-0A8E-9AAF-40D9-AEEEC9F44356}"/>
              </a:ext>
            </a:extLst>
          </p:cNvPr>
          <p:cNvSpPr txBox="1"/>
          <p:nvPr/>
        </p:nvSpPr>
        <p:spPr>
          <a:xfrm>
            <a:off x="326043" y="3293090"/>
            <a:ext cx="35904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B4B4B"/>
                </a:solidFill>
                <a:latin typeface="Helvetica"/>
                <a:cs typeface="Helvetica"/>
              </a:rPr>
              <a:t>Illustrative cavity resonances</a:t>
            </a:r>
          </a:p>
        </p:txBody>
      </p:sp>
    </p:spTree>
    <p:extLst>
      <p:ext uri="{BB962C8B-B14F-4D97-AF65-F5344CB8AC3E}">
        <p14:creationId xmlns:p14="http://schemas.microsoft.com/office/powerpoint/2010/main" val="161264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98031B6-96F2-43BA-83FC-639284088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219" y="1806468"/>
            <a:ext cx="6096012" cy="42092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F6B943-D49C-727C-A350-31F5A333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Line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83280-550A-07EE-A9E9-6A0C4D081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889" y="1134542"/>
            <a:ext cx="11404978" cy="4679236"/>
          </a:xfrm>
        </p:spPr>
        <p:txBody>
          <a:bodyPr/>
          <a:lstStyle/>
          <a:p>
            <a:r>
              <a:rPr lang="et-EE" dirty="0"/>
              <a:t>Time varying delays</a:t>
            </a:r>
            <a:endParaRPr lang="en-US" dirty="0"/>
          </a:p>
          <a:p>
            <a:r>
              <a:rPr lang="en-US" dirty="0"/>
              <a:t>Doppler shifts for both the carrier and sidebands</a:t>
            </a:r>
          </a:p>
          <a:p>
            <a:r>
              <a:rPr lang="en-US" dirty="0"/>
              <a:t>Gravitational wave injection</a:t>
            </a:r>
          </a:p>
          <a:p>
            <a:endParaRPr lang="en-US" dirty="0"/>
          </a:p>
          <a:p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8D17-7164-DAC5-01A1-F8F2126D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9</a:t>
            </a:fld>
            <a:endParaRPr lang="et-E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F7902F-24F2-F9ED-E2A8-52F04A237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93" y="2854742"/>
            <a:ext cx="3477030" cy="2688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DC4884-6EAE-CD2C-33D7-C4236B7BD784}"/>
              </a:ext>
            </a:extLst>
          </p:cNvPr>
          <p:cNvSpPr txBox="1"/>
          <p:nvPr/>
        </p:nvSpPr>
        <p:spPr>
          <a:xfrm>
            <a:off x="761302" y="5580234"/>
            <a:ext cx="2871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rPr>
              <a:t>AMD Zynq™ </a:t>
            </a:r>
            <a:r>
              <a:rPr lang="en-US" sz="1400" noProof="0" dirty="0" err="1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rPr>
              <a:t>UltraScale</a:t>
            </a:r>
            <a:r>
              <a:rPr lang="en-US" sz="1400" noProof="0" dirty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rPr>
              <a:t>+™ </a:t>
            </a:r>
            <a:r>
              <a:rPr lang="en-US" sz="1400" noProof="0" dirty="0" err="1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rPr>
              <a:t>RFSoC</a:t>
            </a:r>
            <a:r>
              <a:rPr lang="en-US" sz="1400" noProof="0" dirty="0">
                <a:solidFill>
                  <a:srgbClr val="323232"/>
                </a:solidFill>
                <a:latin typeface="Helvetica" pitchFamily="2" charset="0"/>
                <a:cs typeface="Arial" panose="020B0604020202020204" pitchFamily="34" charset="0"/>
              </a:rPr>
              <a:t> ZCU208 Evaluation Kit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6A552-64E1-A995-5E3B-39264C41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E0ECD-C8B4-1CD9-23F6-CC1276D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7551E-E6E0-DBF4-895F-E712C178CB73}"/>
              </a:ext>
            </a:extLst>
          </p:cNvPr>
          <p:cNvSpPr txBox="1"/>
          <p:nvPr/>
        </p:nvSpPr>
        <p:spPr>
          <a:xfrm>
            <a:off x="7640255" y="5911363"/>
            <a:ext cx="4816791" cy="375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23232"/>
                </a:solidFill>
                <a:latin typeface="Arial"/>
                <a:cs typeface="Arial"/>
              </a:rPr>
              <a:t>Intrinsic noise floor of one board in purple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CB97CD-C5F0-4F22-BD4C-71B76FB16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8869" y="3040354"/>
            <a:ext cx="1844862" cy="222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8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B29D3-61A0-11BF-0E79-F5A9A88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45B0-E716-5B13-C8A6-61CB8E5E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PLL Lock of Far Spacecraft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09217-8DE7-2E62-D338-9927CAB7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10</a:t>
            </a:fld>
            <a:endParaRPr lang="et-E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826941B-A5AA-80E4-DA25-D7824FEC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1872D0-6525-8475-B34F-E953A18B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6C7BFA-18A7-4961-ADFD-E4CA18E4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763" y="2113494"/>
            <a:ext cx="5972201" cy="405213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DE894E-C6DB-D7F5-9464-A8BEC60134A7}"/>
              </a:ext>
            </a:extLst>
          </p:cNvPr>
          <p:cNvSpPr txBox="1">
            <a:spLocks/>
          </p:cNvSpPr>
          <p:nvPr/>
        </p:nvSpPr>
        <p:spPr>
          <a:xfrm>
            <a:off x="326043" y="1130494"/>
            <a:ext cx="11303901" cy="469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"/>
                <a:cs typeface="Helvetica"/>
              </a:rPr>
              <a:t>Photodetector readings are dominated by free running laser frequency noise.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"/>
                <a:cs typeface="Helvetica"/>
              </a:rPr>
              <a:t>Mixed output is orders of magnitude lower.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343D02-584A-4A6B-9206-3BC4BE5E5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0292" y="3743440"/>
            <a:ext cx="5832172" cy="2518918"/>
          </a:xfr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AABE998-6DB7-43AB-AC8A-F13DC0A304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063" y="3552968"/>
            <a:ext cx="2365021" cy="39055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B612996-EF55-4776-8619-4678D2E5C9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9764" y="5920211"/>
            <a:ext cx="2274461" cy="375599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33B8DABB-BCBC-4CF3-95E2-1B43A5074C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2275" y="2436476"/>
            <a:ext cx="7910083" cy="68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2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B29D3-61A0-11BF-0E79-F5A9A88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38429EC-90EC-434F-9ACD-25D3135759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22031" y="1915158"/>
            <a:ext cx="5909492" cy="4052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1B45B0-E716-5B13-C8A6-61CB8E5E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/>
                <a:cs typeface="Helvetica"/>
              </a:rPr>
              <a:t>PLL Lock of Far Spacecraft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09217-8DE7-2E62-D338-9927CAB7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11</a:t>
            </a:fld>
            <a:endParaRPr lang="et-E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826941B-A5AA-80E4-DA25-D7824FEC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1872D0-6525-8475-B34F-E953A18B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83147D-7337-8824-7EFA-B3F43D4F7C84}"/>
              </a:ext>
            </a:extLst>
          </p:cNvPr>
          <p:cNvSpPr txBox="1">
            <a:spLocks/>
          </p:cNvSpPr>
          <p:nvPr/>
        </p:nvSpPr>
        <p:spPr>
          <a:xfrm>
            <a:off x="326043" y="1130494"/>
            <a:ext cx="11303901" cy="469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Helvetica"/>
                <a:cs typeface="Helvetica"/>
              </a:rPr>
              <a:t>We can recover a LISA-like one-way laser noise transfer function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cs typeface="Helvetica"/>
            </a:endParaRPr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A21CCE60-CF5A-4C40-A3C9-2E19C62C7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4" y="3743440"/>
            <a:ext cx="5832172" cy="251891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48A5B7D-3469-4BE0-ADD4-31E056989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504" y="2983499"/>
            <a:ext cx="3951958" cy="759941"/>
          </a:xfrm>
        </p:spPr>
      </p:pic>
    </p:spTree>
    <p:extLst>
      <p:ext uri="{BB962C8B-B14F-4D97-AF65-F5344CB8AC3E}">
        <p14:creationId xmlns:p14="http://schemas.microsoft.com/office/powerpoint/2010/main" val="63131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14DC1-EE50-C37E-9C0B-35054E46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826C26F-7D41-952C-3E2C-209009972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22031" y="1915158"/>
            <a:ext cx="5909492" cy="4052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09E0D2-41F8-CBE7-0000-DA5B6AF0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/>
                <a:cs typeface="Helvetica"/>
              </a:rPr>
              <a:t>PLL Lock of Far Spacecraft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D4BE7-BAC7-3C9C-3EE3-D75DBAD9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12</a:t>
            </a:fld>
            <a:endParaRPr lang="et-E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367453D-923D-BD0A-592D-0A9895F7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E1A25C1-433C-ADAE-8127-EB15ED85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70A332-2C3E-EE87-6F85-ACB0E6B8E0C2}"/>
              </a:ext>
            </a:extLst>
          </p:cNvPr>
          <p:cNvSpPr txBox="1">
            <a:spLocks/>
          </p:cNvSpPr>
          <p:nvPr/>
        </p:nvSpPr>
        <p:spPr>
          <a:xfrm>
            <a:off x="326043" y="1130494"/>
            <a:ext cx="11303901" cy="469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Helvetica"/>
                <a:cs typeface="Helvetica"/>
              </a:rPr>
              <a:t>We can recover a LISA-like one-way laser noise transfer function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cs typeface="Helvetica"/>
            </a:endParaRPr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44C1156B-05C7-BA51-0FC3-36E23D426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4" y="3743440"/>
            <a:ext cx="5832172" cy="251891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D7BF699-FCDE-2AB1-00AA-7E19755C6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504" y="2983499"/>
            <a:ext cx="3951958" cy="759941"/>
          </a:xfrm>
        </p:spPr>
      </p:pic>
    </p:spTree>
    <p:extLst>
      <p:ext uri="{BB962C8B-B14F-4D97-AF65-F5344CB8AC3E}">
        <p14:creationId xmlns:p14="http://schemas.microsoft.com/office/powerpoint/2010/main" val="11777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E692BC-5D04-12E0-7F65-0227E5C2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E3B6D2-33FF-4BE7-3563-45DB85285476}"/>
              </a:ext>
            </a:extLst>
          </p:cNvPr>
          <p:cNvGrpSpPr/>
          <p:nvPr/>
        </p:nvGrpSpPr>
        <p:grpSpPr>
          <a:xfrm>
            <a:off x="2143062" y="1715801"/>
            <a:ext cx="7376596" cy="4460219"/>
            <a:chOff x="1742532" y="1024639"/>
            <a:chExt cx="8199828" cy="49092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D17766-9253-4EE2-98ED-07E6BFB11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2532" y="1024639"/>
              <a:ext cx="8199828" cy="490925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A59605-C185-40C8-8260-0EDE25A81F68}"/>
                </a:ext>
              </a:extLst>
            </p:cNvPr>
            <p:cNvSpPr txBox="1"/>
            <p:nvPr/>
          </p:nvSpPr>
          <p:spPr>
            <a:xfrm>
              <a:off x="5332672" y="3378200"/>
              <a:ext cx="2209414" cy="57589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t-EE" sz="1400" dirty="0">
                  <a:solidFill>
                    <a:schemeClr val="bg1"/>
                  </a:solidFill>
                  <a:highlight>
                    <a:srgbClr val="D8DFE3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Strain amplitude 4.35×10</a:t>
              </a:r>
              <a:r>
                <a:rPr lang="et-EE" sz="1400" baseline="30000" dirty="0">
                  <a:solidFill>
                    <a:schemeClr val="bg1"/>
                  </a:solidFill>
                  <a:highlight>
                    <a:srgbClr val="D8DFE3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−20</a:t>
              </a:r>
              <a:endParaRPr lang="LID4096" sz="1400" dirty="0">
                <a:solidFill>
                  <a:schemeClr val="bg1"/>
                </a:solidFill>
                <a:highlight>
                  <a:srgbClr val="D8DFE3"/>
                </a:highligh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D864D7-4659-44D5-93C7-DADE89854019}"/>
                </a:ext>
              </a:extLst>
            </p:cNvPr>
            <p:cNvSpPr txBox="1"/>
            <p:nvPr/>
          </p:nvSpPr>
          <p:spPr>
            <a:xfrm>
              <a:off x="4046688" y="2681182"/>
              <a:ext cx="1069906" cy="3387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 dirty="0">
                  <a:solidFill>
                    <a:schemeClr val="bg1"/>
                  </a:solidFill>
                  <a:highlight>
                    <a:srgbClr val="D8DFE3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TDI 1.0</a:t>
              </a:r>
              <a:endParaRPr lang="LID4096" sz="1400" dirty="0">
                <a:solidFill>
                  <a:schemeClr val="bg1"/>
                </a:solidFill>
                <a:highlight>
                  <a:srgbClr val="D8DFE3"/>
                </a:highligh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027607-EC24-4EE7-885B-340442F6FB63}"/>
                </a:ext>
              </a:extLst>
            </p:cNvPr>
            <p:cNvSpPr/>
            <p:nvPr/>
          </p:nvSpPr>
          <p:spPr>
            <a:xfrm>
              <a:off x="4046688" y="3936097"/>
              <a:ext cx="1085031" cy="34812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highlight>
                    <a:srgbClr val="D8DFE3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TDI 2.0</a:t>
              </a:r>
              <a:endParaRPr lang="LID4096" sz="1400" dirty="0">
                <a:solidFill>
                  <a:schemeClr val="bg1"/>
                </a:solidFill>
                <a:highlight>
                  <a:srgbClr val="D8DFE3"/>
                </a:highligh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E2004A-8C3A-8DA8-42F2-B8BAC866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Predecessor Testbed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3556-D078-1238-23F2-77D595FE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34A598-540E-5734-16C9-2C47F725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620" y="1231301"/>
            <a:ext cx="11301513" cy="5063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noProof="0" dirty="0"/>
              <a:t>Results from University of Florida Laser Interferometry Simulator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23D580-B774-F957-40F9-5D9F9AA3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06F9ECD-4246-B8E3-DDAC-75294EBD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C9A108-DB7E-46DC-94D7-46A20921A60C}"/>
              </a:ext>
            </a:extLst>
          </p:cNvPr>
          <p:cNvSpPr txBox="1"/>
          <p:nvPr/>
        </p:nvSpPr>
        <p:spPr>
          <a:xfrm>
            <a:off x="8799041" y="6415801"/>
            <a:ext cx="17234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solidFill>
                  <a:srgbClr val="667982"/>
                </a:solidFill>
                <a:highlight>
                  <a:srgbClr val="D8DFE3"/>
                </a:highlight>
                <a:latin typeface="Helvetica" pitchFamily="2" charset="0"/>
                <a:cs typeface="Arial" panose="020B0604020202020204" pitchFamily="34" charset="0"/>
              </a:rPr>
              <a:t>Credit: </a:t>
            </a:r>
            <a:r>
              <a:rPr lang="en-US" sz="1000" dirty="0" err="1">
                <a:solidFill>
                  <a:srgbClr val="667982"/>
                </a:solidFill>
                <a:highlight>
                  <a:srgbClr val="D8DFE3"/>
                </a:highlight>
                <a:latin typeface="Helvetica" pitchFamily="2" charset="0"/>
                <a:cs typeface="Arial" panose="020B0604020202020204" pitchFamily="34" charset="0"/>
              </a:rPr>
              <a:t>Mitryk</a:t>
            </a:r>
            <a:r>
              <a:rPr lang="en-US" sz="1000" noProof="0" dirty="0">
                <a:solidFill>
                  <a:srgbClr val="667982"/>
                </a:solidFill>
                <a:highlight>
                  <a:srgbClr val="D8DFE3"/>
                </a:highlight>
                <a:latin typeface="Helvetica" pitchFamily="2" charset="0"/>
                <a:cs typeface="Arial" panose="020B0604020202020204" pitchFamily="34" charset="0"/>
              </a:rPr>
              <a:t>, 2012</a:t>
            </a:r>
          </a:p>
        </p:txBody>
      </p:sp>
    </p:spTree>
    <p:extLst>
      <p:ext uri="{BB962C8B-B14F-4D97-AF65-F5344CB8AC3E}">
        <p14:creationId xmlns:p14="http://schemas.microsoft.com/office/powerpoint/2010/main" val="14288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214"/>
    </mc:Choice>
    <mc:Fallback xmlns="">
      <p:transition spd="slow" advTm="9621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Noise Transfer in LISA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23E14E-4446-C8D3-113A-0782DAA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10AA72-B724-4054-9215-66EE93EC7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702" y="2147313"/>
            <a:ext cx="9180595" cy="256337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078BDEF-DF21-0540-54B8-8474653B9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9587" y="4409757"/>
            <a:ext cx="10329545" cy="166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4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7A4A-3FF4-D844-2193-477D8DF3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DCA-1161-1C7E-A435-54E85457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Sidebands in the Lab</a:t>
            </a: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F45F2-2DEF-DAEE-8252-CC910251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34E1D7-CA3C-8A3F-D655-C976C66A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625B93-6E97-8D07-A8EE-ACDF8633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9E17CC-9801-4929-ADE5-A9CE31DE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45" y="1237556"/>
            <a:ext cx="6402078" cy="17875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78ECA1-263A-4A9E-A678-9AC8CC3AE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93" y="3646424"/>
            <a:ext cx="6646315" cy="2332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8529D4-93BF-4F6F-A817-E5AFA6A58243}"/>
              </a:ext>
            </a:extLst>
          </p:cNvPr>
          <p:cNvSpPr txBox="1"/>
          <p:nvPr/>
        </p:nvSpPr>
        <p:spPr>
          <a:xfrm>
            <a:off x="10185723" y="2429168"/>
            <a:ext cx="130048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LISA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692CC2-78A9-4612-82B5-4326B7ADBD83}"/>
              </a:ext>
            </a:extLst>
          </p:cNvPr>
          <p:cNvSpPr txBox="1"/>
          <p:nvPr/>
        </p:nvSpPr>
        <p:spPr>
          <a:xfrm>
            <a:off x="10105271" y="4943587"/>
            <a:ext cx="172194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323232"/>
                </a:solidFill>
                <a:latin typeface="Helvetica"/>
                <a:cs typeface="Arial"/>
              </a:rPr>
              <a:t>Testbed arm</a:t>
            </a:r>
            <a:endParaRPr lang="et-EE" sz="2000" b="1" dirty="0">
              <a:solidFill>
                <a:srgbClr val="323232"/>
              </a:solidFill>
              <a:latin typeface="Helvetica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680E06-78C7-10D1-030D-6F92AF093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4801" y="2631020"/>
            <a:ext cx="7962265" cy="12287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72DC4A7-D5CF-22CC-CBA6-7F1C8BC6D6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250500" y="5141277"/>
            <a:ext cx="8733399" cy="12287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FAAE61E-886A-4F41-B2BE-E06F38EEE67C}"/>
              </a:ext>
            </a:extLst>
          </p:cNvPr>
          <p:cNvSpPr/>
          <p:nvPr/>
        </p:nvSpPr>
        <p:spPr>
          <a:xfrm>
            <a:off x="2461230" y="3962284"/>
            <a:ext cx="879569" cy="389896"/>
          </a:xfrm>
          <a:prstGeom prst="rect">
            <a:avLst/>
          </a:prstGeom>
          <a:noFill/>
          <a:ln w="57150">
            <a:solidFill>
              <a:srgbClr val="D71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192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D7A4A-3FF4-D844-2193-477D8DF3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51093-ABD3-DBBF-F334-2F4A52949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22" y="1702130"/>
            <a:ext cx="7212768" cy="46511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037DCA-1161-1C7E-A435-54E85457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Clock Tone Transfer Limitation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F45F2-2DEF-DAEE-8252-CC910251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34E1D7-CA3C-8A3F-D655-C976C66A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625B93-6E97-8D07-A8EE-ACDF8633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24150A-DF9C-4831-A5A5-FA94FA399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1161756"/>
            <a:ext cx="11493424" cy="46520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E6B2A-ECF9-45BE-87EE-C951D54B7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73" y="5009392"/>
            <a:ext cx="4882120" cy="7929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5904FEA-78BF-4C7B-AE51-E86E1F7B5BA5}"/>
              </a:ext>
            </a:extLst>
          </p:cNvPr>
          <p:cNvSpPr/>
          <p:nvPr/>
        </p:nvSpPr>
        <p:spPr>
          <a:xfrm>
            <a:off x="3058831" y="5402284"/>
            <a:ext cx="352764" cy="389896"/>
          </a:xfrm>
          <a:prstGeom prst="rect">
            <a:avLst/>
          </a:prstGeom>
          <a:noFill/>
          <a:ln w="57150">
            <a:solidFill>
              <a:srgbClr val="D71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646A4D-B256-BFDC-4BDE-1D221726CDF4}"/>
              </a:ext>
            </a:extLst>
          </p:cNvPr>
          <p:cNvSpPr txBox="1">
            <a:spLocks/>
          </p:cNvSpPr>
          <p:nvPr/>
        </p:nvSpPr>
        <p:spPr>
          <a:xfrm>
            <a:off x="318955" y="1011724"/>
            <a:ext cx="11391824" cy="470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>
                <a:latin typeface="Helvetica"/>
                <a:cs typeface="Helvetica"/>
              </a:rPr>
              <a:t>Modulator noise remains too loud if </a:t>
            </a:r>
            <a:r>
              <a:rPr lang="en-US" dirty="0">
                <a:latin typeface="Helvetica"/>
                <a:cs typeface="Helvetica"/>
              </a:rPr>
              <a:t>MHz modulation is used.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27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2FB72-79F9-C5A2-078B-DA25C039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7D7C-2538-E540-69B8-70027746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GHz Modulation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552FC-F12A-D723-10AB-CC7B32EF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6731BC-6F47-D752-E86E-AD04270B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AFE1EE-CB7C-6EC3-2E1F-84BCA9E5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58DED9-9263-095C-C798-4F85085E9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09" y="1953252"/>
            <a:ext cx="10370289" cy="37376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8CEE53-5ED7-6B2F-8011-5B32E1A1F189}"/>
              </a:ext>
            </a:extLst>
          </p:cNvPr>
          <p:cNvSpPr txBox="1"/>
          <p:nvPr/>
        </p:nvSpPr>
        <p:spPr>
          <a:xfrm>
            <a:off x="2576373" y="5720701"/>
            <a:ext cx="4898982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323232"/>
                </a:solidFill>
                <a:latin typeface="Helvetica"/>
                <a:cs typeface="Arial"/>
              </a:rPr>
              <a:t>Where to derive the modulating tone from?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60283C-DDA5-5E32-F920-1011850521E6}"/>
              </a:ext>
            </a:extLst>
          </p:cNvPr>
          <p:cNvCxnSpPr>
            <a:cxnSpLocks/>
          </p:cNvCxnSpPr>
          <p:nvPr/>
        </p:nvCxnSpPr>
        <p:spPr>
          <a:xfrm flipH="1" flipV="1">
            <a:off x="2967643" y="5018567"/>
            <a:ext cx="992978" cy="733061"/>
          </a:xfrm>
          <a:prstGeom prst="straightConnector1">
            <a:avLst/>
          </a:prstGeom>
          <a:ln w="28575">
            <a:solidFill>
              <a:srgbClr val="2D13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F5A435-10B4-4E5F-9468-9C5778A4A09E}"/>
              </a:ext>
            </a:extLst>
          </p:cNvPr>
          <p:cNvSpPr txBox="1">
            <a:spLocks/>
          </p:cNvSpPr>
          <p:nvPr/>
        </p:nvSpPr>
        <p:spPr>
          <a:xfrm>
            <a:off x="326043" y="1110956"/>
            <a:ext cx="11391824" cy="470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latin typeface="Helvetica"/>
              <a:cs typeface="Helvetic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C96A231-FB4F-46F6-8B18-B3DE8BF1187C}"/>
              </a:ext>
            </a:extLst>
          </p:cNvPr>
          <p:cNvSpPr txBox="1">
            <a:spLocks/>
          </p:cNvSpPr>
          <p:nvPr/>
        </p:nvSpPr>
        <p:spPr>
          <a:xfrm>
            <a:off x="478443" y="1263356"/>
            <a:ext cx="11391824" cy="470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D9E1CBC-ADBB-41D5-9A2A-956DD91BEF28}"/>
              </a:ext>
            </a:extLst>
          </p:cNvPr>
          <p:cNvSpPr txBox="1">
            <a:spLocks/>
          </p:cNvSpPr>
          <p:nvPr/>
        </p:nvSpPr>
        <p:spPr>
          <a:xfrm>
            <a:off x="321733" y="1002267"/>
            <a:ext cx="11391824" cy="470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"/>
                <a:cs typeface="Helvetica"/>
              </a:rPr>
              <a:t>Heterodyned sideband beat notes add a new timing jitter to the mix.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16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2FB72-79F9-C5A2-078B-DA25C039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7D7C-2538-E540-69B8-70027746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/>
                <a:cs typeface="Helvetica"/>
              </a:rPr>
              <a:t>GHz Modulation – Option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552FC-F12A-D723-10AB-CC7B32EF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6731BC-6F47-D752-E86E-AD04270B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2AFE1EE-CB7C-6EC3-2E1F-84BCA9E5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4E75D5C-766F-2115-BA72-1FC1E7AA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1161756"/>
            <a:ext cx="11493424" cy="46520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t-E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58DED9-9263-095C-C798-4F85085E9C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4794" y="1953252"/>
            <a:ext cx="10352721" cy="373760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F5A435-10B4-4E5F-9468-9C5778A4A09E}"/>
              </a:ext>
            </a:extLst>
          </p:cNvPr>
          <p:cNvSpPr txBox="1">
            <a:spLocks/>
          </p:cNvSpPr>
          <p:nvPr/>
        </p:nvSpPr>
        <p:spPr>
          <a:xfrm>
            <a:off x="326043" y="1110956"/>
            <a:ext cx="11391824" cy="470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latin typeface="Helvetica"/>
              <a:cs typeface="Helvetic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C96A231-FB4F-46F6-8B18-B3DE8BF1187C}"/>
              </a:ext>
            </a:extLst>
          </p:cNvPr>
          <p:cNvSpPr txBox="1">
            <a:spLocks/>
          </p:cNvSpPr>
          <p:nvPr/>
        </p:nvSpPr>
        <p:spPr>
          <a:xfrm>
            <a:off x="478443" y="1263356"/>
            <a:ext cx="11391824" cy="470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D9E1CBC-ADBB-41D5-9A2A-956DD91BEF28}"/>
              </a:ext>
            </a:extLst>
          </p:cNvPr>
          <p:cNvSpPr txBox="1">
            <a:spLocks/>
          </p:cNvSpPr>
          <p:nvPr/>
        </p:nvSpPr>
        <p:spPr>
          <a:xfrm>
            <a:off x="321733" y="1002267"/>
            <a:ext cx="11391824" cy="470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32323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"/>
                <a:cs typeface="Helvetica"/>
              </a:rPr>
              <a:t>Mixing of a GHz signal in the ADC – effectively increasing the bandwidth of the </a:t>
            </a:r>
            <a:r>
              <a:rPr lang="en-US">
                <a:latin typeface="Helvetica"/>
                <a:cs typeface="Helvetica"/>
              </a:rPr>
              <a:t>input of the electronics to 5 GHz.</a:t>
            </a:r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BD5CF6-C4F0-4635-B6AA-9F790F9CE66F}"/>
              </a:ext>
            </a:extLst>
          </p:cNvPr>
          <p:cNvCxnSpPr>
            <a:cxnSpLocks/>
          </p:cNvCxnSpPr>
          <p:nvPr/>
        </p:nvCxnSpPr>
        <p:spPr>
          <a:xfrm flipH="1">
            <a:off x="4961860" y="1953252"/>
            <a:ext cx="283535" cy="719064"/>
          </a:xfrm>
          <a:prstGeom prst="straightConnector1">
            <a:avLst/>
          </a:prstGeom>
          <a:ln>
            <a:solidFill>
              <a:srgbClr val="4B4B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95562D-DEB1-4EC7-AC10-DBFE82CCA6EC}"/>
              </a:ext>
            </a:extLst>
          </p:cNvPr>
          <p:cNvCxnSpPr>
            <a:cxnSpLocks/>
          </p:cNvCxnSpPr>
          <p:nvPr/>
        </p:nvCxnSpPr>
        <p:spPr>
          <a:xfrm>
            <a:off x="6337005" y="1953252"/>
            <a:ext cx="531628" cy="1987883"/>
          </a:xfrm>
          <a:prstGeom prst="straightConnector1">
            <a:avLst/>
          </a:prstGeom>
          <a:ln>
            <a:solidFill>
              <a:srgbClr val="4B4B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EAC6612-9AB9-4419-A27F-5463AE4DA84D}"/>
              </a:ext>
            </a:extLst>
          </p:cNvPr>
          <p:cNvSpPr txBox="1"/>
          <p:nvPr/>
        </p:nvSpPr>
        <p:spPr>
          <a:xfrm>
            <a:off x="5214629" y="1539242"/>
            <a:ext cx="1606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IQ demodulation</a:t>
            </a:r>
            <a:endParaRPr lang="LID4096" sz="1400" dirty="0">
              <a:solidFill>
                <a:srgbClr val="4B4B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56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D086-B300-C6CE-6AA2-D79CB066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Next Steps</a:t>
            </a:r>
            <a:endParaRPr lang="et-E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532AB-325A-90E5-4BE9-718B6097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1BBB6-CA89-C5E9-9576-AD8EAC07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33FAC-8990-085F-615C-1EA8DE63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19</a:t>
            </a:fld>
            <a:endParaRPr lang="et-E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1CB066-6031-0BD7-0BF7-10395700BC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40940" y="1837781"/>
            <a:ext cx="5762820" cy="47930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071C9-EDE0-96B1-134E-664698E9C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65" y="1252452"/>
            <a:ext cx="11432355" cy="43966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✓ Delay line — working, below requirement</a:t>
            </a:r>
          </a:p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✓ PLL lock demonstrated with free running lasers</a:t>
            </a:r>
          </a:p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○ Assembling the optical layout and cavities</a:t>
            </a:r>
          </a:p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○ GHz sideband chain — under investigation</a:t>
            </a:r>
          </a:p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○ Delay board clock noise removal</a:t>
            </a:r>
          </a:p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○ Full TDI and clock noise removal</a:t>
            </a:r>
          </a:p>
          <a:p>
            <a:pPr marL="0" indent="0">
              <a:buNone/>
            </a:pPr>
            <a:endParaRPr lang="en-US" dirty="0">
              <a:latin typeface="Helvetica"/>
              <a:cs typeface="Arial"/>
            </a:endParaRPr>
          </a:p>
          <a:p>
            <a:pPr marL="0" indent="0">
              <a:buNone/>
            </a:pPr>
            <a:endParaRPr lang="en-US" dirty="0">
              <a:latin typeface="Helvetica"/>
              <a:cs typeface="Arial"/>
            </a:endParaRPr>
          </a:p>
          <a:p>
            <a:pPr marL="0" indent="0">
              <a:buNone/>
            </a:pPr>
            <a:r>
              <a:rPr lang="en-US" dirty="0">
                <a:latin typeface="Helvetica"/>
                <a:cs typeface="Arial"/>
              </a:rPr>
              <a:t>Thank you for listening!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913923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8B29D3-61A0-11BF-0E79-F5A9A88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A8D76C-7AD9-4CF6-AAF8-FC86A7BE3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547" y="1993227"/>
            <a:ext cx="6265394" cy="4721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1B45B0-E716-5B13-C8A6-61CB8E5E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/>
                <a:cs typeface="Arial"/>
              </a:rPr>
              <a:t>Modulation Noise Characterization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09217-8DE7-2E62-D338-9927CAB7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20</a:t>
            </a:fld>
            <a:endParaRPr lang="et-E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826941B-A5AA-80E4-DA25-D7824FEC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1872D0-6525-8475-B34F-E953A18B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85FD6-0492-85D3-963B-554E76E4C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9398" y="1673103"/>
            <a:ext cx="6889505" cy="254679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67BAE2-7B60-4C07-1F4C-87C6320DB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43" y="1110956"/>
            <a:ext cx="11391824" cy="4702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Helvetica"/>
              <a:cs typeface="Arial"/>
            </a:endParaRP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34487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/>
                <a:cs typeface="Arial"/>
              </a:rPr>
              <a:t>What to do with the clock noise?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23E14E-4446-C8D3-113A-0782DAA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3F93BE-1157-43BA-825F-D9ADC37F2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1161756"/>
            <a:ext cx="4703157" cy="4652022"/>
          </a:xfrm>
        </p:spPr>
        <p:txBody>
          <a:bodyPr/>
          <a:lstStyle/>
          <a:p>
            <a:endParaRPr lang="en-US" dirty="0"/>
          </a:p>
          <a:p>
            <a:endParaRPr lang="et-E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7E33F-819A-7080-723E-3BA7208F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96" t="12787" b="121"/>
          <a:stretch>
            <a:fillRect/>
          </a:stretch>
        </p:blipFill>
        <p:spPr>
          <a:xfrm>
            <a:off x="5475640" y="1798872"/>
            <a:ext cx="6157460" cy="44377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BB8E01-32C5-421F-9CC9-8D61E8DD1CF9}"/>
              </a:ext>
            </a:extLst>
          </p:cNvPr>
          <p:cNvSpPr txBox="1"/>
          <p:nvPr/>
        </p:nvSpPr>
        <p:spPr>
          <a:xfrm>
            <a:off x="346696" y="1837702"/>
            <a:ext cx="5633288" cy="10218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23232"/>
                </a:solidFill>
                <a:latin typeface="Arial"/>
                <a:cs typeface="Arial"/>
              </a:rPr>
              <a:t>We are working on another layer of post processing remove this noise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23232"/>
                </a:solidFill>
                <a:latin typeface="Arial"/>
                <a:cs typeface="Arial"/>
              </a:rPr>
              <a:t>Can be done after TDI and LISA-like clock noise removal</a:t>
            </a:r>
            <a:endParaRPr lang="en-US" sz="1400" dirty="0">
              <a:solidFill>
                <a:srgbClr val="3232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9A804B-2067-5686-7250-48BD80C57AEF}"/>
              </a:ext>
            </a:extLst>
          </p:cNvPr>
          <p:cNvSpPr txBox="1">
            <a:spLocks/>
          </p:cNvSpPr>
          <p:nvPr/>
        </p:nvSpPr>
        <p:spPr>
          <a:xfrm>
            <a:off x="331592" y="988653"/>
            <a:ext cx="11301513" cy="506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646464"/>
                </a:solidFill>
                <a:latin typeface="Helvetica"/>
                <a:cs typeface="Arial"/>
              </a:rPr>
              <a:t>Tests of Delay Line Board Clock Phase Noise</a:t>
            </a:r>
            <a:endParaRPr lang="en-US" sz="2000" dirty="0">
              <a:solidFill>
                <a:srgbClr val="64646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BA968D-CE33-4647-937E-7DBFC682141A}"/>
              </a:ext>
            </a:extLst>
          </p:cNvPr>
          <p:cNvSpPr txBox="1"/>
          <p:nvPr/>
        </p:nvSpPr>
        <p:spPr>
          <a:xfrm>
            <a:off x="1552696" y="3487767"/>
            <a:ext cx="3221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Only if the residuals are added  </a:t>
            </a:r>
            <a:endParaRPr lang="LID4096" sz="1400" dirty="0">
              <a:solidFill>
                <a:srgbClr val="667982"/>
              </a:solidFill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0341F-1B44-4284-992E-1C343FA9FD51}"/>
              </a:ext>
            </a:extLst>
          </p:cNvPr>
          <p:cNvSpPr txBox="1"/>
          <p:nvPr/>
        </p:nvSpPr>
        <p:spPr>
          <a:xfrm>
            <a:off x="1706313" y="4240344"/>
            <a:ext cx="3221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667982"/>
                </a:solidFill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400" dirty="0" err="1">
                <a:solidFill>
                  <a:srgbClr val="667982"/>
                </a:solidFill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rhen</a:t>
            </a:r>
            <a:r>
              <a:rPr lang="en-US" sz="1400" dirty="0">
                <a:solidFill>
                  <a:srgbClr val="667982"/>
                </a:solidFill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other noises should also be added</a:t>
            </a:r>
            <a:endParaRPr lang="LID4096" sz="1400" dirty="0">
              <a:solidFill>
                <a:srgbClr val="667982"/>
              </a:solidFill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5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5826CC-5C4C-6BC9-4A21-0606D90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1450-D693-CD5E-6007-4E033147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/>
                <a:cs typeface="Helvetica"/>
              </a:rPr>
              <a:t>Experiments so Far</a:t>
            </a:r>
            <a:endParaRPr lang="et-EE" b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8460-C627-4D22-AEC7-03F0D80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858DAF-61BF-BFA0-1DA9-12720B97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23E14E-4446-C8D3-113A-0782DAA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3F93BE-1157-43BA-825F-D9ADC37F2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1161756"/>
            <a:ext cx="4703157" cy="4652022"/>
          </a:xfrm>
        </p:spPr>
        <p:txBody>
          <a:bodyPr/>
          <a:lstStyle/>
          <a:p>
            <a:endParaRPr lang="en-US" dirty="0"/>
          </a:p>
          <a:p>
            <a:endParaRPr lang="et-E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C7F36F-0BE6-44B0-8935-8FDE8D19A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87" y="1715125"/>
            <a:ext cx="6320242" cy="43512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85AE95-5F85-497E-9EA5-E874146C9CE8}"/>
              </a:ext>
            </a:extLst>
          </p:cNvPr>
          <p:cNvSpPr txBox="1"/>
          <p:nvPr/>
        </p:nvSpPr>
        <p:spPr>
          <a:xfrm>
            <a:off x="341076" y="1874558"/>
            <a:ext cx="4816791" cy="10218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67982"/>
                </a:solidFill>
                <a:latin typeface="Arial"/>
                <a:cs typeface="Arial"/>
              </a:rPr>
              <a:t>A new baseline measurement with an optical signal and free running delay line board clock reveals a potential </a:t>
            </a:r>
            <a:r>
              <a:rPr lang="en-US" sz="1400">
                <a:solidFill>
                  <a:srgbClr val="667982"/>
                </a:solidFill>
                <a:latin typeface="Arial"/>
                <a:cs typeface="Arial"/>
              </a:rPr>
              <a:t>problem.</a:t>
            </a:r>
            <a:endParaRPr lang="LID4096" sz="1400">
              <a:solidFill>
                <a:srgbClr val="667982"/>
              </a:solidFill>
              <a:latin typeface="Arial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04BD2C-BD48-E6EE-2A47-EE6F96E04CF8}"/>
              </a:ext>
            </a:extLst>
          </p:cNvPr>
          <p:cNvSpPr txBox="1">
            <a:spLocks/>
          </p:cNvSpPr>
          <p:nvPr/>
        </p:nvSpPr>
        <p:spPr>
          <a:xfrm>
            <a:off x="331592" y="988653"/>
            <a:ext cx="11301513" cy="506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9144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rgbClr val="667982"/>
                </a:solidFill>
                <a:latin typeface="Helvetica" pitchFamily="2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>
                <a:latin typeface="Helvetica"/>
                <a:cs typeface="Arial"/>
              </a:rPr>
              <a:t>Tests of Delay Line Board Clock Phase Noise</a:t>
            </a:r>
            <a:endParaRPr lang="en-US" sz="20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EB02806-D553-45C1-8ED3-7D6D1D2A8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773" y="3736507"/>
            <a:ext cx="4766625" cy="137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9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047"/>
    </mc:Choice>
    <mc:Fallback xmlns="">
      <p:transition spd="slow" advTm="11304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8B29D3-61A0-11BF-0E79-F5A9A886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45B0-E716-5B13-C8A6-61CB8E5E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"/>
                <a:cs typeface="Arial"/>
              </a:rPr>
              <a:t>Experiments so Far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09217-8DE7-2E62-D338-9927CAB7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pPr/>
              <a:t>23</a:t>
            </a:fld>
            <a:endParaRPr lang="et-EE" dirty="0"/>
          </a:p>
        </p:txBody>
      </p:sp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9F8BC057-3266-6B4F-E196-6B8F36904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01" y="1923296"/>
            <a:ext cx="11404392" cy="38033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CA1F94-AB10-2E1A-8631-A94B04E05942}"/>
              </a:ext>
            </a:extLst>
          </p:cNvPr>
          <p:cNvSpPr txBox="1"/>
          <p:nvPr/>
        </p:nvSpPr>
        <p:spPr>
          <a:xfrm>
            <a:off x="6096000" y="5725117"/>
            <a:ext cx="5537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R. Ferguson </a:t>
            </a:r>
            <a:r>
              <a:rPr lang="en-US" sz="1400" i="1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US" sz="14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., </a:t>
            </a:r>
            <a:r>
              <a:rPr lang="en-US" sz="1400" i="1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TDI to Hardware-Simulated Data</a:t>
            </a:r>
            <a:r>
              <a:rPr lang="en-US" sz="140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2025</a:t>
            </a:r>
            <a:endParaRPr lang="et-EE" sz="1400" dirty="0">
              <a:solidFill>
                <a:srgbClr val="3232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826941B-A5AA-80E4-DA25-D7824FEC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1872D0-6525-8475-B34F-E953A18B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16th International LISA Symposium</a:t>
            </a:r>
            <a:endParaRPr lang="et-E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D99B80-29FF-503F-B919-DE4CC7398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799" y="1495087"/>
            <a:ext cx="5423294" cy="59047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D0D5E0-D2B3-DC6F-A458-233C944EA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592" y="988653"/>
            <a:ext cx="11301513" cy="506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Helvetica"/>
                <a:cs typeface="Arial"/>
              </a:rPr>
              <a:t>Fully electronic tests of TDI.</a:t>
            </a:r>
            <a:endParaRPr lang="en-US" sz="2000" noProof="0"/>
          </a:p>
        </p:txBody>
      </p:sp>
    </p:spTree>
    <p:extLst>
      <p:ext uri="{BB962C8B-B14F-4D97-AF65-F5344CB8AC3E}">
        <p14:creationId xmlns:p14="http://schemas.microsoft.com/office/powerpoint/2010/main" val="402239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8"/>
    </mc:Choice>
    <mc:Fallback xmlns="">
      <p:transition spd="slow" advTm="66238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79F2B7-3E97-987C-1F8F-BFFDB774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0E40C1-D0F4-5B81-7D0B-7B7EA7C1B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7080" y="1258658"/>
            <a:ext cx="6512410" cy="489860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D3DE69-A0A5-0E67-45B2-66D4B04D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LISA Laser Frequency Noise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06E55-529A-F087-D786-76F77DA97E66}"/>
              </a:ext>
            </a:extLst>
          </p:cNvPr>
          <p:cNvSpPr txBox="1"/>
          <p:nvPr/>
        </p:nvSpPr>
        <p:spPr>
          <a:xfrm>
            <a:off x="2105900" y="6415801"/>
            <a:ext cx="17234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0" dirty="0">
                <a:solidFill>
                  <a:srgbClr val="667982"/>
                </a:solidFill>
                <a:highlight>
                  <a:srgbClr val="D8DFE3"/>
                </a:highlight>
                <a:latin typeface="Helvetica" pitchFamily="2" charset="0"/>
                <a:cs typeface="Arial" panose="020B0604020202020204" pitchFamily="34" charset="0"/>
              </a:rPr>
              <a:t>Credit: </a:t>
            </a:r>
            <a:r>
              <a:rPr lang="en-US" sz="1000" dirty="0" err="1">
                <a:solidFill>
                  <a:srgbClr val="667982"/>
                </a:solidFill>
                <a:highlight>
                  <a:srgbClr val="D8DFE3"/>
                </a:highlight>
                <a:latin typeface="Helvetica" pitchFamily="2" charset="0"/>
                <a:cs typeface="Arial" panose="020B0604020202020204" pitchFamily="34" charset="0"/>
              </a:rPr>
              <a:t>Jennrich</a:t>
            </a:r>
            <a:r>
              <a:rPr lang="en-US" sz="1000" noProof="0" dirty="0">
                <a:solidFill>
                  <a:srgbClr val="667982"/>
                </a:solidFill>
                <a:highlight>
                  <a:srgbClr val="D8DFE3"/>
                </a:highlight>
                <a:latin typeface="Helvetica" pitchFamily="2" charset="0"/>
                <a:cs typeface="Arial" panose="020B0604020202020204" pitchFamily="34" charset="0"/>
              </a:rPr>
              <a:t>, 2010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A6C6D6-1744-4E3A-909A-BC6A784BE97C}"/>
              </a:ext>
            </a:extLst>
          </p:cNvPr>
          <p:cNvGrpSpPr/>
          <p:nvPr/>
        </p:nvGrpSpPr>
        <p:grpSpPr>
          <a:xfrm>
            <a:off x="1109306" y="2845853"/>
            <a:ext cx="4901366" cy="2588881"/>
            <a:chOff x="1109306" y="3170775"/>
            <a:chExt cx="4901366" cy="258888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7C700B-BEFD-1DB1-391D-B8D45AE3D918}"/>
                </a:ext>
              </a:extLst>
            </p:cNvPr>
            <p:cNvSpPr>
              <a:spLocks/>
            </p:cNvSpPr>
            <p:nvPr/>
          </p:nvSpPr>
          <p:spPr>
            <a:xfrm>
              <a:off x="5654412" y="3170775"/>
              <a:ext cx="356260" cy="22363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1B7AD5-5349-2E93-AE64-46FC4946C53D}"/>
                </a:ext>
              </a:extLst>
            </p:cNvPr>
            <p:cNvSpPr>
              <a:spLocks/>
            </p:cNvSpPr>
            <p:nvPr/>
          </p:nvSpPr>
          <p:spPr>
            <a:xfrm>
              <a:off x="1109306" y="3170775"/>
              <a:ext cx="356260" cy="30190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E60CCF-DE7E-D947-714E-958A9480DFC4}"/>
                </a:ext>
              </a:extLst>
            </p:cNvPr>
            <p:cNvSpPr>
              <a:spLocks/>
            </p:cNvSpPr>
            <p:nvPr/>
          </p:nvSpPr>
          <p:spPr>
            <a:xfrm>
              <a:off x="4321593" y="5467180"/>
              <a:ext cx="293153" cy="29247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33240BA-3E4B-997D-7CDB-1A43F3CDA916}"/>
              </a:ext>
            </a:extLst>
          </p:cNvPr>
          <p:cNvSpPr txBox="1"/>
          <p:nvPr/>
        </p:nvSpPr>
        <p:spPr>
          <a:xfrm>
            <a:off x="2060103" y="2762588"/>
            <a:ext cx="3054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667982"/>
                </a:solidFill>
                <a:highlight>
                  <a:srgbClr val="D8DFE3"/>
                </a:highlight>
                <a:latin typeface="Helvetica" pitchFamily="2" charset="0"/>
                <a:cs typeface="Arial" panose="020B0604020202020204" pitchFamily="34" charset="0"/>
              </a:rPr>
              <a:t>Unequal arm lengths and laser frequency noise</a:t>
            </a:r>
            <a:endParaRPr lang="et-EE" sz="2000" dirty="0">
              <a:solidFill>
                <a:srgbClr val="667982"/>
              </a:solidFill>
              <a:highlight>
                <a:srgbClr val="D8DFE3"/>
              </a:highlight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0CE284B1-7819-615D-87C3-38688B8C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0679" y="6356350"/>
            <a:ext cx="2743200" cy="365125"/>
          </a:xfrm>
        </p:spPr>
        <p:txBody>
          <a:bodyPr/>
          <a:lstStyle/>
          <a:p>
            <a:fld id="{9F39E346-B1F3-4075-BD67-234EF0F10AC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46E73C-1B4C-5552-291E-25D5CB8A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23.06.2026</a:t>
            </a:r>
            <a:endParaRPr lang="et-EE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FA399B7-D03B-DDC6-E5AE-3C022DEB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A8B7BF"/>
                </a:solidFill>
              </a:rPr>
              <a:t>16th International LISA Symposium</a:t>
            </a:r>
            <a:endParaRPr lang="et-EE" dirty="0">
              <a:solidFill>
                <a:srgbClr val="A8B7B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62B713-251E-ABF2-4A4F-69D4082805E7}"/>
              </a:ext>
            </a:extLst>
          </p:cNvPr>
          <p:cNvSpPr txBox="1"/>
          <p:nvPr/>
        </p:nvSpPr>
        <p:spPr>
          <a:xfrm>
            <a:off x="7322211" y="1885857"/>
            <a:ext cx="4344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7982"/>
                </a:solidFill>
                <a:latin typeface="Helvetica" pitchFamily="2" charset="0"/>
                <a:cs typeface="Arial" panose="020B0604020202020204" pitchFamily="34" charset="0"/>
              </a:rPr>
              <a:t>As per LISA requirements</a:t>
            </a:r>
            <a:endParaRPr lang="et-EE" dirty="0">
              <a:solidFill>
                <a:srgbClr val="667982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FEEFB-EC0E-E8C0-919D-DE237E09D8DE}"/>
              </a:ext>
            </a:extLst>
          </p:cNvPr>
          <p:cNvSpPr txBox="1"/>
          <p:nvPr/>
        </p:nvSpPr>
        <p:spPr>
          <a:xfrm>
            <a:off x="6754283" y="3242380"/>
            <a:ext cx="4901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7982"/>
                </a:solidFill>
                <a:latin typeface="Helvetica" pitchFamily="2" charset="0"/>
                <a:cs typeface="Arial" panose="020B0604020202020204" pitchFamily="34" charset="0"/>
              </a:rPr>
              <a:t>Hence for the arm length uncertainty we get</a:t>
            </a:r>
            <a:endParaRPr lang="et-EE" dirty="0">
              <a:solidFill>
                <a:srgbClr val="667982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7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94BBD61C-6E53-E254-18F0-BCCD64F3FD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493"/>
          <a:stretch>
            <a:fillRect/>
          </a:stretch>
        </p:blipFill>
        <p:spPr>
          <a:xfrm>
            <a:off x="7894780" y="2274807"/>
            <a:ext cx="1599573" cy="785578"/>
          </a:xfrm>
          <a:prstGeom prst="rect">
            <a:avLst/>
          </a:prstGeom>
        </p:spPr>
      </p:pic>
      <p:pic>
        <p:nvPicPr>
          <p:cNvPr id="18" name="Picture 17" descr="A number and symbol on a white background&#10;&#10;AI-generated content may be incorrect.">
            <a:extLst>
              <a:ext uri="{FF2B5EF4-FFF2-40B4-BE49-F238E27FC236}">
                <a16:creationId xmlns:a16="http://schemas.microsoft.com/office/drawing/2014/main" id="{264369EB-260B-9576-918B-C747397A91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764" b="10197"/>
          <a:stretch>
            <a:fillRect/>
          </a:stretch>
        </p:blipFill>
        <p:spPr>
          <a:xfrm>
            <a:off x="6307736" y="3606371"/>
            <a:ext cx="5458706" cy="7694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9E715E-D4BA-544B-C067-81032BCE9141}"/>
              </a:ext>
            </a:extLst>
          </p:cNvPr>
          <p:cNvSpPr txBox="1"/>
          <p:nvPr/>
        </p:nvSpPr>
        <p:spPr>
          <a:xfrm>
            <a:off x="6307736" y="4739823"/>
            <a:ext cx="567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7982"/>
                </a:solidFill>
                <a:latin typeface="Helvetica" pitchFamily="2" charset="0"/>
                <a:cs typeface="Arial" panose="020B0604020202020204" pitchFamily="34" charset="0"/>
              </a:rPr>
              <a:t>But to be sensitive enough to detect GWs, we need</a:t>
            </a:r>
            <a:endParaRPr lang="et-EE" dirty="0">
              <a:solidFill>
                <a:srgbClr val="667982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pic>
        <p:nvPicPr>
          <p:cNvPr id="22" name="Picture 21" descr="A close up of a number&#10;&#10;AI-generated content may be incorrect.">
            <a:extLst>
              <a:ext uri="{FF2B5EF4-FFF2-40B4-BE49-F238E27FC236}">
                <a16:creationId xmlns:a16="http://schemas.microsoft.com/office/drawing/2014/main" id="{368CF62F-964C-8805-483C-CC5F8CA76C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0410" y="5102834"/>
            <a:ext cx="3993226" cy="5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0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7"/>
    </mc:Choice>
    <mc:Fallback xmlns="">
      <p:transition spd="slow" advTm="2617"/>
    </mc:Fallback>
  </mc:AlternateContent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1DC66D-E5F2-47AE-95B4-0173315A923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d6d9704-7f75-4984-a044-2c5291c8eb3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83</TotalTime>
  <Words>1049</Words>
  <Application>Microsoft Macintosh PowerPoint</Application>
  <PresentationFormat>Widescreen</PresentationFormat>
  <Paragraphs>208</Paragraphs>
  <Slides>24</Slides>
  <Notes>24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Helvetica</vt:lpstr>
      <vt:lpstr>Office Theme</vt:lpstr>
      <vt:lpstr>Testbed for Validating Second-Generation TDI and Clock Noise Correction for LISA</vt:lpstr>
      <vt:lpstr>LISA Science Interferometer</vt:lpstr>
      <vt:lpstr>Replicating the LISA Arm in the Lab</vt:lpstr>
      <vt:lpstr>Replicating the LISA Arm in the Lab</vt:lpstr>
      <vt:lpstr>Replicating the LISA Arm in the Lab</vt:lpstr>
      <vt:lpstr>Replicating the LISA Arm in the Lab</vt:lpstr>
      <vt:lpstr>Full Testbed</vt:lpstr>
      <vt:lpstr>Cavity Locking Two Lasers</vt:lpstr>
      <vt:lpstr>Delay Line</vt:lpstr>
      <vt:lpstr>PLL Lock of Far Spacecraft</vt:lpstr>
      <vt:lpstr>PLL Lock of Far Spacecraft</vt:lpstr>
      <vt:lpstr>PLL Lock of Far Spacecraft</vt:lpstr>
      <vt:lpstr>Predecessor Testbed</vt:lpstr>
      <vt:lpstr>Clock Noise Transfer in LISA</vt:lpstr>
      <vt:lpstr>Sidebands in the Lab</vt:lpstr>
      <vt:lpstr>Clock Tone Transfer Limitation</vt:lpstr>
      <vt:lpstr>GHz Modulation</vt:lpstr>
      <vt:lpstr>GHz Modulation – Option 2</vt:lpstr>
      <vt:lpstr>Conclusions and Next Steps</vt:lpstr>
      <vt:lpstr>Modulation Noise Characterization</vt:lpstr>
      <vt:lpstr>What to do with the clock noise?</vt:lpstr>
      <vt:lpstr>Experiments so Far</vt:lpstr>
      <vt:lpstr>Experiments so Far</vt:lpstr>
      <vt:lpstr>LISA Laser Frequency Noise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user</cp:lastModifiedBy>
  <cp:revision>757</cp:revision>
  <dcterms:created xsi:type="dcterms:W3CDTF">2023-08-26T08:59:13Z</dcterms:created>
  <dcterms:modified xsi:type="dcterms:W3CDTF">2026-06-18T08:16:01Z</dcterms:modified>
</cp:coreProperties>
</file>