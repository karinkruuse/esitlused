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323" r:id="rId3"/>
    <p:sldId id="317" r:id="rId4"/>
    <p:sldId id="275" r:id="rId5"/>
    <p:sldId id="273" r:id="rId6"/>
    <p:sldId id="297" r:id="rId7"/>
    <p:sldId id="318" r:id="rId8"/>
    <p:sldId id="274" r:id="rId9"/>
    <p:sldId id="272" r:id="rId10"/>
    <p:sldId id="284" r:id="rId11"/>
    <p:sldId id="286" r:id="rId12"/>
    <p:sldId id="319" r:id="rId13"/>
    <p:sldId id="258" r:id="rId14"/>
    <p:sldId id="259" r:id="rId15"/>
    <p:sldId id="260" r:id="rId16"/>
    <p:sldId id="261" r:id="rId17"/>
    <p:sldId id="262" r:id="rId18"/>
    <p:sldId id="320" r:id="rId19"/>
    <p:sldId id="264" r:id="rId20"/>
    <p:sldId id="310" r:id="rId21"/>
    <p:sldId id="277" r:id="rId22"/>
    <p:sldId id="267" r:id="rId23"/>
    <p:sldId id="300" r:id="rId24"/>
    <p:sldId id="309" r:id="rId25"/>
    <p:sldId id="265" r:id="rId26"/>
    <p:sldId id="266" r:id="rId27"/>
    <p:sldId id="292" r:id="rId28"/>
    <p:sldId id="321" r:id="rId29"/>
    <p:sldId id="268" r:id="rId30"/>
    <p:sldId id="299" r:id="rId31"/>
    <p:sldId id="303" r:id="rId32"/>
    <p:sldId id="279" r:id="rId33"/>
    <p:sldId id="298" r:id="rId34"/>
    <p:sldId id="304" r:id="rId35"/>
    <p:sldId id="269" r:id="rId36"/>
    <p:sldId id="276" r:id="rId37"/>
    <p:sldId id="270" r:id="rId38"/>
    <p:sldId id="280" r:id="rId39"/>
    <p:sldId id="308" r:id="rId40"/>
    <p:sldId id="322" r:id="rId41"/>
    <p:sldId id="305" r:id="rId42"/>
    <p:sldId id="306" r:id="rId43"/>
    <p:sldId id="307" r:id="rId44"/>
    <p:sldId id="271" r:id="rId45"/>
    <p:sldId id="302" r:id="rId46"/>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A9A9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720E62-BAAE-4431-9290-3B94F25693B1}" v="33" dt="2026-08-22T21:23:47.57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862"/>
    <p:restoredTop sz="75124" autoAdjust="0"/>
  </p:normalViewPr>
  <p:slideViewPr>
    <p:cSldViewPr snapToGrid="0" snapToObjects="1">
      <p:cViewPr varScale="1">
        <p:scale>
          <a:sx n="82" d="100"/>
          <a:sy n="82" d="100"/>
        </p:scale>
        <p:origin x="206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71968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Do I have a defined topic</a:t>
            </a:r>
          </a:p>
          <a:p>
            <a:r>
              <a:rPr lang="en-GB" sz="1200" b="0" i="0" u="none" strike="noStrike" kern="1200" dirty="0">
                <a:solidFill>
                  <a:schemeClr val="tx1"/>
                </a:solidFill>
                <a:effectLst/>
                <a:latin typeface="+mn-lt"/>
                <a:ea typeface="+mn-ea"/>
                <a:cs typeface="+mn-cs"/>
              </a:rPr>
              <a:t>And do I understand that topic, and the physics</a:t>
            </a:r>
          </a:p>
          <a:p>
            <a:r>
              <a:rPr lang="en-GB" sz="1200" b="0" i="0" u="none" strike="noStrike" kern="1200" dirty="0">
                <a:solidFill>
                  <a:schemeClr val="tx1"/>
                </a:solidFill>
                <a:effectLst/>
                <a:latin typeface="+mn-lt"/>
                <a:ea typeface="+mn-ea"/>
                <a:cs typeface="+mn-cs"/>
              </a:rPr>
              <a:t>The TAC decides if that’s a good topic for a thesis</a:t>
            </a:r>
          </a:p>
          <a:p>
            <a:r>
              <a:rPr lang="en-GB" sz="1200" b="0" i="0" u="none" strike="noStrike" kern="1200" dirty="0">
                <a:solidFill>
                  <a:schemeClr val="tx1"/>
                </a:solidFill>
                <a:effectLst/>
                <a:latin typeface="+mn-lt"/>
                <a:ea typeface="+mn-ea"/>
                <a:cs typeface="+mn-cs"/>
              </a:rPr>
              <a:t>	is it worth a degree</a:t>
            </a:r>
          </a:p>
          <a:p>
            <a:r>
              <a:rPr lang="en-GB" sz="1200" b="0" i="0" u="none" strike="noStrike" kern="1200" dirty="0">
                <a:solidFill>
                  <a:schemeClr val="tx1"/>
                </a:solidFill>
                <a:effectLst/>
                <a:latin typeface="+mn-lt"/>
                <a:ea typeface="+mn-ea"/>
                <a:cs typeface="+mn-cs"/>
              </a:rPr>
              <a:t>	is it realistic</a:t>
            </a:r>
          </a:p>
          <a:p>
            <a:r>
              <a:rPr lang="en-GB" sz="1200" b="0" i="0" u="none" strike="noStrike" kern="1200" dirty="0">
                <a:solidFill>
                  <a:schemeClr val="tx1"/>
                </a:solidFill>
                <a:effectLst/>
                <a:latin typeface="+mn-lt"/>
                <a:ea typeface="+mn-ea"/>
                <a:cs typeface="+mn-cs"/>
              </a:rPr>
              <a:t>For ambitious goals, what could be a minimum reasonable level</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TAC2 –status and results, are there changes, what about publications</a:t>
            </a:r>
          </a:p>
          <a:p>
            <a:r>
              <a:rPr lang="en-GB" sz="1200" b="0" i="0" u="none" strike="noStrike" kern="1200" dirty="0">
                <a:solidFill>
                  <a:schemeClr val="tx1"/>
                </a:solidFill>
                <a:effectLst/>
                <a:latin typeface="+mn-lt"/>
                <a:ea typeface="+mn-ea"/>
                <a:cs typeface="+mn-cs"/>
              </a:rPr>
              <a:t>TAC3 – so what is the realistic goal now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Do I have a defined topic</a:t>
            </a:r>
          </a:p>
          <a:p>
            <a:r>
              <a:rPr lang="en-GB" sz="1200" b="0" i="0" u="none" strike="noStrike" kern="1200" dirty="0">
                <a:solidFill>
                  <a:schemeClr val="tx1"/>
                </a:solidFill>
                <a:effectLst/>
                <a:latin typeface="+mn-lt"/>
                <a:ea typeface="+mn-ea"/>
                <a:cs typeface="+mn-cs"/>
              </a:rPr>
              <a:t>And do I understand that topic, and the physics</a:t>
            </a:r>
          </a:p>
          <a:p>
            <a:r>
              <a:rPr lang="en-GB" sz="1200" b="0" i="0" u="none" strike="noStrike" kern="1200" dirty="0">
                <a:solidFill>
                  <a:schemeClr val="tx1"/>
                </a:solidFill>
                <a:effectLst/>
                <a:latin typeface="+mn-lt"/>
                <a:ea typeface="+mn-ea"/>
                <a:cs typeface="+mn-cs"/>
              </a:rPr>
              <a:t>The TAC decides if that’s a good topic for a thesis</a:t>
            </a:r>
          </a:p>
          <a:p>
            <a:r>
              <a:rPr lang="en-GB" sz="1200" b="0" i="0" u="none" strike="noStrike" kern="1200" dirty="0">
                <a:solidFill>
                  <a:schemeClr val="tx1"/>
                </a:solidFill>
                <a:effectLst/>
                <a:latin typeface="+mn-lt"/>
                <a:ea typeface="+mn-ea"/>
                <a:cs typeface="+mn-cs"/>
              </a:rPr>
              <a:t>	is it worth a degree</a:t>
            </a:r>
          </a:p>
          <a:p>
            <a:r>
              <a:rPr lang="en-GB" sz="1200" b="0" i="0" u="none" strike="noStrike" kern="1200" dirty="0">
                <a:solidFill>
                  <a:schemeClr val="tx1"/>
                </a:solidFill>
                <a:effectLst/>
                <a:latin typeface="+mn-lt"/>
                <a:ea typeface="+mn-ea"/>
                <a:cs typeface="+mn-cs"/>
              </a:rPr>
              <a:t>	is it realistic</a:t>
            </a:r>
          </a:p>
          <a:p>
            <a:r>
              <a:rPr lang="en-GB" sz="1200" b="0" i="0" u="none" strike="noStrike" kern="1200" dirty="0">
                <a:solidFill>
                  <a:schemeClr val="tx1"/>
                </a:solidFill>
                <a:effectLst/>
                <a:latin typeface="+mn-lt"/>
                <a:ea typeface="+mn-ea"/>
                <a:cs typeface="+mn-cs"/>
              </a:rPr>
              <a:t>For ambitious goals, what could be a minimum reasonable level</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TAC2 –status and results, are there changes, what about publications</a:t>
            </a:r>
          </a:p>
          <a:p>
            <a:r>
              <a:rPr lang="en-GB" sz="1200" b="0" i="0" u="none" strike="noStrike" kern="1200" dirty="0">
                <a:solidFill>
                  <a:schemeClr val="tx1"/>
                </a:solidFill>
                <a:effectLst/>
                <a:latin typeface="+mn-lt"/>
                <a:ea typeface="+mn-ea"/>
                <a:cs typeface="+mn-cs"/>
              </a:rPr>
              <a:t>TAC3 – so what is the realistic goal now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235851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Which part of the spectrum are we looking at and why?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910955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So what do we do with three satellites?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702202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3207995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0166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40491574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arenR"/>
            </a:pPr>
            <a:r>
              <a:rPr lang="en-GB" sz="1200" b="0" i="0" u="none" strike="noStrike" kern="1200" dirty="0">
                <a:solidFill>
                  <a:schemeClr val="tx1"/>
                </a:solidFill>
                <a:effectLst/>
                <a:latin typeface="+mn-lt"/>
                <a:ea typeface="+mn-ea"/>
                <a:cs typeface="+mn-cs"/>
              </a:rPr>
              <a:t>Remove the modulator</a:t>
            </a:r>
          </a:p>
          <a:p>
            <a:pPr marL="228600" indent="-228600">
              <a:buAutoNum type="arabicParenR"/>
            </a:pPr>
            <a:r>
              <a:rPr lang="en-GB" sz="1200" b="0" i="0" u="none" strike="noStrike" kern="1200" dirty="0">
                <a:solidFill>
                  <a:schemeClr val="tx1"/>
                </a:solidFill>
                <a:effectLst/>
                <a:latin typeface="+mn-lt"/>
                <a:ea typeface="+mn-ea"/>
                <a:cs typeface="+mn-cs"/>
              </a:rPr>
              <a:t>Discuss every frequency – what its for, how is it derived</a:t>
            </a:r>
          </a:p>
          <a:p>
            <a:pPr marL="685800" lvl="1" indent="-228600">
              <a:buAutoNum type="arabicParenR"/>
            </a:pPr>
            <a:r>
              <a:rPr lang="en-GB" sz="1200" b="0" i="0" u="none" strike="noStrike" kern="1200" dirty="0">
                <a:solidFill>
                  <a:schemeClr val="tx1"/>
                </a:solidFill>
                <a:effectLst/>
                <a:latin typeface="+mn-lt"/>
                <a:ea typeface="+mn-ea"/>
                <a:cs typeface="+mn-cs"/>
              </a:rPr>
              <a:t>The PD ones, the PLL is there to keep the </a:t>
            </a:r>
            <a:r>
              <a:rPr lang="en-GB" sz="1200" b="0" i="0" u="none" strike="noStrike" kern="1200" dirty="0" err="1">
                <a:solidFill>
                  <a:schemeClr val="tx1"/>
                </a:solidFill>
                <a:effectLst/>
                <a:latin typeface="+mn-lt"/>
                <a:ea typeface="+mn-ea"/>
                <a:cs typeface="+mn-cs"/>
              </a:rPr>
              <a:t>beatnote</a:t>
            </a:r>
            <a:r>
              <a:rPr lang="en-GB" sz="1200" b="0" i="0" u="none" strike="noStrike" kern="1200" dirty="0">
                <a:solidFill>
                  <a:schemeClr val="tx1"/>
                </a:solidFill>
                <a:effectLst/>
                <a:latin typeface="+mn-lt"/>
                <a:ea typeface="+mn-ea"/>
                <a:cs typeface="+mn-cs"/>
              </a:rPr>
              <a:t> in band</a:t>
            </a:r>
          </a:p>
          <a:p>
            <a:pPr marL="685800" lvl="1" indent="-228600">
              <a:buAutoNum type="arabicParenR"/>
            </a:pPr>
            <a:r>
              <a:rPr lang="en-GB" sz="1200" b="0" i="0" u="none" strike="noStrike" kern="1200" dirty="0">
                <a:solidFill>
                  <a:schemeClr val="tx1"/>
                </a:solidFill>
                <a:effectLst/>
                <a:latin typeface="+mn-lt"/>
                <a:ea typeface="+mn-ea"/>
                <a:cs typeface="+mn-cs"/>
              </a:rPr>
              <a:t>The red laser in this case would be cavity locked</a:t>
            </a:r>
          </a:p>
          <a:p>
            <a:pPr marL="228600" lvl="0" indent="-228600">
              <a:buAutoNum type="arabicParenR"/>
            </a:pPr>
            <a:r>
              <a:rPr lang="en-GB" sz="1200" b="0" i="0" u="none" strike="noStrike" kern="1200" dirty="0">
                <a:solidFill>
                  <a:schemeClr val="tx1"/>
                </a:solidFill>
                <a:effectLst/>
                <a:latin typeface="+mn-lt"/>
                <a:ea typeface="+mn-ea"/>
                <a:cs typeface="+mn-cs"/>
              </a:rPr>
              <a:t>Put the noise terms on the graph maybe? And like </a:t>
            </a:r>
            <a:r>
              <a:rPr lang="en-GB" sz="1200" b="0" i="0" u="none" strike="noStrike" kern="1200" dirty="0" err="1">
                <a:solidFill>
                  <a:schemeClr val="tx1"/>
                </a:solidFill>
                <a:effectLst/>
                <a:latin typeface="+mn-lt"/>
                <a:ea typeface="+mn-ea"/>
                <a:cs typeface="+mn-cs"/>
              </a:rPr>
              <a:t>meka</a:t>
            </a:r>
            <a:r>
              <a:rPr lang="en-GB" sz="1200" b="0" i="0" u="none" strike="noStrike" kern="1200" dirty="0">
                <a:solidFill>
                  <a:schemeClr val="tx1"/>
                </a:solidFill>
                <a:effectLst/>
                <a:latin typeface="+mn-lt"/>
                <a:ea typeface="+mn-ea"/>
                <a:cs typeface="+mn-cs"/>
              </a:rPr>
              <a:t> them appear as u talk</a:t>
            </a:r>
          </a:p>
          <a:p>
            <a:pPr marL="228600" lvl="0" indent="-228600">
              <a:buAutoNum type="arabicParenR"/>
            </a:pPr>
            <a:r>
              <a:rPr lang="en-GB" sz="1200" b="0" i="0" u="none" strike="noStrike" kern="1200" dirty="0">
                <a:solidFill>
                  <a:schemeClr val="tx1"/>
                </a:solidFill>
                <a:effectLst/>
                <a:latin typeface="+mn-lt"/>
                <a:ea typeface="+mn-ea"/>
                <a:cs typeface="+mn-cs"/>
              </a:rPr>
              <a:t>Add clarification that the isi12 is the red readout</a:t>
            </a:r>
          </a:p>
          <a:p>
            <a:pPr marL="228600" lvl="0" indent="-228600">
              <a:buAutoNum type="arabicParenR"/>
            </a:pPr>
            <a:r>
              <a:rPr lang="en-GB" sz="1200" b="0" i="0" u="none" strike="noStrike" kern="1200" dirty="0">
                <a:solidFill>
                  <a:schemeClr val="tx1"/>
                </a:solidFill>
                <a:effectLst/>
                <a:latin typeface="+mn-lt"/>
                <a:ea typeface="+mn-ea"/>
                <a:cs typeface="+mn-cs"/>
              </a:rPr>
              <a:t>USO – Ultra Stable Oscillator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88745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TDI mechanism — virtual equal arms</a:t>
            </a:r>
            <a:br>
              <a:rPr lang="en-US" dirty="0"/>
            </a:br>
            <a:r>
              <a:rPr lang="en-US" dirty="0"/>
              <a:t>Why </a:t>
            </a:r>
            <a:r>
              <a:rPr lang="en-US" b="1" dirty="0"/>
              <a:t>2nd-gen</a:t>
            </a:r>
            <a:r>
              <a:rPr lang="en-US" dirty="0"/>
              <a:t> specifically (arms move during ~8 s light-travel) · ranging → residual laser noise ∝ </a:t>
            </a:r>
            <a:r>
              <a:rPr lang="en-US" dirty="0" err="1"/>
              <a:t>δτ</a:t>
            </a:r>
            <a:endParaRPr lang="en-US" dirty="0"/>
          </a:p>
          <a:p>
            <a:r>
              <a:rPr lang="en-US" sz="1200" b="0" i="0" u="none" strike="noStrike" kern="1200" dirty="0">
                <a:solidFill>
                  <a:schemeClr val="tx1"/>
                </a:solidFill>
                <a:effectLst/>
                <a:latin typeface="+mn-lt"/>
                <a:ea typeface="+mn-ea"/>
                <a:cs typeface="+mn-cs"/>
              </a:rPr>
              <a:t>Mention </a:t>
            </a:r>
            <a:r>
              <a:rPr lang="en-US" sz="1200" b="0" i="0" u="none" strike="noStrike" kern="1200" dirty="0" err="1">
                <a:solidFill>
                  <a:schemeClr val="tx1"/>
                </a:solidFill>
                <a:effectLst/>
                <a:latin typeface="+mn-lt"/>
                <a:ea typeface="+mn-ea"/>
                <a:cs typeface="+mn-cs"/>
              </a:rPr>
              <a:t>Vallisneris</a:t>
            </a:r>
            <a:r>
              <a:rPr lang="en-US" sz="1200" b="0" i="0" u="none" strike="noStrike" kern="1200" dirty="0">
                <a:solidFill>
                  <a:schemeClr val="tx1"/>
                </a:solidFill>
                <a:effectLst/>
                <a:latin typeface="+mn-lt"/>
                <a:ea typeface="+mn-ea"/>
                <a:cs typeface="+mn-cs"/>
              </a:rPr>
              <a:t> algorithm?</a:t>
            </a:r>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813247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LISA requirements — the yardstick</a:t>
            </a:r>
            <a:r>
              <a:rPr lang="en-US" dirty="0"/>
              <a:t> — top-level readout allocation (</a:t>
            </a:r>
            <a:r>
              <a:rPr lang="en-US" dirty="0" err="1"/>
              <a:t>cyc</a:t>
            </a:r>
            <a:r>
              <a:rPr lang="en-US" dirty="0"/>
              <a:t>/√Hz); note laser / clock / modulation sub-allocations will return per thread</a:t>
            </a:r>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8975480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Do I have a defined topic</a:t>
            </a:r>
          </a:p>
          <a:p>
            <a:r>
              <a:rPr lang="en-GB" sz="1200" b="0" i="0" u="none" strike="noStrike" kern="1200" dirty="0">
                <a:solidFill>
                  <a:schemeClr val="tx1"/>
                </a:solidFill>
                <a:effectLst/>
                <a:latin typeface="+mn-lt"/>
                <a:ea typeface="+mn-ea"/>
                <a:cs typeface="+mn-cs"/>
              </a:rPr>
              <a:t>And do I understand that topic, and the physics</a:t>
            </a:r>
          </a:p>
          <a:p>
            <a:r>
              <a:rPr lang="en-GB" sz="1200" b="0" i="0" u="none" strike="noStrike" kern="1200" dirty="0">
                <a:solidFill>
                  <a:schemeClr val="tx1"/>
                </a:solidFill>
                <a:effectLst/>
                <a:latin typeface="+mn-lt"/>
                <a:ea typeface="+mn-ea"/>
                <a:cs typeface="+mn-cs"/>
              </a:rPr>
              <a:t>The TAC decides if that’s a good topic for a thesis</a:t>
            </a:r>
          </a:p>
          <a:p>
            <a:r>
              <a:rPr lang="en-GB" sz="1200" b="0" i="0" u="none" strike="noStrike" kern="1200" dirty="0">
                <a:solidFill>
                  <a:schemeClr val="tx1"/>
                </a:solidFill>
                <a:effectLst/>
                <a:latin typeface="+mn-lt"/>
                <a:ea typeface="+mn-ea"/>
                <a:cs typeface="+mn-cs"/>
              </a:rPr>
              <a:t>	is it worth a degree</a:t>
            </a:r>
          </a:p>
          <a:p>
            <a:r>
              <a:rPr lang="en-GB" sz="1200" b="0" i="0" u="none" strike="noStrike" kern="1200" dirty="0">
                <a:solidFill>
                  <a:schemeClr val="tx1"/>
                </a:solidFill>
                <a:effectLst/>
                <a:latin typeface="+mn-lt"/>
                <a:ea typeface="+mn-ea"/>
                <a:cs typeface="+mn-cs"/>
              </a:rPr>
              <a:t>	is it realistic</a:t>
            </a:r>
          </a:p>
          <a:p>
            <a:r>
              <a:rPr lang="en-GB" sz="1200" b="0" i="0" u="none" strike="noStrike" kern="1200" dirty="0">
                <a:solidFill>
                  <a:schemeClr val="tx1"/>
                </a:solidFill>
                <a:effectLst/>
                <a:latin typeface="+mn-lt"/>
                <a:ea typeface="+mn-ea"/>
                <a:cs typeface="+mn-cs"/>
              </a:rPr>
              <a:t>For ambitious goals, what could be a minimum reasonable level</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TAC2 –status and results, are there changes, what about publications</a:t>
            </a:r>
          </a:p>
          <a:p>
            <a:r>
              <a:rPr lang="en-GB" sz="1200" b="0" i="0" u="none" strike="noStrike" kern="1200" dirty="0">
                <a:solidFill>
                  <a:schemeClr val="tx1"/>
                </a:solidFill>
                <a:effectLst/>
                <a:latin typeface="+mn-lt"/>
                <a:ea typeface="+mn-ea"/>
                <a:cs typeface="+mn-cs"/>
              </a:rPr>
              <a:t>TAC3 – so what is the realistic goal now</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074555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goal</a:t>
            </a:r>
          </a:p>
          <a:p>
            <a:endParaRPr lang="en-US" dirty="0"/>
          </a:p>
          <a:p>
            <a:r>
              <a:rPr lang="en-US" dirty="0"/>
              <a:t>The delay status should be included in the presentation</a:t>
            </a:r>
          </a:p>
          <a:p>
            <a:r>
              <a:rPr lang="en-US" dirty="0"/>
              <a:t>Standing questions there – ex the last measurement, where ever it is</a:t>
            </a:r>
          </a:p>
          <a:p>
            <a:r>
              <a:rPr lang="en-US" dirty="0"/>
              <a:t>	the interpolation/delay implementation</a:t>
            </a:r>
          </a:p>
          <a:p>
            <a:r>
              <a:rPr lang="en-US" dirty="0"/>
              <a:t>	what are the next steps</a:t>
            </a:r>
          </a:p>
          <a:p>
            <a:endParaRPr lang="en-US" dirty="0"/>
          </a:p>
          <a:p>
            <a:r>
              <a:rPr lang="en-US" dirty="0"/>
              <a:t>But how do we properly inject the laser noise and clock noise</a:t>
            </a:r>
            <a:br>
              <a:rPr lang="en-US" dirty="0"/>
            </a:br>
            <a:br>
              <a:rPr lang="en-US" dirty="0"/>
            </a:br>
            <a:r>
              <a:rPr lang="en-US" dirty="0"/>
              <a:t>understanding the Delay line coding is important</a:t>
            </a:r>
          </a:p>
          <a:p>
            <a:r>
              <a:rPr lang="en-US" dirty="0"/>
              <a:t>The X combination – next goal, is there anything unexplained happening</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Do I have a defined topic</a:t>
            </a:r>
          </a:p>
          <a:p>
            <a:r>
              <a:rPr lang="en-GB" sz="1200" b="0" i="0" u="none" strike="noStrike" kern="1200" dirty="0">
                <a:solidFill>
                  <a:schemeClr val="tx1"/>
                </a:solidFill>
                <a:effectLst/>
                <a:latin typeface="+mn-lt"/>
                <a:ea typeface="+mn-ea"/>
                <a:cs typeface="+mn-cs"/>
              </a:rPr>
              <a:t>And do I understand that topic, and the physics</a:t>
            </a:r>
          </a:p>
          <a:p>
            <a:r>
              <a:rPr lang="en-GB" sz="1200" b="0" i="0" u="none" strike="noStrike" kern="1200" dirty="0">
                <a:solidFill>
                  <a:schemeClr val="tx1"/>
                </a:solidFill>
                <a:effectLst/>
                <a:latin typeface="+mn-lt"/>
                <a:ea typeface="+mn-ea"/>
                <a:cs typeface="+mn-cs"/>
              </a:rPr>
              <a:t>The TAC decides if that’s a good topic for a thesis</a:t>
            </a:r>
          </a:p>
          <a:p>
            <a:r>
              <a:rPr lang="en-GB" sz="1200" b="0" i="0" u="none" strike="noStrike" kern="1200" dirty="0">
                <a:solidFill>
                  <a:schemeClr val="tx1"/>
                </a:solidFill>
                <a:effectLst/>
                <a:latin typeface="+mn-lt"/>
                <a:ea typeface="+mn-ea"/>
                <a:cs typeface="+mn-cs"/>
              </a:rPr>
              <a:t>	is it worth a degree</a:t>
            </a:r>
          </a:p>
          <a:p>
            <a:r>
              <a:rPr lang="en-GB" sz="1200" b="0" i="0" u="none" strike="noStrike" kern="1200" dirty="0">
                <a:solidFill>
                  <a:schemeClr val="tx1"/>
                </a:solidFill>
                <a:effectLst/>
                <a:latin typeface="+mn-lt"/>
                <a:ea typeface="+mn-ea"/>
                <a:cs typeface="+mn-cs"/>
              </a:rPr>
              <a:t>	is it realistic</a:t>
            </a:r>
          </a:p>
          <a:p>
            <a:r>
              <a:rPr lang="en-GB" sz="1200" b="0" i="0" u="none" strike="noStrike" kern="1200" dirty="0">
                <a:solidFill>
                  <a:schemeClr val="tx1"/>
                </a:solidFill>
                <a:effectLst/>
                <a:latin typeface="+mn-lt"/>
                <a:ea typeface="+mn-ea"/>
                <a:cs typeface="+mn-cs"/>
              </a:rPr>
              <a:t>For ambitious goals, what could be a minimum reasonable level</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TAC2 –status and results, are there changes, what about publications</a:t>
            </a:r>
          </a:p>
          <a:p>
            <a:r>
              <a:rPr lang="en-GB" sz="1200" b="0" i="0" u="none" strike="noStrike" kern="1200" dirty="0">
                <a:solidFill>
                  <a:schemeClr val="tx1"/>
                </a:solidFill>
                <a:effectLst/>
                <a:latin typeface="+mn-lt"/>
                <a:ea typeface="+mn-ea"/>
                <a:cs typeface="+mn-cs"/>
              </a:rPr>
              <a:t>TAC3 – so what is the realistic goal now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849175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35164735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26848383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The TDI 2 measurement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3417614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96428270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Why don’t the peaks come to 0?</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8064396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Do I have a defined topic</a:t>
            </a:r>
          </a:p>
          <a:p>
            <a:r>
              <a:rPr lang="en-GB" sz="1200" b="0" i="0" u="none" strike="noStrike" kern="1200" dirty="0">
                <a:solidFill>
                  <a:schemeClr val="tx1"/>
                </a:solidFill>
                <a:effectLst/>
                <a:latin typeface="+mn-lt"/>
                <a:ea typeface="+mn-ea"/>
                <a:cs typeface="+mn-cs"/>
              </a:rPr>
              <a:t>And do I understand that topic, and the physics</a:t>
            </a:r>
          </a:p>
          <a:p>
            <a:r>
              <a:rPr lang="en-GB" sz="1200" b="0" i="0" u="none" strike="noStrike" kern="1200" dirty="0">
                <a:solidFill>
                  <a:schemeClr val="tx1"/>
                </a:solidFill>
                <a:effectLst/>
                <a:latin typeface="+mn-lt"/>
                <a:ea typeface="+mn-ea"/>
                <a:cs typeface="+mn-cs"/>
              </a:rPr>
              <a:t>The TAC decides if that’s a good topic for a thesis</a:t>
            </a:r>
          </a:p>
          <a:p>
            <a:r>
              <a:rPr lang="en-GB" sz="1200" b="0" i="0" u="none" strike="noStrike" kern="1200" dirty="0">
                <a:solidFill>
                  <a:schemeClr val="tx1"/>
                </a:solidFill>
                <a:effectLst/>
                <a:latin typeface="+mn-lt"/>
                <a:ea typeface="+mn-ea"/>
                <a:cs typeface="+mn-cs"/>
              </a:rPr>
              <a:t>	is it worth a degree</a:t>
            </a:r>
          </a:p>
          <a:p>
            <a:r>
              <a:rPr lang="en-GB" sz="1200" b="0" i="0" u="none" strike="noStrike" kern="1200" dirty="0">
                <a:solidFill>
                  <a:schemeClr val="tx1"/>
                </a:solidFill>
                <a:effectLst/>
                <a:latin typeface="+mn-lt"/>
                <a:ea typeface="+mn-ea"/>
                <a:cs typeface="+mn-cs"/>
              </a:rPr>
              <a:t>	is it realistic</a:t>
            </a:r>
          </a:p>
          <a:p>
            <a:r>
              <a:rPr lang="en-GB" sz="1200" b="0" i="0" u="none" strike="noStrike" kern="1200" dirty="0">
                <a:solidFill>
                  <a:schemeClr val="tx1"/>
                </a:solidFill>
                <a:effectLst/>
                <a:latin typeface="+mn-lt"/>
                <a:ea typeface="+mn-ea"/>
                <a:cs typeface="+mn-cs"/>
              </a:rPr>
              <a:t>For ambitious goals, what could be a minimum reasonable level</a:t>
            </a:r>
          </a:p>
          <a:p>
            <a:endParaRPr lang="en-GB" sz="1200" b="0" i="0" u="none" strike="noStrike" kern="1200" dirty="0">
              <a:solidFill>
                <a:schemeClr val="tx1"/>
              </a:solidFill>
              <a:effectLst/>
              <a:latin typeface="+mn-lt"/>
              <a:ea typeface="+mn-ea"/>
              <a:cs typeface="+mn-cs"/>
            </a:endParaRPr>
          </a:p>
          <a:p>
            <a:r>
              <a:rPr lang="en-GB" sz="1200" b="0" i="0" u="none" strike="noStrike" kern="1200" dirty="0">
                <a:solidFill>
                  <a:schemeClr val="tx1"/>
                </a:solidFill>
                <a:effectLst/>
                <a:latin typeface="+mn-lt"/>
                <a:ea typeface="+mn-ea"/>
                <a:cs typeface="+mn-cs"/>
              </a:rPr>
              <a:t>TAC2 –status and results, are there changes, what about publications</a:t>
            </a:r>
          </a:p>
          <a:p>
            <a:r>
              <a:rPr lang="en-GB" sz="1200" b="0" i="0" u="none" strike="noStrike" kern="1200" dirty="0">
                <a:solidFill>
                  <a:schemeClr val="tx1"/>
                </a:solidFill>
                <a:effectLst/>
                <a:latin typeface="+mn-lt"/>
                <a:ea typeface="+mn-ea"/>
                <a:cs typeface="+mn-cs"/>
              </a:rPr>
              <a:t>TAC3 – so what is the realistic goal now</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32991728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7335057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WHAT IS THE FDM CRITICAL THING IN THE TESTBED</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39407959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261077744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err="1">
                <a:solidFill>
                  <a:schemeClr val="tx1"/>
                </a:solidFill>
                <a:effectLst/>
                <a:latin typeface="+mn-lt"/>
                <a:ea typeface="+mn-ea"/>
                <a:cs typeface="+mn-cs"/>
              </a:rPr>
              <a:t>Teka</a:t>
            </a:r>
            <a:r>
              <a:rPr lang="en-GB" sz="1200" b="0" i="0" u="none" strike="noStrike" kern="1200" dirty="0">
                <a:solidFill>
                  <a:schemeClr val="tx1"/>
                </a:solidFill>
                <a:effectLst/>
                <a:latin typeface="+mn-lt"/>
                <a:ea typeface="+mn-ea"/>
                <a:cs typeface="+mn-cs"/>
              </a:rPr>
              <a:t> the noise floor from here? Also does this match 2 baseline noise floor?</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58249544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50729105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power starts to matter as well, at least for LISA</a:t>
            </a:r>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9643576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32788014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58515134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34575281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4215034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42547064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417072276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i="0" u="none" strike="noStrike" kern="1200" dirty="0">
                <a:solidFill>
                  <a:schemeClr val="tx1"/>
                </a:solidFill>
                <a:effectLst/>
                <a:latin typeface="+mn-lt"/>
                <a:ea typeface="+mn-ea"/>
                <a:cs typeface="+mn-cs"/>
              </a:rPr>
              <a:t>Fix this pleas?</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sz="1200" b="0" i="0" u="none" strike="noStrike"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25074562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EFAULT">
    <p:bg>
      <p:bgRef idx="1001">
        <a:schemeClr val="bg1"/>
      </p:bgRef>
    </p:bg>
    <p:spTree>
      <p:nvGrpSpPr>
        <p:cNvPr id="1" name=""/>
        <p:cNvGrpSpPr/>
        <p:nvPr/>
      </p:nvGrpSpPr>
      <p:grpSpPr>
        <a:xfrm>
          <a:off x="0" y="0"/>
          <a:ext cx="0" cy="0"/>
          <a:chOff x="0" y="0"/>
          <a:chExt cx="0" cy="0"/>
        </a:xfrm>
      </p:grpSpPr>
      <p:sp>
        <p:nvSpPr>
          <p:cNvPr id="8" name="Text 1">
            <a:extLst>
              <a:ext uri="{FF2B5EF4-FFF2-40B4-BE49-F238E27FC236}">
                <a16:creationId xmlns:a16="http://schemas.microsoft.com/office/drawing/2014/main" id="{E45398B3-E451-4F75-9BEE-FBF0A4A3856E}"/>
              </a:ext>
            </a:extLst>
          </p:cNvPr>
          <p:cNvSpPr/>
          <p:nvPr userDrawn="1"/>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17" name="Text Placeholder 16">
            <a:extLst>
              <a:ext uri="{FF2B5EF4-FFF2-40B4-BE49-F238E27FC236}">
                <a16:creationId xmlns:a16="http://schemas.microsoft.com/office/drawing/2014/main" id="{E1F8B7DA-3D18-4F5C-BB05-86D57BFCD5D3}"/>
              </a:ext>
            </a:extLst>
          </p:cNvPr>
          <p:cNvSpPr>
            <a:spLocks noGrp="1"/>
          </p:cNvSpPr>
          <p:nvPr>
            <p:ph type="body" sz="quarter" idx="11" hasCustomPrompt="1"/>
          </p:nvPr>
        </p:nvSpPr>
        <p:spPr>
          <a:xfrm>
            <a:off x="649648" y="543041"/>
            <a:ext cx="8131175" cy="287800"/>
          </a:xfrm>
          <a:prstGeom prst="rect">
            <a:avLst/>
          </a:prstGeom>
        </p:spPr>
        <p:txBody>
          <a:bodyPr/>
          <a:lstStyle>
            <a:lvl1pPr marL="0" indent="0">
              <a:buNone/>
              <a:defRPr sz="1200" b="1" spc="200" baseline="0">
                <a:solidFill>
                  <a:srgbClr val="9A9A9A"/>
                </a:solidFill>
                <a:latin typeface="Helvetica Neue"/>
              </a:defRPr>
            </a:lvl1pPr>
          </a:lstStyle>
          <a:p>
            <a:pPr lvl="0"/>
            <a:r>
              <a:rPr lang="en-US" dirty="0"/>
              <a:t>THE LISA MEASUREMENT</a:t>
            </a:r>
          </a:p>
        </p:txBody>
      </p:sp>
      <p:sp>
        <p:nvSpPr>
          <p:cNvPr id="20" name="Title 19">
            <a:extLst>
              <a:ext uri="{FF2B5EF4-FFF2-40B4-BE49-F238E27FC236}">
                <a16:creationId xmlns:a16="http://schemas.microsoft.com/office/drawing/2014/main" id="{1320EFB6-AE15-4BB3-90C2-C661301ABCEA}"/>
              </a:ext>
            </a:extLst>
          </p:cNvPr>
          <p:cNvSpPr>
            <a:spLocks noGrp="1"/>
          </p:cNvSpPr>
          <p:nvPr>
            <p:ph type="title"/>
          </p:nvPr>
        </p:nvSpPr>
        <p:spPr>
          <a:xfrm>
            <a:off x="649648" y="796303"/>
            <a:ext cx="15773400" cy="548772"/>
          </a:xfrm>
          <a:prstGeom prst="rect">
            <a:avLst/>
          </a:prstGeom>
        </p:spPr>
        <p:txBody>
          <a:bodyPr/>
          <a:lstStyle>
            <a:lvl1pPr algn="l">
              <a:defRPr sz="3200" b="1" spc="-100" baseline="0">
                <a:latin typeface="Helvetica Neue"/>
              </a:defRPr>
            </a:lvl1pPr>
          </a:lstStyle>
          <a:p>
            <a:r>
              <a:rPr lang="en-US" dirty="0"/>
              <a:t>Click to edit Master title style</a:t>
            </a:r>
            <a:endParaRPr lang="LID4096" dirty="0"/>
          </a:p>
        </p:txBody>
      </p:sp>
      <p:sp>
        <p:nvSpPr>
          <p:cNvPr id="3" name="Text Placeholder 2">
            <a:extLst>
              <a:ext uri="{FF2B5EF4-FFF2-40B4-BE49-F238E27FC236}">
                <a16:creationId xmlns:a16="http://schemas.microsoft.com/office/drawing/2014/main" id="{CA6238F1-D659-4A57-8E10-7FCE715E2DC8}"/>
              </a:ext>
            </a:extLst>
          </p:cNvPr>
          <p:cNvSpPr>
            <a:spLocks noGrp="1"/>
          </p:cNvSpPr>
          <p:nvPr>
            <p:ph type="body" sz="quarter" idx="12"/>
          </p:nvPr>
        </p:nvSpPr>
        <p:spPr>
          <a:xfrm>
            <a:off x="649648" y="1758950"/>
            <a:ext cx="7667265" cy="7332663"/>
          </a:xfrm>
          <a:prstGeom prst="rect">
            <a:avLst/>
          </a:prstGeom>
        </p:spPr>
        <p:txBody>
          <a:bodyPr/>
          <a:lstStyle>
            <a:lvl1pPr marL="0" indent="0">
              <a:buNone/>
              <a:defRPr spc="-100" baseline="0">
                <a:latin typeface="Helvetica Neue"/>
                <a:ea typeface="Helvetica Neue"/>
              </a:defRPr>
            </a:lvl1pPr>
            <a:lvl2pPr marL="457200" indent="0">
              <a:buNone/>
              <a:defRPr spc="-100" baseline="0">
                <a:latin typeface="Helvetica Neue"/>
                <a:ea typeface="Helvetica Neue"/>
              </a:defRPr>
            </a:lvl2pPr>
            <a:lvl3pPr marL="914400" indent="0">
              <a:buNone/>
              <a:defRPr spc="-100" baseline="0">
                <a:latin typeface="Helvetica Neue"/>
                <a:ea typeface="Helvetica Neue"/>
              </a:defRPr>
            </a:lvl3pPr>
            <a:lvl4pPr marL="1371600" indent="0">
              <a:buNone/>
              <a:defRPr spc="-100" baseline="0">
                <a:latin typeface="Helvetica Neue"/>
                <a:ea typeface="Helvetica Neue"/>
              </a:defRPr>
            </a:lvl4pPr>
            <a:lvl5pPr marL="1828800" indent="0">
              <a:buNone/>
              <a:defRPr spc="-100" baseline="0">
                <a:latin typeface="Helvetica Neue"/>
                <a:ea typeface="Helvetica Neu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LID4096" dirty="0"/>
          </a:p>
        </p:txBody>
      </p:sp>
      <p:sp>
        <p:nvSpPr>
          <p:cNvPr id="10" name="Shape 4">
            <a:extLst>
              <a:ext uri="{FF2B5EF4-FFF2-40B4-BE49-F238E27FC236}">
                <a16:creationId xmlns:a16="http://schemas.microsoft.com/office/drawing/2014/main" id="{5A7181A4-A503-4E15-A6C3-606DBCAA1B98}"/>
              </a:ext>
            </a:extLst>
          </p:cNvPr>
          <p:cNvSpPr/>
          <p:nvPr userDrawn="1"/>
        </p:nvSpPr>
        <p:spPr>
          <a:xfrm>
            <a:off x="649648" y="9505950"/>
            <a:ext cx="16920000" cy="9525"/>
          </a:xfrm>
          <a:prstGeom prst="rect">
            <a:avLst/>
          </a:prstGeom>
          <a:solidFill>
            <a:srgbClr val="ECECEC"/>
          </a:solid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FAULT">
    <p:bg>
      <p:bgRef idx="1001">
        <a:schemeClr val="bg1"/>
      </p:bgRef>
    </p:bg>
    <p:spTree>
      <p:nvGrpSpPr>
        <p:cNvPr id="1" name=""/>
        <p:cNvGrpSpPr/>
        <p:nvPr/>
      </p:nvGrpSpPr>
      <p:grpSpPr>
        <a:xfrm>
          <a:off x="0" y="0"/>
          <a:ext cx="0" cy="0"/>
          <a:chOff x="0" y="0"/>
          <a:chExt cx="0" cy="0"/>
        </a:xfrm>
      </p:grpSpPr>
      <p:sp>
        <p:nvSpPr>
          <p:cNvPr id="8" name="Text 1">
            <a:extLst>
              <a:ext uri="{FF2B5EF4-FFF2-40B4-BE49-F238E27FC236}">
                <a16:creationId xmlns:a16="http://schemas.microsoft.com/office/drawing/2014/main" id="{E45398B3-E451-4F75-9BEE-FBF0A4A3856E}"/>
              </a:ext>
            </a:extLst>
          </p:cNvPr>
          <p:cNvSpPr/>
          <p:nvPr userDrawn="1"/>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9" name="Shape 4">
            <a:extLst>
              <a:ext uri="{FF2B5EF4-FFF2-40B4-BE49-F238E27FC236}">
                <a16:creationId xmlns:a16="http://schemas.microsoft.com/office/drawing/2014/main" id="{A65D3221-0C71-4F10-A61B-7F1D317A731B}"/>
              </a:ext>
            </a:extLst>
          </p:cNvPr>
          <p:cNvSpPr/>
          <p:nvPr userDrawn="1"/>
        </p:nvSpPr>
        <p:spPr>
          <a:xfrm>
            <a:off x="649648" y="9505950"/>
            <a:ext cx="16920000" cy="9525"/>
          </a:xfrm>
          <a:prstGeom prst="rect">
            <a:avLst/>
          </a:prstGeom>
          <a:solidFill>
            <a:srgbClr val="ECECEC"/>
          </a:solidFill>
          <a:ln/>
        </p:spPr>
      </p:sp>
      <p:sp>
        <p:nvSpPr>
          <p:cNvPr id="17" name="Text Placeholder 16">
            <a:extLst>
              <a:ext uri="{FF2B5EF4-FFF2-40B4-BE49-F238E27FC236}">
                <a16:creationId xmlns:a16="http://schemas.microsoft.com/office/drawing/2014/main" id="{E1F8B7DA-3D18-4F5C-BB05-86D57BFCD5D3}"/>
              </a:ext>
            </a:extLst>
          </p:cNvPr>
          <p:cNvSpPr>
            <a:spLocks noGrp="1"/>
          </p:cNvSpPr>
          <p:nvPr>
            <p:ph type="body" sz="quarter" idx="11" hasCustomPrompt="1"/>
          </p:nvPr>
        </p:nvSpPr>
        <p:spPr>
          <a:xfrm>
            <a:off x="649648" y="543041"/>
            <a:ext cx="8131175" cy="287800"/>
          </a:xfrm>
          <a:prstGeom prst="rect">
            <a:avLst/>
          </a:prstGeom>
        </p:spPr>
        <p:txBody>
          <a:bodyPr/>
          <a:lstStyle>
            <a:lvl1pPr marL="0" indent="0">
              <a:buNone/>
              <a:defRPr sz="1200" b="1" spc="200" baseline="0">
                <a:solidFill>
                  <a:srgbClr val="9A9A9A"/>
                </a:solidFill>
                <a:latin typeface="Helvetica Neue"/>
              </a:defRPr>
            </a:lvl1pPr>
          </a:lstStyle>
          <a:p>
            <a:pPr lvl="0"/>
            <a:r>
              <a:rPr lang="en-US" dirty="0"/>
              <a:t>THE LISA MEASUREMENT</a:t>
            </a:r>
          </a:p>
        </p:txBody>
      </p:sp>
      <p:sp>
        <p:nvSpPr>
          <p:cNvPr id="20" name="Title 19">
            <a:extLst>
              <a:ext uri="{FF2B5EF4-FFF2-40B4-BE49-F238E27FC236}">
                <a16:creationId xmlns:a16="http://schemas.microsoft.com/office/drawing/2014/main" id="{1320EFB6-AE15-4BB3-90C2-C661301ABCEA}"/>
              </a:ext>
            </a:extLst>
          </p:cNvPr>
          <p:cNvSpPr>
            <a:spLocks noGrp="1"/>
          </p:cNvSpPr>
          <p:nvPr>
            <p:ph type="title"/>
          </p:nvPr>
        </p:nvSpPr>
        <p:spPr>
          <a:xfrm>
            <a:off x="649648" y="796303"/>
            <a:ext cx="15773400" cy="548772"/>
          </a:xfrm>
          <a:prstGeom prst="rect">
            <a:avLst/>
          </a:prstGeom>
        </p:spPr>
        <p:txBody>
          <a:bodyPr/>
          <a:lstStyle>
            <a:lvl1pPr algn="l">
              <a:defRPr sz="3200" b="1" spc="-100" baseline="0">
                <a:latin typeface="Helvetica Neue"/>
              </a:defRPr>
            </a:lvl1pPr>
          </a:lstStyle>
          <a:p>
            <a:r>
              <a:rPr lang="en-US" dirty="0"/>
              <a:t>Click to edit Master title style</a:t>
            </a:r>
            <a:endParaRPr lang="LID4096" dirty="0"/>
          </a:p>
        </p:txBody>
      </p:sp>
      <p:sp>
        <p:nvSpPr>
          <p:cNvPr id="3" name="Text Placeholder 2">
            <a:extLst>
              <a:ext uri="{FF2B5EF4-FFF2-40B4-BE49-F238E27FC236}">
                <a16:creationId xmlns:a16="http://schemas.microsoft.com/office/drawing/2014/main" id="{CA6238F1-D659-4A57-8E10-7FCE715E2DC8}"/>
              </a:ext>
            </a:extLst>
          </p:cNvPr>
          <p:cNvSpPr>
            <a:spLocks noGrp="1"/>
          </p:cNvSpPr>
          <p:nvPr>
            <p:ph type="body" sz="quarter" idx="12"/>
          </p:nvPr>
        </p:nvSpPr>
        <p:spPr>
          <a:xfrm>
            <a:off x="649648" y="1758950"/>
            <a:ext cx="7667265" cy="7332663"/>
          </a:xfrm>
          <a:prstGeom prst="rect">
            <a:avLst/>
          </a:prstGeom>
        </p:spPr>
        <p:txBody>
          <a:bodyPr/>
          <a:lstStyle>
            <a:lvl1pPr marL="0" indent="0">
              <a:buNone/>
              <a:defRPr spc="-100" baseline="0">
                <a:latin typeface="Helvetica Neue"/>
                <a:ea typeface="Helvetica Neue"/>
              </a:defRPr>
            </a:lvl1pPr>
            <a:lvl2pPr marL="457200" indent="0">
              <a:buNone/>
              <a:defRPr spc="-100" baseline="0">
                <a:latin typeface="Helvetica Neue"/>
                <a:ea typeface="Helvetica Neue"/>
              </a:defRPr>
            </a:lvl2pPr>
            <a:lvl3pPr marL="914400" indent="0">
              <a:buNone/>
              <a:defRPr spc="-100" baseline="0">
                <a:latin typeface="Helvetica Neue"/>
                <a:ea typeface="Helvetica Neue"/>
              </a:defRPr>
            </a:lvl3pPr>
            <a:lvl4pPr marL="1371600" indent="0">
              <a:buNone/>
              <a:defRPr spc="-100" baseline="0">
                <a:latin typeface="Helvetica Neue"/>
                <a:ea typeface="Helvetica Neue"/>
              </a:defRPr>
            </a:lvl4pPr>
            <a:lvl5pPr marL="1828800" indent="0">
              <a:buNone/>
              <a:defRPr spc="-100" baseline="0">
                <a:latin typeface="Helvetica Neue"/>
                <a:ea typeface="Helvetica Neu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LID4096" dirty="0"/>
          </a:p>
        </p:txBody>
      </p:sp>
      <p:sp>
        <p:nvSpPr>
          <p:cNvPr id="7" name="Shape 4">
            <a:extLst>
              <a:ext uri="{FF2B5EF4-FFF2-40B4-BE49-F238E27FC236}">
                <a16:creationId xmlns:a16="http://schemas.microsoft.com/office/drawing/2014/main" id="{9081D46B-975A-472D-826C-AB9457DCD6D3}"/>
              </a:ext>
            </a:extLst>
          </p:cNvPr>
          <p:cNvSpPr/>
          <p:nvPr userDrawn="1"/>
        </p:nvSpPr>
        <p:spPr>
          <a:xfrm>
            <a:off x="649648" y="1531143"/>
            <a:ext cx="16920000" cy="9525"/>
          </a:xfrm>
          <a:prstGeom prst="rect">
            <a:avLst/>
          </a:prstGeom>
          <a:solidFill>
            <a:srgbClr val="ECECEC"/>
          </a:solidFill>
          <a:ln/>
        </p:spPr>
      </p:sp>
    </p:spTree>
    <p:extLst>
      <p:ext uri="{BB962C8B-B14F-4D97-AF65-F5344CB8AC3E}">
        <p14:creationId xmlns:p14="http://schemas.microsoft.com/office/powerpoint/2010/main" val="27760878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DEFAULT">
    <p:bg>
      <p:bgRef idx="1001">
        <a:schemeClr val="bg1"/>
      </p:bgRef>
    </p:bg>
    <p:spTree>
      <p:nvGrpSpPr>
        <p:cNvPr id="1" name=""/>
        <p:cNvGrpSpPr/>
        <p:nvPr/>
      </p:nvGrpSpPr>
      <p:grpSpPr>
        <a:xfrm>
          <a:off x="0" y="0"/>
          <a:ext cx="0" cy="0"/>
          <a:chOff x="0" y="0"/>
          <a:chExt cx="0" cy="0"/>
        </a:xfrm>
      </p:grpSpPr>
      <p:sp>
        <p:nvSpPr>
          <p:cNvPr id="8" name="Text 1">
            <a:extLst>
              <a:ext uri="{FF2B5EF4-FFF2-40B4-BE49-F238E27FC236}">
                <a16:creationId xmlns:a16="http://schemas.microsoft.com/office/drawing/2014/main" id="{E45398B3-E451-4F75-9BEE-FBF0A4A3856E}"/>
              </a:ext>
            </a:extLst>
          </p:cNvPr>
          <p:cNvSpPr/>
          <p:nvPr userDrawn="1"/>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9" name="Shape 4">
            <a:extLst>
              <a:ext uri="{FF2B5EF4-FFF2-40B4-BE49-F238E27FC236}">
                <a16:creationId xmlns:a16="http://schemas.microsoft.com/office/drawing/2014/main" id="{A65D3221-0C71-4F10-A61B-7F1D317A731B}"/>
              </a:ext>
            </a:extLst>
          </p:cNvPr>
          <p:cNvSpPr/>
          <p:nvPr userDrawn="1"/>
        </p:nvSpPr>
        <p:spPr>
          <a:xfrm>
            <a:off x="649648" y="9505950"/>
            <a:ext cx="16920000" cy="9525"/>
          </a:xfrm>
          <a:prstGeom prst="rect">
            <a:avLst/>
          </a:prstGeom>
          <a:solidFill>
            <a:srgbClr val="ECECEC"/>
          </a:solidFill>
          <a:ln/>
        </p:spPr>
      </p:sp>
      <p:sp>
        <p:nvSpPr>
          <p:cNvPr id="20" name="Title 19">
            <a:extLst>
              <a:ext uri="{FF2B5EF4-FFF2-40B4-BE49-F238E27FC236}">
                <a16:creationId xmlns:a16="http://schemas.microsoft.com/office/drawing/2014/main" id="{1320EFB6-AE15-4BB3-90C2-C661301ABCEA}"/>
              </a:ext>
            </a:extLst>
          </p:cNvPr>
          <p:cNvSpPr>
            <a:spLocks noGrp="1"/>
          </p:cNvSpPr>
          <p:nvPr>
            <p:ph type="title" hasCustomPrompt="1"/>
          </p:nvPr>
        </p:nvSpPr>
        <p:spPr>
          <a:xfrm>
            <a:off x="649648" y="796302"/>
            <a:ext cx="15773400" cy="1808001"/>
          </a:xfrm>
          <a:prstGeom prst="rect">
            <a:avLst/>
          </a:prstGeom>
        </p:spPr>
        <p:txBody>
          <a:bodyPr/>
          <a:lstStyle>
            <a:lvl1pPr algn="l">
              <a:defRPr sz="5400" b="1" spc="-100" baseline="0">
                <a:latin typeface="Helvetica Neue"/>
              </a:defRPr>
            </a:lvl1pPr>
          </a:lstStyle>
          <a:p>
            <a:r>
              <a:rPr lang="en-US" dirty="0"/>
              <a:t>Big Title</a:t>
            </a:r>
            <a:endParaRPr lang="LID4096" dirty="0"/>
          </a:p>
        </p:txBody>
      </p:sp>
    </p:spTree>
    <p:extLst>
      <p:ext uri="{BB962C8B-B14F-4D97-AF65-F5344CB8AC3E}">
        <p14:creationId xmlns:p14="http://schemas.microsoft.com/office/powerpoint/2010/main" val="3576161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815015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0" r:id="rId4"/>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2.sv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JPG"/><Relationship Id="rId5" Type="http://schemas.openxmlformats.org/officeDocument/2006/relationships/image" Target="../media/image15.JP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9.svg"/><Relationship Id="rId5" Type="http://schemas.openxmlformats.org/officeDocument/2006/relationships/image" Target="../media/image12.svg"/><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jpg"/></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4.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37.sv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7.svg"/><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1066800" y="914400"/>
            <a:ext cx="17769840" cy="238125"/>
          </a:xfrm>
          <a:prstGeom prst="rect">
            <a:avLst/>
          </a:prstGeom>
          <a:noFill/>
          <a:ln/>
        </p:spPr>
        <p:txBody>
          <a:bodyPr wrap="square" lIns="25400" tIns="25400" rIns="25400" bIns="25400" rtlCol="0" anchor="t">
            <a:normAutofit lnSpcReduction="10000"/>
          </a:bodyPr>
          <a:lstStyle/>
          <a:p>
            <a:pPr marL="0" indent="0" algn="l">
              <a:buNone/>
            </a:pPr>
            <a:r>
              <a:rPr lang="en-US" sz="1275" b="1" kern="0" spc="281" dirty="0">
                <a:solidFill>
                  <a:srgbClr val="9A9A9A"/>
                </a:solidFill>
                <a:latin typeface="Helvetica Neue" pitchFamily="34" charset="0"/>
                <a:ea typeface="Helvetica Neue" pitchFamily="34" charset="-122"/>
                <a:cs typeface="Helvetica Neue" pitchFamily="34" charset="-120"/>
              </a:rPr>
              <a:t>THESIS ADVISORY COMMITEE MEETING· 27 AUGUST 2026</a:t>
            </a:r>
            <a:endParaRPr lang="en-US" sz="1275" dirty="0"/>
          </a:p>
        </p:txBody>
      </p:sp>
      <p:sp>
        <p:nvSpPr>
          <p:cNvPr id="3" name="Text 1"/>
          <p:cNvSpPr/>
          <p:nvPr/>
        </p:nvSpPr>
        <p:spPr>
          <a:xfrm>
            <a:off x="1066800" y="3805237"/>
            <a:ext cx="14519910" cy="1276350"/>
          </a:xfrm>
          <a:prstGeom prst="rect">
            <a:avLst/>
          </a:prstGeom>
          <a:noFill/>
          <a:ln/>
        </p:spPr>
        <p:txBody>
          <a:bodyPr wrap="square" lIns="25400" tIns="25400" rIns="25400" bIns="25400" rtlCol="0" anchor="t">
            <a:noAutofit/>
          </a:bodyPr>
          <a:lstStyle/>
          <a:p>
            <a:pPr marL="0" indent="0" algn="l">
              <a:lnSpc>
                <a:spcPct val="106000"/>
              </a:lnSpc>
              <a:buNone/>
            </a:pPr>
            <a:r>
              <a:rPr lang="en-US" sz="4800" b="1" kern="0" spc="-93" dirty="0">
                <a:solidFill>
                  <a:srgbClr val="141414"/>
                </a:solidFill>
                <a:latin typeface="Helvetica Neue" pitchFamily="34" charset="0"/>
                <a:ea typeface="Helvetica Neue" pitchFamily="34" charset="-122"/>
                <a:cs typeface="Helvetica Neue" pitchFamily="34" charset="-120"/>
              </a:rPr>
              <a:t>Testbed for Validating Second-Generation TDI and Clock-Noise Correction for LISA</a:t>
            </a:r>
            <a:endParaRPr lang="en-US" sz="4800" dirty="0"/>
          </a:p>
        </p:txBody>
      </p:sp>
      <p:sp>
        <p:nvSpPr>
          <p:cNvPr id="4" name="Text 2"/>
          <p:cNvSpPr/>
          <p:nvPr/>
        </p:nvSpPr>
        <p:spPr>
          <a:xfrm>
            <a:off x="1066800" y="5367338"/>
            <a:ext cx="15506700" cy="409575"/>
          </a:xfrm>
          <a:prstGeom prst="rect">
            <a:avLst/>
          </a:prstGeom>
          <a:noFill/>
          <a:ln/>
        </p:spPr>
        <p:txBody>
          <a:bodyPr wrap="square" lIns="25400" tIns="25400" rIns="25400" bIns="25400" rtlCol="0" anchor="t">
            <a:noAutofit/>
          </a:bodyPr>
          <a:lstStyle/>
          <a:p>
            <a:pPr marL="0" indent="0" algn="l">
              <a:lnSpc>
                <a:spcPct val="150000"/>
              </a:lnSpc>
              <a:buNone/>
            </a:pPr>
            <a:r>
              <a:rPr lang="en-US" sz="2400" b="1" dirty="0">
                <a:solidFill>
                  <a:srgbClr val="141414"/>
                </a:solidFill>
                <a:latin typeface="Helvetica Neue" pitchFamily="34" charset="0"/>
                <a:ea typeface="Helvetica Neue" pitchFamily="34" charset="-122"/>
                <a:cs typeface="Helvetica Neue" pitchFamily="34" charset="-120"/>
              </a:rPr>
              <a:t>Karin </a:t>
            </a:r>
            <a:r>
              <a:rPr lang="en-US" sz="2400" b="1" dirty="0" err="1">
                <a:solidFill>
                  <a:srgbClr val="141414"/>
                </a:solidFill>
                <a:latin typeface="Helvetica Neue" pitchFamily="34" charset="0"/>
                <a:ea typeface="Helvetica Neue" pitchFamily="34" charset="-122"/>
                <a:cs typeface="Helvetica Neue" pitchFamily="34" charset="-120"/>
              </a:rPr>
              <a:t>Kruuse</a:t>
            </a:r>
            <a:endParaRPr lang="en-US" sz="2400" dirty="0"/>
          </a:p>
        </p:txBody>
      </p:sp>
      <p:sp>
        <p:nvSpPr>
          <p:cNvPr id="5" name="Text 3"/>
          <p:cNvSpPr/>
          <p:nvPr/>
        </p:nvSpPr>
        <p:spPr>
          <a:xfrm>
            <a:off x="1066800" y="5964913"/>
            <a:ext cx="15506700" cy="266700"/>
          </a:xfrm>
          <a:prstGeom prst="rect">
            <a:avLst/>
          </a:prstGeom>
          <a:noFill/>
          <a:ln/>
        </p:spPr>
        <p:txBody>
          <a:bodyPr wrap="square" lIns="25400" tIns="25400" rIns="25400" bIns="25400" rtlCol="0" anchor="t">
            <a:normAutofit lnSpcReduction="10000"/>
          </a:bodyPr>
          <a:lstStyle/>
          <a:p>
            <a:pPr marL="0" indent="0" algn="l">
              <a:buNone/>
            </a:pPr>
            <a:r>
              <a:rPr lang="en-US" sz="1500" dirty="0">
                <a:solidFill>
                  <a:srgbClr val="8A8A8A"/>
                </a:solidFill>
                <a:latin typeface="Helvetica Neue" pitchFamily="34" charset="0"/>
                <a:ea typeface="Helvetica Neue" pitchFamily="34" charset="-122"/>
                <a:cs typeface="Helvetica Neue" pitchFamily="34" charset="-120"/>
              </a:rPr>
              <a:t>Max Planck Institute for Gravitational Physics (AEI) · Leibniz Universität Hannover</a:t>
            </a:r>
            <a:endParaRPr lang="en-US" sz="1500" dirty="0"/>
          </a:p>
        </p:txBody>
      </p:sp>
      <p:sp>
        <p:nvSpPr>
          <p:cNvPr id="6" name="Shape 4"/>
          <p:cNvSpPr/>
          <p:nvPr/>
        </p:nvSpPr>
        <p:spPr>
          <a:xfrm>
            <a:off x="1066800" y="8734425"/>
            <a:ext cx="16154400" cy="9525"/>
          </a:xfrm>
          <a:prstGeom prst="rect">
            <a:avLst/>
          </a:prstGeom>
          <a:solidFill>
            <a:srgbClr val="ECECEC"/>
          </a:solidFill>
          <a:ln/>
        </p:spPr>
        <p:txBody>
          <a:bodyPr/>
          <a:lstStyle/>
          <a:p>
            <a:endParaRPr lang="en-US"/>
          </a:p>
        </p:txBody>
      </p:sp>
      <p:pic>
        <p:nvPicPr>
          <p:cNvPr id="7" name="Image 0" descr="preencoded.png"/>
          <p:cNvPicPr>
            <a:picLocks noChangeAspect="1"/>
          </p:cNvPicPr>
          <p:nvPr/>
        </p:nvPicPr>
        <p:blipFill>
          <a:blip r:embed="rId3"/>
          <a:srcRect t="-3" b="-3"/>
          <a:stretch/>
        </p:blipFill>
        <p:spPr>
          <a:xfrm>
            <a:off x="1066800" y="9048750"/>
            <a:ext cx="2370534" cy="533400"/>
          </a:xfrm>
          <a:prstGeom prst="rect">
            <a:avLst/>
          </a:prstGeom>
        </p:spPr>
      </p:pic>
      <p:pic>
        <p:nvPicPr>
          <p:cNvPr id="8" name="Image 1" descr="preencoded.png"/>
          <p:cNvPicPr>
            <a:picLocks noChangeAspect="1"/>
          </p:cNvPicPr>
          <p:nvPr/>
        </p:nvPicPr>
        <p:blipFill>
          <a:blip r:embed="rId4"/>
          <a:srcRect t="-3" b="-3"/>
          <a:stretch/>
        </p:blipFill>
        <p:spPr>
          <a:xfrm>
            <a:off x="3856434" y="9029700"/>
            <a:ext cx="1979116" cy="571500"/>
          </a:xfrm>
          <a:prstGeom prst="rect">
            <a:avLst/>
          </a:prstGeom>
        </p:spPr>
      </p:pic>
      <p:sp>
        <p:nvSpPr>
          <p:cNvPr id="9" name="CustomFooter">
            <a:extLst>
              <a:ext uri="{FF2B5EF4-FFF2-40B4-BE49-F238E27FC236}">
                <a16:creationId xmlns:a16="http://schemas.microsoft.com/office/drawing/2014/main" id="{4D0D1232-6BDA-4206-B3BF-6C7294023CA1}"/>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01 / 43</a:t>
            </a:r>
            <a:endParaRPr lang="LID4096" sz="1000" spc="100">
              <a:solidFill>
                <a:srgbClr val="A6A6A6"/>
              </a:solidFill>
              <a:latin typeface="Helvetica Neue45 Light"/>
            </a:endParaRPr>
          </a:p>
        </p:txBody>
      </p:sp>
      <p:sp>
        <p:nvSpPr>
          <p:cNvPr id="10" name="TACMeeting">
            <a:extLst>
              <a:ext uri="{FF2B5EF4-FFF2-40B4-BE49-F238E27FC236}">
                <a16:creationId xmlns:a16="http://schemas.microsoft.com/office/drawing/2014/main" id="{EE219262-DC98-4734-8776-B1D55777D686}"/>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p:txBody>
          <a:bodyPr/>
          <a:lstStyle/>
          <a:p>
            <a:r>
              <a:rPr lang="en-US" dirty="0"/>
              <a:t>Outline of the Talk</a:t>
            </a:r>
            <a:endParaRPr lang="LID4096" dirty="0"/>
          </a:p>
        </p:txBody>
      </p:sp>
      <p:sp>
        <p:nvSpPr>
          <p:cNvPr id="2" name="Text Placeholder 1">
            <a:extLst>
              <a:ext uri="{FF2B5EF4-FFF2-40B4-BE49-F238E27FC236}">
                <a16:creationId xmlns:a16="http://schemas.microsoft.com/office/drawing/2014/main" id="{47AE8194-17E0-4A3D-A9FA-CABE156C2538}"/>
              </a:ext>
            </a:extLst>
          </p:cNvPr>
          <p:cNvSpPr>
            <a:spLocks noGrp="1"/>
          </p:cNvSpPr>
          <p:nvPr>
            <p:ph type="body" sz="quarter" idx="12"/>
          </p:nvPr>
        </p:nvSpPr>
        <p:spPr>
          <a:xfrm>
            <a:off x="647700" y="1765300"/>
            <a:ext cx="10160000" cy="7327900"/>
          </a:xfrm>
        </p:spPr>
        <p:txBody>
          <a:bodyPr lIns="91440" tIns="45720" rIns="91440" bIns="45720" anchor="ctr"/>
          <a:lstStyle/>
          <a:p>
            <a:pPr>
              <a:spcBef>
                <a:spcPts val="600"/>
              </a:spcBef>
              <a:spcAft>
                <a:spcPts val="600"/>
              </a:spcAft>
            </a:pPr>
            <a:r>
              <a:rPr lang="en-US" sz="2800" b="1">
                <a:solidFill>
                  <a:srgbClr val="7F7F7F"/>
                </a:solidFill>
              </a:rPr>
              <a:t>Context</a:t>
            </a:r>
            <a:endParaRPr lang="en-US" sz="2800" b="1" dirty="0">
              <a:solidFill>
                <a:srgbClr val="7F7F7F"/>
              </a:solidFill>
            </a:endParaRPr>
          </a:p>
          <a:p>
            <a:pPr algn="l">
              <a:lnSpc>
                <a:spcPct val="100000"/>
              </a:lnSpc>
              <a:spcBef>
                <a:spcPts val="600"/>
              </a:spcBef>
              <a:spcAft>
                <a:spcPts val="600"/>
              </a:spcAft>
              <a:buNone/>
            </a:pPr>
            <a:r>
              <a:rPr lang="en-US" sz="2800" b="1">
                <a:solidFill>
                  <a:srgbClr val="7F7F7F"/>
                </a:solidFill>
              </a:rPr>
              <a:t>Overview of the LISA IDS</a:t>
            </a:r>
            <a:endParaRPr lang="en-US"/>
          </a:p>
          <a:p>
            <a:pPr algn="l">
              <a:lnSpc>
                <a:spcPct val="100000"/>
              </a:lnSpc>
              <a:spcBef>
                <a:spcPts val="600"/>
              </a:spcBef>
              <a:spcAft>
                <a:spcPts val="600"/>
              </a:spcAft>
              <a:buNone/>
            </a:pPr>
            <a:r>
              <a:rPr lang="en-US" sz="2800" b="1">
                <a:solidFill>
                  <a:srgbClr val="7F7F7F"/>
                </a:solidFill>
              </a:rPr>
              <a:t>Testbed Concept</a:t>
            </a:r>
          </a:p>
          <a:p>
            <a:pPr algn="l">
              <a:lnSpc>
                <a:spcPct val="100000"/>
              </a:lnSpc>
              <a:spcBef>
                <a:spcPts val="600"/>
              </a:spcBef>
              <a:spcAft>
                <a:spcPts val="600"/>
              </a:spcAft>
              <a:buNone/>
            </a:pPr>
            <a:r>
              <a:rPr lang="en-US" sz="2800" b="1">
                <a:solidFill>
                  <a:srgbClr val="7F7F7F"/>
                </a:solidFill>
              </a:rPr>
              <a:t>TDI and laser noise: status</a:t>
            </a:r>
          </a:p>
          <a:p>
            <a:pPr algn="l">
              <a:lnSpc>
                <a:spcPct val="100000"/>
              </a:lnSpc>
              <a:spcBef>
                <a:spcPts val="600"/>
              </a:spcBef>
              <a:spcAft>
                <a:spcPts val="600"/>
              </a:spcAft>
              <a:buNone/>
            </a:pPr>
            <a:r>
              <a:rPr lang="en-US" sz="2800" b="1">
                <a:solidFill>
                  <a:srgbClr val="7F7F7F"/>
                </a:solidFill>
              </a:rPr>
              <a:t>clock noise: status</a:t>
            </a:r>
          </a:p>
          <a:p>
            <a:pPr algn="l">
              <a:lnSpc>
                <a:spcPct val="100000"/>
              </a:lnSpc>
              <a:spcBef>
                <a:spcPts val="600"/>
              </a:spcBef>
              <a:spcAft>
                <a:spcPts val="600"/>
              </a:spcAft>
              <a:buNone/>
            </a:pPr>
            <a:r>
              <a:rPr lang="en-US" sz="2800" b="1">
                <a:solidFill>
                  <a:srgbClr val="7F7F7F"/>
                </a:solidFill>
              </a:rPr>
              <a:t>Next Steps</a:t>
            </a:r>
          </a:p>
          <a:p>
            <a:pPr>
              <a:spcBef>
                <a:spcPts val="600"/>
              </a:spcBef>
              <a:spcAft>
                <a:spcPts val="600"/>
              </a:spcAft>
            </a:pPr>
            <a:r>
              <a:rPr lang="en-US" sz="2800" b="1">
                <a:solidFill>
                  <a:srgbClr val="7F7F7F"/>
                </a:solidFill>
              </a:rPr>
              <a:t>Conclusion</a:t>
            </a:r>
          </a:p>
          <a:p>
            <a:pPr algn="l">
              <a:lnSpc>
                <a:spcPct val="100000"/>
              </a:lnSpc>
              <a:spcBef>
                <a:spcPts val="900"/>
              </a:spcBef>
              <a:spcAft>
                <a:spcPts val="900"/>
              </a:spcAft>
              <a:buNone/>
            </a:pPr>
            <a:endParaRPr lang="en-US" sz="3200" dirty="0"/>
          </a:p>
        </p:txBody>
      </p:sp>
      <p:sp>
        <p:nvSpPr>
          <p:cNvPr id="5" name="CustomFooter">
            <a:extLst>
              <a:ext uri="{FF2B5EF4-FFF2-40B4-BE49-F238E27FC236}">
                <a16:creationId xmlns:a16="http://schemas.microsoft.com/office/drawing/2014/main" id="{59B2D465-2FA8-4592-ABF9-78D221B3038A}"/>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02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978BF414-3490-4AFA-90E8-121A874572F9}"/>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560079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a:xfrm>
            <a:off x="647700" y="1270000"/>
            <a:ext cx="15773400" cy="7874000"/>
          </a:xfrm>
        </p:spPr>
        <p:txBody>
          <a:bodyPr anchor="ctr"/>
          <a:lstStyle/>
          <a:p>
            <a:pPr algn="l">
              <a:lnSpc>
                <a:spcPct val="100000"/>
              </a:lnSpc>
              <a:spcBef>
                <a:spcPts val="1400"/>
              </a:spcBef>
              <a:spcAft>
                <a:spcPts val="1400"/>
              </a:spcAft>
              <a:buNone/>
            </a:pPr>
            <a:r>
              <a:rPr lang="en-US" sz="5400" b="1" dirty="0"/>
              <a:t>Context</a:t>
            </a:r>
          </a:p>
          <a:p>
            <a:pPr algn="l">
              <a:lnSpc>
                <a:spcPct val="100000"/>
              </a:lnSpc>
              <a:spcBef>
                <a:spcPts val="600"/>
              </a:spcBef>
              <a:spcAft>
                <a:spcPts val="600"/>
              </a:spcAft>
              <a:buNone/>
            </a:pPr>
            <a:r>
              <a:rPr lang="en-US" sz="2800" dirty="0">
                <a:solidFill>
                  <a:srgbClr val="7F7F7F"/>
                </a:solidFill>
              </a:rPr>
              <a:t>Overview of the LISA IDS</a:t>
            </a:r>
          </a:p>
          <a:p>
            <a:pPr algn="l">
              <a:lnSpc>
                <a:spcPct val="100000"/>
              </a:lnSpc>
              <a:spcBef>
                <a:spcPts val="600"/>
              </a:spcBef>
              <a:spcAft>
                <a:spcPts val="600"/>
              </a:spcAft>
              <a:buNone/>
            </a:pPr>
            <a:r>
              <a:rPr lang="en-US" sz="2800" dirty="0">
                <a:solidFill>
                  <a:srgbClr val="7F7F7F"/>
                </a:solidFill>
              </a:rPr>
              <a:t>Testbed Concept</a:t>
            </a:r>
          </a:p>
          <a:p>
            <a:pPr algn="l">
              <a:lnSpc>
                <a:spcPct val="100000"/>
              </a:lnSpc>
              <a:spcBef>
                <a:spcPts val="600"/>
              </a:spcBef>
              <a:spcAft>
                <a:spcPts val="600"/>
              </a:spcAft>
              <a:buNone/>
            </a:pPr>
            <a:r>
              <a:rPr lang="en-US" sz="2800" dirty="0">
                <a:solidFill>
                  <a:srgbClr val="7F7F7F"/>
                </a:solidFill>
              </a:rPr>
              <a:t>TDI and laser noise: status</a:t>
            </a:r>
          </a:p>
          <a:p>
            <a:pPr algn="l">
              <a:lnSpc>
                <a:spcPct val="100000"/>
              </a:lnSpc>
              <a:spcBef>
                <a:spcPts val="600"/>
              </a:spcBef>
              <a:spcAft>
                <a:spcPts val="600"/>
              </a:spcAft>
              <a:buNone/>
            </a:pPr>
            <a:r>
              <a:rPr lang="en-US" sz="2800" dirty="0">
                <a:solidFill>
                  <a:srgbClr val="7F7F7F"/>
                </a:solidFill>
              </a:rPr>
              <a:t>clock noise: status</a:t>
            </a:r>
          </a:p>
          <a:p>
            <a:pPr algn="l">
              <a:lnSpc>
                <a:spcPct val="100000"/>
              </a:lnSpc>
              <a:spcBef>
                <a:spcPts val="600"/>
              </a:spcBef>
              <a:spcAft>
                <a:spcPts val="600"/>
              </a:spcAft>
              <a:buNone/>
            </a:pPr>
            <a:r>
              <a:rPr lang="en-US" sz="2800" dirty="0">
                <a:solidFill>
                  <a:srgbClr val="7F7F7F"/>
                </a:solidFill>
              </a:rPr>
              <a:t>Next Steps</a:t>
            </a:r>
          </a:p>
          <a:p>
            <a:pPr algn="l">
              <a:lnSpc>
                <a:spcPct val="100000"/>
              </a:lnSpc>
              <a:spcBef>
                <a:spcPts val="600"/>
              </a:spcBef>
              <a:spcAft>
                <a:spcPts val="600"/>
              </a:spcAft>
              <a:buNone/>
            </a:pPr>
            <a:r>
              <a:rPr lang="en-US" sz="2800" dirty="0">
                <a:solidFill>
                  <a:srgbClr val="7F7F7F"/>
                </a:solidFill>
              </a:rPr>
              <a:t>Conclusion</a:t>
            </a:r>
          </a:p>
        </p:txBody>
      </p:sp>
      <p:sp>
        <p:nvSpPr>
          <p:cNvPr id="2" name="CustomFooter">
            <a:extLst>
              <a:ext uri="{FF2B5EF4-FFF2-40B4-BE49-F238E27FC236}">
                <a16:creationId xmlns:a16="http://schemas.microsoft.com/office/drawing/2014/main" id="{C44355FA-BA71-4654-B7F1-1965A22273E7}"/>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7F7F7F"/>
                </a:solidFill>
                <a:latin typeface="Helvetica Neue45 Light"/>
              </a:rPr>
              <a:t>27 August 2026 · 03 / 43</a:t>
            </a:r>
            <a:endParaRPr lang="LID4096" sz="1000" spc="100">
              <a:solidFill>
                <a:srgbClr val="7F7F7F"/>
              </a:solidFill>
              <a:latin typeface="Helvetica Neue45 Light"/>
            </a:endParaRPr>
          </a:p>
        </p:txBody>
      </p:sp>
      <p:sp>
        <p:nvSpPr>
          <p:cNvPr id="3" name="TACMeeting">
            <a:extLst>
              <a:ext uri="{FF2B5EF4-FFF2-40B4-BE49-F238E27FC236}">
                <a16:creationId xmlns:a16="http://schemas.microsoft.com/office/drawing/2014/main" id="{4BCFAF96-932C-4D46-ABB0-C2E97495DA83}"/>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7F7F7F"/>
                </a:solidFill>
                <a:latin typeface="Helvetica Neue 65 Medium"/>
              </a:rPr>
              <a:t>TAC MEETING</a:t>
            </a:r>
            <a:endParaRPr lang="LID4096" sz="1000" b="1" spc="150">
              <a:solidFill>
                <a:srgbClr val="7F7F7F"/>
              </a:solidFill>
              <a:latin typeface="Helvetica Neue 65 Medium"/>
            </a:endParaRPr>
          </a:p>
        </p:txBody>
      </p:sp>
    </p:spTree>
    <p:extLst>
      <p:ext uri="{BB962C8B-B14F-4D97-AF65-F5344CB8AC3E}">
        <p14:creationId xmlns:p14="http://schemas.microsoft.com/office/powerpoint/2010/main" val="3598627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pic>
        <p:nvPicPr>
          <p:cNvPr id="14" name="Picture 13" descr="A screenshot of a computer game&#10;&#10;AI-generated content may be incorrect.">
            <a:extLst>
              <a:ext uri="{FF2B5EF4-FFF2-40B4-BE49-F238E27FC236}">
                <a16:creationId xmlns:a16="http://schemas.microsoft.com/office/drawing/2014/main" id="{4DF7630E-E572-48B3-B013-44850214E4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8288000" cy="10287000"/>
          </a:xfrm>
          <a:prstGeom prst="rect">
            <a:avLst/>
          </a:prstGeom>
        </p:spPr>
      </p:pic>
    </p:spTree>
    <p:extLst>
      <p:ext uri="{BB962C8B-B14F-4D97-AF65-F5344CB8AC3E}">
        <p14:creationId xmlns:p14="http://schemas.microsoft.com/office/powerpoint/2010/main" val="10827657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6" name="Text Placeholder 15">
            <a:extLst>
              <a:ext uri="{FF2B5EF4-FFF2-40B4-BE49-F238E27FC236}">
                <a16:creationId xmlns:a16="http://schemas.microsoft.com/office/drawing/2014/main" id="{F7BC1141-6B9C-45C8-8E6E-08526BA21499}"/>
              </a:ext>
            </a:extLst>
          </p:cNvPr>
          <p:cNvSpPr>
            <a:spLocks noGrp="1"/>
          </p:cNvSpPr>
          <p:nvPr>
            <p:ph type="body" sz="quarter" idx="11"/>
          </p:nvPr>
        </p:nvSpPr>
        <p:spPr/>
        <p:txBody>
          <a:bodyPr/>
          <a:lstStyle/>
          <a:p>
            <a:r>
              <a:rPr lang="en-US" dirty="0"/>
              <a:t>CONTEXT</a:t>
            </a:r>
            <a:endParaRPr lang="LID4096" dirty="0"/>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p:txBody>
          <a:bodyPr/>
          <a:lstStyle/>
          <a:p>
            <a:r>
              <a:rPr lang="en-US" dirty="0"/>
              <a:t>LISA Constellation</a:t>
            </a:r>
            <a:endParaRPr lang="LID4096" dirty="0"/>
          </a:p>
        </p:txBody>
      </p:sp>
      <p:sp>
        <p:nvSpPr>
          <p:cNvPr id="4" name="Text Placeholder 3">
            <a:extLst>
              <a:ext uri="{FF2B5EF4-FFF2-40B4-BE49-F238E27FC236}">
                <a16:creationId xmlns:a16="http://schemas.microsoft.com/office/drawing/2014/main" id="{08DDCB8C-6358-41C3-8D5C-7546A4D54467}"/>
              </a:ext>
            </a:extLst>
          </p:cNvPr>
          <p:cNvSpPr>
            <a:spLocks noGrp="1"/>
          </p:cNvSpPr>
          <p:nvPr>
            <p:ph type="body" sz="quarter" idx="12"/>
          </p:nvPr>
        </p:nvSpPr>
        <p:spPr/>
        <p:txBody>
          <a:bodyPr/>
          <a:lstStyle/>
          <a:p>
            <a:endParaRPr lang="LID4096"/>
          </a:p>
        </p:txBody>
      </p:sp>
      <p:pic>
        <p:nvPicPr>
          <p:cNvPr id="14" name="Picture 13">
            <a:extLst>
              <a:ext uri="{FF2B5EF4-FFF2-40B4-BE49-F238E27FC236}">
                <a16:creationId xmlns:a16="http://schemas.microsoft.com/office/drawing/2014/main" id="{6D09A0CD-1D1C-45C6-B634-57E69EB046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868" y="7639448"/>
            <a:ext cx="4835857" cy="2647552"/>
          </a:xfrm>
          <a:prstGeom prst="rect">
            <a:avLst/>
          </a:prstGeom>
        </p:spPr>
      </p:pic>
      <p:sp>
        <p:nvSpPr>
          <p:cNvPr id="17" name="TextBox 16">
            <a:extLst>
              <a:ext uri="{FF2B5EF4-FFF2-40B4-BE49-F238E27FC236}">
                <a16:creationId xmlns:a16="http://schemas.microsoft.com/office/drawing/2014/main" id="{55D00D52-229B-440B-8FA3-399D31AE07F6}"/>
              </a:ext>
            </a:extLst>
          </p:cNvPr>
          <p:cNvSpPr txBox="1"/>
          <p:nvPr/>
        </p:nvSpPr>
        <p:spPr>
          <a:xfrm>
            <a:off x="5436753" y="8837827"/>
            <a:ext cx="2287441" cy="307777"/>
          </a:xfrm>
          <a:prstGeom prst="rect">
            <a:avLst/>
          </a:prstGeom>
          <a:noFill/>
        </p:spPr>
        <p:txBody>
          <a:bodyPr wrap="square">
            <a:spAutoFit/>
          </a:bodyPr>
          <a:lstStyle/>
          <a:p>
            <a:r>
              <a:rPr lang="en-US" sz="1400" noProof="0" dirty="0">
                <a:solidFill>
                  <a:srgbClr val="7D858C"/>
                </a:solidFill>
              </a:rPr>
              <a:t>Amaro-Seoane et al., 2017</a:t>
            </a:r>
          </a:p>
        </p:txBody>
      </p:sp>
      <p:pic>
        <p:nvPicPr>
          <p:cNvPr id="18" name="Content Placeholder 8">
            <a:extLst>
              <a:ext uri="{FF2B5EF4-FFF2-40B4-BE49-F238E27FC236}">
                <a16:creationId xmlns:a16="http://schemas.microsoft.com/office/drawing/2014/main" id="{4AF66918-0C98-47AE-B9D1-B9BEDBB9E0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V="1">
            <a:off x="781079" y="2543454"/>
            <a:ext cx="5803841" cy="4365625"/>
          </a:xfrm>
          <a:prstGeom prst="rect">
            <a:avLst/>
          </a:prstGeom>
        </p:spPr>
      </p:pic>
      <p:pic>
        <p:nvPicPr>
          <p:cNvPr id="19" name="Picture 18">
            <a:extLst>
              <a:ext uri="{FF2B5EF4-FFF2-40B4-BE49-F238E27FC236}">
                <a16:creationId xmlns:a16="http://schemas.microsoft.com/office/drawing/2014/main" id="{27DEAE3B-720D-449E-8745-A7EED3DBBAB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89687" y="5077839"/>
            <a:ext cx="5081517" cy="1941400"/>
          </a:xfrm>
          <a:prstGeom prst="rect">
            <a:avLst/>
          </a:prstGeom>
        </p:spPr>
      </p:pic>
      <p:grpSp>
        <p:nvGrpSpPr>
          <p:cNvPr id="9" name="Group 8">
            <a:extLst>
              <a:ext uri="{FF2B5EF4-FFF2-40B4-BE49-F238E27FC236}">
                <a16:creationId xmlns:a16="http://schemas.microsoft.com/office/drawing/2014/main" id="{703D8D87-EACC-45E4-8788-24131F2C5CAE}"/>
              </a:ext>
            </a:extLst>
          </p:cNvPr>
          <p:cNvGrpSpPr/>
          <p:nvPr/>
        </p:nvGrpSpPr>
        <p:grpSpPr>
          <a:xfrm>
            <a:off x="1357494" y="3929912"/>
            <a:ext cx="4477515" cy="2381459"/>
            <a:chOff x="10661588" y="4034010"/>
            <a:chExt cx="4477515" cy="2381459"/>
          </a:xfrm>
        </p:grpSpPr>
        <p:sp>
          <p:nvSpPr>
            <p:cNvPr id="20" name="Rectangle 19">
              <a:extLst>
                <a:ext uri="{FF2B5EF4-FFF2-40B4-BE49-F238E27FC236}">
                  <a16:creationId xmlns:a16="http://schemas.microsoft.com/office/drawing/2014/main" id="{085FC485-BB0F-4B39-A7CC-4A4B9FFB3A07}"/>
                </a:ext>
              </a:extLst>
            </p:cNvPr>
            <p:cNvSpPr>
              <a:spLocks/>
            </p:cNvSpPr>
            <p:nvPr/>
          </p:nvSpPr>
          <p:spPr>
            <a:xfrm>
              <a:off x="14821605" y="4034010"/>
              <a:ext cx="317498" cy="200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80F32572-8CEF-4A1A-9ECF-472065982BA1}"/>
                </a:ext>
              </a:extLst>
            </p:cNvPr>
            <p:cNvSpPr>
              <a:spLocks/>
            </p:cNvSpPr>
            <p:nvPr/>
          </p:nvSpPr>
          <p:spPr>
            <a:xfrm>
              <a:off x="10661588" y="4034010"/>
              <a:ext cx="317498" cy="2713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7E8F4C07-A7DF-41E9-A62F-2707352F2DC9}"/>
                </a:ext>
              </a:extLst>
            </p:cNvPr>
            <p:cNvSpPr>
              <a:spLocks/>
            </p:cNvSpPr>
            <p:nvPr/>
          </p:nvSpPr>
          <p:spPr>
            <a:xfrm>
              <a:off x="13575610" y="6152637"/>
              <a:ext cx="261257" cy="2628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sp>
        <p:nvSpPr>
          <p:cNvPr id="5" name="CustomFooter">
            <a:extLst>
              <a:ext uri="{FF2B5EF4-FFF2-40B4-BE49-F238E27FC236}">
                <a16:creationId xmlns:a16="http://schemas.microsoft.com/office/drawing/2014/main" id="{CABD7393-B703-482E-B5B4-96EAB9F8251D}"/>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05 / 43</a:t>
            </a:r>
            <a:endParaRPr lang="LID4096" sz="1000" spc="100">
              <a:solidFill>
                <a:srgbClr val="A6A6A6"/>
              </a:solidFill>
              <a:latin typeface="Helvetica Neue45 Light"/>
            </a:endParaRPr>
          </a:p>
        </p:txBody>
      </p:sp>
      <p:sp>
        <p:nvSpPr>
          <p:cNvPr id="10" name="TACMeeting">
            <a:extLst>
              <a:ext uri="{FF2B5EF4-FFF2-40B4-BE49-F238E27FC236}">
                <a16:creationId xmlns:a16="http://schemas.microsoft.com/office/drawing/2014/main" id="{F49FBFD4-F014-4B30-A9BD-415BD6559358}"/>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990101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6" name="Text Placeholder 15">
            <a:extLst>
              <a:ext uri="{FF2B5EF4-FFF2-40B4-BE49-F238E27FC236}">
                <a16:creationId xmlns:a16="http://schemas.microsoft.com/office/drawing/2014/main" id="{F7BC1141-6B9C-45C8-8E6E-08526BA21499}"/>
              </a:ext>
            </a:extLst>
          </p:cNvPr>
          <p:cNvSpPr>
            <a:spLocks noGrp="1"/>
          </p:cNvSpPr>
          <p:nvPr>
            <p:ph type="body" sz="quarter" idx="11"/>
          </p:nvPr>
        </p:nvSpPr>
        <p:spPr/>
        <p:txBody>
          <a:bodyPr/>
          <a:lstStyle/>
          <a:p>
            <a:r>
              <a:rPr lang="en-US" dirty="0"/>
              <a:t>CONTEXT</a:t>
            </a:r>
            <a:endParaRPr lang="LID4096" dirty="0"/>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p:txBody>
          <a:bodyPr/>
          <a:lstStyle/>
          <a:p>
            <a:r>
              <a:rPr lang="en-US" dirty="0"/>
              <a:t>TDI Motivation</a:t>
            </a:r>
            <a:endParaRPr lang="LID4096" dirty="0"/>
          </a:p>
        </p:txBody>
      </p:sp>
      <p:sp>
        <p:nvSpPr>
          <p:cNvPr id="2" name="Text Placeholder 1">
            <a:extLst>
              <a:ext uri="{FF2B5EF4-FFF2-40B4-BE49-F238E27FC236}">
                <a16:creationId xmlns:a16="http://schemas.microsoft.com/office/drawing/2014/main" id="{456A7F88-3CE0-438E-A61B-F5CB21FEBC2E}"/>
              </a:ext>
            </a:extLst>
          </p:cNvPr>
          <p:cNvSpPr>
            <a:spLocks noGrp="1"/>
          </p:cNvSpPr>
          <p:nvPr>
            <p:ph type="body" sz="quarter" idx="12"/>
          </p:nvPr>
        </p:nvSpPr>
        <p:spPr/>
        <p:txBody>
          <a:bodyPr/>
          <a:lstStyle/>
          <a:p>
            <a:endParaRPr lang="LID4096"/>
          </a:p>
        </p:txBody>
      </p:sp>
      <p:grpSp>
        <p:nvGrpSpPr>
          <p:cNvPr id="9" name="Group 8">
            <a:extLst>
              <a:ext uri="{FF2B5EF4-FFF2-40B4-BE49-F238E27FC236}">
                <a16:creationId xmlns:a16="http://schemas.microsoft.com/office/drawing/2014/main" id="{703D8D87-EACC-45E4-8788-24131F2C5CAE}"/>
              </a:ext>
            </a:extLst>
          </p:cNvPr>
          <p:cNvGrpSpPr/>
          <p:nvPr/>
        </p:nvGrpSpPr>
        <p:grpSpPr>
          <a:xfrm>
            <a:off x="10661588" y="4034010"/>
            <a:ext cx="4477515" cy="2381459"/>
            <a:chOff x="10661588" y="4034010"/>
            <a:chExt cx="4477515" cy="2381459"/>
          </a:xfrm>
        </p:grpSpPr>
        <p:sp>
          <p:nvSpPr>
            <p:cNvPr id="20" name="Rectangle 19">
              <a:extLst>
                <a:ext uri="{FF2B5EF4-FFF2-40B4-BE49-F238E27FC236}">
                  <a16:creationId xmlns:a16="http://schemas.microsoft.com/office/drawing/2014/main" id="{085FC485-BB0F-4B39-A7CC-4A4B9FFB3A07}"/>
                </a:ext>
              </a:extLst>
            </p:cNvPr>
            <p:cNvSpPr>
              <a:spLocks/>
            </p:cNvSpPr>
            <p:nvPr/>
          </p:nvSpPr>
          <p:spPr>
            <a:xfrm>
              <a:off x="14821605" y="4034010"/>
              <a:ext cx="317498" cy="2009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tangle 20">
              <a:extLst>
                <a:ext uri="{FF2B5EF4-FFF2-40B4-BE49-F238E27FC236}">
                  <a16:creationId xmlns:a16="http://schemas.microsoft.com/office/drawing/2014/main" id="{80F32572-8CEF-4A1A-9ECF-472065982BA1}"/>
                </a:ext>
              </a:extLst>
            </p:cNvPr>
            <p:cNvSpPr>
              <a:spLocks/>
            </p:cNvSpPr>
            <p:nvPr/>
          </p:nvSpPr>
          <p:spPr>
            <a:xfrm>
              <a:off x="10661588" y="4034010"/>
              <a:ext cx="317498" cy="27130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2" name="Rectangle 21">
              <a:extLst>
                <a:ext uri="{FF2B5EF4-FFF2-40B4-BE49-F238E27FC236}">
                  <a16:creationId xmlns:a16="http://schemas.microsoft.com/office/drawing/2014/main" id="{7E8F4C07-A7DF-41E9-A62F-2707352F2DC9}"/>
                </a:ext>
              </a:extLst>
            </p:cNvPr>
            <p:cNvSpPr>
              <a:spLocks/>
            </p:cNvSpPr>
            <p:nvPr/>
          </p:nvSpPr>
          <p:spPr>
            <a:xfrm>
              <a:off x="13575610" y="6152637"/>
              <a:ext cx="261257" cy="26283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grpSp>
      <p:pic>
        <p:nvPicPr>
          <p:cNvPr id="23" name="Content Placeholder 8">
            <a:extLst>
              <a:ext uri="{FF2B5EF4-FFF2-40B4-BE49-F238E27FC236}">
                <a16:creationId xmlns:a16="http://schemas.microsoft.com/office/drawing/2014/main" id="{F5D5F26F-6647-4037-A36F-1613AC61DC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flipV="1">
            <a:off x="3882186" y="2976208"/>
            <a:ext cx="6512410" cy="4898608"/>
          </a:xfrm>
          <a:prstGeom prst="rect">
            <a:avLst/>
          </a:prstGeom>
        </p:spPr>
      </p:pic>
      <p:sp>
        <p:nvSpPr>
          <p:cNvPr id="24" name="TextBox 23">
            <a:extLst>
              <a:ext uri="{FF2B5EF4-FFF2-40B4-BE49-F238E27FC236}">
                <a16:creationId xmlns:a16="http://schemas.microsoft.com/office/drawing/2014/main" id="{0946F00F-94E5-408D-9838-FD52F6E63580}"/>
              </a:ext>
            </a:extLst>
          </p:cNvPr>
          <p:cNvSpPr txBox="1"/>
          <p:nvPr/>
        </p:nvSpPr>
        <p:spPr>
          <a:xfrm>
            <a:off x="4171310" y="7486076"/>
            <a:ext cx="1723485" cy="276999"/>
          </a:xfrm>
          <a:prstGeom prst="rect">
            <a:avLst/>
          </a:prstGeom>
          <a:noFill/>
        </p:spPr>
        <p:txBody>
          <a:bodyPr wrap="square">
            <a:spAutoFit/>
          </a:bodyPr>
          <a:lstStyle/>
          <a:p>
            <a:r>
              <a:rPr lang="en-US" sz="1200" noProof="0" dirty="0">
                <a:solidFill>
                  <a:srgbClr val="667982"/>
                </a:solidFill>
                <a:latin typeface="Arial" panose="020B0604020202020204" pitchFamily="34" charset="0"/>
                <a:cs typeface="Arial" panose="020B0604020202020204" pitchFamily="34" charset="0"/>
              </a:rPr>
              <a:t>Jennrich, 2010</a:t>
            </a:r>
          </a:p>
        </p:txBody>
      </p:sp>
      <p:sp>
        <p:nvSpPr>
          <p:cNvPr id="25" name="TextBox 24">
            <a:extLst>
              <a:ext uri="{FF2B5EF4-FFF2-40B4-BE49-F238E27FC236}">
                <a16:creationId xmlns:a16="http://schemas.microsoft.com/office/drawing/2014/main" id="{7A8615AC-1AEC-40E6-AD7C-D1A9880AA534}"/>
              </a:ext>
            </a:extLst>
          </p:cNvPr>
          <p:cNvSpPr txBox="1"/>
          <p:nvPr/>
        </p:nvSpPr>
        <p:spPr>
          <a:xfrm>
            <a:off x="5610927" y="4169313"/>
            <a:ext cx="3054928" cy="707886"/>
          </a:xfrm>
          <a:prstGeom prst="rect">
            <a:avLst/>
          </a:prstGeom>
          <a:noFill/>
        </p:spPr>
        <p:txBody>
          <a:bodyPr wrap="square" rtlCol="0">
            <a:spAutoFit/>
          </a:bodyPr>
          <a:lstStyle/>
          <a:p>
            <a:pPr algn="l"/>
            <a:r>
              <a:rPr lang="en-US" sz="2000" dirty="0">
                <a:solidFill>
                  <a:srgbClr val="667982"/>
                </a:solidFill>
                <a:highlight>
                  <a:srgbClr val="D8DFE3"/>
                </a:highlight>
                <a:latin typeface="Arial" panose="020B0604020202020204" pitchFamily="34" charset="0"/>
                <a:cs typeface="Arial" panose="020B0604020202020204" pitchFamily="34" charset="0"/>
              </a:rPr>
              <a:t>Unequal arm lengths and laser frequency noise</a:t>
            </a:r>
            <a:endParaRPr lang="et-EE" sz="2000" dirty="0">
              <a:solidFill>
                <a:srgbClr val="667982"/>
              </a:solidFill>
              <a:highlight>
                <a:srgbClr val="D8DFE3"/>
              </a:highlight>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33C88C2A-B3B4-4CAC-8412-5EE06A7B2E43}"/>
              </a:ext>
            </a:extLst>
          </p:cNvPr>
          <p:cNvSpPr txBox="1"/>
          <p:nvPr/>
        </p:nvSpPr>
        <p:spPr>
          <a:xfrm>
            <a:off x="10483137" y="3292582"/>
            <a:ext cx="4344284" cy="369332"/>
          </a:xfrm>
          <a:prstGeom prst="rect">
            <a:avLst/>
          </a:prstGeom>
          <a:noFill/>
        </p:spPr>
        <p:txBody>
          <a:bodyPr wrap="square" rtlCol="0">
            <a:spAutoFit/>
          </a:bodyPr>
          <a:lstStyle/>
          <a:p>
            <a:pPr algn="l"/>
            <a:r>
              <a:rPr lang="en-US" dirty="0">
                <a:solidFill>
                  <a:srgbClr val="667982"/>
                </a:solidFill>
                <a:latin typeface="Arial" panose="020B0604020202020204" pitchFamily="34" charset="0"/>
                <a:cs typeface="Arial" panose="020B0604020202020204" pitchFamily="34" charset="0"/>
              </a:rPr>
              <a:t>As per LISA requirements</a:t>
            </a:r>
            <a:endParaRPr lang="et-EE" dirty="0">
              <a:solidFill>
                <a:srgbClr val="667982"/>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66D954CE-1456-4F93-A6DE-3DEE473320E8}"/>
              </a:ext>
            </a:extLst>
          </p:cNvPr>
          <p:cNvSpPr txBox="1"/>
          <p:nvPr/>
        </p:nvSpPr>
        <p:spPr>
          <a:xfrm>
            <a:off x="9915209" y="4649105"/>
            <a:ext cx="4901239" cy="369332"/>
          </a:xfrm>
          <a:prstGeom prst="rect">
            <a:avLst/>
          </a:prstGeom>
          <a:noFill/>
        </p:spPr>
        <p:txBody>
          <a:bodyPr wrap="square" rtlCol="0">
            <a:spAutoFit/>
          </a:bodyPr>
          <a:lstStyle/>
          <a:p>
            <a:pPr algn="l"/>
            <a:r>
              <a:rPr lang="en-US" dirty="0">
                <a:solidFill>
                  <a:srgbClr val="667982"/>
                </a:solidFill>
                <a:latin typeface="Arial" panose="020B0604020202020204" pitchFamily="34" charset="0"/>
                <a:cs typeface="Arial" panose="020B0604020202020204" pitchFamily="34" charset="0"/>
              </a:rPr>
              <a:t>Hence for the arm length uncertainty we get</a:t>
            </a:r>
            <a:endParaRPr lang="et-EE" dirty="0">
              <a:solidFill>
                <a:srgbClr val="667982"/>
              </a:solidFill>
              <a:latin typeface="Arial" panose="020B0604020202020204" pitchFamily="34" charset="0"/>
              <a:cs typeface="Arial" panose="020B0604020202020204" pitchFamily="34" charset="0"/>
            </a:endParaRPr>
          </a:p>
        </p:txBody>
      </p:sp>
      <p:pic>
        <p:nvPicPr>
          <p:cNvPr id="28" name="Picture 27" descr="A math equation with numbers and symbols&#10;&#10;AI-generated content may be incorrect.">
            <a:extLst>
              <a:ext uri="{FF2B5EF4-FFF2-40B4-BE49-F238E27FC236}">
                <a16:creationId xmlns:a16="http://schemas.microsoft.com/office/drawing/2014/main" id="{A8FB8FD3-FD82-4FBF-ADC7-C09F4FF286E4}"/>
              </a:ext>
            </a:extLst>
          </p:cNvPr>
          <p:cNvPicPr>
            <a:picLocks noChangeAspect="1"/>
          </p:cNvPicPr>
          <p:nvPr/>
        </p:nvPicPr>
        <p:blipFill>
          <a:blip r:embed="rId4"/>
          <a:srcRect t="13493"/>
          <a:stretch>
            <a:fillRect/>
          </a:stretch>
        </p:blipFill>
        <p:spPr>
          <a:xfrm>
            <a:off x="11055706" y="3681532"/>
            <a:ext cx="1599573" cy="785578"/>
          </a:xfrm>
          <a:prstGeom prst="rect">
            <a:avLst/>
          </a:prstGeom>
        </p:spPr>
      </p:pic>
      <p:pic>
        <p:nvPicPr>
          <p:cNvPr id="29" name="Picture 28" descr="A number and symbol on a white background&#10;&#10;AI-generated content may be incorrect.">
            <a:extLst>
              <a:ext uri="{FF2B5EF4-FFF2-40B4-BE49-F238E27FC236}">
                <a16:creationId xmlns:a16="http://schemas.microsoft.com/office/drawing/2014/main" id="{6103CD0C-0D68-41EA-90DD-9C2E93487EF9}"/>
              </a:ext>
            </a:extLst>
          </p:cNvPr>
          <p:cNvPicPr>
            <a:picLocks noChangeAspect="1"/>
          </p:cNvPicPr>
          <p:nvPr/>
        </p:nvPicPr>
        <p:blipFill>
          <a:blip r:embed="rId5"/>
          <a:srcRect t="13764" b="10197"/>
          <a:stretch>
            <a:fillRect/>
          </a:stretch>
        </p:blipFill>
        <p:spPr>
          <a:xfrm>
            <a:off x="9468662" y="5013096"/>
            <a:ext cx="5458706" cy="769461"/>
          </a:xfrm>
          <a:prstGeom prst="rect">
            <a:avLst/>
          </a:prstGeom>
        </p:spPr>
      </p:pic>
      <p:sp>
        <p:nvSpPr>
          <p:cNvPr id="30" name="TextBox 29">
            <a:extLst>
              <a:ext uri="{FF2B5EF4-FFF2-40B4-BE49-F238E27FC236}">
                <a16:creationId xmlns:a16="http://schemas.microsoft.com/office/drawing/2014/main" id="{FF7EE7B7-6F80-470A-BB13-BC240756EFE3}"/>
              </a:ext>
            </a:extLst>
          </p:cNvPr>
          <p:cNvSpPr txBox="1"/>
          <p:nvPr/>
        </p:nvSpPr>
        <p:spPr>
          <a:xfrm>
            <a:off x="9468662" y="6146548"/>
            <a:ext cx="5670441" cy="369332"/>
          </a:xfrm>
          <a:prstGeom prst="rect">
            <a:avLst/>
          </a:prstGeom>
          <a:noFill/>
        </p:spPr>
        <p:txBody>
          <a:bodyPr wrap="square" rtlCol="0">
            <a:spAutoFit/>
          </a:bodyPr>
          <a:lstStyle/>
          <a:p>
            <a:pPr algn="l"/>
            <a:r>
              <a:rPr lang="en-US" dirty="0">
                <a:solidFill>
                  <a:srgbClr val="667982"/>
                </a:solidFill>
                <a:latin typeface="Arial" panose="020B0604020202020204" pitchFamily="34" charset="0"/>
                <a:cs typeface="Arial" panose="020B0604020202020204" pitchFamily="34" charset="0"/>
              </a:rPr>
              <a:t>But to be sensitive enough to detect GWs, we need</a:t>
            </a:r>
            <a:endParaRPr lang="et-EE" dirty="0">
              <a:solidFill>
                <a:srgbClr val="667982"/>
              </a:solidFill>
              <a:latin typeface="Arial" panose="020B0604020202020204" pitchFamily="34" charset="0"/>
              <a:cs typeface="Arial" panose="020B0604020202020204" pitchFamily="34" charset="0"/>
            </a:endParaRPr>
          </a:p>
        </p:txBody>
      </p:sp>
      <p:pic>
        <p:nvPicPr>
          <p:cNvPr id="31" name="Picture 30" descr="A close up of a number&#10;&#10;AI-generated content may be incorrect.">
            <a:extLst>
              <a:ext uri="{FF2B5EF4-FFF2-40B4-BE49-F238E27FC236}">
                <a16:creationId xmlns:a16="http://schemas.microsoft.com/office/drawing/2014/main" id="{ECACF098-2246-414E-8665-D31AE4E5C763}"/>
              </a:ext>
            </a:extLst>
          </p:cNvPr>
          <p:cNvPicPr>
            <a:picLocks noChangeAspect="1"/>
          </p:cNvPicPr>
          <p:nvPr/>
        </p:nvPicPr>
        <p:blipFill>
          <a:blip r:embed="rId6"/>
          <a:stretch>
            <a:fillRect/>
          </a:stretch>
        </p:blipFill>
        <p:spPr>
          <a:xfrm>
            <a:off x="10131336" y="6509559"/>
            <a:ext cx="3993226" cy="510584"/>
          </a:xfrm>
          <a:prstGeom prst="rect">
            <a:avLst/>
          </a:prstGeom>
        </p:spPr>
      </p:pic>
      <p:sp>
        <p:nvSpPr>
          <p:cNvPr id="3" name="CustomFooter">
            <a:extLst>
              <a:ext uri="{FF2B5EF4-FFF2-40B4-BE49-F238E27FC236}">
                <a16:creationId xmlns:a16="http://schemas.microsoft.com/office/drawing/2014/main" id="{19872790-D3F4-4DD3-A69A-82BFEAE84EC5}"/>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06 / 43</a:t>
            </a:r>
            <a:endParaRPr lang="LID4096" sz="1000" spc="100">
              <a:solidFill>
                <a:srgbClr val="A6A6A6"/>
              </a:solidFill>
              <a:latin typeface="Helvetica Neue45 Light"/>
            </a:endParaRPr>
          </a:p>
        </p:txBody>
      </p:sp>
      <p:sp>
        <p:nvSpPr>
          <p:cNvPr id="4" name="TACMeeting">
            <a:extLst>
              <a:ext uri="{FF2B5EF4-FFF2-40B4-BE49-F238E27FC236}">
                <a16:creationId xmlns:a16="http://schemas.microsoft.com/office/drawing/2014/main" id="{0207E58E-933F-434A-8928-C936020D4966}"/>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8329311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a:xfrm>
            <a:off x="647700" y="1270000"/>
            <a:ext cx="15773400" cy="7874000"/>
          </a:xfrm>
        </p:spPr>
        <p:txBody>
          <a:bodyPr anchor="ctr"/>
          <a:lstStyle/>
          <a:p>
            <a:pPr algn="l">
              <a:lnSpc>
                <a:spcPct val="100000"/>
              </a:lnSpc>
              <a:spcBef>
                <a:spcPts val="600"/>
              </a:spcBef>
              <a:spcAft>
                <a:spcPts val="600"/>
              </a:spcAft>
              <a:buNone/>
            </a:pPr>
            <a:r>
              <a:rPr lang="en-US" sz="2800" dirty="0">
                <a:solidFill>
                  <a:srgbClr val="7F7F7F"/>
                </a:solidFill>
              </a:rPr>
              <a:t>Context</a:t>
            </a:r>
          </a:p>
          <a:p>
            <a:pPr algn="l">
              <a:lnSpc>
                <a:spcPct val="100000"/>
              </a:lnSpc>
              <a:spcBef>
                <a:spcPts val="1400"/>
              </a:spcBef>
              <a:spcAft>
                <a:spcPts val="1400"/>
              </a:spcAft>
              <a:buNone/>
            </a:pPr>
            <a:r>
              <a:rPr lang="en-US" sz="5400" b="1" dirty="0"/>
              <a:t>Overview of the LISA IDS</a:t>
            </a:r>
          </a:p>
          <a:p>
            <a:pPr algn="l">
              <a:lnSpc>
                <a:spcPct val="100000"/>
              </a:lnSpc>
              <a:spcBef>
                <a:spcPts val="600"/>
              </a:spcBef>
              <a:spcAft>
                <a:spcPts val="600"/>
              </a:spcAft>
              <a:buNone/>
            </a:pPr>
            <a:r>
              <a:rPr lang="en-US" sz="2800" dirty="0">
                <a:solidFill>
                  <a:srgbClr val="7F7F7F"/>
                </a:solidFill>
              </a:rPr>
              <a:t>Testbed Concept</a:t>
            </a:r>
          </a:p>
          <a:p>
            <a:pPr algn="l">
              <a:lnSpc>
                <a:spcPct val="100000"/>
              </a:lnSpc>
              <a:spcBef>
                <a:spcPts val="600"/>
              </a:spcBef>
              <a:spcAft>
                <a:spcPts val="600"/>
              </a:spcAft>
              <a:buNone/>
            </a:pPr>
            <a:r>
              <a:rPr lang="en-US" sz="2800" dirty="0">
                <a:solidFill>
                  <a:srgbClr val="7F7F7F"/>
                </a:solidFill>
              </a:rPr>
              <a:t>TDI and laser noise: status</a:t>
            </a:r>
          </a:p>
          <a:p>
            <a:pPr algn="l">
              <a:lnSpc>
                <a:spcPct val="100000"/>
              </a:lnSpc>
              <a:spcBef>
                <a:spcPts val="600"/>
              </a:spcBef>
              <a:spcAft>
                <a:spcPts val="600"/>
              </a:spcAft>
              <a:buNone/>
            </a:pPr>
            <a:r>
              <a:rPr lang="en-US" sz="2800" dirty="0">
                <a:solidFill>
                  <a:srgbClr val="7F7F7F"/>
                </a:solidFill>
              </a:rPr>
              <a:t>clock noise: status</a:t>
            </a:r>
          </a:p>
          <a:p>
            <a:pPr algn="l">
              <a:lnSpc>
                <a:spcPct val="100000"/>
              </a:lnSpc>
              <a:spcBef>
                <a:spcPts val="600"/>
              </a:spcBef>
              <a:spcAft>
                <a:spcPts val="600"/>
              </a:spcAft>
              <a:buNone/>
            </a:pPr>
            <a:r>
              <a:rPr lang="en-US" sz="2800" dirty="0">
                <a:solidFill>
                  <a:srgbClr val="7F7F7F"/>
                </a:solidFill>
              </a:rPr>
              <a:t>Next Steps</a:t>
            </a:r>
          </a:p>
          <a:p>
            <a:pPr algn="l">
              <a:lnSpc>
                <a:spcPct val="100000"/>
              </a:lnSpc>
              <a:spcBef>
                <a:spcPts val="600"/>
              </a:spcBef>
              <a:spcAft>
                <a:spcPts val="600"/>
              </a:spcAft>
              <a:buNone/>
            </a:pPr>
            <a:r>
              <a:rPr lang="en-US" sz="2800" dirty="0">
                <a:solidFill>
                  <a:srgbClr val="7F7F7F"/>
                </a:solidFill>
              </a:rPr>
              <a:t>Conclusion</a:t>
            </a:r>
          </a:p>
        </p:txBody>
      </p:sp>
      <p:sp>
        <p:nvSpPr>
          <p:cNvPr id="2" name="CustomFooter">
            <a:extLst>
              <a:ext uri="{FF2B5EF4-FFF2-40B4-BE49-F238E27FC236}">
                <a16:creationId xmlns:a16="http://schemas.microsoft.com/office/drawing/2014/main" id="{60FB61F9-EDC4-4516-B078-C9A77A9A654E}"/>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07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C5018AFE-33E0-4F74-9C33-37E4F0D0607C}"/>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821014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6" name="Text Placeholder 15">
            <a:extLst>
              <a:ext uri="{FF2B5EF4-FFF2-40B4-BE49-F238E27FC236}">
                <a16:creationId xmlns:a16="http://schemas.microsoft.com/office/drawing/2014/main" id="{F7BC1141-6B9C-45C8-8E6E-08526BA21499}"/>
              </a:ext>
            </a:extLst>
          </p:cNvPr>
          <p:cNvSpPr>
            <a:spLocks noGrp="1"/>
          </p:cNvSpPr>
          <p:nvPr>
            <p:ph type="body" sz="quarter" idx="11"/>
          </p:nvPr>
        </p:nvSpPr>
        <p:spPr/>
        <p:txBody>
          <a:bodyPr/>
          <a:lstStyle/>
          <a:p>
            <a:r>
              <a:rPr lang="en-US" sz="1200" dirty="0"/>
              <a:t>OVERVIEW OF THE LISA IDS</a:t>
            </a:r>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p:txBody>
          <a:bodyPr/>
          <a:lstStyle/>
          <a:p>
            <a:r>
              <a:rPr lang="en-US" dirty="0"/>
              <a:t>LISA Interferometers overview</a:t>
            </a:r>
            <a:endParaRPr lang="LID4096" dirty="0"/>
          </a:p>
        </p:txBody>
      </p:sp>
      <p:sp>
        <p:nvSpPr>
          <p:cNvPr id="2" name="Text Placeholder 1">
            <a:extLst>
              <a:ext uri="{FF2B5EF4-FFF2-40B4-BE49-F238E27FC236}">
                <a16:creationId xmlns:a16="http://schemas.microsoft.com/office/drawing/2014/main" id="{DD074695-EE41-4C9A-8349-68EF401547B1}"/>
              </a:ext>
            </a:extLst>
          </p:cNvPr>
          <p:cNvSpPr>
            <a:spLocks noGrp="1"/>
          </p:cNvSpPr>
          <p:nvPr>
            <p:ph type="body" sz="quarter" idx="12"/>
          </p:nvPr>
        </p:nvSpPr>
        <p:spPr/>
        <p:txBody>
          <a:bodyPr/>
          <a:lstStyle/>
          <a:p>
            <a:endParaRPr lang="LID4096"/>
          </a:p>
        </p:txBody>
      </p:sp>
      <p:pic>
        <p:nvPicPr>
          <p:cNvPr id="10" name="Picture 9">
            <a:extLst>
              <a:ext uri="{FF2B5EF4-FFF2-40B4-BE49-F238E27FC236}">
                <a16:creationId xmlns:a16="http://schemas.microsoft.com/office/drawing/2014/main" id="{2CE710CB-237A-4B32-946D-2BA0D0CE01A4}"/>
              </a:ext>
            </a:extLst>
          </p:cNvPr>
          <p:cNvPicPr>
            <a:picLocks noChangeAspect="1"/>
          </p:cNvPicPr>
          <p:nvPr/>
        </p:nvPicPr>
        <p:blipFill>
          <a:blip r:embed="rId3"/>
          <a:stretch>
            <a:fillRect/>
          </a:stretch>
        </p:blipFill>
        <p:spPr>
          <a:xfrm>
            <a:off x="2515303" y="2662423"/>
            <a:ext cx="6762002" cy="4962154"/>
          </a:xfrm>
          <a:prstGeom prst="rect">
            <a:avLst/>
          </a:prstGeom>
        </p:spPr>
      </p:pic>
      <p:sp>
        <p:nvSpPr>
          <p:cNvPr id="3" name="CustomFooter">
            <a:extLst>
              <a:ext uri="{FF2B5EF4-FFF2-40B4-BE49-F238E27FC236}">
                <a16:creationId xmlns:a16="http://schemas.microsoft.com/office/drawing/2014/main" id="{597D89C3-D34A-47BA-A7C4-3D9667F45F56}"/>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08 / 43</a:t>
            </a:r>
            <a:endParaRPr lang="LID4096" sz="1000" spc="100">
              <a:solidFill>
                <a:srgbClr val="A6A6A6"/>
              </a:solidFill>
              <a:latin typeface="Helvetica Neue45 Light"/>
            </a:endParaRPr>
          </a:p>
        </p:txBody>
      </p:sp>
      <p:sp>
        <p:nvSpPr>
          <p:cNvPr id="4" name="TACMeeting">
            <a:extLst>
              <a:ext uri="{FF2B5EF4-FFF2-40B4-BE49-F238E27FC236}">
                <a16:creationId xmlns:a16="http://schemas.microsoft.com/office/drawing/2014/main" id="{DCAC314A-938B-42E9-8A86-9306749C289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35093738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l="-1" r="-1" b="6895"/>
          <a:stretch>
            <a:fillRect/>
          </a:stretch>
        </p:blipFill>
        <p:spPr>
          <a:xfrm>
            <a:off x="1918689" y="2394642"/>
            <a:ext cx="14450467" cy="3756543"/>
          </a:xfrm>
          <a:prstGeom prst="rect">
            <a:avLst/>
          </a:prstGeom>
        </p:spPr>
      </p:pic>
      <p:sp>
        <p:nvSpPr>
          <p:cNvPr id="8" name="Shape 4"/>
          <p:cNvSpPr/>
          <p:nvPr/>
        </p:nvSpPr>
        <p:spPr>
          <a:xfrm>
            <a:off x="876300" y="9505950"/>
            <a:ext cx="16535400" cy="9525"/>
          </a:xfrm>
          <a:prstGeom prst="rect">
            <a:avLst/>
          </a:prstGeom>
          <a:solidFill>
            <a:srgbClr val="ECECEC"/>
          </a:solidFill>
          <a:ln/>
        </p:spPr>
        <p:txBody>
          <a:bodyPr/>
          <a:lstStyle/>
          <a:p>
            <a:endParaRPr lang="en-US"/>
          </a:p>
        </p:txBody>
      </p:sp>
      <p:pic>
        <p:nvPicPr>
          <p:cNvPr id="20" name="Graphic 19">
            <a:extLst>
              <a:ext uri="{FF2B5EF4-FFF2-40B4-BE49-F238E27FC236}">
                <a16:creationId xmlns:a16="http://schemas.microsoft.com/office/drawing/2014/main" id="{8E5F7403-794F-42E0-8015-A5ADD919C88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10659" y="6703635"/>
            <a:ext cx="7466529" cy="1341293"/>
          </a:xfrm>
          <a:prstGeom prst="rect">
            <a:avLst/>
          </a:prstGeom>
        </p:spPr>
      </p:pic>
      <p:sp>
        <p:nvSpPr>
          <p:cNvPr id="56" name="Text Placeholder 55">
            <a:extLst>
              <a:ext uri="{FF2B5EF4-FFF2-40B4-BE49-F238E27FC236}">
                <a16:creationId xmlns:a16="http://schemas.microsoft.com/office/drawing/2014/main" id="{C0F9676C-1385-4B7A-A1A9-953695B2F26E}"/>
              </a:ext>
            </a:extLst>
          </p:cNvPr>
          <p:cNvSpPr>
            <a:spLocks noGrp="1"/>
          </p:cNvSpPr>
          <p:nvPr>
            <p:ph type="body" sz="quarter" idx="11"/>
          </p:nvPr>
        </p:nvSpPr>
        <p:spPr/>
        <p:txBody>
          <a:bodyPr/>
          <a:lstStyle/>
          <a:p>
            <a:r>
              <a:rPr lang="en-US" sz="1200" dirty="0"/>
              <a:t>OVERVIEW OF THE LISA IDS</a:t>
            </a:r>
          </a:p>
          <a:p>
            <a:endParaRPr lang="LID4096" dirty="0"/>
          </a:p>
        </p:txBody>
      </p:sp>
      <p:sp>
        <p:nvSpPr>
          <p:cNvPr id="55" name="Title 54">
            <a:extLst>
              <a:ext uri="{FF2B5EF4-FFF2-40B4-BE49-F238E27FC236}">
                <a16:creationId xmlns:a16="http://schemas.microsoft.com/office/drawing/2014/main" id="{CB431737-C402-4561-86A9-B0EC645527A9}"/>
              </a:ext>
            </a:extLst>
          </p:cNvPr>
          <p:cNvSpPr>
            <a:spLocks noGrp="1"/>
          </p:cNvSpPr>
          <p:nvPr>
            <p:ph type="title"/>
          </p:nvPr>
        </p:nvSpPr>
        <p:spPr/>
        <p:txBody>
          <a:bodyPr/>
          <a:lstStyle/>
          <a:p>
            <a:r>
              <a:rPr lang="en-US" dirty="0"/>
              <a:t>LISA Science Interferometer</a:t>
            </a:r>
            <a:endParaRPr lang="LID4096" dirty="0"/>
          </a:p>
        </p:txBody>
      </p:sp>
      <p:sp>
        <p:nvSpPr>
          <p:cNvPr id="2" name="Text Placeholder 1">
            <a:extLst>
              <a:ext uri="{FF2B5EF4-FFF2-40B4-BE49-F238E27FC236}">
                <a16:creationId xmlns:a16="http://schemas.microsoft.com/office/drawing/2014/main" id="{B7B88692-A765-49A4-95D0-39972D70417C}"/>
              </a:ext>
            </a:extLst>
          </p:cNvPr>
          <p:cNvSpPr>
            <a:spLocks noGrp="1"/>
          </p:cNvSpPr>
          <p:nvPr>
            <p:ph type="body" sz="quarter" idx="12"/>
          </p:nvPr>
        </p:nvSpPr>
        <p:spPr/>
        <p:txBody>
          <a:bodyPr/>
          <a:lstStyle/>
          <a:p>
            <a:endParaRPr lang="LID4096"/>
          </a:p>
        </p:txBody>
      </p:sp>
      <p:sp>
        <p:nvSpPr>
          <p:cNvPr id="63" name="Text 4">
            <a:extLst>
              <a:ext uri="{FF2B5EF4-FFF2-40B4-BE49-F238E27FC236}">
                <a16:creationId xmlns:a16="http://schemas.microsoft.com/office/drawing/2014/main" id="{545C622C-A4CC-41A5-AA38-02AFC2164978}"/>
              </a:ext>
            </a:extLst>
          </p:cNvPr>
          <p:cNvSpPr/>
          <p:nvPr/>
        </p:nvSpPr>
        <p:spPr>
          <a:xfrm>
            <a:off x="3573473" y="8102078"/>
            <a:ext cx="6035040" cy="285750"/>
          </a:xfrm>
          <a:prstGeom prst="rect">
            <a:avLst/>
          </a:prstGeom>
          <a:noFill/>
          <a:ln/>
        </p:spPr>
        <p:txBody>
          <a:bodyPr wrap="square" lIns="25400" tIns="25400" rIns="25400" bIns="25400" rtlCol="0" anchor="t">
            <a:noAutofit/>
          </a:bodyPr>
          <a:lstStyle/>
          <a:p>
            <a:pPr marL="0" indent="0" algn="ctr">
              <a:buNone/>
            </a:pPr>
            <a:r>
              <a:rPr lang="en-US" sz="2000" dirty="0">
                <a:highlight>
                  <a:srgbClr val="FF00FF"/>
                </a:highlight>
              </a:rPr>
              <a:t>This is in phase units. Signal has been demodulated</a:t>
            </a:r>
          </a:p>
        </p:txBody>
      </p:sp>
      <p:sp>
        <p:nvSpPr>
          <p:cNvPr id="3" name="CustomFooter">
            <a:extLst>
              <a:ext uri="{FF2B5EF4-FFF2-40B4-BE49-F238E27FC236}">
                <a16:creationId xmlns:a16="http://schemas.microsoft.com/office/drawing/2014/main" id="{5BA66700-30F4-40F6-8EC3-6AFCEA31532B}"/>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09 / 43</a:t>
            </a:r>
            <a:endParaRPr lang="LID4096" sz="1000" spc="100">
              <a:solidFill>
                <a:srgbClr val="A6A6A6"/>
              </a:solidFill>
              <a:latin typeface="Helvetica Neue45 Light"/>
            </a:endParaRPr>
          </a:p>
        </p:txBody>
      </p:sp>
      <p:sp>
        <p:nvSpPr>
          <p:cNvPr id="5" name="TACMeeting">
            <a:extLst>
              <a:ext uri="{FF2B5EF4-FFF2-40B4-BE49-F238E27FC236}">
                <a16:creationId xmlns:a16="http://schemas.microsoft.com/office/drawing/2014/main" id="{8213EFBB-CD6F-4236-B2FC-598286A0E790}"/>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749293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diagram of a letter v&#10;&#10;AI-generated content may be incorrect.">
            <a:extLst>
              <a:ext uri="{FF2B5EF4-FFF2-40B4-BE49-F238E27FC236}">
                <a16:creationId xmlns:a16="http://schemas.microsoft.com/office/drawing/2014/main" id="{C093562B-1CF1-40B2-A9BA-D65BBBAF4919}"/>
              </a:ext>
            </a:extLst>
          </p:cNvPr>
          <p:cNvPicPr>
            <a:picLocks noChangeAspect="1"/>
          </p:cNvPicPr>
          <p:nvPr/>
        </p:nvPicPr>
        <p:blipFill>
          <a:blip r:embed="rId3"/>
          <a:stretch>
            <a:fillRect/>
          </a:stretch>
        </p:blipFill>
        <p:spPr>
          <a:xfrm>
            <a:off x="9851672" y="4957994"/>
            <a:ext cx="4493464" cy="3589625"/>
          </a:xfrm>
          <a:prstGeom prst="rect">
            <a:avLst/>
          </a:prstGeom>
        </p:spPr>
      </p:pic>
      <p:pic>
        <p:nvPicPr>
          <p:cNvPr id="15" name="Content Placeholder 12" descr="A diagram of a diagram of a diagram&#10;&#10;AI-generated content may be incorrect.">
            <a:extLst>
              <a:ext uri="{FF2B5EF4-FFF2-40B4-BE49-F238E27FC236}">
                <a16:creationId xmlns:a16="http://schemas.microsoft.com/office/drawing/2014/main" id="{B494FCD9-14BA-4233-9EFA-1379986DFCFE}"/>
              </a:ext>
            </a:extLst>
          </p:cNvPr>
          <p:cNvPicPr>
            <a:picLocks noChangeAspect="1"/>
          </p:cNvPicPr>
          <p:nvPr/>
        </p:nvPicPr>
        <p:blipFill>
          <a:blip r:embed="rId4"/>
          <a:stretch>
            <a:fillRect/>
          </a:stretch>
        </p:blipFill>
        <p:spPr>
          <a:xfrm>
            <a:off x="5595856" y="6028844"/>
            <a:ext cx="3956352" cy="3015736"/>
          </a:xfrm>
          <a:prstGeom prst="rect">
            <a:avLst/>
          </a:prstGeom>
        </p:spPr>
      </p:pic>
      <p:pic>
        <p:nvPicPr>
          <p:cNvPr id="17" name="Picture 16" descr="A diagram of a computer network&#10;&#10;AI-generated content may be incorrect.">
            <a:extLst>
              <a:ext uri="{FF2B5EF4-FFF2-40B4-BE49-F238E27FC236}">
                <a16:creationId xmlns:a16="http://schemas.microsoft.com/office/drawing/2014/main" id="{7C60DFC4-4945-4BB4-A33D-CBCFFEB9599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10269" y="1778748"/>
            <a:ext cx="6264411" cy="3420956"/>
          </a:xfrm>
          <a:prstGeom prst="rect">
            <a:avLst/>
          </a:prstGeom>
        </p:spPr>
      </p:pic>
      <p:pic>
        <p:nvPicPr>
          <p:cNvPr id="19" name="Picture 18" descr="A diagram of a computer system&#10;&#10;AI-generated content may be incorrect.">
            <a:extLst>
              <a:ext uri="{FF2B5EF4-FFF2-40B4-BE49-F238E27FC236}">
                <a16:creationId xmlns:a16="http://schemas.microsoft.com/office/drawing/2014/main" id="{1902BA60-6640-4595-A99B-2D763F5ABC71}"/>
              </a:ext>
            </a:extLst>
          </p:cNvPr>
          <p:cNvPicPr>
            <a:picLocks noChangeAspect="1"/>
          </p:cNvPicPr>
          <p:nvPr/>
        </p:nvPicPr>
        <p:blipFill>
          <a:blip r:embed="rId6">
            <a:extLst>
              <a:ext uri="{28A0092B-C50C-407E-A947-70E740481C1C}">
                <a14:useLocalDpi xmlns:a14="http://schemas.microsoft.com/office/drawing/2010/main" val="0"/>
              </a:ext>
            </a:extLst>
          </a:blip>
          <a:srcRect r="7999"/>
          <a:stretch/>
        </p:blipFill>
        <p:spPr>
          <a:xfrm>
            <a:off x="1020692" y="2541010"/>
            <a:ext cx="5192509" cy="2838464"/>
          </a:xfrm>
          <a:prstGeom prst="rect">
            <a:avLst/>
          </a:prstGeom>
        </p:spPr>
      </p:pic>
      <p:sp>
        <p:nvSpPr>
          <p:cNvPr id="10" name="Text Placeholder 55">
            <a:extLst>
              <a:ext uri="{FF2B5EF4-FFF2-40B4-BE49-F238E27FC236}">
                <a16:creationId xmlns:a16="http://schemas.microsoft.com/office/drawing/2014/main" id="{02B4DAF9-CC3B-46F9-9BBB-07C6FC52F8EC}"/>
              </a:ext>
            </a:extLst>
          </p:cNvPr>
          <p:cNvSpPr>
            <a:spLocks noGrp="1"/>
          </p:cNvSpPr>
          <p:nvPr>
            <p:ph type="body" sz="quarter" idx="11"/>
          </p:nvPr>
        </p:nvSpPr>
        <p:spPr/>
        <p:txBody>
          <a:bodyPr/>
          <a:lstStyle/>
          <a:p>
            <a:r>
              <a:rPr lang="en-US" sz="1200" dirty="0"/>
              <a:t>OVERVIEW OF THE LISA IDS</a:t>
            </a:r>
          </a:p>
          <a:p>
            <a:endParaRPr lang="LID4096" dirty="0"/>
          </a:p>
        </p:txBody>
      </p:sp>
      <p:sp>
        <p:nvSpPr>
          <p:cNvPr id="11" name="Title 54">
            <a:extLst>
              <a:ext uri="{FF2B5EF4-FFF2-40B4-BE49-F238E27FC236}">
                <a16:creationId xmlns:a16="http://schemas.microsoft.com/office/drawing/2014/main" id="{282E2051-15A4-429F-856D-68170DDD20DE}"/>
              </a:ext>
            </a:extLst>
          </p:cNvPr>
          <p:cNvSpPr>
            <a:spLocks noGrp="1"/>
          </p:cNvSpPr>
          <p:nvPr>
            <p:ph type="title"/>
          </p:nvPr>
        </p:nvSpPr>
        <p:spPr/>
        <p:txBody>
          <a:bodyPr/>
          <a:lstStyle/>
          <a:p>
            <a:r>
              <a:rPr lang="en-US" dirty="0"/>
              <a:t>TDI and ranging</a:t>
            </a:r>
            <a:endParaRPr lang="LID4096" dirty="0"/>
          </a:p>
        </p:txBody>
      </p:sp>
      <p:sp>
        <p:nvSpPr>
          <p:cNvPr id="4" name="Text Placeholder 3">
            <a:extLst>
              <a:ext uri="{FF2B5EF4-FFF2-40B4-BE49-F238E27FC236}">
                <a16:creationId xmlns:a16="http://schemas.microsoft.com/office/drawing/2014/main" id="{79D560DF-1319-45E8-863A-6A789ED62B46}"/>
              </a:ext>
            </a:extLst>
          </p:cNvPr>
          <p:cNvSpPr>
            <a:spLocks noGrp="1"/>
          </p:cNvSpPr>
          <p:nvPr>
            <p:ph type="body" sz="quarter" idx="12"/>
          </p:nvPr>
        </p:nvSpPr>
        <p:spPr/>
        <p:txBody>
          <a:bodyPr/>
          <a:lstStyle/>
          <a:p>
            <a:endParaRPr lang="LID4096"/>
          </a:p>
        </p:txBody>
      </p:sp>
      <p:sp>
        <p:nvSpPr>
          <p:cNvPr id="5" name="CustomFooter">
            <a:extLst>
              <a:ext uri="{FF2B5EF4-FFF2-40B4-BE49-F238E27FC236}">
                <a16:creationId xmlns:a16="http://schemas.microsoft.com/office/drawing/2014/main" id="{18C7FB0E-5C93-42B4-89C9-B3AF94FFFC41}"/>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10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9E1B0790-CDBF-44AD-8E65-E401675B93B7}"/>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69923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55">
            <a:extLst>
              <a:ext uri="{FF2B5EF4-FFF2-40B4-BE49-F238E27FC236}">
                <a16:creationId xmlns:a16="http://schemas.microsoft.com/office/drawing/2014/main" id="{00B5E6E5-5418-4438-A788-1D92F33EA1D3}"/>
              </a:ext>
            </a:extLst>
          </p:cNvPr>
          <p:cNvSpPr>
            <a:spLocks noGrp="1"/>
          </p:cNvSpPr>
          <p:nvPr>
            <p:ph type="body" sz="quarter" idx="11"/>
          </p:nvPr>
        </p:nvSpPr>
        <p:spPr>
          <a:xfrm>
            <a:off x="649648" y="543041"/>
            <a:ext cx="8131175" cy="287800"/>
          </a:xfrm>
        </p:spPr>
        <p:txBody>
          <a:bodyPr/>
          <a:lstStyle/>
          <a:p>
            <a:r>
              <a:rPr lang="en-US" sz="1200" dirty="0"/>
              <a:t>OVERVIEW OF THE LISA IDS</a:t>
            </a:r>
          </a:p>
          <a:p>
            <a:endParaRPr lang="LID4096" dirty="0"/>
          </a:p>
        </p:txBody>
      </p:sp>
      <p:sp>
        <p:nvSpPr>
          <p:cNvPr id="11" name="Title 54">
            <a:extLst>
              <a:ext uri="{FF2B5EF4-FFF2-40B4-BE49-F238E27FC236}">
                <a16:creationId xmlns:a16="http://schemas.microsoft.com/office/drawing/2014/main" id="{8A2E058D-54EB-46EC-9490-B32767868F7F}"/>
              </a:ext>
            </a:extLst>
          </p:cNvPr>
          <p:cNvSpPr>
            <a:spLocks noGrp="1"/>
          </p:cNvSpPr>
          <p:nvPr>
            <p:ph type="title"/>
          </p:nvPr>
        </p:nvSpPr>
        <p:spPr>
          <a:xfrm>
            <a:off x="649648" y="796303"/>
            <a:ext cx="15773400" cy="548772"/>
          </a:xfrm>
        </p:spPr>
        <p:txBody>
          <a:bodyPr/>
          <a:lstStyle/>
          <a:p>
            <a:r>
              <a:rPr lang="en-US" dirty="0"/>
              <a:t>LISA benchmarks and requirements</a:t>
            </a:r>
            <a:endParaRPr lang="LID4096" dirty="0"/>
          </a:p>
        </p:txBody>
      </p:sp>
      <p:sp>
        <p:nvSpPr>
          <p:cNvPr id="5" name="CustomFooter">
            <a:extLst>
              <a:ext uri="{FF2B5EF4-FFF2-40B4-BE49-F238E27FC236}">
                <a16:creationId xmlns:a16="http://schemas.microsoft.com/office/drawing/2014/main" id="{589458C6-EC72-40C6-807C-4EEC911E30F7}"/>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11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0A6BFDCA-EC82-452B-AE3A-88D2F1DD6F43}"/>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1965420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a:xfrm>
            <a:off x="647700" y="1270000"/>
            <a:ext cx="15773400" cy="7874000"/>
          </a:xfrm>
        </p:spPr>
        <p:txBody>
          <a:bodyPr anchor="ctr"/>
          <a:lstStyle/>
          <a:p>
            <a:pPr algn="l">
              <a:lnSpc>
                <a:spcPct val="100000"/>
              </a:lnSpc>
              <a:spcBef>
                <a:spcPts val="600"/>
              </a:spcBef>
              <a:spcAft>
                <a:spcPts val="600"/>
              </a:spcAft>
              <a:buNone/>
            </a:pPr>
            <a:r>
              <a:rPr lang="en-US" sz="2800" dirty="0">
                <a:solidFill>
                  <a:srgbClr val="7F7F7F"/>
                </a:solidFill>
              </a:rPr>
              <a:t>Context</a:t>
            </a:r>
          </a:p>
          <a:p>
            <a:pPr algn="l">
              <a:lnSpc>
                <a:spcPct val="100000"/>
              </a:lnSpc>
              <a:spcBef>
                <a:spcPts val="600"/>
              </a:spcBef>
              <a:spcAft>
                <a:spcPts val="600"/>
              </a:spcAft>
              <a:buNone/>
            </a:pPr>
            <a:r>
              <a:rPr lang="en-US" sz="2800" dirty="0">
                <a:solidFill>
                  <a:srgbClr val="7F7F7F"/>
                </a:solidFill>
              </a:rPr>
              <a:t>Overview of the LISA IDS</a:t>
            </a:r>
          </a:p>
          <a:p>
            <a:pPr algn="l">
              <a:lnSpc>
                <a:spcPct val="100000"/>
              </a:lnSpc>
              <a:spcBef>
                <a:spcPts val="1400"/>
              </a:spcBef>
              <a:spcAft>
                <a:spcPts val="1400"/>
              </a:spcAft>
              <a:buNone/>
            </a:pPr>
            <a:r>
              <a:rPr lang="en-US" sz="5400" b="1" dirty="0"/>
              <a:t>Testbed Concept</a:t>
            </a:r>
          </a:p>
          <a:p>
            <a:pPr algn="l">
              <a:lnSpc>
                <a:spcPct val="100000"/>
              </a:lnSpc>
              <a:spcBef>
                <a:spcPts val="600"/>
              </a:spcBef>
              <a:spcAft>
                <a:spcPts val="600"/>
              </a:spcAft>
              <a:buNone/>
            </a:pPr>
            <a:r>
              <a:rPr lang="en-US" sz="2800" dirty="0">
                <a:solidFill>
                  <a:srgbClr val="7F7F7F"/>
                </a:solidFill>
              </a:rPr>
              <a:t>TDI and laser noise: status</a:t>
            </a:r>
          </a:p>
          <a:p>
            <a:pPr algn="l">
              <a:lnSpc>
                <a:spcPct val="100000"/>
              </a:lnSpc>
              <a:spcBef>
                <a:spcPts val="600"/>
              </a:spcBef>
              <a:spcAft>
                <a:spcPts val="600"/>
              </a:spcAft>
              <a:buNone/>
            </a:pPr>
            <a:r>
              <a:rPr lang="en-US" sz="2800" dirty="0">
                <a:solidFill>
                  <a:srgbClr val="7F7F7F"/>
                </a:solidFill>
              </a:rPr>
              <a:t>clock noise: status</a:t>
            </a:r>
          </a:p>
          <a:p>
            <a:pPr algn="l">
              <a:lnSpc>
                <a:spcPct val="100000"/>
              </a:lnSpc>
              <a:spcBef>
                <a:spcPts val="600"/>
              </a:spcBef>
              <a:spcAft>
                <a:spcPts val="600"/>
              </a:spcAft>
              <a:buNone/>
            </a:pPr>
            <a:r>
              <a:rPr lang="en-US" sz="2800" dirty="0">
                <a:solidFill>
                  <a:srgbClr val="7F7F7F"/>
                </a:solidFill>
              </a:rPr>
              <a:t>Next Steps</a:t>
            </a:r>
          </a:p>
          <a:p>
            <a:pPr algn="l">
              <a:lnSpc>
                <a:spcPct val="100000"/>
              </a:lnSpc>
              <a:spcBef>
                <a:spcPts val="600"/>
              </a:spcBef>
              <a:spcAft>
                <a:spcPts val="600"/>
              </a:spcAft>
              <a:buNone/>
            </a:pPr>
            <a:r>
              <a:rPr lang="en-US" sz="2800" dirty="0">
                <a:solidFill>
                  <a:srgbClr val="7F7F7F"/>
                </a:solidFill>
              </a:rPr>
              <a:t>Conclusion</a:t>
            </a:r>
          </a:p>
        </p:txBody>
      </p:sp>
      <p:sp>
        <p:nvSpPr>
          <p:cNvPr id="2" name="CustomFooter">
            <a:extLst>
              <a:ext uri="{FF2B5EF4-FFF2-40B4-BE49-F238E27FC236}">
                <a16:creationId xmlns:a16="http://schemas.microsoft.com/office/drawing/2014/main" id="{F7B27D62-BCA3-46EB-94E5-D6494EEEFD61}"/>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12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0EA53900-A275-4D08-B3CB-7C904260EB7B}"/>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6135786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Text 2"/>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6" name="Text 3"/>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7" name="Text 4"/>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8" name="Text 5"/>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58" name="Text Placeholder 57">
            <a:extLst>
              <a:ext uri="{FF2B5EF4-FFF2-40B4-BE49-F238E27FC236}">
                <a16:creationId xmlns:a16="http://schemas.microsoft.com/office/drawing/2014/main" id="{0786E8D5-881F-4543-BE11-072DDFA524E9}"/>
              </a:ext>
            </a:extLst>
          </p:cNvPr>
          <p:cNvSpPr>
            <a:spLocks noGrp="1"/>
          </p:cNvSpPr>
          <p:nvPr>
            <p:ph type="body" sz="quarter" idx="11"/>
          </p:nvPr>
        </p:nvSpPr>
        <p:spPr/>
        <p:txBody>
          <a:bodyPr/>
          <a:lstStyle/>
          <a:p>
            <a:r>
              <a:rPr lang="en-US" dirty="0"/>
              <a:t>TESTBED CONCEPT</a:t>
            </a:r>
          </a:p>
        </p:txBody>
      </p:sp>
      <p:sp>
        <p:nvSpPr>
          <p:cNvPr id="57" name="Title 56">
            <a:extLst>
              <a:ext uri="{FF2B5EF4-FFF2-40B4-BE49-F238E27FC236}">
                <a16:creationId xmlns:a16="http://schemas.microsoft.com/office/drawing/2014/main" id="{2B7E610A-089B-4A60-8CC6-3FAD9C43115F}"/>
              </a:ext>
            </a:extLst>
          </p:cNvPr>
          <p:cNvSpPr>
            <a:spLocks noGrp="1"/>
          </p:cNvSpPr>
          <p:nvPr>
            <p:ph type="title"/>
          </p:nvPr>
        </p:nvSpPr>
        <p:spPr/>
        <p:txBody>
          <a:bodyPr/>
          <a:lstStyle/>
          <a:p>
            <a:r>
              <a:rPr lang="en-US" dirty="0"/>
              <a:t>How to got the same coupling</a:t>
            </a:r>
            <a:endParaRPr lang="LID4096" dirty="0"/>
          </a:p>
        </p:txBody>
      </p:sp>
      <p:sp>
        <p:nvSpPr>
          <p:cNvPr id="2" name="CustomFooter">
            <a:extLst>
              <a:ext uri="{FF2B5EF4-FFF2-40B4-BE49-F238E27FC236}">
                <a16:creationId xmlns:a16="http://schemas.microsoft.com/office/drawing/2014/main" id="{C70A9A82-58B0-44A5-BDB5-E2C3A66C65A6}"/>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13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208C645A-D2E9-47EE-801E-8E34B1BCB066}"/>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40" b="-40"/>
          <a:stretch/>
        </p:blipFill>
        <p:spPr>
          <a:xfrm>
            <a:off x="3163788" y="1735136"/>
            <a:ext cx="12911286" cy="7766596"/>
          </a:xfrm>
          <a:prstGeom prst="rect">
            <a:avLst/>
          </a:prstGeom>
        </p:spPr>
      </p:pic>
      <p:sp>
        <p:nvSpPr>
          <p:cNvPr id="5" name="Shape 2"/>
          <p:cNvSpPr/>
          <p:nvPr/>
        </p:nvSpPr>
        <p:spPr>
          <a:xfrm>
            <a:off x="6931075" y="5761256"/>
            <a:ext cx="1737271" cy="843409"/>
          </a:xfrm>
          <a:prstGeom prst="roundRect">
            <a:avLst>
              <a:gd name="adj" fmla="val 2259"/>
            </a:avLst>
          </a:prstGeom>
          <a:ln w="50800">
            <a:solidFill>
              <a:srgbClr val="C00000"/>
            </a:solidFill>
            <a:prstDash val="solid"/>
          </a:ln>
        </p:spPr>
        <p:txBody>
          <a:bodyPr/>
          <a:lstStyle/>
          <a:p>
            <a:endParaRPr lang="en-US"/>
          </a:p>
        </p:txBody>
      </p:sp>
      <p:sp>
        <p:nvSpPr>
          <p:cNvPr id="6" name="Shape 3"/>
          <p:cNvSpPr/>
          <p:nvPr/>
        </p:nvSpPr>
        <p:spPr>
          <a:xfrm>
            <a:off x="11159292" y="7381292"/>
            <a:ext cx="1865263" cy="843409"/>
          </a:xfrm>
          <a:prstGeom prst="roundRect">
            <a:avLst>
              <a:gd name="adj" fmla="val 2259"/>
            </a:avLst>
          </a:prstGeom>
          <a:ln w="50800">
            <a:solidFill>
              <a:srgbClr val="C00000"/>
            </a:solidFill>
            <a:prstDash val="solid"/>
          </a:ln>
        </p:spPr>
        <p:txBody>
          <a:bodyPr/>
          <a:lstStyle/>
          <a:p>
            <a:endParaRPr lang="en-US"/>
          </a:p>
        </p:txBody>
      </p:sp>
      <p:sp>
        <p:nvSpPr>
          <p:cNvPr id="7" name="Text 4"/>
          <p:cNvSpPr/>
          <p:nvPr/>
        </p:nvSpPr>
        <p:spPr>
          <a:xfrm>
            <a:off x="5772501" y="5334022"/>
            <a:ext cx="6035040" cy="285750"/>
          </a:xfrm>
          <a:prstGeom prst="rect">
            <a:avLst/>
          </a:prstGeom>
          <a:noFill/>
          <a:ln/>
        </p:spPr>
        <p:txBody>
          <a:bodyPr wrap="square" lIns="25400" tIns="25400" rIns="25400" bIns="25400" rtlCol="0" anchor="t">
            <a:noAutofit/>
          </a:bodyPr>
          <a:lstStyle/>
          <a:p>
            <a:pPr marL="0" indent="0" algn="ctr">
              <a:buNone/>
            </a:pPr>
            <a:r>
              <a:rPr lang="en-US" sz="2000" dirty="0">
                <a:highlight>
                  <a:srgbClr val="FF00FF"/>
                </a:highlight>
              </a:rPr>
              <a:t>Write out the terms</a:t>
            </a:r>
          </a:p>
        </p:txBody>
      </p:sp>
      <p:sp>
        <p:nvSpPr>
          <p:cNvPr id="8" name="Text 5"/>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9" name="Text 6"/>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0" name="Text 7"/>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1" name="Text 8"/>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5" name="Title 14">
            <a:extLst>
              <a:ext uri="{FF2B5EF4-FFF2-40B4-BE49-F238E27FC236}">
                <a16:creationId xmlns:a16="http://schemas.microsoft.com/office/drawing/2014/main" id="{867A6D6E-95D5-453E-9E39-38E85747E68A}"/>
              </a:ext>
            </a:extLst>
          </p:cNvPr>
          <p:cNvSpPr>
            <a:spLocks noGrp="1"/>
          </p:cNvSpPr>
          <p:nvPr>
            <p:ph type="title"/>
          </p:nvPr>
        </p:nvSpPr>
        <p:spPr/>
        <p:txBody>
          <a:bodyPr/>
          <a:lstStyle/>
          <a:p>
            <a:r>
              <a:rPr lang="en-US" dirty="0"/>
              <a:t>Testbed</a:t>
            </a:r>
            <a:endParaRPr lang="LID4096" dirty="0"/>
          </a:p>
        </p:txBody>
      </p:sp>
      <p:sp>
        <p:nvSpPr>
          <p:cNvPr id="17" name="Text Placeholder 16">
            <a:extLst>
              <a:ext uri="{FF2B5EF4-FFF2-40B4-BE49-F238E27FC236}">
                <a16:creationId xmlns:a16="http://schemas.microsoft.com/office/drawing/2014/main" id="{F55382C5-E284-42DE-839C-591E942F35B5}"/>
              </a:ext>
            </a:extLst>
          </p:cNvPr>
          <p:cNvSpPr>
            <a:spLocks noGrp="1"/>
          </p:cNvSpPr>
          <p:nvPr>
            <p:ph type="body" sz="quarter" idx="12"/>
          </p:nvPr>
        </p:nvSpPr>
        <p:spPr/>
        <p:txBody>
          <a:bodyPr/>
          <a:lstStyle/>
          <a:p>
            <a:endParaRPr lang="LID4096"/>
          </a:p>
        </p:txBody>
      </p:sp>
      <p:sp>
        <p:nvSpPr>
          <p:cNvPr id="20" name="Text Placeholder 55">
            <a:extLst>
              <a:ext uri="{FF2B5EF4-FFF2-40B4-BE49-F238E27FC236}">
                <a16:creationId xmlns:a16="http://schemas.microsoft.com/office/drawing/2014/main" id="{7610E492-4306-4A47-9627-4E29E1116B59}"/>
              </a:ext>
            </a:extLst>
          </p:cNvPr>
          <p:cNvSpPr>
            <a:spLocks noGrp="1"/>
          </p:cNvSpPr>
          <p:nvPr>
            <p:ph type="body" sz="quarter" idx="11"/>
          </p:nvPr>
        </p:nvSpPr>
        <p:spPr>
          <a:xfrm>
            <a:off x="649288" y="542925"/>
            <a:ext cx="8131175" cy="287338"/>
          </a:xfrm>
        </p:spPr>
        <p:txBody>
          <a:bodyPr/>
          <a:lstStyle/>
          <a:p>
            <a:r>
              <a:rPr lang="en-US" dirty="0"/>
              <a:t>TESTBED CONCEPT</a:t>
            </a:r>
          </a:p>
        </p:txBody>
      </p:sp>
      <p:sp>
        <p:nvSpPr>
          <p:cNvPr id="18" name="CustomFooter">
            <a:extLst>
              <a:ext uri="{FF2B5EF4-FFF2-40B4-BE49-F238E27FC236}">
                <a16:creationId xmlns:a16="http://schemas.microsoft.com/office/drawing/2014/main" id="{0116A1F3-4AD7-4323-9268-924649DEC06D}"/>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14 / 43</a:t>
            </a:r>
            <a:endParaRPr lang="LID4096" sz="1000" spc="100">
              <a:solidFill>
                <a:srgbClr val="A6A6A6"/>
              </a:solidFill>
              <a:latin typeface="Helvetica Neue45 Light"/>
            </a:endParaRPr>
          </a:p>
        </p:txBody>
      </p:sp>
      <p:sp>
        <p:nvSpPr>
          <p:cNvPr id="19" name="TACMeeting">
            <a:extLst>
              <a:ext uri="{FF2B5EF4-FFF2-40B4-BE49-F238E27FC236}">
                <a16:creationId xmlns:a16="http://schemas.microsoft.com/office/drawing/2014/main" id="{14C74E25-435F-4FF6-A453-AE6A3A2F9811}"/>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40" b="-40"/>
          <a:stretch/>
        </p:blipFill>
        <p:spPr>
          <a:xfrm>
            <a:off x="3163788" y="1738461"/>
            <a:ext cx="12911286" cy="7766596"/>
          </a:xfrm>
          <a:prstGeom prst="rect">
            <a:avLst/>
          </a:prstGeom>
        </p:spPr>
      </p:pic>
      <p:sp>
        <p:nvSpPr>
          <p:cNvPr id="5" name="Shape 2"/>
          <p:cNvSpPr/>
          <p:nvPr/>
        </p:nvSpPr>
        <p:spPr>
          <a:xfrm>
            <a:off x="6821388" y="7314009"/>
            <a:ext cx="1828800" cy="843409"/>
          </a:xfrm>
          <a:prstGeom prst="roundRect">
            <a:avLst>
              <a:gd name="adj" fmla="val 2259"/>
            </a:avLst>
          </a:prstGeom>
          <a:ln w="50800">
            <a:solidFill>
              <a:srgbClr val="C00000"/>
            </a:solidFill>
            <a:prstDash val="solid"/>
          </a:ln>
        </p:spPr>
        <p:txBody>
          <a:bodyPr/>
          <a:lstStyle/>
          <a:p>
            <a:endParaRPr lang="en-US"/>
          </a:p>
        </p:txBody>
      </p:sp>
      <p:sp>
        <p:nvSpPr>
          <p:cNvPr id="6" name="Shape 3"/>
          <p:cNvSpPr/>
          <p:nvPr/>
        </p:nvSpPr>
        <p:spPr>
          <a:xfrm>
            <a:off x="11356777" y="5729734"/>
            <a:ext cx="1737271" cy="843409"/>
          </a:xfrm>
          <a:prstGeom prst="roundRect">
            <a:avLst>
              <a:gd name="adj" fmla="val 2259"/>
            </a:avLst>
          </a:prstGeom>
          <a:ln w="50800">
            <a:solidFill>
              <a:srgbClr val="C00000"/>
            </a:solidFill>
            <a:prstDash val="solid"/>
          </a:ln>
        </p:spPr>
        <p:txBody>
          <a:bodyPr/>
          <a:lstStyle/>
          <a:p>
            <a:endParaRPr lang="en-US"/>
          </a:p>
        </p:txBody>
      </p:sp>
      <p:sp>
        <p:nvSpPr>
          <p:cNvPr id="7" name="Shape 4"/>
          <p:cNvSpPr/>
          <p:nvPr/>
        </p:nvSpPr>
        <p:spPr>
          <a:xfrm>
            <a:off x="7205513" y="4009896"/>
            <a:ext cx="530275" cy="720030"/>
          </a:xfrm>
          <a:prstGeom prst="roundRect">
            <a:avLst>
              <a:gd name="adj" fmla="val 3592"/>
            </a:avLst>
          </a:prstGeom>
          <a:ln w="38100">
            <a:solidFill>
              <a:srgbClr val="C00000"/>
            </a:solidFill>
            <a:prstDash val="solid"/>
          </a:ln>
        </p:spPr>
        <p:txBody>
          <a:bodyPr/>
          <a:lstStyle/>
          <a:p>
            <a:endParaRPr lang="en-US"/>
          </a:p>
        </p:txBody>
      </p:sp>
      <p:sp>
        <p:nvSpPr>
          <p:cNvPr id="8" name="Shape 5"/>
          <p:cNvSpPr/>
          <p:nvPr/>
        </p:nvSpPr>
        <p:spPr>
          <a:xfrm>
            <a:off x="12161490" y="2293888"/>
            <a:ext cx="530275" cy="720030"/>
          </a:xfrm>
          <a:prstGeom prst="roundRect">
            <a:avLst>
              <a:gd name="adj" fmla="val 3592"/>
            </a:avLst>
          </a:prstGeom>
          <a:ln w="38100">
            <a:solidFill>
              <a:srgbClr val="C00000"/>
            </a:solidFill>
            <a:prstDash val="solid"/>
          </a:ln>
        </p:spPr>
        <p:txBody>
          <a:bodyPr/>
          <a:lstStyle/>
          <a:p>
            <a:endParaRPr lang="en-US"/>
          </a:p>
        </p:txBody>
      </p:sp>
      <p:sp>
        <p:nvSpPr>
          <p:cNvPr id="9" name="Text 6"/>
          <p:cNvSpPr/>
          <p:nvPr/>
        </p:nvSpPr>
        <p:spPr>
          <a:xfrm>
            <a:off x="9268003" y="5257799"/>
            <a:ext cx="5230237" cy="285750"/>
          </a:xfrm>
          <a:prstGeom prst="rect">
            <a:avLst/>
          </a:prstGeom>
          <a:noFill/>
          <a:ln/>
        </p:spPr>
        <p:txBody>
          <a:bodyPr wrap="square" lIns="25400" tIns="25400" rIns="25400" bIns="25400" rtlCol="0" anchor="t">
            <a:noAutofit/>
          </a:bodyPr>
          <a:lstStyle/>
          <a:p>
            <a:pPr marL="0" indent="0" algn="ctr">
              <a:buNone/>
            </a:pPr>
            <a:r>
              <a:rPr lang="en-US" sz="2000" b="1" dirty="0">
                <a:highlight>
                  <a:srgbClr val="FF00FF"/>
                </a:highlight>
                <a:latin typeface="Helvetica Neue" pitchFamily="34" charset="0"/>
                <a:ea typeface="Helvetica Neue" pitchFamily="34" charset="-122"/>
                <a:cs typeface="Helvetica Neue" pitchFamily="34" charset="-120"/>
              </a:rPr>
              <a:t>Write out the terms</a:t>
            </a:r>
            <a:endParaRPr lang="en-US" sz="2000" dirty="0">
              <a:highlight>
                <a:srgbClr val="FF00FF"/>
              </a:highlight>
            </a:endParaRPr>
          </a:p>
        </p:txBody>
      </p:sp>
      <p:sp>
        <p:nvSpPr>
          <p:cNvPr id="10" name="Text 7"/>
          <p:cNvSpPr/>
          <p:nvPr/>
        </p:nvSpPr>
        <p:spPr>
          <a:xfrm>
            <a:off x="1005780" y="2983111"/>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LISA arm</a:t>
            </a:r>
            <a:endParaRPr lang="en-US" sz="1875" dirty="0"/>
          </a:p>
        </p:txBody>
      </p:sp>
      <p:sp>
        <p:nvSpPr>
          <p:cNvPr id="11" name="Text 8"/>
          <p:cNvSpPr/>
          <p:nvPr/>
        </p:nvSpPr>
        <p:spPr>
          <a:xfrm>
            <a:off x="1005780" y="3287911"/>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In-flight inter-satellite link</a:t>
            </a:r>
            <a:endParaRPr lang="en-US" sz="1200" dirty="0"/>
          </a:p>
        </p:txBody>
      </p:sp>
      <p:sp>
        <p:nvSpPr>
          <p:cNvPr id="12" name="Text 9"/>
          <p:cNvSpPr/>
          <p:nvPr/>
        </p:nvSpPr>
        <p:spPr>
          <a:xfrm>
            <a:off x="1005780" y="6737896"/>
            <a:ext cx="2615119" cy="323850"/>
          </a:xfrm>
          <a:prstGeom prst="rect">
            <a:avLst/>
          </a:prstGeom>
          <a:noFill/>
          <a:ln/>
        </p:spPr>
        <p:txBody>
          <a:bodyPr wrap="square" lIns="25400" tIns="25400" rIns="25400" bIns="25400" rtlCol="0" anchor="t">
            <a:normAutofit lnSpcReduction="10000"/>
          </a:bodyPr>
          <a:lstStyle/>
          <a:p>
            <a:pPr marL="0" indent="0" algn="l">
              <a:buNone/>
            </a:pPr>
            <a:r>
              <a:rPr lang="en-US" sz="1875" b="1" dirty="0">
                <a:solidFill>
                  <a:srgbClr val="141414"/>
                </a:solidFill>
                <a:latin typeface="Helvetica Neue" pitchFamily="34" charset="0"/>
                <a:ea typeface="Helvetica Neue" pitchFamily="34" charset="-122"/>
                <a:cs typeface="Helvetica Neue" pitchFamily="34" charset="-120"/>
              </a:rPr>
              <a:t>Testbed arm</a:t>
            </a:r>
            <a:endParaRPr lang="en-US" sz="1875" dirty="0"/>
          </a:p>
        </p:txBody>
      </p:sp>
      <p:sp>
        <p:nvSpPr>
          <p:cNvPr id="13" name="Text 10"/>
          <p:cNvSpPr/>
          <p:nvPr/>
        </p:nvSpPr>
        <p:spPr>
          <a:xfrm>
            <a:off x="1005780" y="7042696"/>
            <a:ext cx="2615119" cy="228600"/>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sp>
        <p:nvSpPr>
          <p:cNvPr id="15" name="Text Placeholder 14">
            <a:extLst>
              <a:ext uri="{FF2B5EF4-FFF2-40B4-BE49-F238E27FC236}">
                <a16:creationId xmlns:a16="http://schemas.microsoft.com/office/drawing/2014/main" id="{1C46D702-B96D-40D3-8E06-7EC2992B326E}"/>
              </a:ext>
            </a:extLst>
          </p:cNvPr>
          <p:cNvSpPr>
            <a:spLocks noGrp="1"/>
          </p:cNvSpPr>
          <p:nvPr>
            <p:ph type="body" sz="quarter" idx="11"/>
          </p:nvPr>
        </p:nvSpPr>
        <p:spPr/>
        <p:txBody>
          <a:bodyPr/>
          <a:lstStyle/>
          <a:p>
            <a:r>
              <a:rPr lang="en-US" dirty="0"/>
              <a:t>TESTBED CONCEPT</a:t>
            </a:r>
          </a:p>
          <a:p>
            <a:endParaRPr lang="LID4096" dirty="0"/>
          </a:p>
        </p:txBody>
      </p:sp>
      <p:sp>
        <p:nvSpPr>
          <p:cNvPr id="14" name="Title 13">
            <a:extLst>
              <a:ext uri="{FF2B5EF4-FFF2-40B4-BE49-F238E27FC236}">
                <a16:creationId xmlns:a16="http://schemas.microsoft.com/office/drawing/2014/main" id="{B0B4E4EE-5989-422C-B291-2610800D6F97}"/>
              </a:ext>
            </a:extLst>
          </p:cNvPr>
          <p:cNvSpPr>
            <a:spLocks noGrp="1"/>
          </p:cNvSpPr>
          <p:nvPr>
            <p:ph type="title"/>
          </p:nvPr>
        </p:nvSpPr>
        <p:spPr/>
        <p:txBody>
          <a:bodyPr/>
          <a:lstStyle/>
          <a:p>
            <a:endParaRPr lang="LID4096"/>
          </a:p>
        </p:txBody>
      </p:sp>
      <p:sp>
        <p:nvSpPr>
          <p:cNvPr id="16" name="Text Placeholder 15">
            <a:extLst>
              <a:ext uri="{FF2B5EF4-FFF2-40B4-BE49-F238E27FC236}">
                <a16:creationId xmlns:a16="http://schemas.microsoft.com/office/drawing/2014/main" id="{83976CEE-A515-44FE-A9F6-08A5CE02BD7F}"/>
              </a:ext>
            </a:extLst>
          </p:cNvPr>
          <p:cNvSpPr>
            <a:spLocks noGrp="1"/>
          </p:cNvSpPr>
          <p:nvPr>
            <p:ph type="body" sz="quarter" idx="12"/>
          </p:nvPr>
        </p:nvSpPr>
        <p:spPr/>
        <p:txBody>
          <a:bodyPr/>
          <a:lstStyle/>
          <a:p>
            <a:endParaRPr lang="LID4096"/>
          </a:p>
        </p:txBody>
      </p:sp>
      <p:sp>
        <p:nvSpPr>
          <p:cNvPr id="17" name="CustomFooter">
            <a:extLst>
              <a:ext uri="{FF2B5EF4-FFF2-40B4-BE49-F238E27FC236}">
                <a16:creationId xmlns:a16="http://schemas.microsoft.com/office/drawing/2014/main" id="{F1A44B1D-6800-4C7B-9353-07E9F29F8E25}"/>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15 / 43</a:t>
            </a:r>
            <a:endParaRPr lang="LID4096" sz="1000" spc="100">
              <a:solidFill>
                <a:srgbClr val="A6A6A6"/>
              </a:solidFill>
              <a:latin typeface="Helvetica Neue45 Light"/>
            </a:endParaRPr>
          </a:p>
        </p:txBody>
      </p:sp>
      <p:sp>
        <p:nvSpPr>
          <p:cNvPr id="18" name="TACMeeting">
            <a:extLst>
              <a:ext uri="{FF2B5EF4-FFF2-40B4-BE49-F238E27FC236}">
                <a16:creationId xmlns:a16="http://schemas.microsoft.com/office/drawing/2014/main" id="{87C2D2CD-898A-4D4D-B052-BDCDF2FC14CB}"/>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59708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89235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464160"/>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759435"/>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pic>
        <p:nvPicPr>
          <p:cNvPr id="16" name="Graphic 15">
            <a:extLst>
              <a:ext uri="{FF2B5EF4-FFF2-40B4-BE49-F238E27FC236}">
                <a16:creationId xmlns:a16="http://schemas.microsoft.com/office/drawing/2014/main" id="{6AAAFCDA-ED6E-97A8-8D44-47E59DAA280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929736" y="4255311"/>
            <a:ext cx="7443864" cy="1337221"/>
          </a:xfrm>
          <a:prstGeom prst="rect">
            <a:avLst/>
          </a:prstGeom>
        </p:spPr>
      </p:pic>
      <p:pic>
        <p:nvPicPr>
          <p:cNvPr id="18" name="Graphic 17">
            <a:extLst>
              <a:ext uri="{FF2B5EF4-FFF2-40B4-BE49-F238E27FC236}">
                <a16:creationId xmlns:a16="http://schemas.microsoft.com/office/drawing/2014/main" id="{0272B11E-E04F-0371-E640-35FD155FC3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10783" y="8429922"/>
            <a:ext cx="9362817" cy="1141807"/>
          </a:xfrm>
          <a:prstGeom prst="rect">
            <a:avLst/>
          </a:prstGeom>
        </p:spPr>
      </p:pic>
      <p:sp>
        <p:nvSpPr>
          <p:cNvPr id="7" name="Text Placeholder 6">
            <a:extLst>
              <a:ext uri="{FF2B5EF4-FFF2-40B4-BE49-F238E27FC236}">
                <a16:creationId xmlns:a16="http://schemas.microsoft.com/office/drawing/2014/main" id="{07C61CCD-DC64-446C-AAF2-F5412599F61A}"/>
              </a:ext>
            </a:extLst>
          </p:cNvPr>
          <p:cNvSpPr>
            <a:spLocks noGrp="1"/>
          </p:cNvSpPr>
          <p:nvPr>
            <p:ph type="body" sz="quarter" idx="11"/>
          </p:nvPr>
        </p:nvSpPr>
        <p:spPr/>
        <p:txBody>
          <a:bodyPr/>
          <a:lstStyle/>
          <a:p>
            <a:r>
              <a:rPr lang="en-US" dirty="0"/>
              <a:t>TESTBED CONCEPT</a:t>
            </a:r>
          </a:p>
          <a:p>
            <a:endParaRPr lang="LID4096" dirty="0"/>
          </a:p>
        </p:txBody>
      </p:sp>
      <p:sp>
        <p:nvSpPr>
          <p:cNvPr id="5" name="Title 4">
            <a:extLst>
              <a:ext uri="{FF2B5EF4-FFF2-40B4-BE49-F238E27FC236}">
                <a16:creationId xmlns:a16="http://schemas.microsoft.com/office/drawing/2014/main" id="{5DF0CFA2-EE7F-481E-B9D3-9A2E822D11EC}"/>
              </a:ext>
            </a:extLst>
          </p:cNvPr>
          <p:cNvSpPr>
            <a:spLocks noGrp="1"/>
          </p:cNvSpPr>
          <p:nvPr>
            <p:ph type="title"/>
          </p:nvPr>
        </p:nvSpPr>
        <p:spPr/>
        <p:txBody>
          <a:bodyPr/>
          <a:lstStyle/>
          <a:p>
            <a:endParaRPr lang="LID4096"/>
          </a:p>
        </p:txBody>
      </p:sp>
      <p:sp>
        <p:nvSpPr>
          <p:cNvPr id="12" name="Text Placeholder 11">
            <a:extLst>
              <a:ext uri="{FF2B5EF4-FFF2-40B4-BE49-F238E27FC236}">
                <a16:creationId xmlns:a16="http://schemas.microsoft.com/office/drawing/2014/main" id="{07403E0A-AD5F-4AC6-AA5F-10F7BB8A6705}"/>
              </a:ext>
            </a:extLst>
          </p:cNvPr>
          <p:cNvSpPr>
            <a:spLocks noGrp="1"/>
          </p:cNvSpPr>
          <p:nvPr>
            <p:ph type="body" sz="quarter" idx="12"/>
          </p:nvPr>
        </p:nvSpPr>
        <p:spPr/>
        <p:txBody>
          <a:bodyPr/>
          <a:lstStyle/>
          <a:p>
            <a:endParaRPr lang="LID4096"/>
          </a:p>
        </p:txBody>
      </p:sp>
      <p:sp>
        <p:nvSpPr>
          <p:cNvPr id="13" name="CustomFooter">
            <a:extLst>
              <a:ext uri="{FF2B5EF4-FFF2-40B4-BE49-F238E27FC236}">
                <a16:creationId xmlns:a16="http://schemas.microsoft.com/office/drawing/2014/main" id="{4C897216-E5FB-421E-82DE-5C614E061C92}"/>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16 / 43</a:t>
            </a:r>
            <a:endParaRPr lang="LID4096" sz="1000" spc="100">
              <a:solidFill>
                <a:srgbClr val="A6A6A6"/>
              </a:solidFill>
              <a:latin typeface="Helvetica Neue45 Light"/>
            </a:endParaRPr>
          </a:p>
        </p:txBody>
      </p:sp>
      <p:sp>
        <p:nvSpPr>
          <p:cNvPr id="14" name="TACMeeting">
            <a:extLst>
              <a:ext uri="{FF2B5EF4-FFF2-40B4-BE49-F238E27FC236}">
                <a16:creationId xmlns:a16="http://schemas.microsoft.com/office/drawing/2014/main" id="{9B8891DB-E8FA-4767-948F-5DD95EFC3D8D}"/>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l="-2293" r="-2293"/>
          <a:stretch/>
        </p:blipFill>
        <p:spPr>
          <a:xfrm>
            <a:off x="6912769" y="1337221"/>
            <a:ext cx="10606980" cy="8435280"/>
          </a:xfrm>
          <a:prstGeom prst="rect">
            <a:avLst/>
          </a:prstGeom>
        </p:spPr>
      </p:pic>
      <p:sp>
        <p:nvSpPr>
          <p:cNvPr id="6" name="Text 3"/>
          <p:cNvSpPr/>
          <p:nvPr/>
        </p:nvSpPr>
        <p:spPr>
          <a:xfrm>
            <a:off x="1296888" y="2571750"/>
            <a:ext cx="3161913"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One laser per spacecraft</a:t>
            </a:r>
            <a:endParaRPr lang="en-US" sz="1875" dirty="0"/>
          </a:p>
        </p:txBody>
      </p:sp>
      <p:sp>
        <p:nvSpPr>
          <p:cNvPr id="7" name="Text 4"/>
          <p:cNvSpPr/>
          <p:nvPr/>
        </p:nvSpPr>
        <p:spPr>
          <a:xfrm>
            <a:off x="1296888" y="2895600"/>
            <a:ext cx="3161913"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An independent source on each satellite</a:t>
            </a:r>
            <a:endParaRPr lang="en-US" sz="1350" dirty="0"/>
          </a:p>
        </p:txBody>
      </p:sp>
      <p:sp>
        <p:nvSpPr>
          <p:cNvPr id="9" name="Text 6"/>
          <p:cNvSpPr/>
          <p:nvPr/>
        </p:nvSpPr>
        <p:spPr>
          <a:xfrm>
            <a:off x="1296888" y="3400425"/>
            <a:ext cx="343334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Cavity-locked primary laser</a:t>
            </a:r>
            <a:endParaRPr lang="en-US" sz="1875" dirty="0"/>
          </a:p>
        </p:txBody>
      </p:sp>
      <p:sp>
        <p:nvSpPr>
          <p:cNvPr id="10" name="Text 7"/>
          <p:cNvSpPr/>
          <p:nvPr/>
        </p:nvSpPr>
        <p:spPr>
          <a:xfrm>
            <a:off x="1296888" y="3724275"/>
            <a:ext cx="343334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Provides LISA-like laser frequency noise</a:t>
            </a:r>
            <a:endParaRPr lang="en-US" sz="1350" dirty="0"/>
          </a:p>
        </p:txBody>
      </p:sp>
      <p:sp>
        <p:nvSpPr>
          <p:cNvPr id="12" name="Text 9"/>
          <p:cNvSpPr/>
          <p:nvPr/>
        </p:nvSpPr>
        <p:spPr>
          <a:xfrm>
            <a:off x="1296888" y="4229100"/>
            <a:ext cx="2997056"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Independent clocks</a:t>
            </a:r>
            <a:endParaRPr lang="en-US" sz="1875" dirty="0"/>
          </a:p>
        </p:txBody>
      </p:sp>
      <p:sp>
        <p:nvSpPr>
          <p:cNvPr id="13" name="Text 10"/>
          <p:cNvSpPr/>
          <p:nvPr/>
        </p:nvSpPr>
        <p:spPr>
          <a:xfrm>
            <a:off x="1296888" y="4552950"/>
            <a:ext cx="2997056"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Allows to demonstrate clock noise removal</a:t>
            </a:r>
            <a:endParaRPr lang="en-US" sz="1350" dirty="0"/>
          </a:p>
        </p:txBody>
      </p:sp>
      <p:sp>
        <p:nvSpPr>
          <p:cNvPr id="15" name="Text 12"/>
          <p:cNvSpPr/>
          <p:nvPr/>
        </p:nvSpPr>
        <p:spPr>
          <a:xfrm>
            <a:off x="1296888" y="5057775"/>
            <a:ext cx="2938775" cy="333375"/>
          </a:xfrm>
          <a:prstGeom prst="rect">
            <a:avLst/>
          </a:prstGeom>
          <a:noFill/>
          <a:ln/>
        </p:spPr>
        <p:txBody>
          <a:bodyPr wrap="square" lIns="25400" tIns="25400" rIns="25400" bIns="25400" rtlCol="0" anchor="t">
            <a:normAutofit fontScale="92500" lnSpcReduction="10000"/>
          </a:bodyPr>
          <a:lstStyle/>
          <a:p>
            <a:pPr marL="0" indent="0" algn="l">
              <a:lnSpc>
                <a:spcPct val="125000"/>
              </a:lnSpc>
              <a:buNone/>
            </a:pPr>
            <a:r>
              <a:rPr lang="en-US" sz="1875" b="1" dirty="0">
                <a:solidFill>
                  <a:srgbClr val="1A1A1A"/>
                </a:solidFill>
                <a:latin typeface="Helvetica Neue" pitchFamily="34" charset="0"/>
                <a:ea typeface="Helvetica Neue" pitchFamily="34" charset="-122"/>
                <a:cs typeface="Helvetica Neue" pitchFamily="34" charset="-120"/>
              </a:rPr>
              <a:t>Six separate delay lines</a:t>
            </a:r>
            <a:endParaRPr lang="en-US" sz="1875" dirty="0"/>
          </a:p>
        </p:txBody>
      </p:sp>
      <p:sp>
        <p:nvSpPr>
          <p:cNvPr id="16" name="Text 13"/>
          <p:cNvSpPr/>
          <p:nvPr/>
        </p:nvSpPr>
        <p:spPr>
          <a:xfrm>
            <a:off x="1296888" y="5381625"/>
            <a:ext cx="2938775" cy="25717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1350" dirty="0">
                <a:solidFill>
                  <a:srgbClr val="8A8A8A"/>
                </a:solidFill>
                <a:latin typeface="Helvetica Neue" pitchFamily="34" charset="0"/>
                <a:ea typeface="Helvetica Neue" pitchFamily="34" charset="-122"/>
                <a:cs typeface="Helvetica Neue" pitchFamily="34" charset="-120"/>
              </a:rPr>
              <a:t>Two per inter-spacecraft link</a:t>
            </a:r>
            <a:endParaRPr lang="en-US" sz="1350" dirty="0"/>
          </a:p>
        </p:txBody>
      </p:sp>
      <p:sp>
        <p:nvSpPr>
          <p:cNvPr id="17" name="Text Placeholder 16">
            <a:extLst>
              <a:ext uri="{FF2B5EF4-FFF2-40B4-BE49-F238E27FC236}">
                <a16:creationId xmlns:a16="http://schemas.microsoft.com/office/drawing/2014/main" id="{D1445A86-0D97-4D70-88C4-2895FCDF5829}"/>
              </a:ext>
            </a:extLst>
          </p:cNvPr>
          <p:cNvSpPr>
            <a:spLocks noGrp="1"/>
          </p:cNvSpPr>
          <p:nvPr>
            <p:ph type="body" sz="quarter" idx="11"/>
          </p:nvPr>
        </p:nvSpPr>
        <p:spPr/>
        <p:txBody>
          <a:bodyPr/>
          <a:lstStyle/>
          <a:p>
            <a:r>
              <a:rPr lang="en-US" dirty="0"/>
              <a:t>TESTBED CONCEPT</a:t>
            </a:r>
          </a:p>
          <a:p>
            <a:endParaRPr lang="LID4096" dirty="0"/>
          </a:p>
        </p:txBody>
      </p:sp>
      <p:sp>
        <p:nvSpPr>
          <p:cNvPr id="14" name="Title 13">
            <a:extLst>
              <a:ext uri="{FF2B5EF4-FFF2-40B4-BE49-F238E27FC236}">
                <a16:creationId xmlns:a16="http://schemas.microsoft.com/office/drawing/2014/main" id="{81B0A3D6-9D86-47D4-9A06-488D56474B18}"/>
              </a:ext>
            </a:extLst>
          </p:cNvPr>
          <p:cNvSpPr>
            <a:spLocks noGrp="1"/>
          </p:cNvSpPr>
          <p:nvPr>
            <p:ph type="title"/>
          </p:nvPr>
        </p:nvSpPr>
        <p:spPr/>
        <p:txBody>
          <a:bodyPr/>
          <a:lstStyle/>
          <a:p>
            <a:r>
              <a:rPr lang="en-US" dirty="0"/>
              <a:t>The Full Setup</a:t>
            </a:r>
            <a:endParaRPr lang="LID4096" dirty="0"/>
          </a:p>
        </p:txBody>
      </p:sp>
      <p:sp>
        <p:nvSpPr>
          <p:cNvPr id="18" name="Text Placeholder 17">
            <a:extLst>
              <a:ext uri="{FF2B5EF4-FFF2-40B4-BE49-F238E27FC236}">
                <a16:creationId xmlns:a16="http://schemas.microsoft.com/office/drawing/2014/main" id="{45109689-ACDA-4EC9-AC7E-6DF41AAC04FB}"/>
              </a:ext>
            </a:extLst>
          </p:cNvPr>
          <p:cNvSpPr>
            <a:spLocks noGrp="1"/>
          </p:cNvSpPr>
          <p:nvPr>
            <p:ph type="body" sz="quarter" idx="12"/>
          </p:nvPr>
        </p:nvSpPr>
        <p:spPr/>
        <p:txBody>
          <a:bodyPr/>
          <a:lstStyle/>
          <a:p>
            <a:endParaRPr lang="LID4096"/>
          </a:p>
        </p:txBody>
      </p:sp>
      <p:sp>
        <p:nvSpPr>
          <p:cNvPr id="19" name="CustomFooter">
            <a:extLst>
              <a:ext uri="{FF2B5EF4-FFF2-40B4-BE49-F238E27FC236}">
                <a16:creationId xmlns:a16="http://schemas.microsoft.com/office/drawing/2014/main" id="{AF60EF75-8AC5-4639-BF83-45E2D9C5BB89}"/>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17 / 43</a:t>
            </a:r>
            <a:endParaRPr lang="LID4096" sz="1000" spc="100">
              <a:solidFill>
                <a:srgbClr val="A6A6A6"/>
              </a:solidFill>
              <a:latin typeface="Helvetica Neue45 Light"/>
            </a:endParaRPr>
          </a:p>
        </p:txBody>
      </p:sp>
      <p:sp>
        <p:nvSpPr>
          <p:cNvPr id="21" name="TACMeeting">
            <a:extLst>
              <a:ext uri="{FF2B5EF4-FFF2-40B4-BE49-F238E27FC236}">
                <a16:creationId xmlns:a16="http://schemas.microsoft.com/office/drawing/2014/main" id="{D59403CD-3743-4B9C-8393-60D1D0316C4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a:xfrm>
            <a:off x="647700" y="1270000"/>
            <a:ext cx="15773400" cy="7874000"/>
          </a:xfrm>
        </p:spPr>
        <p:txBody>
          <a:bodyPr anchor="ctr"/>
          <a:lstStyle/>
          <a:p>
            <a:pPr algn="l">
              <a:lnSpc>
                <a:spcPct val="100000"/>
              </a:lnSpc>
              <a:spcBef>
                <a:spcPts val="600"/>
              </a:spcBef>
              <a:spcAft>
                <a:spcPts val="600"/>
              </a:spcAft>
              <a:buNone/>
            </a:pPr>
            <a:r>
              <a:rPr lang="en-US" sz="2800" dirty="0">
                <a:solidFill>
                  <a:srgbClr val="7F7F7F"/>
                </a:solidFill>
              </a:rPr>
              <a:t>Context</a:t>
            </a:r>
          </a:p>
          <a:p>
            <a:pPr algn="l">
              <a:lnSpc>
                <a:spcPct val="100000"/>
              </a:lnSpc>
              <a:spcBef>
                <a:spcPts val="600"/>
              </a:spcBef>
              <a:spcAft>
                <a:spcPts val="600"/>
              </a:spcAft>
              <a:buNone/>
            </a:pPr>
            <a:r>
              <a:rPr lang="en-US" sz="2800" dirty="0">
                <a:solidFill>
                  <a:srgbClr val="7F7F7F"/>
                </a:solidFill>
              </a:rPr>
              <a:t>Overview of the LISA IDS</a:t>
            </a:r>
          </a:p>
          <a:p>
            <a:pPr algn="l">
              <a:lnSpc>
                <a:spcPct val="100000"/>
              </a:lnSpc>
              <a:spcBef>
                <a:spcPts val="600"/>
              </a:spcBef>
              <a:spcAft>
                <a:spcPts val="600"/>
              </a:spcAft>
              <a:buNone/>
            </a:pPr>
            <a:r>
              <a:rPr lang="en-US" sz="2800" dirty="0">
                <a:solidFill>
                  <a:srgbClr val="7F7F7F"/>
                </a:solidFill>
              </a:rPr>
              <a:t>Testbed Concept</a:t>
            </a:r>
          </a:p>
          <a:p>
            <a:pPr algn="l">
              <a:lnSpc>
                <a:spcPct val="100000"/>
              </a:lnSpc>
              <a:spcBef>
                <a:spcPts val="1400"/>
              </a:spcBef>
              <a:spcAft>
                <a:spcPts val="1400"/>
              </a:spcAft>
              <a:buNone/>
            </a:pPr>
            <a:r>
              <a:rPr lang="en-US" sz="5400" b="1" dirty="0"/>
              <a:t>TDI and laser noise: status</a:t>
            </a:r>
          </a:p>
          <a:p>
            <a:pPr algn="l">
              <a:lnSpc>
                <a:spcPct val="100000"/>
              </a:lnSpc>
              <a:spcBef>
                <a:spcPts val="600"/>
              </a:spcBef>
              <a:spcAft>
                <a:spcPts val="600"/>
              </a:spcAft>
              <a:buNone/>
            </a:pPr>
            <a:r>
              <a:rPr lang="en-US" sz="2800" dirty="0">
                <a:solidFill>
                  <a:srgbClr val="7F7F7F"/>
                </a:solidFill>
              </a:rPr>
              <a:t>clock noise: status</a:t>
            </a:r>
          </a:p>
          <a:p>
            <a:pPr algn="l">
              <a:lnSpc>
                <a:spcPct val="100000"/>
              </a:lnSpc>
              <a:spcBef>
                <a:spcPts val="600"/>
              </a:spcBef>
              <a:spcAft>
                <a:spcPts val="600"/>
              </a:spcAft>
              <a:buNone/>
            </a:pPr>
            <a:r>
              <a:rPr lang="en-US" sz="2800" dirty="0">
                <a:solidFill>
                  <a:srgbClr val="7F7F7F"/>
                </a:solidFill>
              </a:rPr>
              <a:t>Next Steps</a:t>
            </a:r>
          </a:p>
          <a:p>
            <a:pPr algn="l">
              <a:lnSpc>
                <a:spcPct val="100000"/>
              </a:lnSpc>
              <a:spcBef>
                <a:spcPts val="600"/>
              </a:spcBef>
              <a:spcAft>
                <a:spcPts val="600"/>
              </a:spcAft>
              <a:buNone/>
            </a:pPr>
            <a:r>
              <a:rPr lang="en-US" sz="2800" dirty="0">
                <a:solidFill>
                  <a:srgbClr val="7F7F7F"/>
                </a:solidFill>
              </a:rPr>
              <a:t>Conclusion</a:t>
            </a:r>
          </a:p>
        </p:txBody>
      </p:sp>
      <p:sp>
        <p:nvSpPr>
          <p:cNvPr id="2" name="CustomFooter">
            <a:extLst>
              <a:ext uri="{FF2B5EF4-FFF2-40B4-BE49-F238E27FC236}">
                <a16:creationId xmlns:a16="http://schemas.microsoft.com/office/drawing/2014/main" id="{1F036AE1-9219-4E1E-861B-1C94FAC0EEB0}"/>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18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84FF981B-6C7A-4422-8AFB-BDD49905841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4271389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Shape 2"/>
          <p:cNvSpPr/>
          <p:nvPr/>
        </p:nvSpPr>
        <p:spPr>
          <a:xfrm>
            <a:off x="877788" y="2288695"/>
            <a:ext cx="66675" cy="66675"/>
          </a:xfrm>
          <a:prstGeom prst="ellipse">
            <a:avLst/>
          </a:prstGeom>
          <a:solidFill>
            <a:srgbClr val="141414"/>
          </a:solidFill>
          <a:ln/>
        </p:spPr>
        <p:txBody>
          <a:bodyPr/>
          <a:lstStyle/>
          <a:p>
            <a:endParaRPr lang="en-US"/>
          </a:p>
        </p:txBody>
      </p:sp>
      <p:sp>
        <p:nvSpPr>
          <p:cNvPr id="5" name="Text 3"/>
          <p:cNvSpPr/>
          <p:nvPr/>
        </p:nvSpPr>
        <p:spPr>
          <a:xfrm>
            <a:off x="1077812" y="2077650"/>
            <a:ext cx="3319937" cy="340073"/>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Time-varying delays</a:t>
            </a:r>
            <a:endParaRPr lang="en-US" sz="2400" dirty="0"/>
          </a:p>
        </p:txBody>
      </p:sp>
      <p:sp>
        <p:nvSpPr>
          <p:cNvPr id="6" name="Shape 4"/>
          <p:cNvSpPr/>
          <p:nvPr/>
        </p:nvSpPr>
        <p:spPr>
          <a:xfrm>
            <a:off x="877788" y="2766212"/>
            <a:ext cx="66675" cy="66675"/>
          </a:xfrm>
          <a:prstGeom prst="ellipse">
            <a:avLst/>
          </a:prstGeom>
          <a:solidFill>
            <a:srgbClr val="141414"/>
          </a:solidFill>
          <a:ln/>
        </p:spPr>
        <p:txBody>
          <a:bodyPr/>
          <a:lstStyle/>
          <a:p>
            <a:endParaRPr lang="en-US"/>
          </a:p>
        </p:txBody>
      </p:sp>
      <p:sp>
        <p:nvSpPr>
          <p:cNvPr id="7" name="Text 5"/>
          <p:cNvSpPr/>
          <p:nvPr/>
        </p:nvSpPr>
        <p:spPr>
          <a:xfrm>
            <a:off x="1077812" y="2564107"/>
            <a:ext cx="6636877"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Doppler shifts for both carrier and sidebands</a:t>
            </a:r>
            <a:endParaRPr lang="en-US" sz="2400" dirty="0"/>
          </a:p>
        </p:txBody>
      </p:sp>
      <p:sp>
        <p:nvSpPr>
          <p:cNvPr id="8" name="Shape 6"/>
          <p:cNvSpPr/>
          <p:nvPr/>
        </p:nvSpPr>
        <p:spPr>
          <a:xfrm>
            <a:off x="877788" y="3225800"/>
            <a:ext cx="66675" cy="66675"/>
          </a:xfrm>
          <a:prstGeom prst="ellipse">
            <a:avLst/>
          </a:prstGeom>
          <a:solidFill>
            <a:srgbClr val="141414"/>
          </a:solidFill>
          <a:ln/>
        </p:spPr>
        <p:txBody>
          <a:bodyPr/>
          <a:lstStyle/>
          <a:p>
            <a:endParaRPr lang="en-US"/>
          </a:p>
        </p:txBody>
      </p:sp>
      <p:sp>
        <p:nvSpPr>
          <p:cNvPr id="9" name="Text 7"/>
          <p:cNvSpPr/>
          <p:nvPr/>
        </p:nvSpPr>
        <p:spPr>
          <a:xfrm>
            <a:off x="1077812" y="3045801"/>
            <a:ext cx="4574561" cy="283602"/>
          </a:xfrm>
          <a:prstGeom prst="rect">
            <a:avLst/>
          </a:prstGeom>
          <a:noFill/>
          <a:ln/>
        </p:spPr>
        <p:txBody>
          <a:bodyPr wrap="square" lIns="25400" tIns="25400" rIns="25400" bIns="25400" rtlCol="0" anchor="t">
            <a:noAutofit/>
          </a:bodyPr>
          <a:lstStyle/>
          <a:p>
            <a:pPr marL="0" indent="0" algn="l">
              <a:lnSpc>
                <a:spcPct val="130000"/>
              </a:lnSpc>
              <a:buNone/>
            </a:pPr>
            <a:r>
              <a:rPr lang="en-US" sz="2400" dirty="0">
                <a:solidFill>
                  <a:srgbClr val="252525"/>
                </a:solidFill>
                <a:latin typeface="Helvetica Neue" pitchFamily="34" charset="0"/>
                <a:ea typeface="Helvetica Neue" pitchFamily="34" charset="-122"/>
                <a:cs typeface="Helvetica Neue" pitchFamily="34" charset="-120"/>
              </a:rPr>
              <a:t>Gravitational-wave injection</a:t>
            </a:r>
            <a:endParaRPr lang="en-US" sz="2400" dirty="0"/>
          </a:p>
        </p:txBody>
      </p:sp>
      <p:pic>
        <p:nvPicPr>
          <p:cNvPr id="10" name="Image 0" descr="preencoded.png"/>
          <p:cNvPicPr>
            <a:picLocks noChangeAspect="1"/>
          </p:cNvPicPr>
          <p:nvPr/>
        </p:nvPicPr>
        <p:blipFill>
          <a:blip r:embed="rId3"/>
          <a:srcRect l="-3543" r="-3543"/>
          <a:stretch/>
        </p:blipFill>
        <p:spPr>
          <a:xfrm>
            <a:off x="5824910" y="3280836"/>
            <a:ext cx="2890421" cy="3251757"/>
          </a:xfrm>
          <a:prstGeom prst="rect">
            <a:avLst/>
          </a:prstGeom>
        </p:spPr>
      </p:pic>
      <p:pic>
        <p:nvPicPr>
          <p:cNvPr id="11" name="Image 1" descr="preencoded.png"/>
          <p:cNvPicPr>
            <a:picLocks noChangeAspect="1"/>
          </p:cNvPicPr>
          <p:nvPr/>
        </p:nvPicPr>
        <p:blipFill>
          <a:blip r:embed="rId4"/>
          <a:srcRect t="-915" b="-915"/>
          <a:stretch/>
        </p:blipFill>
        <p:spPr>
          <a:xfrm>
            <a:off x="736040" y="4318907"/>
            <a:ext cx="5486400" cy="4320480"/>
          </a:xfrm>
          <a:prstGeom prst="rect">
            <a:avLst/>
          </a:prstGeom>
        </p:spPr>
      </p:pic>
      <p:sp>
        <p:nvSpPr>
          <p:cNvPr id="12" name="Text 8"/>
          <p:cNvSpPr/>
          <p:nvPr/>
        </p:nvSpPr>
        <p:spPr>
          <a:xfrm>
            <a:off x="914400" y="8538121"/>
            <a:ext cx="6437278" cy="247650"/>
          </a:xfrm>
          <a:prstGeom prst="rect">
            <a:avLst/>
          </a:prstGeom>
          <a:noFill/>
          <a:ln/>
        </p:spPr>
        <p:txBody>
          <a:bodyPr wrap="square" lIns="25400" tIns="25400" rIns="25400" bIns="25400" rtlCol="0" anchor="t">
            <a:noAutofit/>
          </a:bodyPr>
          <a:lstStyle/>
          <a:p>
            <a:pPr marL="0" indent="0" algn="l">
              <a:lnSpc>
                <a:spcPct val="130000"/>
              </a:lnSpc>
              <a:buNone/>
            </a:pPr>
            <a:r>
              <a:rPr lang="en-US" sz="1600" dirty="0">
                <a:solidFill>
                  <a:srgbClr val="8A8A8A"/>
                </a:solidFill>
                <a:latin typeface="Helvetica Neue" pitchFamily="34" charset="0"/>
                <a:ea typeface="Helvetica Neue" pitchFamily="34" charset="-122"/>
                <a:cs typeface="Helvetica Neue" pitchFamily="34" charset="-120"/>
              </a:rPr>
              <a:t>AMD Zynq™ UltraScale+™ RFSoC ZCU208 Evaluation Kit</a:t>
            </a:r>
            <a:endParaRPr lang="en-US" sz="1600" dirty="0"/>
          </a:p>
        </p:txBody>
      </p:sp>
      <p:pic>
        <p:nvPicPr>
          <p:cNvPr id="13" name="Image 2" descr="preencoded.png"/>
          <p:cNvPicPr>
            <a:picLocks noChangeAspect="1"/>
          </p:cNvPicPr>
          <p:nvPr/>
        </p:nvPicPr>
        <p:blipFill>
          <a:blip r:embed="rId5"/>
          <a:srcRect t="-719" b="-719"/>
          <a:stretch/>
        </p:blipFill>
        <p:spPr>
          <a:xfrm>
            <a:off x="8887867" y="2468761"/>
            <a:ext cx="9144000" cy="6377880"/>
          </a:xfrm>
          <a:prstGeom prst="rect">
            <a:avLst/>
          </a:prstGeom>
        </p:spPr>
      </p:pic>
      <p:sp>
        <p:nvSpPr>
          <p:cNvPr id="14" name="Text 9"/>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600" dirty="0">
                <a:solidFill>
                  <a:srgbClr val="A0A0A0"/>
                </a:solidFill>
                <a:latin typeface="Helvetica Neue" pitchFamily="34" charset="0"/>
                <a:ea typeface="Helvetica Neue" pitchFamily="34" charset="-122"/>
                <a:cs typeface="Helvetica Neue" pitchFamily="34" charset="-120"/>
              </a:rPr>
              <a:t>Intrinsic noise floor of one board (purple)</a:t>
            </a:r>
            <a:endParaRPr lang="en-US" sz="1600" dirty="0"/>
          </a:p>
        </p:txBody>
      </p:sp>
      <p:sp>
        <p:nvSpPr>
          <p:cNvPr id="20" name="Text Placeholder 19">
            <a:extLst>
              <a:ext uri="{FF2B5EF4-FFF2-40B4-BE49-F238E27FC236}">
                <a16:creationId xmlns:a16="http://schemas.microsoft.com/office/drawing/2014/main" id="{E6E5C864-4C6E-4F16-8782-1A67861E6529}"/>
              </a:ext>
            </a:extLst>
          </p:cNvPr>
          <p:cNvSpPr>
            <a:spLocks noGrp="1"/>
          </p:cNvSpPr>
          <p:nvPr>
            <p:ph type="body" sz="quarter" idx="11"/>
          </p:nvPr>
        </p:nvSpPr>
        <p:spPr/>
        <p:txBody>
          <a:bodyPr/>
          <a:lstStyle/>
          <a:p>
            <a:r>
              <a:rPr lang="en-US" sz="1200" dirty="0"/>
              <a:t>TDI IN MINILISA STATUS</a:t>
            </a:r>
            <a:endParaRPr lang="LID4096" dirty="0"/>
          </a:p>
        </p:txBody>
      </p:sp>
      <p:sp>
        <p:nvSpPr>
          <p:cNvPr id="19" name="Title 18">
            <a:extLst>
              <a:ext uri="{FF2B5EF4-FFF2-40B4-BE49-F238E27FC236}">
                <a16:creationId xmlns:a16="http://schemas.microsoft.com/office/drawing/2014/main" id="{7C3E489C-8D42-4BED-9B5D-167C9621B077}"/>
              </a:ext>
            </a:extLst>
          </p:cNvPr>
          <p:cNvSpPr>
            <a:spLocks noGrp="1"/>
          </p:cNvSpPr>
          <p:nvPr>
            <p:ph type="title"/>
          </p:nvPr>
        </p:nvSpPr>
        <p:spPr/>
        <p:txBody>
          <a:bodyPr/>
          <a:lstStyle/>
          <a:p>
            <a:r>
              <a:rPr lang="en-US" dirty="0"/>
              <a:t>The Delay Line</a:t>
            </a:r>
            <a:endParaRPr lang="LID4096" dirty="0"/>
          </a:p>
        </p:txBody>
      </p:sp>
      <p:sp>
        <p:nvSpPr>
          <p:cNvPr id="21" name="Text Placeholder 20">
            <a:extLst>
              <a:ext uri="{FF2B5EF4-FFF2-40B4-BE49-F238E27FC236}">
                <a16:creationId xmlns:a16="http://schemas.microsoft.com/office/drawing/2014/main" id="{10950A42-D05C-4360-AA0D-E2D23CE2A41E}"/>
              </a:ext>
            </a:extLst>
          </p:cNvPr>
          <p:cNvSpPr>
            <a:spLocks noGrp="1"/>
          </p:cNvSpPr>
          <p:nvPr>
            <p:ph type="body" sz="quarter" idx="12"/>
          </p:nvPr>
        </p:nvSpPr>
        <p:spPr/>
        <p:txBody>
          <a:bodyPr/>
          <a:lstStyle/>
          <a:p>
            <a:endParaRPr lang="LID4096"/>
          </a:p>
        </p:txBody>
      </p:sp>
      <p:sp>
        <p:nvSpPr>
          <p:cNvPr id="22" name="CustomFooter">
            <a:extLst>
              <a:ext uri="{FF2B5EF4-FFF2-40B4-BE49-F238E27FC236}">
                <a16:creationId xmlns:a16="http://schemas.microsoft.com/office/drawing/2014/main" id="{F5ACF743-6D61-4EF1-BD24-5DEB6A3AC3FA}"/>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19 / 43</a:t>
            </a:r>
            <a:endParaRPr lang="LID4096" sz="1000" spc="100">
              <a:solidFill>
                <a:srgbClr val="A6A6A6"/>
              </a:solidFill>
              <a:latin typeface="Helvetica Neue45 Light"/>
            </a:endParaRPr>
          </a:p>
        </p:txBody>
      </p:sp>
      <p:sp>
        <p:nvSpPr>
          <p:cNvPr id="23" name="TACMeeting">
            <a:extLst>
              <a:ext uri="{FF2B5EF4-FFF2-40B4-BE49-F238E27FC236}">
                <a16:creationId xmlns:a16="http://schemas.microsoft.com/office/drawing/2014/main" id="{6AEDA95B-C35D-4942-9FCE-C716018CFAF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6E5C864-4C6E-4F16-8782-1A67861E6529}"/>
              </a:ext>
            </a:extLst>
          </p:cNvPr>
          <p:cNvSpPr>
            <a:spLocks noGrp="1"/>
          </p:cNvSpPr>
          <p:nvPr>
            <p:ph type="body" sz="quarter" idx="11"/>
          </p:nvPr>
        </p:nvSpPr>
        <p:spPr/>
        <p:txBody>
          <a:bodyPr/>
          <a:lstStyle/>
          <a:p>
            <a:r>
              <a:rPr lang="en-US" sz="1200" dirty="0"/>
              <a:t>TDI IN MINILISA STATUS</a:t>
            </a:r>
            <a:endParaRPr lang="LID4096" dirty="0"/>
          </a:p>
        </p:txBody>
      </p:sp>
      <p:sp>
        <p:nvSpPr>
          <p:cNvPr id="19" name="Title 18">
            <a:extLst>
              <a:ext uri="{FF2B5EF4-FFF2-40B4-BE49-F238E27FC236}">
                <a16:creationId xmlns:a16="http://schemas.microsoft.com/office/drawing/2014/main" id="{7C3E489C-8D42-4BED-9B5D-167C9621B077}"/>
              </a:ext>
            </a:extLst>
          </p:cNvPr>
          <p:cNvSpPr>
            <a:spLocks noGrp="1"/>
          </p:cNvSpPr>
          <p:nvPr>
            <p:ph type="title"/>
          </p:nvPr>
        </p:nvSpPr>
        <p:spPr/>
        <p:txBody>
          <a:bodyPr/>
          <a:lstStyle/>
          <a:p>
            <a:r>
              <a:rPr lang="en-US" dirty="0"/>
              <a:t>The Delay Line – How is the delay implemented</a:t>
            </a:r>
            <a:endParaRPr lang="LID4096" dirty="0"/>
          </a:p>
        </p:txBody>
      </p:sp>
      <p:sp>
        <p:nvSpPr>
          <p:cNvPr id="22" name="CustomFooter">
            <a:extLst>
              <a:ext uri="{FF2B5EF4-FFF2-40B4-BE49-F238E27FC236}">
                <a16:creationId xmlns:a16="http://schemas.microsoft.com/office/drawing/2014/main" id="{F5ACF743-6D61-4EF1-BD24-5DEB6A3AC3FA}"/>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19 / 43</a:t>
            </a:r>
            <a:endParaRPr lang="LID4096" sz="1000" spc="100">
              <a:solidFill>
                <a:srgbClr val="A6A6A6"/>
              </a:solidFill>
              <a:latin typeface="Helvetica Neue45 Light"/>
            </a:endParaRPr>
          </a:p>
        </p:txBody>
      </p:sp>
      <p:sp>
        <p:nvSpPr>
          <p:cNvPr id="23" name="TACMeeting">
            <a:extLst>
              <a:ext uri="{FF2B5EF4-FFF2-40B4-BE49-F238E27FC236}">
                <a16:creationId xmlns:a16="http://schemas.microsoft.com/office/drawing/2014/main" id="{6AEDA95B-C35D-4942-9FCE-C716018CFAF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955275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ADBF4B2-3808-42BD-B627-207E86785875}"/>
              </a:ext>
            </a:extLst>
          </p:cNvPr>
          <p:cNvSpPr>
            <a:spLocks noGrp="1"/>
          </p:cNvSpPr>
          <p:nvPr>
            <p:ph type="body" sz="quarter" idx="12"/>
          </p:nvPr>
        </p:nvSpPr>
        <p:spPr>
          <a:xfrm>
            <a:off x="649648" y="1758950"/>
            <a:ext cx="9734216" cy="7332663"/>
          </a:xfrm>
        </p:spPr>
        <p:txBody>
          <a:bodyPr/>
          <a:lstStyle/>
          <a:p>
            <a:r>
              <a:rPr lang="en-US" dirty="0"/>
              <a:t>Clock noise of the electronics couples into the measurement via (at least) three mechanisms</a:t>
            </a:r>
          </a:p>
          <a:p>
            <a:pPr marL="457200" indent="-457200">
              <a:buFont typeface="Arial" panose="020B0604020202020204" pitchFamily="34" charset="0"/>
              <a:buChar char="•"/>
            </a:pPr>
            <a:r>
              <a:rPr lang="en-US" dirty="0"/>
              <a:t>Direct phase noise at the ADC/DACs</a:t>
            </a:r>
          </a:p>
          <a:p>
            <a:pPr marL="457200" indent="-457200">
              <a:buFont typeface="Arial" panose="020B0604020202020204" pitchFamily="34" charset="0"/>
              <a:buChar char="•"/>
            </a:pPr>
            <a:r>
              <a:rPr lang="en-US" dirty="0"/>
              <a:t>Delay/ranging error</a:t>
            </a:r>
          </a:p>
          <a:p>
            <a:pPr marL="457200" indent="-457200">
              <a:buFont typeface="Arial" panose="020B0604020202020204" pitchFamily="34" charset="0"/>
              <a:buChar char="•"/>
            </a:pPr>
            <a:r>
              <a:rPr lang="en-US" dirty="0"/>
              <a:t>Changing frequency at input and output </a:t>
            </a:r>
            <a:endParaRPr lang="LID4096" dirty="0"/>
          </a:p>
        </p:txBody>
      </p:sp>
      <p:pic>
        <p:nvPicPr>
          <p:cNvPr id="16" name="Picture 15">
            <a:extLst>
              <a:ext uri="{FF2B5EF4-FFF2-40B4-BE49-F238E27FC236}">
                <a16:creationId xmlns:a16="http://schemas.microsoft.com/office/drawing/2014/main" id="{F6C9CEA9-2867-4685-955A-6CBA10833230}"/>
              </a:ext>
            </a:extLst>
          </p:cNvPr>
          <p:cNvPicPr>
            <a:picLocks noChangeAspect="1"/>
          </p:cNvPicPr>
          <p:nvPr/>
        </p:nvPicPr>
        <p:blipFill>
          <a:blip r:embed="rId3"/>
          <a:stretch>
            <a:fillRect/>
          </a:stretch>
        </p:blipFill>
        <p:spPr>
          <a:xfrm>
            <a:off x="8400212" y="2774859"/>
            <a:ext cx="8316497" cy="5742542"/>
          </a:xfrm>
          <a:prstGeom prst="rect">
            <a:avLst/>
          </a:prstGeom>
        </p:spPr>
      </p:pic>
      <p:pic>
        <p:nvPicPr>
          <p:cNvPr id="20" name="Image 0" descr="preencoded.png">
            <a:extLst>
              <a:ext uri="{FF2B5EF4-FFF2-40B4-BE49-F238E27FC236}">
                <a16:creationId xmlns:a16="http://schemas.microsoft.com/office/drawing/2014/main" id="{AAE0225E-3E03-42BD-9631-9D72DF720053}"/>
              </a:ext>
            </a:extLst>
          </p:cNvPr>
          <p:cNvPicPr>
            <a:picLocks noChangeAspect="1"/>
          </p:cNvPicPr>
          <p:nvPr/>
        </p:nvPicPr>
        <p:blipFill>
          <a:blip r:embed="rId4"/>
          <a:srcRect l="-3543" r="-3543"/>
          <a:stretch/>
        </p:blipFill>
        <p:spPr>
          <a:xfrm>
            <a:off x="3683000" y="5129547"/>
            <a:ext cx="2890421" cy="3251757"/>
          </a:xfrm>
          <a:prstGeom prst="rect">
            <a:avLst/>
          </a:prstGeom>
        </p:spPr>
      </p:pic>
      <p:sp>
        <p:nvSpPr>
          <p:cNvPr id="5" name="Text Placeholder 4">
            <a:extLst>
              <a:ext uri="{FF2B5EF4-FFF2-40B4-BE49-F238E27FC236}">
                <a16:creationId xmlns:a16="http://schemas.microsoft.com/office/drawing/2014/main" id="{86B7389E-8C4D-4114-BC17-97C52D7D2703}"/>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4" name="Title 3">
            <a:extLst>
              <a:ext uri="{FF2B5EF4-FFF2-40B4-BE49-F238E27FC236}">
                <a16:creationId xmlns:a16="http://schemas.microsoft.com/office/drawing/2014/main" id="{F7D16DFC-DD10-4CD5-B506-82D32151E31E}"/>
              </a:ext>
            </a:extLst>
          </p:cNvPr>
          <p:cNvSpPr>
            <a:spLocks noGrp="1"/>
          </p:cNvSpPr>
          <p:nvPr>
            <p:ph type="title"/>
          </p:nvPr>
        </p:nvSpPr>
        <p:spPr/>
        <p:txBody>
          <a:bodyPr/>
          <a:lstStyle/>
          <a:p>
            <a:r>
              <a:rPr lang="en-US" dirty="0"/>
              <a:t>Clock Noise of the boards</a:t>
            </a:r>
            <a:endParaRPr lang="LID4096" dirty="0"/>
          </a:p>
        </p:txBody>
      </p:sp>
      <p:sp>
        <p:nvSpPr>
          <p:cNvPr id="7" name="CustomFooter">
            <a:extLst>
              <a:ext uri="{FF2B5EF4-FFF2-40B4-BE49-F238E27FC236}">
                <a16:creationId xmlns:a16="http://schemas.microsoft.com/office/drawing/2014/main" id="{6762AD4F-F21C-4C76-A5EF-74A4995D8E5A}"/>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20 / 43</a:t>
            </a:r>
            <a:endParaRPr lang="LID4096" sz="1000" spc="100">
              <a:solidFill>
                <a:srgbClr val="A6A6A6"/>
              </a:solidFill>
              <a:latin typeface="Helvetica Neue45 Light"/>
            </a:endParaRPr>
          </a:p>
        </p:txBody>
      </p:sp>
      <p:sp>
        <p:nvSpPr>
          <p:cNvPr id="8" name="TACMeeting">
            <a:extLst>
              <a:ext uri="{FF2B5EF4-FFF2-40B4-BE49-F238E27FC236}">
                <a16:creationId xmlns:a16="http://schemas.microsoft.com/office/drawing/2014/main" id="{7FDC6055-3274-47E2-B96C-DD9FA6768BB7}"/>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42065103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214EA01C-1229-41AB-9D4A-6D20973459D5}"/>
              </a:ext>
            </a:extLst>
          </p:cNvPr>
          <p:cNvSpPr>
            <a:spLocks noGrp="1"/>
          </p:cNvSpPr>
          <p:nvPr>
            <p:ph type="body" sz="quarter" idx="12"/>
          </p:nvPr>
        </p:nvSpPr>
        <p:spPr/>
        <p:txBody>
          <a:bodyPr/>
          <a:lstStyle/>
          <a:p>
            <a:r>
              <a:rPr lang="en-US" dirty="0"/>
              <a:t>Results of a one-board TDI2 and signal injection. Works. I didn’t help at all w this measurement</a:t>
            </a:r>
            <a:endParaRPr lang="LID4096" dirty="0"/>
          </a:p>
        </p:txBody>
      </p:sp>
      <p:sp>
        <p:nvSpPr>
          <p:cNvPr id="9" name="Text 5"/>
          <p:cNvSpPr/>
          <p:nvPr/>
        </p:nvSpPr>
        <p:spPr>
          <a:xfrm>
            <a:off x="13311507" y="9097351"/>
            <a:ext cx="3373256" cy="503551"/>
          </a:xfrm>
          <a:prstGeom prst="rect">
            <a:avLst/>
          </a:prstGeom>
          <a:noFill/>
          <a:ln/>
        </p:spPr>
        <p:txBody>
          <a:bodyPr wrap="square" lIns="25400" tIns="25400" rIns="25400" bIns="25400" rtlCol="0" anchor="t">
            <a:noAutofit/>
          </a:bodyPr>
          <a:lstStyle/>
          <a:p>
            <a:pPr marL="0" indent="0" algn="l">
              <a:buNone/>
            </a:pPr>
            <a:r>
              <a:rPr lang="en-US" dirty="0">
                <a:solidFill>
                  <a:srgbClr val="A0A0A0"/>
                </a:solidFill>
                <a:latin typeface="Helvetica Neue" pitchFamily="34" charset="0"/>
                <a:ea typeface="Helvetica Neue" pitchFamily="34" charset="-122"/>
                <a:cs typeface="Helvetica Neue" pitchFamily="34" charset="-120"/>
              </a:rPr>
              <a:t>Credit: R. Ferguson </a:t>
            </a:r>
            <a:r>
              <a:rPr lang="en-US" i="1" dirty="0">
                <a:solidFill>
                  <a:srgbClr val="A0A0A0"/>
                </a:solidFill>
                <a:latin typeface="Helvetica Neue" pitchFamily="34" charset="0"/>
                <a:ea typeface="Helvetica Neue" pitchFamily="34" charset="-122"/>
                <a:cs typeface="Helvetica Neue" pitchFamily="34" charset="-120"/>
              </a:rPr>
              <a:t>et al</a:t>
            </a:r>
            <a:r>
              <a:rPr lang="en-US" dirty="0">
                <a:solidFill>
                  <a:srgbClr val="A0A0A0"/>
                </a:solidFill>
                <a:latin typeface="Helvetica Neue" pitchFamily="34" charset="0"/>
                <a:ea typeface="Helvetica Neue" pitchFamily="34" charset="-122"/>
                <a:cs typeface="Helvetica Neue" pitchFamily="34" charset="-120"/>
              </a:rPr>
              <a:t>. (2026)</a:t>
            </a:r>
            <a:endParaRPr lang="en-US" dirty="0"/>
          </a:p>
        </p:txBody>
      </p:sp>
      <p:sp>
        <p:nvSpPr>
          <p:cNvPr id="6" name="Text 4"/>
          <p:cNvSpPr/>
          <p:nvPr/>
        </p:nvSpPr>
        <p:spPr>
          <a:xfrm>
            <a:off x="527300" y="8502038"/>
            <a:ext cx="7262165" cy="771823"/>
          </a:xfrm>
          <a:prstGeom prst="rect">
            <a:avLst/>
          </a:prstGeom>
          <a:noFill/>
          <a:ln/>
        </p:spPr>
        <p:txBody>
          <a:bodyPr wrap="square" lIns="25400" tIns="25400" rIns="25400" bIns="25400" rtlCol="0" anchor="t">
            <a:noAutofit/>
          </a:bodyPr>
          <a:lstStyle/>
          <a:p>
            <a:pPr marL="0" indent="0" algn="l">
              <a:lnSpc>
                <a:spcPct val="145000"/>
              </a:lnSpc>
              <a:buNone/>
            </a:pPr>
            <a:endParaRPr lang="en-US" sz="2000" dirty="0"/>
          </a:p>
        </p:txBody>
      </p:sp>
      <p:pic>
        <p:nvPicPr>
          <p:cNvPr id="14" name="Graphic 13">
            <a:extLst>
              <a:ext uri="{FF2B5EF4-FFF2-40B4-BE49-F238E27FC236}">
                <a16:creationId xmlns:a16="http://schemas.microsoft.com/office/drawing/2014/main" id="{8BD7B5C4-8A3D-12A9-042F-E4EDD07002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439261" y="2357546"/>
            <a:ext cx="7815722" cy="793784"/>
          </a:xfrm>
          <a:prstGeom prst="rect">
            <a:avLst/>
          </a:prstGeom>
        </p:spPr>
      </p:pic>
      <p:sp>
        <p:nvSpPr>
          <p:cNvPr id="5" name="Text Placeholder 4">
            <a:extLst>
              <a:ext uri="{FF2B5EF4-FFF2-40B4-BE49-F238E27FC236}">
                <a16:creationId xmlns:a16="http://schemas.microsoft.com/office/drawing/2014/main" id="{D33C5166-B5FD-4CE9-AE80-6895D5676C4D}"/>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4" name="Title 3">
            <a:extLst>
              <a:ext uri="{FF2B5EF4-FFF2-40B4-BE49-F238E27FC236}">
                <a16:creationId xmlns:a16="http://schemas.microsoft.com/office/drawing/2014/main" id="{D26029E6-8B1A-4ACE-BB3A-38F44A1D6B11}"/>
              </a:ext>
            </a:extLst>
          </p:cNvPr>
          <p:cNvSpPr>
            <a:spLocks noGrp="1"/>
          </p:cNvSpPr>
          <p:nvPr>
            <p:ph type="title"/>
          </p:nvPr>
        </p:nvSpPr>
        <p:spPr/>
        <p:txBody>
          <a:bodyPr/>
          <a:lstStyle/>
          <a:p>
            <a:r>
              <a:rPr lang="en-US" dirty="0"/>
              <a:t>TDI 2, one board</a:t>
            </a:r>
            <a:endParaRPr lang="LID4096" dirty="0"/>
          </a:p>
        </p:txBody>
      </p:sp>
      <p:sp>
        <p:nvSpPr>
          <p:cNvPr id="8" name="CustomFooter">
            <a:extLst>
              <a:ext uri="{FF2B5EF4-FFF2-40B4-BE49-F238E27FC236}">
                <a16:creationId xmlns:a16="http://schemas.microsoft.com/office/drawing/2014/main" id="{51925BC9-95F2-4796-BC8A-80AB1A44F55C}"/>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21 / 43</a:t>
            </a:r>
            <a:endParaRPr lang="LID4096" sz="1000" spc="100">
              <a:solidFill>
                <a:srgbClr val="A6A6A6"/>
              </a:solidFill>
              <a:latin typeface="Helvetica Neue45 Light"/>
            </a:endParaRPr>
          </a:p>
        </p:txBody>
      </p:sp>
      <p:sp>
        <p:nvSpPr>
          <p:cNvPr id="10" name="TACMeeting">
            <a:extLst>
              <a:ext uri="{FF2B5EF4-FFF2-40B4-BE49-F238E27FC236}">
                <a16:creationId xmlns:a16="http://schemas.microsoft.com/office/drawing/2014/main" id="{B0F1E579-A614-4208-BBD1-0F1BD51D4B2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4"/>
          <p:cNvSpPr/>
          <p:nvPr/>
        </p:nvSpPr>
        <p:spPr>
          <a:xfrm>
            <a:off x="527300" y="8502038"/>
            <a:ext cx="7262165" cy="771823"/>
          </a:xfrm>
          <a:prstGeom prst="rect">
            <a:avLst/>
          </a:prstGeom>
          <a:noFill/>
          <a:ln/>
        </p:spPr>
        <p:txBody>
          <a:bodyPr wrap="square" lIns="25400" tIns="25400" rIns="25400" bIns="25400" rtlCol="0" anchor="t">
            <a:noAutofit/>
          </a:bodyPr>
          <a:lstStyle/>
          <a:p>
            <a:pPr marL="0" indent="0" algn="l">
              <a:lnSpc>
                <a:spcPct val="145000"/>
              </a:lnSpc>
              <a:buNone/>
            </a:pPr>
            <a:endParaRPr lang="en-US" sz="2000" dirty="0"/>
          </a:p>
        </p:txBody>
      </p:sp>
      <p:pic>
        <p:nvPicPr>
          <p:cNvPr id="5" name="Picture 4">
            <a:extLst>
              <a:ext uri="{FF2B5EF4-FFF2-40B4-BE49-F238E27FC236}">
                <a16:creationId xmlns:a16="http://schemas.microsoft.com/office/drawing/2014/main" id="{BDA0373D-BE9F-4A20-9E03-FB69861D4DEF}"/>
              </a:ext>
            </a:extLst>
          </p:cNvPr>
          <p:cNvPicPr>
            <a:picLocks noChangeAspect="1"/>
          </p:cNvPicPr>
          <p:nvPr/>
        </p:nvPicPr>
        <p:blipFill>
          <a:blip r:embed="rId3"/>
          <a:stretch>
            <a:fillRect/>
          </a:stretch>
        </p:blipFill>
        <p:spPr>
          <a:xfrm>
            <a:off x="8085454" y="2627711"/>
            <a:ext cx="9440545" cy="5900340"/>
          </a:xfrm>
          <a:prstGeom prst="rect">
            <a:avLst/>
          </a:prstGeom>
        </p:spPr>
      </p:pic>
      <p:sp>
        <p:nvSpPr>
          <p:cNvPr id="8" name="Text Placeholder 7">
            <a:extLst>
              <a:ext uri="{FF2B5EF4-FFF2-40B4-BE49-F238E27FC236}">
                <a16:creationId xmlns:a16="http://schemas.microsoft.com/office/drawing/2014/main" id="{BBE8DD73-2A1A-44D3-B2A7-4380287B3D3D}"/>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7" name="Title 6">
            <a:extLst>
              <a:ext uri="{FF2B5EF4-FFF2-40B4-BE49-F238E27FC236}">
                <a16:creationId xmlns:a16="http://schemas.microsoft.com/office/drawing/2014/main" id="{D33CC878-F9E7-4DC3-A137-D292C9542A8F}"/>
              </a:ext>
            </a:extLst>
          </p:cNvPr>
          <p:cNvSpPr>
            <a:spLocks noGrp="1"/>
          </p:cNvSpPr>
          <p:nvPr>
            <p:ph type="title"/>
          </p:nvPr>
        </p:nvSpPr>
        <p:spPr/>
        <p:txBody>
          <a:bodyPr/>
          <a:lstStyle/>
          <a:p>
            <a:r>
              <a:rPr lang="en-US" dirty="0"/>
              <a:t>TDI Michelson X with 3 boards</a:t>
            </a:r>
            <a:endParaRPr lang="LID4096" dirty="0"/>
          </a:p>
        </p:txBody>
      </p:sp>
      <p:sp>
        <p:nvSpPr>
          <p:cNvPr id="10" name="Text Placeholder 9">
            <a:extLst>
              <a:ext uri="{FF2B5EF4-FFF2-40B4-BE49-F238E27FC236}">
                <a16:creationId xmlns:a16="http://schemas.microsoft.com/office/drawing/2014/main" id="{0F8A8C17-D9ED-4599-BB70-313464231BD5}"/>
              </a:ext>
            </a:extLst>
          </p:cNvPr>
          <p:cNvSpPr>
            <a:spLocks noGrp="1"/>
          </p:cNvSpPr>
          <p:nvPr>
            <p:ph type="body" sz="quarter" idx="12"/>
          </p:nvPr>
        </p:nvSpPr>
        <p:spPr/>
        <p:txBody>
          <a:bodyPr/>
          <a:lstStyle/>
          <a:p>
            <a:r>
              <a:rPr lang="en-US" dirty="0"/>
              <a:t>This is a measurement I was very closely involved in. Noise floor is unexplained as just the base line doesn’t quite come here.</a:t>
            </a:r>
          </a:p>
          <a:p>
            <a:r>
              <a:rPr lang="en-US" dirty="0"/>
              <a:t>For comparison, we also plot the baseline and its TDI 1 </a:t>
            </a:r>
            <a:r>
              <a:rPr lang="en-US" dirty="0" err="1"/>
              <a:t>transferfunction</a:t>
            </a:r>
            <a:r>
              <a:rPr lang="en-US" dirty="0"/>
              <a:t> ASD – which doesn’t go over 10-5.</a:t>
            </a:r>
          </a:p>
          <a:p>
            <a:r>
              <a:rPr lang="en-US" dirty="0"/>
              <a:t>This is actually a big issue, but not with TDI</a:t>
            </a:r>
            <a:endParaRPr lang="LID4096" dirty="0"/>
          </a:p>
        </p:txBody>
      </p:sp>
      <p:sp>
        <p:nvSpPr>
          <p:cNvPr id="11" name="CustomFooter">
            <a:extLst>
              <a:ext uri="{FF2B5EF4-FFF2-40B4-BE49-F238E27FC236}">
                <a16:creationId xmlns:a16="http://schemas.microsoft.com/office/drawing/2014/main" id="{071B92D1-92AC-4383-8021-C6D59CB9F4A5}"/>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22 / 43</a:t>
            </a:r>
            <a:endParaRPr lang="LID4096" sz="1000" spc="100">
              <a:solidFill>
                <a:srgbClr val="A6A6A6"/>
              </a:solidFill>
              <a:latin typeface="Helvetica Neue45 Light"/>
            </a:endParaRPr>
          </a:p>
        </p:txBody>
      </p:sp>
      <p:sp>
        <p:nvSpPr>
          <p:cNvPr id="12" name="TACMeeting">
            <a:extLst>
              <a:ext uri="{FF2B5EF4-FFF2-40B4-BE49-F238E27FC236}">
                <a16:creationId xmlns:a16="http://schemas.microsoft.com/office/drawing/2014/main" id="{4E3395BF-DD38-4D13-B38B-E0F50AD6A346}"/>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pic>
        <p:nvPicPr>
          <p:cNvPr id="17" name="Picture 16">
            <a:extLst>
              <a:ext uri="{FF2B5EF4-FFF2-40B4-BE49-F238E27FC236}">
                <a16:creationId xmlns:a16="http://schemas.microsoft.com/office/drawing/2014/main" id="{59D1BE79-D35A-49E2-965D-A4222CC64AA1}"/>
              </a:ext>
            </a:extLst>
          </p:cNvPr>
          <p:cNvPicPr>
            <a:picLocks noChangeAspect="1"/>
          </p:cNvPicPr>
          <p:nvPr/>
        </p:nvPicPr>
        <p:blipFill rotWithShape="1">
          <a:blip r:embed="rId4"/>
          <a:srcRect l="50000"/>
          <a:stretch/>
        </p:blipFill>
        <p:spPr>
          <a:xfrm>
            <a:off x="2109576" y="5479859"/>
            <a:ext cx="5943613" cy="4572009"/>
          </a:xfrm>
          <a:prstGeom prst="rect">
            <a:avLst/>
          </a:prstGeom>
        </p:spPr>
      </p:pic>
    </p:spTree>
    <p:extLst>
      <p:ext uri="{BB962C8B-B14F-4D97-AF65-F5344CB8AC3E}">
        <p14:creationId xmlns:p14="http://schemas.microsoft.com/office/powerpoint/2010/main" val="822954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20C808A-825A-4471-B86E-69FBCCBA7D80}"/>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4" name="Title 3">
            <a:extLst>
              <a:ext uri="{FF2B5EF4-FFF2-40B4-BE49-F238E27FC236}">
                <a16:creationId xmlns:a16="http://schemas.microsoft.com/office/drawing/2014/main" id="{642BE012-84E8-4DCE-8D23-27A78AC4AAB3}"/>
              </a:ext>
            </a:extLst>
          </p:cNvPr>
          <p:cNvSpPr>
            <a:spLocks noGrp="1"/>
          </p:cNvSpPr>
          <p:nvPr>
            <p:ph type="title"/>
          </p:nvPr>
        </p:nvSpPr>
        <p:spPr/>
        <p:txBody>
          <a:bodyPr/>
          <a:lstStyle/>
          <a:p>
            <a:r>
              <a:rPr lang="en-US" dirty="0"/>
              <a:t>Injecting Laser Noise</a:t>
            </a:r>
            <a:endParaRPr lang="LID4096" dirty="0"/>
          </a:p>
        </p:txBody>
      </p:sp>
      <p:sp>
        <p:nvSpPr>
          <p:cNvPr id="6" name="Text Placeholder 5">
            <a:extLst>
              <a:ext uri="{FF2B5EF4-FFF2-40B4-BE49-F238E27FC236}">
                <a16:creationId xmlns:a16="http://schemas.microsoft.com/office/drawing/2014/main" id="{2530D67A-4FF1-4865-9911-C9430A10CD29}"/>
              </a:ext>
            </a:extLst>
          </p:cNvPr>
          <p:cNvSpPr>
            <a:spLocks noGrp="1"/>
          </p:cNvSpPr>
          <p:nvPr>
            <p:ph type="body" sz="quarter" idx="12"/>
          </p:nvPr>
        </p:nvSpPr>
        <p:spPr>
          <a:xfrm>
            <a:off x="649648" y="1758950"/>
            <a:ext cx="9091037" cy="7332663"/>
          </a:xfrm>
        </p:spPr>
        <p:txBody>
          <a:bodyPr/>
          <a:lstStyle/>
          <a:p>
            <a:r>
              <a:rPr lang="en-US" dirty="0"/>
              <a:t>Why do over all</a:t>
            </a:r>
          </a:p>
          <a:p>
            <a:r>
              <a:rPr lang="en-US" dirty="0"/>
              <a:t>Why use cavities?</a:t>
            </a:r>
          </a:p>
          <a:p>
            <a:r>
              <a:rPr lang="en-US" dirty="0"/>
              <a:t>This will be covered again later in the Next steps (?)</a:t>
            </a:r>
            <a:endParaRPr lang="LID4096" dirty="0"/>
          </a:p>
        </p:txBody>
      </p:sp>
      <p:sp>
        <p:nvSpPr>
          <p:cNvPr id="7" name="CustomFooter">
            <a:extLst>
              <a:ext uri="{FF2B5EF4-FFF2-40B4-BE49-F238E27FC236}">
                <a16:creationId xmlns:a16="http://schemas.microsoft.com/office/drawing/2014/main" id="{205E37EC-8856-43E6-BB5B-7933C40CF6DD}"/>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23 / 43</a:t>
            </a:r>
            <a:endParaRPr lang="LID4096" sz="1000" spc="100">
              <a:solidFill>
                <a:srgbClr val="A6A6A6"/>
              </a:solidFill>
              <a:latin typeface="Helvetica Neue45 Light"/>
            </a:endParaRPr>
          </a:p>
        </p:txBody>
      </p:sp>
      <p:sp>
        <p:nvSpPr>
          <p:cNvPr id="8" name="TACMeeting">
            <a:extLst>
              <a:ext uri="{FF2B5EF4-FFF2-40B4-BE49-F238E27FC236}">
                <a16:creationId xmlns:a16="http://schemas.microsoft.com/office/drawing/2014/main" id="{7C7847EA-460D-4482-8B12-FE58D631F327}"/>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5373062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C5A96991-DDD7-46E4-907F-F194FED0092C}"/>
              </a:ext>
            </a:extLst>
          </p:cNvPr>
          <p:cNvSpPr>
            <a:spLocks noGrp="1"/>
          </p:cNvSpPr>
          <p:nvPr>
            <p:ph type="body" sz="quarter" idx="12"/>
          </p:nvPr>
        </p:nvSpPr>
        <p:spPr>
          <a:xfrm>
            <a:off x="649648" y="1758950"/>
            <a:ext cx="9966691" cy="7332663"/>
          </a:xfrm>
        </p:spPr>
        <p:txBody>
          <a:bodyPr/>
          <a:lstStyle/>
          <a:p>
            <a:r>
              <a:rPr lang="en-US" sz="3200" dirty="0">
                <a:solidFill>
                  <a:srgbClr val="252525"/>
                </a:solidFill>
                <a:latin typeface="Helvetica Neue" pitchFamily="34" charset="0"/>
                <a:ea typeface="Helvetica Neue" pitchFamily="34" charset="-122"/>
                <a:cs typeface="Helvetica Neue" pitchFamily="34" charset="-120"/>
              </a:rPr>
              <a:t>Photodetector readings are dominated by free-running laser frequency noise.</a:t>
            </a:r>
            <a:endParaRPr lang="en-US" sz="3200" dirty="0"/>
          </a:p>
          <a:p>
            <a:r>
              <a:rPr lang="en-US" dirty="0"/>
              <a:t>Everything seems to work as expected</a:t>
            </a:r>
            <a:endParaRPr lang="LID4096" dirty="0"/>
          </a:p>
        </p:txBody>
      </p:sp>
      <p:pic>
        <p:nvPicPr>
          <p:cNvPr id="9" name="Image 1" descr="preencoded.png"/>
          <p:cNvPicPr>
            <a:picLocks noChangeAspect="1"/>
          </p:cNvPicPr>
          <p:nvPr/>
        </p:nvPicPr>
        <p:blipFill>
          <a:blip r:embed="rId3"/>
          <a:srcRect t="-2908" b="-2908"/>
          <a:stretch/>
        </p:blipFill>
        <p:spPr>
          <a:xfrm>
            <a:off x="36463" y="5452021"/>
            <a:ext cx="8778180" cy="4011811"/>
          </a:xfrm>
          <a:prstGeom prst="rect">
            <a:avLst/>
          </a:prstGeom>
        </p:spPr>
      </p:pic>
      <p:sp>
        <p:nvSpPr>
          <p:cNvPr id="12" name="Text 6"/>
          <p:cNvSpPr/>
          <p:nvPr/>
        </p:nvSpPr>
        <p:spPr>
          <a:xfrm>
            <a:off x="9665211" y="8898136"/>
            <a:ext cx="865015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Free-running photodetector noise vs. mixed output</a:t>
            </a:r>
            <a:endParaRPr lang="en-US" sz="1400" dirty="0"/>
          </a:p>
        </p:txBody>
      </p:sp>
      <p:pic>
        <p:nvPicPr>
          <p:cNvPr id="17" name="Picture 16">
            <a:extLst>
              <a:ext uri="{FF2B5EF4-FFF2-40B4-BE49-F238E27FC236}">
                <a16:creationId xmlns:a16="http://schemas.microsoft.com/office/drawing/2014/main" id="{B954DF51-94B2-2ED0-10CE-898C4F430049}"/>
              </a:ext>
            </a:extLst>
          </p:cNvPr>
          <p:cNvPicPr>
            <a:picLocks noChangeAspect="1"/>
          </p:cNvPicPr>
          <p:nvPr/>
        </p:nvPicPr>
        <p:blipFill>
          <a:blip r:embed="rId4"/>
          <a:stretch>
            <a:fillRect/>
          </a:stretch>
        </p:blipFill>
        <p:spPr>
          <a:xfrm>
            <a:off x="8625027" y="2686050"/>
            <a:ext cx="9169132" cy="6212087"/>
          </a:xfrm>
          <a:prstGeom prst="rect">
            <a:avLst/>
          </a:prstGeom>
        </p:spPr>
      </p:pic>
      <p:pic>
        <p:nvPicPr>
          <p:cNvPr id="19" name="Graphic 18">
            <a:extLst>
              <a:ext uri="{FF2B5EF4-FFF2-40B4-BE49-F238E27FC236}">
                <a16:creationId xmlns:a16="http://schemas.microsoft.com/office/drawing/2014/main" id="{497E3155-537D-D3FC-3190-D1318C1BAD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841" y="5681859"/>
            <a:ext cx="2714580" cy="435674"/>
          </a:xfrm>
          <a:prstGeom prst="rect">
            <a:avLst/>
          </a:prstGeom>
        </p:spPr>
      </p:pic>
      <p:pic>
        <p:nvPicPr>
          <p:cNvPr id="24" name="Graphic 23">
            <a:extLst>
              <a:ext uri="{FF2B5EF4-FFF2-40B4-BE49-F238E27FC236}">
                <a16:creationId xmlns:a16="http://schemas.microsoft.com/office/drawing/2014/main" id="{353F65C7-070D-26B6-1080-5949ACE71CA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00064" y="8807845"/>
            <a:ext cx="2714579" cy="435673"/>
          </a:xfrm>
          <a:prstGeom prst="rect">
            <a:avLst/>
          </a:prstGeom>
        </p:spPr>
      </p:pic>
      <p:pic>
        <p:nvPicPr>
          <p:cNvPr id="26" name="Graphic 25">
            <a:extLst>
              <a:ext uri="{FF2B5EF4-FFF2-40B4-BE49-F238E27FC236}">
                <a16:creationId xmlns:a16="http://schemas.microsoft.com/office/drawing/2014/main" id="{B402B887-94F3-2117-BDB8-FEF7E7C5A3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98520" y="3870502"/>
            <a:ext cx="12103615" cy="1038594"/>
          </a:xfrm>
          <a:prstGeom prst="rect">
            <a:avLst/>
          </a:prstGeom>
        </p:spPr>
      </p:pic>
      <p:sp>
        <p:nvSpPr>
          <p:cNvPr id="6" name="Text Placeholder 5">
            <a:extLst>
              <a:ext uri="{FF2B5EF4-FFF2-40B4-BE49-F238E27FC236}">
                <a16:creationId xmlns:a16="http://schemas.microsoft.com/office/drawing/2014/main" id="{5F977178-BFDA-4E2F-B718-5E5F1DB77DF4}"/>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4" name="Title 3">
            <a:extLst>
              <a:ext uri="{FF2B5EF4-FFF2-40B4-BE49-F238E27FC236}">
                <a16:creationId xmlns:a16="http://schemas.microsoft.com/office/drawing/2014/main" id="{FC692106-9C94-4E4E-98B6-0EF4E136252B}"/>
              </a:ext>
            </a:extLst>
          </p:cNvPr>
          <p:cNvSpPr>
            <a:spLocks noGrp="1"/>
          </p:cNvSpPr>
          <p:nvPr>
            <p:ph type="title"/>
          </p:nvPr>
        </p:nvSpPr>
        <p:spPr/>
        <p:txBody>
          <a:bodyPr/>
          <a:lstStyle/>
          <a:p>
            <a:r>
              <a:rPr lang="en-US" dirty="0"/>
              <a:t>PLL lock of far spacecraft</a:t>
            </a:r>
            <a:endParaRPr lang="LID4096" dirty="0"/>
          </a:p>
        </p:txBody>
      </p:sp>
      <p:sp>
        <p:nvSpPr>
          <p:cNvPr id="10" name="CustomFooter">
            <a:extLst>
              <a:ext uri="{FF2B5EF4-FFF2-40B4-BE49-F238E27FC236}">
                <a16:creationId xmlns:a16="http://schemas.microsoft.com/office/drawing/2014/main" id="{4294DB45-10F4-4E7E-A1F1-24B3BB8B320C}"/>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24 / 43</a:t>
            </a:r>
            <a:endParaRPr lang="LID4096" sz="1000" spc="100">
              <a:solidFill>
                <a:srgbClr val="A6A6A6"/>
              </a:solidFill>
              <a:latin typeface="Helvetica Neue45 Light"/>
            </a:endParaRPr>
          </a:p>
        </p:txBody>
      </p:sp>
      <p:sp>
        <p:nvSpPr>
          <p:cNvPr id="11" name="TACMeeting">
            <a:extLst>
              <a:ext uri="{FF2B5EF4-FFF2-40B4-BE49-F238E27FC236}">
                <a16:creationId xmlns:a16="http://schemas.microsoft.com/office/drawing/2014/main" id="{00072705-A966-4C08-8600-E766DAC00960}"/>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871C6946-CECF-40E0-A29A-9A2F7E310CF3}"/>
              </a:ext>
            </a:extLst>
          </p:cNvPr>
          <p:cNvSpPr>
            <a:spLocks noGrp="1"/>
          </p:cNvSpPr>
          <p:nvPr>
            <p:ph type="body" sz="quarter" idx="12"/>
          </p:nvPr>
        </p:nvSpPr>
        <p:spPr/>
        <p:txBody>
          <a:bodyPr/>
          <a:lstStyle/>
          <a:p>
            <a:r>
              <a:rPr lang="en-US" sz="3200" dirty="0">
                <a:solidFill>
                  <a:srgbClr val="1A1A1A"/>
                </a:solidFill>
                <a:latin typeface="Helvetica Neue" pitchFamily="34" charset="0"/>
                <a:ea typeface="Helvetica Neue" pitchFamily="34" charset="-122"/>
                <a:cs typeface="Helvetica Neue" pitchFamily="34" charset="-120"/>
              </a:rPr>
              <a:t>We can recover a LISA-like one-way laser-noise transfer function.</a:t>
            </a:r>
            <a:endParaRPr lang="en-US" sz="3200" dirty="0"/>
          </a:p>
          <a:p>
            <a:endParaRPr lang="LID4096" dirty="0"/>
          </a:p>
        </p:txBody>
      </p:sp>
      <p:pic>
        <p:nvPicPr>
          <p:cNvPr id="7" name="Image 1" descr="preencoded.png"/>
          <p:cNvPicPr>
            <a:picLocks noChangeAspect="1"/>
          </p:cNvPicPr>
          <p:nvPr/>
        </p:nvPicPr>
        <p:blipFill>
          <a:blip r:embed="rId3"/>
          <a:srcRect t="-2908" b="-2908"/>
          <a:stretch/>
        </p:blipFill>
        <p:spPr>
          <a:xfrm>
            <a:off x="36463" y="5452021"/>
            <a:ext cx="8778180" cy="4011811"/>
          </a:xfrm>
          <a:prstGeom prst="rect">
            <a:avLst/>
          </a:prstGeom>
        </p:spPr>
      </p:pic>
      <p:pic>
        <p:nvPicPr>
          <p:cNvPr id="9" name="Image 3" descr="preencoded.png"/>
          <p:cNvPicPr>
            <a:picLocks noChangeAspect="1"/>
          </p:cNvPicPr>
          <p:nvPr/>
        </p:nvPicPr>
        <p:blipFill>
          <a:blip r:embed="rId4"/>
          <a:srcRect t="-80" b="-80"/>
          <a:stretch/>
        </p:blipFill>
        <p:spPr>
          <a:xfrm>
            <a:off x="8595271" y="2571750"/>
            <a:ext cx="9326761" cy="6377880"/>
          </a:xfrm>
          <a:prstGeom prst="rect">
            <a:avLst/>
          </a:prstGeom>
        </p:spPr>
      </p:pic>
      <p:sp>
        <p:nvSpPr>
          <p:cNvPr id="10" name="Text 4"/>
          <p:cNvSpPr/>
          <p:nvPr/>
        </p:nvSpPr>
        <p:spPr>
          <a:xfrm>
            <a:off x="9473156" y="8949630"/>
            <a:ext cx="8851359" cy="209550"/>
          </a:xfrm>
          <a:prstGeom prst="rect">
            <a:avLst/>
          </a:prstGeom>
          <a:noFill/>
          <a:ln/>
        </p:spPr>
        <p:txBody>
          <a:bodyPr wrap="square" lIns="25400" tIns="25400" rIns="25400" bIns="25400" rtlCol="0" anchor="t">
            <a:normAutofit fontScale="92500" lnSpcReduction="10000"/>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Recovered one-way laser-noise transfer function</a:t>
            </a:r>
            <a:endParaRPr lang="en-US" sz="1200" dirty="0"/>
          </a:p>
        </p:txBody>
      </p:sp>
      <p:pic>
        <p:nvPicPr>
          <p:cNvPr id="14" name="Graphic 13">
            <a:extLst>
              <a:ext uri="{FF2B5EF4-FFF2-40B4-BE49-F238E27FC236}">
                <a16:creationId xmlns:a16="http://schemas.microsoft.com/office/drawing/2014/main" id="{310F34BD-67DD-85C8-D0FB-764D1FD8717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3841" y="5681859"/>
            <a:ext cx="2714580" cy="435674"/>
          </a:xfrm>
          <a:prstGeom prst="rect">
            <a:avLst/>
          </a:prstGeom>
        </p:spPr>
      </p:pic>
      <p:pic>
        <p:nvPicPr>
          <p:cNvPr id="15" name="Graphic 14">
            <a:extLst>
              <a:ext uri="{FF2B5EF4-FFF2-40B4-BE49-F238E27FC236}">
                <a16:creationId xmlns:a16="http://schemas.microsoft.com/office/drawing/2014/main" id="{A2D6E5AD-FBB4-A9DF-0EAE-FCE503FB47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100064" y="8807845"/>
            <a:ext cx="2714579" cy="435673"/>
          </a:xfrm>
          <a:prstGeom prst="rect">
            <a:avLst/>
          </a:prstGeom>
        </p:spPr>
      </p:pic>
      <p:pic>
        <p:nvPicPr>
          <p:cNvPr id="23" name="Graphic 22">
            <a:extLst>
              <a:ext uri="{FF2B5EF4-FFF2-40B4-BE49-F238E27FC236}">
                <a16:creationId xmlns:a16="http://schemas.microsoft.com/office/drawing/2014/main" id="{5274CFEB-4447-4A39-9E5D-FEB77392FDD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36821" y="3747247"/>
            <a:ext cx="5625546" cy="1087732"/>
          </a:xfrm>
          <a:prstGeom prst="rect">
            <a:avLst/>
          </a:prstGeom>
        </p:spPr>
      </p:pic>
      <p:sp>
        <p:nvSpPr>
          <p:cNvPr id="5" name="Text Placeholder 4">
            <a:extLst>
              <a:ext uri="{FF2B5EF4-FFF2-40B4-BE49-F238E27FC236}">
                <a16:creationId xmlns:a16="http://schemas.microsoft.com/office/drawing/2014/main" id="{9550F6AD-D6A4-4162-8100-0FC2892AC596}"/>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4" name="Title 3">
            <a:extLst>
              <a:ext uri="{FF2B5EF4-FFF2-40B4-BE49-F238E27FC236}">
                <a16:creationId xmlns:a16="http://schemas.microsoft.com/office/drawing/2014/main" id="{F49CA1E9-8C18-411A-9B2D-44DEA639DA60}"/>
              </a:ext>
            </a:extLst>
          </p:cNvPr>
          <p:cNvSpPr>
            <a:spLocks noGrp="1"/>
          </p:cNvSpPr>
          <p:nvPr>
            <p:ph type="title"/>
          </p:nvPr>
        </p:nvSpPr>
        <p:spPr/>
        <p:txBody>
          <a:bodyPr/>
          <a:lstStyle/>
          <a:p>
            <a:r>
              <a:rPr lang="en-US" dirty="0"/>
              <a:t>Recovering the </a:t>
            </a:r>
            <a:r>
              <a:rPr lang="en-US" dirty="0" err="1"/>
              <a:t>Transferfunction</a:t>
            </a:r>
            <a:endParaRPr lang="LID4096" dirty="0"/>
          </a:p>
        </p:txBody>
      </p:sp>
      <p:sp>
        <p:nvSpPr>
          <p:cNvPr id="8" name="CustomFooter">
            <a:extLst>
              <a:ext uri="{FF2B5EF4-FFF2-40B4-BE49-F238E27FC236}">
                <a16:creationId xmlns:a16="http://schemas.microsoft.com/office/drawing/2014/main" id="{17D1DB9A-70FA-495D-A323-8E9849F717B9}"/>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25 / 43</a:t>
            </a:r>
            <a:endParaRPr lang="LID4096" sz="1000" spc="100">
              <a:solidFill>
                <a:srgbClr val="A6A6A6"/>
              </a:solidFill>
              <a:latin typeface="Helvetica Neue45 Light"/>
            </a:endParaRPr>
          </a:p>
        </p:txBody>
      </p:sp>
      <p:sp>
        <p:nvSpPr>
          <p:cNvPr id="11" name="TACMeeting">
            <a:extLst>
              <a:ext uri="{FF2B5EF4-FFF2-40B4-BE49-F238E27FC236}">
                <a16:creationId xmlns:a16="http://schemas.microsoft.com/office/drawing/2014/main" id="{47CF714D-7DCC-48C7-A181-40D9A0B4CD3D}"/>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D32A0880-F320-4DCC-8DB6-046233C780F5}"/>
              </a:ext>
            </a:extLst>
          </p:cNvPr>
          <p:cNvSpPr>
            <a:spLocks noGrp="1"/>
          </p:cNvSpPr>
          <p:nvPr>
            <p:ph type="body" sz="quarter" idx="12"/>
          </p:nvPr>
        </p:nvSpPr>
        <p:spPr>
          <a:xfrm>
            <a:off x="649648" y="1758950"/>
            <a:ext cx="10834596" cy="7332663"/>
          </a:xfrm>
        </p:spPr>
        <p:txBody>
          <a:bodyPr/>
          <a:lstStyle/>
          <a:p>
            <a:r>
              <a:rPr lang="en-US" dirty="0"/>
              <a:t>Primary laser should be cavity locked</a:t>
            </a:r>
          </a:p>
          <a:p>
            <a:r>
              <a:rPr lang="en-US" dirty="0"/>
              <a:t>Two lasers will be locked to 25 and 30 cm cavities</a:t>
            </a:r>
          </a:p>
          <a:p>
            <a:r>
              <a:rPr lang="en-US" dirty="0"/>
              <a:t>Two separate PDH locks</a:t>
            </a:r>
          </a:p>
          <a:p>
            <a:r>
              <a:rPr lang="en-US" dirty="0" err="1"/>
              <a:t>Beatnote</a:t>
            </a:r>
            <a:r>
              <a:rPr lang="en-US" dirty="0"/>
              <a:t> needs to be below 60 MHz</a:t>
            </a:r>
            <a:endParaRPr lang="LID4096" dirty="0"/>
          </a:p>
        </p:txBody>
      </p:sp>
      <p:sp>
        <p:nvSpPr>
          <p:cNvPr id="13" name="Text 10"/>
          <p:cNvSpPr/>
          <p:nvPr/>
        </p:nvSpPr>
        <p:spPr>
          <a:xfrm>
            <a:off x="668280" y="5038725"/>
            <a:ext cx="3084225" cy="209550"/>
          </a:xfrm>
          <a:prstGeom prst="rect">
            <a:avLst/>
          </a:prstGeom>
          <a:noFill/>
          <a:ln/>
        </p:spPr>
        <p:txBody>
          <a:bodyPr wrap="square" lIns="25400" tIns="25400" rIns="25400" bIns="25400" rtlCol="0" anchor="t">
            <a:noAutofit/>
          </a:bodyPr>
          <a:lstStyle/>
          <a:p>
            <a:pPr marL="0" indent="0" algn="l">
              <a:buNone/>
            </a:pPr>
            <a:r>
              <a:rPr lang="en-US" sz="1600" dirty="0">
                <a:solidFill>
                  <a:srgbClr val="9A9A9A"/>
                </a:solidFill>
                <a:latin typeface="Helvetica Neue" pitchFamily="34" charset="0"/>
                <a:ea typeface="Helvetica Neue" pitchFamily="34" charset="-122"/>
                <a:cs typeface="Helvetica Neue" pitchFamily="34" charset="-120"/>
              </a:rPr>
              <a:t>Illustrative cavity resonances</a:t>
            </a:r>
            <a:endParaRPr lang="en-US" sz="1600" dirty="0"/>
          </a:p>
        </p:txBody>
      </p:sp>
      <p:pic>
        <p:nvPicPr>
          <p:cNvPr id="19" name="Picture 18">
            <a:extLst>
              <a:ext uri="{FF2B5EF4-FFF2-40B4-BE49-F238E27FC236}">
                <a16:creationId xmlns:a16="http://schemas.microsoft.com/office/drawing/2014/main" id="{7F14BDC2-31DF-7058-DD00-E15A3B3DA81F}"/>
              </a:ext>
            </a:extLst>
          </p:cNvPr>
          <p:cNvPicPr>
            <a:picLocks noChangeAspect="1"/>
          </p:cNvPicPr>
          <p:nvPr/>
        </p:nvPicPr>
        <p:blipFill>
          <a:blip r:embed="rId3"/>
          <a:stretch>
            <a:fillRect/>
          </a:stretch>
        </p:blipFill>
        <p:spPr>
          <a:xfrm>
            <a:off x="0" y="5372099"/>
            <a:ext cx="12272211" cy="4387315"/>
          </a:xfrm>
          <a:prstGeom prst="rect">
            <a:avLst/>
          </a:prstGeom>
        </p:spPr>
      </p:pic>
      <p:pic>
        <p:nvPicPr>
          <p:cNvPr id="12" name="Image 0" descr="preencoded.png"/>
          <p:cNvPicPr>
            <a:picLocks noChangeAspect="1"/>
          </p:cNvPicPr>
          <p:nvPr/>
        </p:nvPicPr>
        <p:blipFill>
          <a:blip r:embed="rId4"/>
          <a:srcRect l="-26065" r="-26065"/>
          <a:stretch/>
        </p:blipFill>
        <p:spPr>
          <a:xfrm>
            <a:off x="9825792" y="898327"/>
            <a:ext cx="9371012" cy="5676616"/>
          </a:xfrm>
          <a:prstGeom prst="rect">
            <a:avLst/>
          </a:prstGeom>
        </p:spPr>
      </p:pic>
      <p:sp>
        <p:nvSpPr>
          <p:cNvPr id="70" name="Text 6">
            <a:extLst>
              <a:ext uri="{FF2B5EF4-FFF2-40B4-BE49-F238E27FC236}">
                <a16:creationId xmlns:a16="http://schemas.microsoft.com/office/drawing/2014/main" id="{5E8CC5C2-8ED3-4D86-87E4-E6019B56EA24}"/>
              </a:ext>
            </a:extLst>
          </p:cNvPr>
          <p:cNvSpPr/>
          <p:nvPr/>
        </p:nvSpPr>
        <p:spPr>
          <a:xfrm>
            <a:off x="2591306" y="5132910"/>
            <a:ext cx="6032432" cy="246221"/>
          </a:xfrm>
          <a:prstGeom prst="rect">
            <a:avLst/>
          </a:prstGeom>
          <a:noFill/>
          <a:ln/>
        </p:spPr>
        <p:txBody>
          <a:bodyPr wrap="square" lIns="25400" tIns="25400" rIns="25400" bIns="25400" rtlCol="0" anchor="t">
            <a:noAutofit/>
          </a:bodyPr>
          <a:lstStyle/>
          <a:p>
            <a:pPr marL="0" indent="0" algn="ctr">
              <a:buNone/>
            </a:pPr>
            <a:r>
              <a:rPr lang="en-US" sz="2000" b="1" dirty="0">
                <a:highlight>
                  <a:srgbClr val="FF00FF"/>
                </a:highlight>
                <a:latin typeface="Helvetica Neue" pitchFamily="34" charset="0"/>
                <a:ea typeface="Helvetica Neue" pitchFamily="34" charset="-122"/>
                <a:cs typeface="Helvetica Neue" pitchFamily="34" charset="-120"/>
              </a:rPr>
              <a:t>This is one reason to increase the data rate</a:t>
            </a:r>
          </a:p>
          <a:p>
            <a:pPr marL="0" indent="0" algn="ctr">
              <a:buNone/>
            </a:pPr>
            <a:r>
              <a:rPr lang="en-US" sz="2000" b="1" dirty="0">
                <a:highlight>
                  <a:srgbClr val="FF00FF"/>
                </a:highlight>
                <a:latin typeface="Helvetica Neue" pitchFamily="34" charset="0"/>
                <a:ea typeface="Helvetica Neue" pitchFamily="34" charset="-122"/>
              </a:rPr>
              <a:t>And decimate more</a:t>
            </a:r>
            <a:endParaRPr lang="en-US" sz="2000" dirty="0">
              <a:highlight>
                <a:srgbClr val="FF00FF"/>
              </a:highlight>
            </a:endParaRPr>
          </a:p>
        </p:txBody>
      </p:sp>
      <p:sp>
        <p:nvSpPr>
          <p:cNvPr id="15" name="Text Placeholder 14">
            <a:extLst>
              <a:ext uri="{FF2B5EF4-FFF2-40B4-BE49-F238E27FC236}">
                <a16:creationId xmlns:a16="http://schemas.microsoft.com/office/drawing/2014/main" id="{4BBB3626-A657-4464-A50F-77996706C45D}"/>
              </a:ext>
            </a:extLst>
          </p:cNvPr>
          <p:cNvSpPr>
            <a:spLocks noGrp="1"/>
          </p:cNvSpPr>
          <p:nvPr>
            <p:ph type="body" sz="quarter" idx="11"/>
          </p:nvPr>
        </p:nvSpPr>
        <p:spPr/>
        <p:txBody>
          <a:bodyPr/>
          <a:lstStyle/>
          <a:p>
            <a:r>
              <a:rPr lang="en-US" sz="1200" dirty="0"/>
              <a:t>TDI IN MINILISA STATUS</a:t>
            </a:r>
            <a:endParaRPr lang="LID4096" dirty="0"/>
          </a:p>
          <a:p>
            <a:endParaRPr lang="LID4096" dirty="0"/>
          </a:p>
        </p:txBody>
      </p:sp>
      <p:sp>
        <p:nvSpPr>
          <p:cNvPr id="14" name="Title 13">
            <a:extLst>
              <a:ext uri="{FF2B5EF4-FFF2-40B4-BE49-F238E27FC236}">
                <a16:creationId xmlns:a16="http://schemas.microsoft.com/office/drawing/2014/main" id="{54D62210-FAC6-46E6-92C1-553D71DEA238}"/>
              </a:ext>
            </a:extLst>
          </p:cNvPr>
          <p:cNvSpPr>
            <a:spLocks noGrp="1"/>
          </p:cNvSpPr>
          <p:nvPr>
            <p:ph type="title"/>
          </p:nvPr>
        </p:nvSpPr>
        <p:spPr/>
        <p:txBody>
          <a:bodyPr/>
          <a:lstStyle/>
          <a:p>
            <a:r>
              <a:rPr lang="en-US" dirty="0"/>
              <a:t>Cavity locking two lasers</a:t>
            </a:r>
            <a:endParaRPr lang="LID4096" dirty="0"/>
          </a:p>
        </p:txBody>
      </p:sp>
      <p:sp>
        <p:nvSpPr>
          <p:cNvPr id="17" name="CustomFooter">
            <a:extLst>
              <a:ext uri="{FF2B5EF4-FFF2-40B4-BE49-F238E27FC236}">
                <a16:creationId xmlns:a16="http://schemas.microsoft.com/office/drawing/2014/main" id="{8BCBBA7C-AAE3-4BA4-A5FC-BC31B2C4CE19}"/>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26 / 43</a:t>
            </a:r>
            <a:endParaRPr lang="LID4096" sz="1000" spc="100">
              <a:solidFill>
                <a:srgbClr val="A6A6A6"/>
              </a:solidFill>
              <a:latin typeface="Helvetica Neue45 Light"/>
            </a:endParaRPr>
          </a:p>
        </p:txBody>
      </p:sp>
      <p:sp>
        <p:nvSpPr>
          <p:cNvPr id="18" name="TACMeeting">
            <a:extLst>
              <a:ext uri="{FF2B5EF4-FFF2-40B4-BE49-F238E27FC236}">
                <a16:creationId xmlns:a16="http://schemas.microsoft.com/office/drawing/2014/main" id="{1618DA26-2720-4009-AB90-6497297DAE0C}"/>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8058093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hape 4"/>
          <p:cNvSpPr/>
          <p:nvPr/>
        </p:nvSpPr>
        <p:spPr>
          <a:xfrm>
            <a:off x="876300" y="9505950"/>
            <a:ext cx="16535400" cy="9525"/>
          </a:xfrm>
          <a:prstGeom prst="rect">
            <a:avLst/>
          </a:prstGeom>
          <a:solidFill>
            <a:srgbClr val="ECECEC"/>
          </a:solidFill>
          <a:ln/>
        </p:spPr>
        <p:txBody>
          <a:bodyPr/>
          <a:lstStyle/>
          <a:p>
            <a:endParaRPr lang="en-US"/>
          </a:p>
        </p:txBody>
      </p:sp>
      <p:sp>
        <p:nvSpPr>
          <p:cNvPr id="15" name="Title 14">
            <a:extLst>
              <a:ext uri="{FF2B5EF4-FFF2-40B4-BE49-F238E27FC236}">
                <a16:creationId xmlns:a16="http://schemas.microsoft.com/office/drawing/2014/main" id="{F6BEA725-7CFC-4470-8A9A-30613EF7CF53}"/>
              </a:ext>
            </a:extLst>
          </p:cNvPr>
          <p:cNvSpPr>
            <a:spLocks noGrp="1"/>
          </p:cNvSpPr>
          <p:nvPr>
            <p:ph type="title"/>
          </p:nvPr>
        </p:nvSpPr>
        <p:spPr>
          <a:xfrm>
            <a:off x="647700" y="1270000"/>
            <a:ext cx="15773400" cy="7874000"/>
          </a:xfrm>
        </p:spPr>
        <p:txBody>
          <a:bodyPr anchor="ctr"/>
          <a:lstStyle/>
          <a:p>
            <a:pPr algn="l">
              <a:lnSpc>
                <a:spcPct val="100000"/>
              </a:lnSpc>
              <a:spcBef>
                <a:spcPts val="600"/>
              </a:spcBef>
              <a:spcAft>
                <a:spcPts val="600"/>
              </a:spcAft>
              <a:buNone/>
            </a:pPr>
            <a:r>
              <a:rPr lang="en-US" sz="2800" dirty="0">
                <a:solidFill>
                  <a:srgbClr val="7F7F7F"/>
                </a:solidFill>
              </a:rPr>
              <a:t>Context</a:t>
            </a:r>
          </a:p>
          <a:p>
            <a:pPr algn="l">
              <a:lnSpc>
                <a:spcPct val="100000"/>
              </a:lnSpc>
              <a:spcBef>
                <a:spcPts val="600"/>
              </a:spcBef>
              <a:spcAft>
                <a:spcPts val="600"/>
              </a:spcAft>
              <a:buNone/>
            </a:pPr>
            <a:r>
              <a:rPr lang="en-US" sz="2800" dirty="0">
                <a:solidFill>
                  <a:srgbClr val="7F7F7F"/>
                </a:solidFill>
              </a:rPr>
              <a:t>Overview of the LISA IDS</a:t>
            </a:r>
          </a:p>
          <a:p>
            <a:pPr algn="l">
              <a:lnSpc>
                <a:spcPct val="100000"/>
              </a:lnSpc>
              <a:spcBef>
                <a:spcPts val="600"/>
              </a:spcBef>
              <a:spcAft>
                <a:spcPts val="600"/>
              </a:spcAft>
              <a:buNone/>
            </a:pPr>
            <a:r>
              <a:rPr lang="en-US" sz="2800" dirty="0">
                <a:solidFill>
                  <a:srgbClr val="7F7F7F"/>
                </a:solidFill>
              </a:rPr>
              <a:t>Testbed Concept</a:t>
            </a:r>
          </a:p>
          <a:p>
            <a:pPr algn="l">
              <a:lnSpc>
                <a:spcPct val="100000"/>
              </a:lnSpc>
              <a:spcBef>
                <a:spcPts val="600"/>
              </a:spcBef>
              <a:spcAft>
                <a:spcPts val="600"/>
              </a:spcAft>
              <a:buNone/>
            </a:pPr>
            <a:r>
              <a:rPr lang="en-US" sz="2800" dirty="0">
                <a:solidFill>
                  <a:srgbClr val="7F7F7F"/>
                </a:solidFill>
              </a:rPr>
              <a:t>TDI and laser noise: status</a:t>
            </a:r>
          </a:p>
          <a:p>
            <a:pPr algn="l">
              <a:lnSpc>
                <a:spcPct val="100000"/>
              </a:lnSpc>
              <a:spcBef>
                <a:spcPts val="1400"/>
              </a:spcBef>
              <a:spcAft>
                <a:spcPts val="1400"/>
              </a:spcAft>
              <a:buNone/>
            </a:pPr>
            <a:r>
              <a:rPr lang="en-US" sz="5400" b="1" dirty="0"/>
              <a:t>clock noise: status</a:t>
            </a:r>
          </a:p>
          <a:p>
            <a:pPr algn="l">
              <a:lnSpc>
                <a:spcPct val="100000"/>
              </a:lnSpc>
              <a:spcBef>
                <a:spcPts val="600"/>
              </a:spcBef>
              <a:spcAft>
                <a:spcPts val="600"/>
              </a:spcAft>
              <a:buNone/>
            </a:pPr>
            <a:r>
              <a:rPr lang="en-US" sz="2800" dirty="0">
                <a:solidFill>
                  <a:srgbClr val="7F7F7F"/>
                </a:solidFill>
              </a:rPr>
              <a:t>Next Steps</a:t>
            </a:r>
          </a:p>
          <a:p>
            <a:pPr algn="l">
              <a:lnSpc>
                <a:spcPct val="100000"/>
              </a:lnSpc>
              <a:spcBef>
                <a:spcPts val="600"/>
              </a:spcBef>
              <a:spcAft>
                <a:spcPts val="600"/>
              </a:spcAft>
              <a:buNone/>
            </a:pPr>
            <a:r>
              <a:rPr lang="en-US" sz="2800" dirty="0">
                <a:solidFill>
                  <a:srgbClr val="7F7F7F"/>
                </a:solidFill>
              </a:rPr>
              <a:t>Conclusion</a:t>
            </a:r>
          </a:p>
        </p:txBody>
      </p:sp>
      <p:sp>
        <p:nvSpPr>
          <p:cNvPr id="2" name="CustomFooter">
            <a:extLst>
              <a:ext uri="{FF2B5EF4-FFF2-40B4-BE49-F238E27FC236}">
                <a16:creationId xmlns:a16="http://schemas.microsoft.com/office/drawing/2014/main" id="{7EA33162-4DF9-47C7-9EE7-91D6B72CBE59}"/>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27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233C5960-43EF-455A-8B87-F3E6A88EA46E}"/>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5303715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sp>
        <p:nvSpPr>
          <p:cNvPr id="8" name="Text 2"/>
          <p:cNvSpPr/>
          <p:nvPr/>
        </p:nvSpPr>
        <p:spPr>
          <a:xfrm>
            <a:off x="14996071" y="3343275"/>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638550"/>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pic>
        <p:nvPicPr>
          <p:cNvPr id="16" name="Graphic 15">
            <a:extLst>
              <a:ext uri="{FF2B5EF4-FFF2-40B4-BE49-F238E27FC236}">
                <a16:creationId xmlns:a16="http://schemas.microsoft.com/office/drawing/2014/main" id="{9FC99449-5110-2A54-FC17-35CB1935BAC7}"/>
              </a:ext>
            </a:extLst>
          </p:cNvPr>
          <p:cNvPicPr>
            <a:picLocks noChangeAspect="1"/>
          </p:cNvPicPr>
          <p:nvPr/>
        </p:nvPicPr>
        <p:blipFill>
          <a:blip>
            <a:extLst>
              <a:ext uri="{96DAC541-7B7A-43D3-8B79-37D633B846F1}">
                <asvg:svgBlip xmlns:asvg="http://schemas.microsoft.com/office/drawing/2016/SVG/main" r:embed="rId4"/>
              </a:ext>
            </a:extLst>
          </a:blip>
          <a:srcRect r="46966"/>
          <a:stretch>
            <a:fillRect/>
          </a:stretch>
        </p:blipFill>
        <p:spPr>
          <a:xfrm>
            <a:off x="10700948" y="3667943"/>
            <a:ext cx="6198641" cy="1851571"/>
          </a:xfrm>
          <a:prstGeom prst="rect">
            <a:avLst/>
          </a:prstGeom>
        </p:spPr>
      </p:pic>
      <p:sp>
        <p:nvSpPr>
          <p:cNvPr id="7" name="Text Placeholder 6">
            <a:extLst>
              <a:ext uri="{FF2B5EF4-FFF2-40B4-BE49-F238E27FC236}">
                <a16:creationId xmlns:a16="http://schemas.microsoft.com/office/drawing/2014/main" id="{EF56E3CF-C96D-44E1-B016-A0006CBC19EF}"/>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p:txBody>
      </p:sp>
      <p:sp>
        <p:nvSpPr>
          <p:cNvPr id="5" name="Title 4">
            <a:extLst>
              <a:ext uri="{FF2B5EF4-FFF2-40B4-BE49-F238E27FC236}">
                <a16:creationId xmlns:a16="http://schemas.microsoft.com/office/drawing/2014/main" id="{378866E8-53C5-4797-A4E9-A4D41FF30652}"/>
              </a:ext>
            </a:extLst>
          </p:cNvPr>
          <p:cNvSpPr>
            <a:spLocks noGrp="1"/>
          </p:cNvSpPr>
          <p:nvPr>
            <p:ph type="title"/>
          </p:nvPr>
        </p:nvSpPr>
        <p:spPr/>
        <p:txBody>
          <a:bodyPr/>
          <a:lstStyle/>
          <a:p>
            <a:r>
              <a:rPr lang="en-US" dirty="0"/>
              <a:t>Clock Noise transfer in LISA</a:t>
            </a:r>
            <a:endParaRPr lang="LID4096" dirty="0"/>
          </a:p>
        </p:txBody>
      </p:sp>
      <p:sp>
        <p:nvSpPr>
          <p:cNvPr id="13" name="CustomFooter">
            <a:extLst>
              <a:ext uri="{FF2B5EF4-FFF2-40B4-BE49-F238E27FC236}">
                <a16:creationId xmlns:a16="http://schemas.microsoft.com/office/drawing/2014/main" id="{E07DE20A-125E-4B09-AB39-51DF9DF7AC3C}"/>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28 / 43</a:t>
            </a:r>
            <a:endParaRPr lang="LID4096" sz="1000" spc="100">
              <a:solidFill>
                <a:srgbClr val="A6A6A6"/>
              </a:solidFill>
              <a:latin typeface="Helvetica Neue45 Light"/>
            </a:endParaRPr>
          </a:p>
        </p:txBody>
      </p:sp>
      <p:sp>
        <p:nvSpPr>
          <p:cNvPr id="14" name="TACMeeting">
            <a:extLst>
              <a:ext uri="{FF2B5EF4-FFF2-40B4-BE49-F238E27FC236}">
                <a16:creationId xmlns:a16="http://schemas.microsoft.com/office/drawing/2014/main" id="{38345D75-6F00-47D4-A877-545338E6D975}"/>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59B07FCE-C88C-4522-B66C-ECE1528590CF}"/>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p:txBody>
      </p:sp>
      <p:sp>
        <p:nvSpPr>
          <p:cNvPr id="5" name="Title 4">
            <a:extLst>
              <a:ext uri="{FF2B5EF4-FFF2-40B4-BE49-F238E27FC236}">
                <a16:creationId xmlns:a16="http://schemas.microsoft.com/office/drawing/2014/main" id="{228160F0-CE46-4D72-AD9F-458D6A7E7F92}"/>
              </a:ext>
            </a:extLst>
          </p:cNvPr>
          <p:cNvSpPr>
            <a:spLocks noGrp="1"/>
          </p:cNvSpPr>
          <p:nvPr>
            <p:ph type="title"/>
          </p:nvPr>
        </p:nvSpPr>
        <p:spPr/>
        <p:txBody>
          <a:bodyPr/>
          <a:lstStyle/>
          <a:p>
            <a:r>
              <a:rPr lang="en-US" dirty="0"/>
              <a:t>FDM</a:t>
            </a:r>
            <a:endParaRPr lang="LID4096" dirty="0"/>
          </a:p>
        </p:txBody>
      </p:sp>
      <p:sp>
        <p:nvSpPr>
          <p:cNvPr id="12" name="Text Placeholder 11">
            <a:extLst>
              <a:ext uri="{FF2B5EF4-FFF2-40B4-BE49-F238E27FC236}">
                <a16:creationId xmlns:a16="http://schemas.microsoft.com/office/drawing/2014/main" id="{DE73360D-322E-4FAF-8E20-3AE2569D7EA9}"/>
              </a:ext>
            </a:extLst>
          </p:cNvPr>
          <p:cNvSpPr>
            <a:spLocks noGrp="1"/>
          </p:cNvSpPr>
          <p:nvPr>
            <p:ph type="body" sz="quarter" idx="12"/>
          </p:nvPr>
        </p:nvSpPr>
        <p:spPr/>
        <p:txBody>
          <a:bodyPr/>
          <a:lstStyle/>
          <a:p>
            <a:r>
              <a:rPr lang="en-US" dirty="0"/>
              <a:t>This slide will highlight the critical part of the fidelity of the clock noise transfer</a:t>
            </a:r>
          </a:p>
          <a:p>
            <a:r>
              <a:rPr lang="en-US" dirty="0"/>
              <a:t>Like why it’s a limiting factor</a:t>
            </a:r>
            <a:endParaRPr lang="LID4096" dirty="0"/>
          </a:p>
        </p:txBody>
      </p:sp>
      <p:sp>
        <p:nvSpPr>
          <p:cNvPr id="13" name="CustomFooter">
            <a:extLst>
              <a:ext uri="{FF2B5EF4-FFF2-40B4-BE49-F238E27FC236}">
                <a16:creationId xmlns:a16="http://schemas.microsoft.com/office/drawing/2014/main" id="{5D3847BC-F3D4-47EC-8FFE-40836A2559A1}"/>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29 / 43</a:t>
            </a:r>
            <a:endParaRPr lang="LID4096" sz="1000" spc="100">
              <a:solidFill>
                <a:srgbClr val="A6A6A6"/>
              </a:solidFill>
              <a:latin typeface="Helvetica Neue45 Light"/>
            </a:endParaRPr>
          </a:p>
        </p:txBody>
      </p:sp>
      <p:sp>
        <p:nvSpPr>
          <p:cNvPr id="14" name="TACMeeting">
            <a:extLst>
              <a:ext uri="{FF2B5EF4-FFF2-40B4-BE49-F238E27FC236}">
                <a16:creationId xmlns:a16="http://schemas.microsoft.com/office/drawing/2014/main" id="{669EC98D-C8D2-4EF5-BAE9-993E619ED3CC}"/>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7548344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p:cNvPicPr>
            <a:picLocks noChangeAspect="1"/>
          </p:cNvPicPr>
          <p:nvPr/>
        </p:nvPicPr>
        <p:blipFill>
          <a:blip r:embed="rId3"/>
          <a:srcRect t="-75" b="-75"/>
          <a:stretch/>
        </p:blipFill>
        <p:spPr>
          <a:xfrm>
            <a:off x="786259" y="1851571"/>
            <a:ext cx="9601200" cy="2684859"/>
          </a:xfrm>
          <a:prstGeom prst="rect">
            <a:avLst/>
          </a:prstGeom>
        </p:spPr>
      </p:pic>
      <p:pic>
        <p:nvPicPr>
          <p:cNvPr id="6" name="Image 2" descr="preencoded.png"/>
          <p:cNvPicPr>
            <a:picLocks noChangeAspect="1"/>
          </p:cNvPicPr>
          <p:nvPr/>
        </p:nvPicPr>
        <p:blipFill>
          <a:blip r:embed="rId4"/>
          <a:srcRect l="-6" r="-6"/>
          <a:stretch/>
        </p:blipFill>
        <p:spPr>
          <a:xfrm>
            <a:off x="914400" y="5472559"/>
            <a:ext cx="9966871" cy="3497461"/>
          </a:xfrm>
          <a:prstGeom prst="rect">
            <a:avLst/>
          </a:prstGeom>
        </p:spPr>
      </p:pic>
      <p:sp>
        <p:nvSpPr>
          <p:cNvPr id="8" name="Text 2"/>
          <p:cNvSpPr/>
          <p:nvPr/>
        </p:nvSpPr>
        <p:spPr>
          <a:xfrm>
            <a:off x="14996071" y="3343275"/>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LISA arm</a:t>
            </a:r>
            <a:endParaRPr lang="en-US" sz="1800" dirty="0"/>
          </a:p>
        </p:txBody>
      </p:sp>
      <p:sp>
        <p:nvSpPr>
          <p:cNvPr id="9" name="Text 3"/>
          <p:cNvSpPr/>
          <p:nvPr/>
        </p:nvSpPr>
        <p:spPr>
          <a:xfrm>
            <a:off x="14996071" y="3638550"/>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In-flight link</a:t>
            </a:r>
            <a:endParaRPr lang="en-US" sz="1200" dirty="0"/>
          </a:p>
        </p:txBody>
      </p:sp>
      <p:sp>
        <p:nvSpPr>
          <p:cNvPr id="10" name="Text 4"/>
          <p:cNvSpPr/>
          <p:nvPr/>
        </p:nvSpPr>
        <p:spPr>
          <a:xfrm>
            <a:off x="14996071" y="7097911"/>
            <a:ext cx="3218557" cy="314325"/>
          </a:xfrm>
          <a:prstGeom prst="rect">
            <a:avLst/>
          </a:prstGeom>
          <a:noFill/>
          <a:ln/>
        </p:spPr>
        <p:txBody>
          <a:bodyPr wrap="square" lIns="25400" tIns="25400" rIns="25400" bIns="25400" rtlCol="0" anchor="t">
            <a:normAutofit lnSpcReduction="10000"/>
          </a:bodyPr>
          <a:lstStyle/>
          <a:p>
            <a:pPr marL="0" indent="0" algn="l">
              <a:buNone/>
            </a:pPr>
            <a:r>
              <a:rPr lang="en-US" sz="1800" b="1" dirty="0">
                <a:solidFill>
                  <a:srgbClr val="141414"/>
                </a:solidFill>
                <a:latin typeface="Helvetica Neue" pitchFamily="34" charset="0"/>
                <a:ea typeface="Helvetica Neue" pitchFamily="34" charset="-122"/>
                <a:cs typeface="Helvetica Neue" pitchFamily="34" charset="-120"/>
              </a:rPr>
              <a:t>Testbed arm</a:t>
            </a:r>
            <a:endParaRPr lang="en-US" sz="1800" dirty="0"/>
          </a:p>
        </p:txBody>
      </p:sp>
      <p:sp>
        <p:nvSpPr>
          <p:cNvPr id="11" name="Text 5"/>
          <p:cNvSpPr/>
          <p:nvPr/>
        </p:nvSpPr>
        <p:spPr>
          <a:xfrm>
            <a:off x="14996071" y="7393186"/>
            <a:ext cx="3218557" cy="209550"/>
          </a:xfrm>
          <a:prstGeom prst="rect">
            <a:avLst/>
          </a:prstGeom>
          <a:noFill/>
          <a:ln/>
        </p:spPr>
        <p:txBody>
          <a:bodyPr wrap="square" lIns="25400" tIns="25400" rIns="25400" bIns="25400" rtlCol="0" anchor="t">
            <a:normAutofit fontScale="92500" lnSpcReduction="10000"/>
          </a:bodyPr>
          <a:lstStyle/>
          <a:p>
            <a:pPr marL="0" indent="0" algn="l">
              <a:buNone/>
            </a:pPr>
            <a:r>
              <a:rPr lang="en-US" sz="1200" dirty="0">
                <a:solidFill>
                  <a:srgbClr val="9A9A9A"/>
                </a:solidFill>
                <a:latin typeface="Helvetica Neue" pitchFamily="34" charset="0"/>
                <a:ea typeface="Helvetica Neue" pitchFamily="34" charset="-122"/>
                <a:cs typeface="Helvetica Neue" pitchFamily="34" charset="-120"/>
              </a:rPr>
              <a:t>Benchtop analogue</a:t>
            </a:r>
            <a:endParaRPr lang="en-US" sz="1200" dirty="0"/>
          </a:p>
        </p:txBody>
      </p:sp>
      <p:pic>
        <p:nvPicPr>
          <p:cNvPr id="16" name="Graphic 15">
            <a:extLst>
              <a:ext uri="{FF2B5EF4-FFF2-40B4-BE49-F238E27FC236}">
                <a16:creationId xmlns:a16="http://schemas.microsoft.com/office/drawing/2014/main" id="{9FC99449-5110-2A54-FC17-35CB1935BAC7}"/>
              </a:ext>
            </a:extLst>
          </p:cNvPr>
          <p:cNvPicPr>
            <a:picLocks noChangeAspect="1"/>
          </p:cNvPicPr>
          <p:nvPr/>
        </p:nvPicPr>
        <p:blipFill>
          <a:blip>
            <a:extLst>
              <a:ext uri="{96DAC541-7B7A-43D3-8B79-37D633B846F1}">
                <asvg:svgBlip xmlns:asvg="http://schemas.microsoft.com/office/drawing/2016/SVG/main" r:embed="rId5"/>
              </a:ext>
            </a:extLst>
          </a:blip>
          <a:srcRect r="46966"/>
          <a:stretch>
            <a:fillRect/>
          </a:stretch>
        </p:blipFill>
        <p:spPr>
          <a:xfrm>
            <a:off x="10700948" y="3667943"/>
            <a:ext cx="6198641" cy="1851571"/>
          </a:xfrm>
          <a:prstGeom prst="rect">
            <a:avLst/>
          </a:prstGeom>
        </p:spPr>
      </p:pic>
      <p:pic>
        <p:nvPicPr>
          <p:cNvPr id="18" name="Graphic 17">
            <a:extLst>
              <a:ext uri="{FF2B5EF4-FFF2-40B4-BE49-F238E27FC236}">
                <a16:creationId xmlns:a16="http://schemas.microsoft.com/office/drawing/2014/main" id="{13DF5016-2B9E-8507-8D9C-34B5E1AD7BAB}"/>
              </a:ext>
            </a:extLst>
          </p:cNvPr>
          <p:cNvPicPr>
            <a:picLocks noChangeAspect="1"/>
          </p:cNvPicPr>
          <p:nvPr/>
        </p:nvPicPr>
        <p:blipFill>
          <a:blip>
            <a:extLst>
              <a:ext uri="{96DAC541-7B7A-43D3-8B79-37D633B846F1}">
                <asvg:svgBlip xmlns:asvg="http://schemas.microsoft.com/office/drawing/2016/SVG/main" r:embed="rId6"/>
              </a:ext>
            </a:extLst>
          </a:blip>
          <a:srcRect t="537" r="26754"/>
          <a:stretch>
            <a:fillRect/>
          </a:stretch>
        </p:blipFill>
        <p:spPr>
          <a:xfrm>
            <a:off x="9143999" y="7602736"/>
            <a:ext cx="9044978" cy="1703933"/>
          </a:xfrm>
          <a:prstGeom prst="rect">
            <a:avLst/>
          </a:prstGeom>
        </p:spPr>
      </p:pic>
      <p:sp>
        <p:nvSpPr>
          <p:cNvPr id="7" name="Text Placeholder 6">
            <a:extLst>
              <a:ext uri="{FF2B5EF4-FFF2-40B4-BE49-F238E27FC236}">
                <a16:creationId xmlns:a16="http://schemas.microsoft.com/office/drawing/2014/main" id="{EF56E3CF-C96D-44E1-B016-A0006CBC19EF}"/>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p:txBody>
      </p:sp>
      <p:sp>
        <p:nvSpPr>
          <p:cNvPr id="5" name="Title 4">
            <a:extLst>
              <a:ext uri="{FF2B5EF4-FFF2-40B4-BE49-F238E27FC236}">
                <a16:creationId xmlns:a16="http://schemas.microsoft.com/office/drawing/2014/main" id="{378866E8-53C5-4797-A4E9-A4D41FF30652}"/>
              </a:ext>
            </a:extLst>
          </p:cNvPr>
          <p:cNvSpPr>
            <a:spLocks noGrp="1"/>
          </p:cNvSpPr>
          <p:nvPr>
            <p:ph type="title"/>
          </p:nvPr>
        </p:nvSpPr>
        <p:spPr/>
        <p:txBody>
          <a:bodyPr/>
          <a:lstStyle/>
          <a:p>
            <a:r>
              <a:rPr lang="en-US" dirty="0"/>
              <a:t>Clock Noise transfer in the lab</a:t>
            </a:r>
            <a:endParaRPr lang="LID4096" dirty="0"/>
          </a:p>
        </p:txBody>
      </p:sp>
      <p:sp>
        <p:nvSpPr>
          <p:cNvPr id="2" name="CustomFooter">
            <a:extLst>
              <a:ext uri="{FF2B5EF4-FFF2-40B4-BE49-F238E27FC236}">
                <a16:creationId xmlns:a16="http://schemas.microsoft.com/office/drawing/2014/main" id="{4FC96C05-6D3A-4187-8C12-7955DCADDDD6}"/>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30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CDBBF2B1-8667-44EE-B44E-A2BC6A44C4B4}"/>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0763690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20383829-AB77-4A73-BDD8-3E478C3B540E}"/>
              </a:ext>
            </a:extLst>
          </p:cNvPr>
          <p:cNvSpPr>
            <a:spLocks noGrp="1"/>
          </p:cNvSpPr>
          <p:nvPr>
            <p:ph type="body" sz="quarter" idx="12"/>
          </p:nvPr>
        </p:nvSpPr>
        <p:spPr>
          <a:xfrm>
            <a:off x="649648" y="1758950"/>
            <a:ext cx="16661959" cy="7332663"/>
          </a:xfrm>
        </p:spPr>
        <p:txBody>
          <a:bodyPr/>
          <a:lstStyle/>
          <a:p>
            <a:r>
              <a:rPr lang="en-US" dirty="0" err="1"/>
              <a:t>Vallisneri’s</a:t>
            </a:r>
            <a:r>
              <a:rPr lang="en-US" dirty="0"/>
              <a:t> algorithm to synthesize a closed loop from the r variables than should behave very similarly to TDI, actually.</a:t>
            </a:r>
            <a:endParaRPr lang="LID4096" dirty="0"/>
          </a:p>
        </p:txBody>
      </p:sp>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14" name="Text Placeholder 13">
            <a:extLst>
              <a:ext uri="{FF2B5EF4-FFF2-40B4-BE49-F238E27FC236}">
                <a16:creationId xmlns:a16="http://schemas.microsoft.com/office/drawing/2014/main" id="{7BB9FF3C-D1A5-47C0-802D-88E46DF69243}"/>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p:txBody>
      </p:sp>
      <p:sp>
        <p:nvSpPr>
          <p:cNvPr id="12" name="Title 11">
            <a:extLst>
              <a:ext uri="{FF2B5EF4-FFF2-40B4-BE49-F238E27FC236}">
                <a16:creationId xmlns:a16="http://schemas.microsoft.com/office/drawing/2014/main" id="{59323383-4801-489A-AFC7-A82946E8C6AC}"/>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The clock jitter removal algo and how its based on the same TDI algo</a:t>
            </a:r>
            <a:br>
              <a:rPr lang="en-US" sz="3200" dirty="0"/>
            </a:br>
            <a:endParaRPr lang="LID4096" dirty="0"/>
          </a:p>
        </p:txBody>
      </p:sp>
      <p:sp>
        <p:nvSpPr>
          <p:cNvPr id="16" name="CustomFooter">
            <a:extLst>
              <a:ext uri="{FF2B5EF4-FFF2-40B4-BE49-F238E27FC236}">
                <a16:creationId xmlns:a16="http://schemas.microsoft.com/office/drawing/2014/main" id="{543ABCF5-B2C7-498E-9519-413A270D34A8}"/>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31 / 43</a:t>
            </a:r>
            <a:endParaRPr lang="LID4096" sz="1000" spc="100">
              <a:solidFill>
                <a:srgbClr val="A6A6A6"/>
              </a:solidFill>
              <a:latin typeface="Helvetica Neue45 Light"/>
            </a:endParaRPr>
          </a:p>
        </p:txBody>
      </p:sp>
      <p:sp>
        <p:nvSpPr>
          <p:cNvPr id="17" name="TACMeeting">
            <a:extLst>
              <a:ext uri="{FF2B5EF4-FFF2-40B4-BE49-F238E27FC236}">
                <a16:creationId xmlns:a16="http://schemas.microsoft.com/office/drawing/2014/main" id="{5956E7A9-5F1F-42F9-9D48-12D9FA3D9701}"/>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36836818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E3D6D46-B079-4977-BF48-F2071387EF25}"/>
              </a:ext>
            </a:extLst>
          </p:cNvPr>
          <p:cNvSpPr>
            <a:spLocks noGrp="1"/>
          </p:cNvSpPr>
          <p:nvPr>
            <p:ph type="body" sz="quarter" idx="12"/>
          </p:nvPr>
        </p:nvSpPr>
        <p:spPr>
          <a:xfrm>
            <a:off x="649648" y="1758950"/>
            <a:ext cx="10687362" cy="7332663"/>
          </a:xfrm>
        </p:spPr>
        <p:txBody>
          <a:bodyPr/>
          <a:lstStyle/>
          <a:p>
            <a:r>
              <a:rPr lang="en-US" dirty="0"/>
              <a:t>Again a multi board measurement where I was closely involved in. </a:t>
            </a:r>
          </a:p>
          <a:p>
            <a:r>
              <a:rPr lang="en-US" dirty="0"/>
              <a:t>This is likely limited by modulation noise – the same critical thing we want to build better with the optics – but I have to check this.</a:t>
            </a:r>
          </a:p>
          <a:p>
            <a:r>
              <a:rPr lang="en-US" dirty="0"/>
              <a:t>A nice result though.</a:t>
            </a:r>
          </a:p>
        </p:txBody>
      </p:sp>
      <p:pic>
        <p:nvPicPr>
          <p:cNvPr id="9" name="Picture 8">
            <a:extLst>
              <a:ext uri="{FF2B5EF4-FFF2-40B4-BE49-F238E27FC236}">
                <a16:creationId xmlns:a16="http://schemas.microsoft.com/office/drawing/2014/main" id="{9D14E2B4-8964-463E-8774-789DB03E2075}"/>
              </a:ext>
            </a:extLst>
          </p:cNvPr>
          <p:cNvPicPr>
            <a:picLocks noChangeAspect="1"/>
          </p:cNvPicPr>
          <p:nvPr/>
        </p:nvPicPr>
        <p:blipFill>
          <a:blip r:embed="rId3"/>
          <a:stretch>
            <a:fillRect/>
          </a:stretch>
        </p:blipFill>
        <p:spPr>
          <a:xfrm>
            <a:off x="8316913" y="3458899"/>
            <a:ext cx="9175333" cy="5855241"/>
          </a:xfrm>
          <a:prstGeom prst="rect">
            <a:avLst/>
          </a:prstGeom>
        </p:spPr>
      </p:pic>
      <p:sp>
        <p:nvSpPr>
          <p:cNvPr id="8" name="Text Placeholder 7">
            <a:extLst>
              <a:ext uri="{FF2B5EF4-FFF2-40B4-BE49-F238E27FC236}">
                <a16:creationId xmlns:a16="http://schemas.microsoft.com/office/drawing/2014/main" id="{7966B853-564C-4429-A298-BB542480AE86}"/>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p:txBody>
      </p:sp>
      <p:sp>
        <p:nvSpPr>
          <p:cNvPr id="7" name="Title 6">
            <a:extLst>
              <a:ext uri="{FF2B5EF4-FFF2-40B4-BE49-F238E27FC236}">
                <a16:creationId xmlns:a16="http://schemas.microsoft.com/office/drawing/2014/main" id="{C621A108-4F27-4B5D-9613-3A04307DB49F}"/>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Preliminary Clock Noise Removal</a:t>
            </a:r>
            <a:endParaRPr lang="LID4096" dirty="0"/>
          </a:p>
        </p:txBody>
      </p:sp>
      <p:sp>
        <p:nvSpPr>
          <p:cNvPr id="11" name="CustomFooter">
            <a:extLst>
              <a:ext uri="{FF2B5EF4-FFF2-40B4-BE49-F238E27FC236}">
                <a16:creationId xmlns:a16="http://schemas.microsoft.com/office/drawing/2014/main" id="{6DA990F1-312B-4592-8DC9-30A7054A5E86}"/>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32 / 43</a:t>
            </a:r>
            <a:endParaRPr lang="LID4096" sz="1000" spc="100">
              <a:solidFill>
                <a:srgbClr val="A6A6A6"/>
              </a:solidFill>
              <a:latin typeface="Helvetica Neue45 Light"/>
            </a:endParaRPr>
          </a:p>
        </p:txBody>
      </p:sp>
      <p:sp>
        <p:nvSpPr>
          <p:cNvPr id="12" name="TACMeeting">
            <a:extLst>
              <a:ext uri="{FF2B5EF4-FFF2-40B4-BE49-F238E27FC236}">
                <a16:creationId xmlns:a16="http://schemas.microsoft.com/office/drawing/2014/main" id="{88DBC43A-A224-4FC3-B09A-20C4771B5B7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8100582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0E3D6D46-B079-4977-BF48-F2071387EF25}"/>
              </a:ext>
            </a:extLst>
          </p:cNvPr>
          <p:cNvSpPr>
            <a:spLocks noGrp="1"/>
          </p:cNvSpPr>
          <p:nvPr>
            <p:ph type="body" sz="quarter" idx="12"/>
          </p:nvPr>
        </p:nvSpPr>
        <p:spPr>
          <a:xfrm>
            <a:off x="649648" y="1758950"/>
            <a:ext cx="8440108" cy="7332663"/>
          </a:xfrm>
        </p:spPr>
        <p:txBody>
          <a:bodyPr/>
          <a:lstStyle/>
          <a:p>
            <a:r>
              <a:rPr lang="en-US" dirty="0"/>
              <a:t>Multi board clock noise removal. </a:t>
            </a:r>
          </a:p>
          <a:p>
            <a:r>
              <a:rPr lang="en-US" dirty="0"/>
              <a:t>Clock noise removal done with </a:t>
            </a:r>
            <a:r>
              <a:rPr lang="en-US" dirty="0" err="1"/>
              <a:t>Vallisneri’s</a:t>
            </a:r>
            <a:r>
              <a:rPr lang="en-US" dirty="0"/>
              <a:t> algorithm.</a:t>
            </a:r>
          </a:p>
          <a:p>
            <a:r>
              <a:rPr lang="en-US" dirty="0"/>
              <a:t>PM was not following the Rb, so that’s likely a limiting noise here. Should repeat the measurement for this slide </a:t>
            </a:r>
            <a:endParaRPr lang="LID4096" dirty="0"/>
          </a:p>
        </p:txBody>
      </p:sp>
      <p:sp>
        <p:nvSpPr>
          <p:cNvPr id="8" name="Text Placeholder 7">
            <a:extLst>
              <a:ext uri="{FF2B5EF4-FFF2-40B4-BE49-F238E27FC236}">
                <a16:creationId xmlns:a16="http://schemas.microsoft.com/office/drawing/2014/main" id="{7966B853-564C-4429-A298-BB542480AE86}"/>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p:txBody>
      </p:sp>
      <p:sp>
        <p:nvSpPr>
          <p:cNvPr id="7" name="Title 6">
            <a:extLst>
              <a:ext uri="{FF2B5EF4-FFF2-40B4-BE49-F238E27FC236}">
                <a16:creationId xmlns:a16="http://schemas.microsoft.com/office/drawing/2014/main" id="{C621A108-4F27-4B5D-9613-3A04307DB49F}"/>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Preliminary Clock Noise Removal</a:t>
            </a:r>
            <a:endParaRPr lang="LID4096" dirty="0"/>
          </a:p>
        </p:txBody>
      </p:sp>
      <p:pic>
        <p:nvPicPr>
          <p:cNvPr id="11" name="Picture 10">
            <a:extLst>
              <a:ext uri="{FF2B5EF4-FFF2-40B4-BE49-F238E27FC236}">
                <a16:creationId xmlns:a16="http://schemas.microsoft.com/office/drawing/2014/main" id="{E7A659E8-8EAA-4A12-8B70-A8135E4A3C53}"/>
              </a:ext>
            </a:extLst>
          </p:cNvPr>
          <p:cNvPicPr>
            <a:picLocks noChangeAspect="1"/>
          </p:cNvPicPr>
          <p:nvPr/>
        </p:nvPicPr>
        <p:blipFill>
          <a:blip r:embed="rId3"/>
          <a:stretch>
            <a:fillRect/>
          </a:stretch>
        </p:blipFill>
        <p:spPr>
          <a:xfrm>
            <a:off x="8013086" y="3068876"/>
            <a:ext cx="10274914" cy="6421821"/>
          </a:xfrm>
          <a:prstGeom prst="rect">
            <a:avLst/>
          </a:prstGeom>
        </p:spPr>
      </p:pic>
      <p:sp>
        <p:nvSpPr>
          <p:cNvPr id="2" name="CustomFooter">
            <a:extLst>
              <a:ext uri="{FF2B5EF4-FFF2-40B4-BE49-F238E27FC236}">
                <a16:creationId xmlns:a16="http://schemas.microsoft.com/office/drawing/2014/main" id="{5C96E501-E537-4678-8163-D46EA42A2A6C}"/>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33 / 43</a:t>
            </a:r>
            <a:endParaRPr lang="LID4096" sz="1000" spc="100">
              <a:solidFill>
                <a:srgbClr val="A6A6A6"/>
              </a:solidFill>
              <a:latin typeface="Helvetica Neue45 Light"/>
            </a:endParaRPr>
          </a:p>
        </p:txBody>
      </p:sp>
      <p:sp>
        <p:nvSpPr>
          <p:cNvPr id="3" name="TACMeeting">
            <a:extLst>
              <a:ext uri="{FF2B5EF4-FFF2-40B4-BE49-F238E27FC236}">
                <a16:creationId xmlns:a16="http://schemas.microsoft.com/office/drawing/2014/main" id="{858D5B25-D17D-4322-93CC-2C7AA3981FDF}"/>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9015673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091D0C11-55D0-45C5-89BB-F01245917820}"/>
              </a:ext>
            </a:extLst>
          </p:cNvPr>
          <p:cNvSpPr>
            <a:spLocks noGrp="1"/>
          </p:cNvSpPr>
          <p:nvPr>
            <p:ph type="body" sz="quarter" idx="12"/>
          </p:nvPr>
        </p:nvSpPr>
        <p:spPr/>
        <p:txBody>
          <a:bodyPr/>
          <a:lstStyle/>
          <a:p>
            <a:r>
              <a:rPr lang="en-US" dirty="0"/>
              <a:t>MHz SB seems to not be enough to combat phase noise</a:t>
            </a:r>
          </a:p>
          <a:p>
            <a:r>
              <a:rPr lang="en-US" dirty="0"/>
              <a:t>Here we take LISA modulation phase noise requirement and adjust it to a 10 MHz modulation for reference</a:t>
            </a:r>
          </a:p>
          <a:p>
            <a:r>
              <a:rPr lang="en-US" dirty="0"/>
              <a:t>For LISA-like performance we need to solve this</a:t>
            </a:r>
            <a:endParaRPr lang="LID4096" dirty="0"/>
          </a:p>
        </p:txBody>
      </p:sp>
      <p:pic>
        <p:nvPicPr>
          <p:cNvPr id="8" name="Image 0" descr="preencoded.png"/>
          <p:cNvPicPr>
            <a:picLocks noChangeAspect="1"/>
          </p:cNvPicPr>
          <p:nvPr/>
        </p:nvPicPr>
        <p:blipFill>
          <a:blip r:embed="rId3"/>
          <a:srcRect t="-7079" b="-7079"/>
          <a:stretch/>
        </p:blipFill>
        <p:spPr>
          <a:xfrm>
            <a:off x="8705091" y="2556593"/>
            <a:ext cx="8778180" cy="6377880"/>
          </a:xfrm>
          <a:prstGeom prst="rect">
            <a:avLst/>
          </a:prstGeom>
        </p:spPr>
      </p:pic>
      <p:sp>
        <p:nvSpPr>
          <p:cNvPr id="9" name="Text 6"/>
          <p:cNvSpPr/>
          <p:nvPr/>
        </p:nvSpPr>
        <p:spPr>
          <a:xfrm>
            <a:off x="8603225" y="8791598"/>
            <a:ext cx="9655999" cy="209550"/>
          </a:xfrm>
          <a:prstGeom prst="rect">
            <a:avLst/>
          </a:prstGeom>
          <a:noFill/>
          <a:ln/>
        </p:spPr>
        <p:txBody>
          <a:bodyPr wrap="square" lIns="25400" tIns="25400" rIns="25400" bIns="25400" rtlCol="0" anchor="t">
            <a:noAutofit/>
          </a:bodyPr>
          <a:lstStyle/>
          <a:p>
            <a:pPr marL="0" indent="0" algn="ctr">
              <a:buNone/>
            </a:pPr>
            <a:r>
              <a:rPr lang="en-US" sz="1400" dirty="0">
                <a:solidFill>
                  <a:srgbClr val="A0A0A0"/>
                </a:solidFill>
                <a:latin typeface="Helvetica Neue" pitchFamily="34" charset="0"/>
                <a:ea typeface="Helvetica Neue" pitchFamily="34" charset="-122"/>
                <a:cs typeface="Helvetica Neue" pitchFamily="34" charset="-120"/>
              </a:rPr>
              <a:t>Modulator phase noise against the requirement</a:t>
            </a:r>
            <a:endParaRPr lang="en-US" sz="1400" dirty="0"/>
          </a:p>
        </p:txBody>
      </p:sp>
      <p:sp>
        <p:nvSpPr>
          <p:cNvPr id="10" name="Text Placeholder 9">
            <a:extLst>
              <a:ext uri="{FF2B5EF4-FFF2-40B4-BE49-F238E27FC236}">
                <a16:creationId xmlns:a16="http://schemas.microsoft.com/office/drawing/2014/main" id="{46F1E9A6-53EF-4D89-99FE-356C6E167686}"/>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a:p>
            <a:endParaRPr lang="LID4096" dirty="0"/>
          </a:p>
        </p:txBody>
      </p:sp>
      <p:sp>
        <p:nvSpPr>
          <p:cNvPr id="6" name="Title 5">
            <a:extLst>
              <a:ext uri="{FF2B5EF4-FFF2-40B4-BE49-F238E27FC236}">
                <a16:creationId xmlns:a16="http://schemas.microsoft.com/office/drawing/2014/main" id="{878ED70B-9571-4D6C-8D2E-F2ADFD367A65}"/>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Clock Tone Transfer Limitation</a:t>
            </a:r>
            <a:endParaRPr lang="LID4096" dirty="0"/>
          </a:p>
        </p:txBody>
      </p:sp>
      <p:sp>
        <p:nvSpPr>
          <p:cNvPr id="12" name="CustomFooter">
            <a:extLst>
              <a:ext uri="{FF2B5EF4-FFF2-40B4-BE49-F238E27FC236}">
                <a16:creationId xmlns:a16="http://schemas.microsoft.com/office/drawing/2014/main" id="{9EEE6F23-97FF-4BA2-B030-4C6299839C7B}"/>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34 / 43</a:t>
            </a:r>
            <a:endParaRPr lang="LID4096" sz="1000" spc="100">
              <a:solidFill>
                <a:srgbClr val="A6A6A6"/>
              </a:solidFill>
              <a:latin typeface="Helvetica Neue45 Light"/>
            </a:endParaRPr>
          </a:p>
        </p:txBody>
      </p:sp>
      <p:sp>
        <p:nvSpPr>
          <p:cNvPr id="14" name="TACMeeting">
            <a:extLst>
              <a:ext uri="{FF2B5EF4-FFF2-40B4-BE49-F238E27FC236}">
                <a16:creationId xmlns:a16="http://schemas.microsoft.com/office/drawing/2014/main" id="{289C43A4-A46A-40BE-A80B-215D88B91D41}"/>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6FB82C3B-2A16-4816-A714-D33AD605EB97}"/>
              </a:ext>
            </a:extLst>
          </p:cNvPr>
          <p:cNvSpPr>
            <a:spLocks noGrp="1"/>
          </p:cNvSpPr>
          <p:nvPr>
            <p:ph type="body" sz="quarter" idx="12"/>
          </p:nvPr>
        </p:nvSpPr>
        <p:spPr/>
        <p:txBody>
          <a:bodyPr/>
          <a:lstStyle/>
          <a:p>
            <a:r>
              <a:rPr lang="en-US" dirty="0"/>
              <a:t>Here we take the measured noise </a:t>
            </a:r>
            <a:r>
              <a:rPr lang="en-US" dirty="0" err="1"/>
              <a:t>ans</a:t>
            </a:r>
            <a:r>
              <a:rPr lang="en-US" dirty="0"/>
              <a:t> assume that its frequency independent. Then multiply with a </a:t>
            </a:r>
            <a:r>
              <a:rPr lang="en-US" dirty="0" err="1"/>
              <a:t>transferfunction</a:t>
            </a:r>
            <a:r>
              <a:rPr lang="en-US" dirty="0"/>
              <a:t> assuming 15 MHz modulation. We are over the 15 pm allocation</a:t>
            </a:r>
            <a:endParaRPr lang="LID4096" dirty="0"/>
          </a:p>
        </p:txBody>
      </p:sp>
      <p:sp>
        <p:nvSpPr>
          <p:cNvPr id="8" name="Text Placeholder 7">
            <a:extLst>
              <a:ext uri="{FF2B5EF4-FFF2-40B4-BE49-F238E27FC236}">
                <a16:creationId xmlns:a16="http://schemas.microsoft.com/office/drawing/2014/main" id="{FC544793-8848-46C0-B726-33BC78D26D47}"/>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a:p>
            <a:endParaRPr lang="LID4096" dirty="0"/>
          </a:p>
          <a:p>
            <a:endParaRPr lang="LID4096" dirty="0"/>
          </a:p>
        </p:txBody>
      </p:sp>
      <p:sp>
        <p:nvSpPr>
          <p:cNvPr id="6" name="Title 5">
            <a:extLst>
              <a:ext uri="{FF2B5EF4-FFF2-40B4-BE49-F238E27FC236}">
                <a16:creationId xmlns:a16="http://schemas.microsoft.com/office/drawing/2014/main" id="{6D36CEE1-CC0B-44C2-9DB7-D6F2714E4C9C}"/>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Clock Tone Transfer Limitation</a:t>
            </a:r>
            <a:endParaRPr lang="LID4096" dirty="0"/>
          </a:p>
        </p:txBody>
      </p:sp>
      <p:sp>
        <p:nvSpPr>
          <p:cNvPr id="11" name="CustomFooter">
            <a:extLst>
              <a:ext uri="{FF2B5EF4-FFF2-40B4-BE49-F238E27FC236}">
                <a16:creationId xmlns:a16="http://schemas.microsoft.com/office/drawing/2014/main" id="{49F82BA3-FB02-43D9-B70D-7BB583251B54}"/>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35 / 43</a:t>
            </a:r>
            <a:endParaRPr lang="LID4096" sz="1000" spc="100">
              <a:solidFill>
                <a:srgbClr val="A6A6A6"/>
              </a:solidFill>
              <a:latin typeface="Helvetica Neue45 Light"/>
            </a:endParaRPr>
          </a:p>
        </p:txBody>
      </p:sp>
      <p:sp>
        <p:nvSpPr>
          <p:cNvPr id="12" name="TACMeeting">
            <a:extLst>
              <a:ext uri="{FF2B5EF4-FFF2-40B4-BE49-F238E27FC236}">
                <a16:creationId xmlns:a16="http://schemas.microsoft.com/office/drawing/2014/main" id="{D4899C04-94A3-46A9-A5B6-1A9C2E520F41}"/>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pic>
        <p:nvPicPr>
          <p:cNvPr id="15" name="Picture 14">
            <a:extLst>
              <a:ext uri="{FF2B5EF4-FFF2-40B4-BE49-F238E27FC236}">
                <a16:creationId xmlns:a16="http://schemas.microsoft.com/office/drawing/2014/main" id="{808143ED-55CF-41AA-8B27-416951CD424F}"/>
              </a:ext>
            </a:extLst>
          </p:cNvPr>
          <p:cNvPicPr>
            <a:picLocks noChangeAspect="1"/>
          </p:cNvPicPr>
          <p:nvPr/>
        </p:nvPicPr>
        <p:blipFill>
          <a:blip r:embed="rId3"/>
          <a:stretch>
            <a:fillRect/>
          </a:stretch>
        </p:blipFill>
        <p:spPr>
          <a:xfrm>
            <a:off x="4964508" y="4607996"/>
            <a:ext cx="11753112" cy="4483617"/>
          </a:xfrm>
          <a:prstGeom prst="rect">
            <a:avLst/>
          </a:prstGeom>
        </p:spPr>
      </p:pic>
    </p:spTree>
    <p:extLst>
      <p:ext uri="{BB962C8B-B14F-4D97-AF65-F5344CB8AC3E}">
        <p14:creationId xmlns:p14="http://schemas.microsoft.com/office/powerpoint/2010/main" val="4132247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876300" y="3283622"/>
            <a:ext cx="4277931" cy="200025"/>
          </a:xfrm>
          <a:prstGeom prst="rect">
            <a:avLst/>
          </a:prstGeom>
          <a:noFill/>
          <a:ln/>
        </p:spPr>
        <p:txBody>
          <a:bodyPr wrap="square" lIns="25400" tIns="25400" rIns="25400" bIns="25400" rtlCol="0" anchor="t">
            <a:normAutofit fontScale="92500" lnSpcReduction="10000"/>
          </a:bodyPr>
          <a:lstStyle/>
          <a:p>
            <a:pPr marL="0" indent="0" algn="l">
              <a:buNone/>
            </a:pPr>
            <a:r>
              <a:rPr lang="en-US" sz="1050" b="1" kern="0" spc="147" dirty="0">
                <a:solidFill>
                  <a:srgbClr val="9A9A9A"/>
                </a:solidFill>
                <a:latin typeface="Helvetica Neue" pitchFamily="34" charset="0"/>
                <a:ea typeface="Helvetica Neue" pitchFamily="34" charset="-122"/>
                <a:cs typeface="Helvetica Neue" pitchFamily="34" charset="-120"/>
              </a:rPr>
              <a:t>POTENTIAL SOLUTIONS UNDER INVESTIGATION</a:t>
            </a:r>
            <a:endParaRPr lang="en-US" sz="1050" dirty="0"/>
          </a:p>
        </p:txBody>
      </p:sp>
      <p:sp>
        <p:nvSpPr>
          <p:cNvPr id="6" name="Shape 4"/>
          <p:cNvSpPr/>
          <p:nvPr/>
        </p:nvSpPr>
        <p:spPr>
          <a:xfrm>
            <a:off x="4860578" y="3359822"/>
            <a:ext cx="2117738" cy="45719"/>
          </a:xfrm>
          <a:prstGeom prst="rect">
            <a:avLst/>
          </a:prstGeom>
          <a:solidFill>
            <a:srgbClr val="ECECEC"/>
          </a:solidFill>
          <a:ln/>
        </p:spPr>
      </p:sp>
      <p:sp>
        <p:nvSpPr>
          <p:cNvPr id="7" name="Shape 5"/>
          <p:cNvSpPr/>
          <p:nvPr/>
        </p:nvSpPr>
        <p:spPr>
          <a:xfrm>
            <a:off x="876300" y="3683672"/>
            <a:ext cx="209550" cy="209550"/>
          </a:xfrm>
          <a:prstGeom prst="ellipse">
            <a:avLst/>
          </a:prstGeom>
          <a:ln w="19050">
            <a:solidFill>
              <a:srgbClr val="B6B6B6"/>
            </a:solidFill>
            <a:prstDash val="solid"/>
          </a:ln>
        </p:spPr>
      </p:sp>
      <p:sp>
        <p:nvSpPr>
          <p:cNvPr id="8" name="Text 6"/>
          <p:cNvSpPr/>
          <p:nvPr/>
        </p:nvSpPr>
        <p:spPr>
          <a:xfrm>
            <a:off x="1238250" y="3655097"/>
            <a:ext cx="4607808"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Driving the PM from the sidebands</a:t>
            </a:r>
            <a:endParaRPr lang="en-US" sz="1725" dirty="0"/>
          </a:p>
        </p:txBody>
      </p:sp>
      <p:sp>
        <p:nvSpPr>
          <p:cNvPr id="9" name="Text 7"/>
          <p:cNvSpPr/>
          <p:nvPr/>
        </p:nvSpPr>
        <p:spPr>
          <a:xfrm>
            <a:off x="1238250" y="3921797"/>
            <a:ext cx="4607808"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Derive the clock phase directly from the RF sidebands.</a:t>
            </a:r>
            <a:endParaRPr lang="en-US" sz="1350" dirty="0"/>
          </a:p>
        </p:txBody>
      </p:sp>
      <p:sp>
        <p:nvSpPr>
          <p:cNvPr id="10" name="Shape 8"/>
          <p:cNvSpPr/>
          <p:nvPr/>
        </p:nvSpPr>
        <p:spPr>
          <a:xfrm>
            <a:off x="876300" y="4369472"/>
            <a:ext cx="209550" cy="209550"/>
          </a:xfrm>
          <a:prstGeom prst="ellipse">
            <a:avLst/>
          </a:prstGeom>
          <a:ln w="19050">
            <a:solidFill>
              <a:srgbClr val="B6B6B6"/>
            </a:solidFill>
            <a:prstDash val="solid"/>
          </a:ln>
        </p:spPr>
      </p:sp>
      <p:sp>
        <p:nvSpPr>
          <p:cNvPr id="11" name="Text 9"/>
          <p:cNvSpPr/>
          <p:nvPr/>
        </p:nvSpPr>
        <p:spPr>
          <a:xfrm>
            <a:off x="1238250" y="4340897"/>
            <a:ext cx="4216866"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Reference measurement</a:t>
            </a:r>
            <a:endParaRPr lang="en-US" sz="1725" dirty="0"/>
          </a:p>
        </p:txBody>
      </p:sp>
      <p:sp>
        <p:nvSpPr>
          <p:cNvPr id="12" name="Text 10"/>
          <p:cNvSpPr/>
          <p:nvPr/>
        </p:nvSpPr>
        <p:spPr>
          <a:xfrm>
            <a:off x="1238250" y="4607597"/>
            <a:ext cx="4216866"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A dedicated channel to track the modulation tone.</a:t>
            </a:r>
            <a:endParaRPr lang="en-US" sz="1350" dirty="0"/>
          </a:p>
        </p:txBody>
      </p:sp>
      <p:sp>
        <p:nvSpPr>
          <p:cNvPr id="13" name="Shape 11"/>
          <p:cNvSpPr/>
          <p:nvPr/>
        </p:nvSpPr>
        <p:spPr>
          <a:xfrm>
            <a:off x="876300" y="5055272"/>
            <a:ext cx="209550" cy="209550"/>
          </a:xfrm>
          <a:prstGeom prst="ellipse">
            <a:avLst/>
          </a:prstGeom>
          <a:ln w="19050">
            <a:solidFill>
              <a:srgbClr val="B6B6B6"/>
            </a:solidFill>
            <a:prstDash val="solid"/>
          </a:ln>
        </p:spPr>
      </p:sp>
      <p:sp>
        <p:nvSpPr>
          <p:cNvPr id="14" name="Text 12"/>
          <p:cNvSpPr/>
          <p:nvPr/>
        </p:nvSpPr>
        <p:spPr>
          <a:xfrm>
            <a:off x="1238250" y="5026697"/>
            <a:ext cx="4617794"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ADC mixing</a:t>
            </a:r>
            <a:endParaRPr lang="en-US" sz="1725" dirty="0"/>
          </a:p>
        </p:txBody>
      </p:sp>
      <p:sp>
        <p:nvSpPr>
          <p:cNvPr id="15" name="Text 13"/>
          <p:cNvSpPr/>
          <p:nvPr/>
        </p:nvSpPr>
        <p:spPr>
          <a:xfrm>
            <a:off x="1238250" y="5293397"/>
            <a:ext cx="4617794"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Down-mix the GHz tone inside the ADC.</a:t>
            </a:r>
            <a:endParaRPr lang="en-US" sz="1350" dirty="0"/>
          </a:p>
        </p:txBody>
      </p:sp>
      <p:sp>
        <p:nvSpPr>
          <p:cNvPr id="16" name="Shape 14"/>
          <p:cNvSpPr/>
          <p:nvPr/>
        </p:nvSpPr>
        <p:spPr>
          <a:xfrm>
            <a:off x="876300" y="5741072"/>
            <a:ext cx="209550" cy="209550"/>
          </a:xfrm>
          <a:prstGeom prst="ellipse">
            <a:avLst/>
          </a:prstGeom>
          <a:ln w="19050">
            <a:solidFill>
              <a:srgbClr val="B6B6B6"/>
            </a:solidFill>
            <a:prstDash val="solid"/>
          </a:ln>
        </p:spPr>
      </p:sp>
      <p:sp>
        <p:nvSpPr>
          <p:cNvPr id="17" name="Text 15"/>
          <p:cNvSpPr/>
          <p:nvPr/>
        </p:nvSpPr>
        <p:spPr>
          <a:xfrm>
            <a:off x="1238250" y="5712497"/>
            <a:ext cx="4236839" cy="304800"/>
          </a:xfrm>
          <a:prstGeom prst="rect">
            <a:avLst/>
          </a:prstGeom>
          <a:noFill/>
          <a:ln/>
        </p:spPr>
        <p:txBody>
          <a:bodyPr wrap="square" lIns="25400" tIns="25400" rIns="25400" bIns="25400" rtlCol="0" anchor="t">
            <a:normAutofit fontScale="92500" lnSpcReduction="20000"/>
          </a:bodyPr>
          <a:lstStyle/>
          <a:p>
            <a:pPr marL="0" indent="0" algn="l">
              <a:lnSpc>
                <a:spcPct val="125000"/>
              </a:lnSpc>
              <a:buNone/>
            </a:pPr>
            <a:r>
              <a:rPr lang="en-US" sz="1725" b="1" dirty="0">
                <a:solidFill>
                  <a:srgbClr val="1A1A1A"/>
                </a:solidFill>
                <a:latin typeface="Helvetica Neue" pitchFamily="34" charset="0"/>
                <a:ea typeface="Helvetica Neue" pitchFamily="34" charset="-122"/>
                <a:cs typeface="Helvetica Neue" pitchFamily="34" charset="-120"/>
              </a:rPr>
              <a:t>Aliasing</a:t>
            </a:r>
            <a:endParaRPr lang="en-US" sz="1725" dirty="0"/>
          </a:p>
        </p:txBody>
      </p:sp>
      <p:sp>
        <p:nvSpPr>
          <p:cNvPr id="18" name="Text 16"/>
          <p:cNvSpPr/>
          <p:nvPr/>
        </p:nvSpPr>
        <p:spPr>
          <a:xfrm>
            <a:off x="1238250" y="5979197"/>
            <a:ext cx="4236839" cy="26670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350" dirty="0">
                <a:solidFill>
                  <a:srgbClr val="7A7A7A"/>
                </a:solidFill>
                <a:latin typeface="Helvetica Neue" pitchFamily="34" charset="0"/>
                <a:ea typeface="Helvetica Neue" pitchFamily="34" charset="-122"/>
                <a:cs typeface="Helvetica Neue" pitchFamily="34" charset="-120"/>
              </a:rPr>
              <a:t>Controlled aliasing of a MHz signal.</a:t>
            </a:r>
            <a:endParaRPr lang="en-US" sz="1350" dirty="0"/>
          </a:p>
        </p:txBody>
      </p:sp>
      <p:pic>
        <p:nvPicPr>
          <p:cNvPr id="22" name="Image 0" descr="preencoded.png"/>
          <p:cNvPicPr>
            <a:picLocks noChangeAspect="1"/>
          </p:cNvPicPr>
          <p:nvPr/>
        </p:nvPicPr>
        <p:blipFill>
          <a:blip r:embed="rId3"/>
          <a:srcRect l="-3" r="-3"/>
          <a:stretch/>
        </p:blipFill>
        <p:spPr>
          <a:xfrm>
            <a:off x="6716498" y="2955943"/>
            <a:ext cx="10856413" cy="3919223"/>
          </a:xfrm>
          <a:prstGeom prst="rect">
            <a:avLst/>
          </a:prstGeom>
        </p:spPr>
      </p:pic>
      <p:sp>
        <p:nvSpPr>
          <p:cNvPr id="23" name="Text 20"/>
          <p:cNvSpPr/>
          <p:nvPr/>
        </p:nvSpPr>
        <p:spPr>
          <a:xfrm>
            <a:off x="8170784" y="6901030"/>
            <a:ext cx="7947839" cy="200025"/>
          </a:xfrm>
          <a:prstGeom prst="rect">
            <a:avLst/>
          </a:prstGeom>
          <a:noFill/>
          <a:ln/>
        </p:spPr>
        <p:txBody>
          <a:bodyPr wrap="square" lIns="25400" tIns="25400" rIns="25400" bIns="25400" rtlCol="0" anchor="t">
            <a:noAutofit/>
          </a:bodyPr>
          <a:lstStyle/>
          <a:p>
            <a:pPr marL="0" indent="0" algn="ctr">
              <a:buNone/>
            </a:pPr>
            <a:r>
              <a:rPr lang="en-US" sz="1200" dirty="0">
                <a:solidFill>
                  <a:srgbClr val="A0A0A0"/>
                </a:solidFill>
                <a:latin typeface="Helvetica Neue" pitchFamily="34" charset="0"/>
                <a:ea typeface="Helvetica Neue" pitchFamily="34" charset="-122"/>
                <a:cs typeface="Helvetica Neue" pitchFamily="34" charset="-120"/>
              </a:rPr>
              <a:t>GHz modulation measurement scheme</a:t>
            </a:r>
            <a:endParaRPr lang="en-US" sz="1200" dirty="0"/>
          </a:p>
        </p:txBody>
      </p:sp>
      <p:sp>
        <p:nvSpPr>
          <p:cNvPr id="19" name="Text Placeholder 18">
            <a:extLst>
              <a:ext uri="{FF2B5EF4-FFF2-40B4-BE49-F238E27FC236}">
                <a16:creationId xmlns:a16="http://schemas.microsoft.com/office/drawing/2014/main" id="{F61F2219-396D-4F10-AE4C-1F1EFBDFDD37}"/>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a:p>
            <a:endParaRPr lang="LID4096" dirty="0"/>
          </a:p>
          <a:p>
            <a:endParaRPr lang="LID4096" dirty="0"/>
          </a:p>
          <a:p>
            <a:endParaRPr lang="LID4096" dirty="0"/>
          </a:p>
        </p:txBody>
      </p:sp>
      <p:sp>
        <p:nvSpPr>
          <p:cNvPr id="4" name="Title 3">
            <a:extLst>
              <a:ext uri="{FF2B5EF4-FFF2-40B4-BE49-F238E27FC236}">
                <a16:creationId xmlns:a16="http://schemas.microsoft.com/office/drawing/2014/main" id="{FA1168B5-C7BD-4875-953D-422C9A1B36D5}"/>
              </a:ext>
            </a:extLst>
          </p:cNvPr>
          <p:cNvSpPr>
            <a:spLocks noGrp="1"/>
          </p:cNvSpPr>
          <p:nvPr>
            <p:ph type="title"/>
          </p:nvPr>
        </p:nvSpPr>
        <p:spPr/>
        <p:txBody>
          <a:bodyPr/>
          <a:lstStyle/>
          <a:p>
            <a:r>
              <a:rPr lang="en-US" dirty="0"/>
              <a:t>GHz Sidebands in the lab</a:t>
            </a:r>
            <a:endParaRPr lang="LID4096" dirty="0"/>
          </a:p>
        </p:txBody>
      </p:sp>
      <p:sp>
        <p:nvSpPr>
          <p:cNvPr id="20" name="Text Placeholder 19">
            <a:extLst>
              <a:ext uri="{FF2B5EF4-FFF2-40B4-BE49-F238E27FC236}">
                <a16:creationId xmlns:a16="http://schemas.microsoft.com/office/drawing/2014/main" id="{2D621AFD-C005-4C4B-99D6-EF79EE258719}"/>
              </a:ext>
            </a:extLst>
          </p:cNvPr>
          <p:cNvSpPr>
            <a:spLocks noGrp="1"/>
          </p:cNvSpPr>
          <p:nvPr>
            <p:ph type="body" sz="quarter" idx="12"/>
          </p:nvPr>
        </p:nvSpPr>
        <p:spPr/>
        <p:txBody>
          <a:bodyPr/>
          <a:lstStyle/>
          <a:p>
            <a:r>
              <a:rPr lang="en-US" dirty="0"/>
              <a:t>Some ideas. One is my favorite.</a:t>
            </a:r>
            <a:endParaRPr lang="LID4096" dirty="0"/>
          </a:p>
        </p:txBody>
      </p:sp>
      <p:sp>
        <p:nvSpPr>
          <p:cNvPr id="21" name="CustomFooter">
            <a:extLst>
              <a:ext uri="{FF2B5EF4-FFF2-40B4-BE49-F238E27FC236}">
                <a16:creationId xmlns:a16="http://schemas.microsoft.com/office/drawing/2014/main" id="{2AF90A77-FE9B-47C3-ABB4-50825D2B10A6}"/>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36 / 43</a:t>
            </a:r>
            <a:endParaRPr lang="LID4096" sz="1000" spc="100">
              <a:solidFill>
                <a:srgbClr val="A6A6A6"/>
              </a:solidFill>
              <a:latin typeface="Helvetica Neue45 Light"/>
            </a:endParaRPr>
          </a:p>
        </p:txBody>
      </p:sp>
      <p:sp>
        <p:nvSpPr>
          <p:cNvPr id="24" name="TACMeeting">
            <a:extLst>
              <a:ext uri="{FF2B5EF4-FFF2-40B4-BE49-F238E27FC236}">
                <a16:creationId xmlns:a16="http://schemas.microsoft.com/office/drawing/2014/main" id="{1865083C-4AC0-442F-B584-C3FD6B88D8A9}"/>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Image 0" descr="preencoded.png"/>
          <p:cNvPicPr>
            <a:picLocks noChangeAspect="1"/>
          </p:cNvPicPr>
          <p:nvPr/>
        </p:nvPicPr>
        <p:blipFill>
          <a:blip r:embed="rId3"/>
          <a:srcRect l="-3" r="-3"/>
          <a:stretch/>
        </p:blipFill>
        <p:spPr>
          <a:xfrm>
            <a:off x="3239791" y="5824736"/>
            <a:ext cx="10856413" cy="3919223"/>
          </a:xfrm>
          <a:prstGeom prst="rect">
            <a:avLst/>
          </a:prstGeom>
        </p:spPr>
      </p:pic>
      <p:pic>
        <p:nvPicPr>
          <p:cNvPr id="5" name="Picture 4">
            <a:extLst>
              <a:ext uri="{FF2B5EF4-FFF2-40B4-BE49-F238E27FC236}">
                <a16:creationId xmlns:a16="http://schemas.microsoft.com/office/drawing/2014/main" id="{1B36B24F-637A-4613-9A82-F672ECAA430F}"/>
              </a:ext>
            </a:extLst>
          </p:cNvPr>
          <p:cNvPicPr>
            <a:picLocks noChangeAspect="1"/>
          </p:cNvPicPr>
          <p:nvPr/>
        </p:nvPicPr>
        <p:blipFill>
          <a:blip r:embed="rId4"/>
          <a:stretch>
            <a:fillRect/>
          </a:stretch>
        </p:blipFill>
        <p:spPr>
          <a:xfrm>
            <a:off x="9971089" y="1426558"/>
            <a:ext cx="7315215" cy="4572009"/>
          </a:xfrm>
          <a:prstGeom prst="rect">
            <a:avLst/>
          </a:prstGeom>
        </p:spPr>
      </p:pic>
      <p:sp>
        <p:nvSpPr>
          <p:cNvPr id="6" name="Text Placeholder 5">
            <a:extLst>
              <a:ext uri="{FF2B5EF4-FFF2-40B4-BE49-F238E27FC236}">
                <a16:creationId xmlns:a16="http://schemas.microsoft.com/office/drawing/2014/main" id="{7E5CBACB-C664-40F4-800D-CDCF5E4C5111}"/>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a:p>
            <a:endParaRPr lang="LID4096" dirty="0"/>
          </a:p>
          <a:p>
            <a:endParaRPr lang="LID4096" dirty="0"/>
          </a:p>
          <a:p>
            <a:endParaRPr lang="LID4096" dirty="0"/>
          </a:p>
          <a:p>
            <a:endParaRPr lang="LID4096" dirty="0"/>
          </a:p>
        </p:txBody>
      </p:sp>
      <p:sp>
        <p:nvSpPr>
          <p:cNvPr id="4" name="Title 3">
            <a:extLst>
              <a:ext uri="{FF2B5EF4-FFF2-40B4-BE49-F238E27FC236}">
                <a16:creationId xmlns:a16="http://schemas.microsoft.com/office/drawing/2014/main" id="{98574D14-C300-4B92-BE0D-3FA623D33927}"/>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GHz Modulation – the same noise cancellation like modulation vs ADC</a:t>
            </a:r>
            <a:endParaRPr lang="LID4096" dirty="0"/>
          </a:p>
        </p:txBody>
      </p:sp>
      <p:sp>
        <p:nvSpPr>
          <p:cNvPr id="7" name="Text Placeholder 6">
            <a:extLst>
              <a:ext uri="{FF2B5EF4-FFF2-40B4-BE49-F238E27FC236}">
                <a16:creationId xmlns:a16="http://schemas.microsoft.com/office/drawing/2014/main" id="{34482EDA-6ED9-410C-9405-76340EB4BA29}"/>
              </a:ext>
            </a:extLst>
          </p:cNvPr>
          <p:cNvSpPr>
            <a:spLocks noGrp="1"/>
          </p:cNvSpPr>
          <p:nvPr>
            <p:ph type="body" sz="quarter" idx="12"/>
          </p:nvPr>
        </p:nvSpPr>
        <p:spPr/>
        <p:txBody>
          <a:bodyPr/>
          <a:lstStyle/>
          <a:p>
            <a:r>
              <a:rPr lang="en-US" dirty="0"/>
              <a:t>Here’s my </a:t>
            </a:r>
            <a:r>
              <a:rPr lang="en-US" dirty="0" err="1"/>
              <a:t>favourite</a:t>
            </a:r>
            <a:r>
              <a:rPr lang="en-US" dirty="0"/>
              <a:t> idea of taking the DL sampling clock and using that for the reference modulator. Then the noises cancel out at the ADC and we don’t see that noise further down the line.</a:t>
            </a:r>
            <a:endParaRPr lang="LID4096" dirty="0"/>
          </a:p>
        </p:txBody>
      </p:sp>
      <p:sp>
        <p:nvSpPr>
          <p:cNvPr id="8" name="CustomFooter">
            <a:extLst>
              <a:ext uri="{FF2B5EF4-FFF2-40B4-BE49-F238E27FC236}">
                <a16:creationId xmlns:a16="http://schemas.microsoft.com/office/drawing/2014/main" id="{23A7C36B-06DD-4A1D-B59E-6F8C5C42EE53}"/>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37 / 43</a:t>
            </a:r>
            <a:endParaRPr lang="LID4096" sz="1000" spc="100">
              <a:solidFill>
                <a:srgbClr val="A6A6A6"/>
              </a:solidFill>
              <a:latin typeface="Helvetica Neue45 Light"/>
            </a:endParaRPr>
          </a:p>
        </p:txBody>
      </p:sp>
      <p:sp>
        <p:nvSpPr>
          <p:cNvPr id="9" name="TACMeeting">
            <a:extLst>
              <a:ext uri="{FF2B5EF4-FFF2-40B4-BE49-F238E27FC236}">
                <a16:creationId xmlns:a16="http://schemas.microsoft.com/office/drawing/2014/main" id="{704394CD-BCC1-4823-95FF-1C87F1C02D4B}"/>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47452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E5CBACB-C664-40F4-800D-CDCF5E4C5111}"/>
              </a:ext>
            </a:extLst>
          </p:cNvPr>
          <p:cNvSpPr>
            <a:spLocks noGrp="1"/>
          </p:cNvSpPr>
          <p:nvPr>
            <p:ph type="body" sz="quarter" idx="11"/>
          </p:nvPr>
        </p:nvSpPr>
        <p:spPr/>
        <p:txBody>
          <a:bodyPr/>
          <a:lstStyle/>
          <a:p>
            <a:r>
              <a:rPr lang="en-US" sz="1200" b="1" kern="0" spc="225" dirty="0">
                <a:solidFill>
                  <a:srgbClr val="9A9A9A"/>
                </a:solidFill>
                <a:latin typeface="Helvetica Neue" pitchFamily="34" charset="0"/>
                <a:ea typeface="Helvetica Neue" pitchFamily="34" charset="-122"/>
                <a:cs typeface="Helvetica Neue" pitchFamily="34" charset="-120"/>
              </a:rPr>
              <a:t>CLOCK NOISE CORRECTION IN MINILISA</a:t>
            </a:r>
            <a:endParaRPr lang="LID4096" dirty="0"/>
          </a:p>
          <a:p>
            <a:endParaRPr lang="LID4096" dirty="0"/>
          </a:p>
          <a:p>
            <a:endParaRPr lang="LID4096" dirty="0"/>
          </a:p>
          <a:p>
            <a:endParaRPr lang="LID4096" dirty="0"/>
          </a:p>
          <a:p>
            <a:endParaRPr lang="LID4096" dirty="0"/>
          </a:p>
          <a:p>
            <a:endParaRPr lang="LID4096" dirty="0"/>
          </a:p>
        </p:txBody>
      </p:sp>
      <p:sp>
        <p:nvSpPr>
          <p:cNvPr id="4" name="Title 3">
            <a:extLst>
              <a:ext uri="{FF2B5EF4-FFF2-40B4-BE49-F238E27FC236}">
                <a16:creationId xmlns:a16="http://schemas.microsoft.com/office/drawing/2014/main" id="{98574D14-C300-4B92-BE0D-3FA623D33927}"/>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cs typeface="Helvetica Neue" pitchFamily="34" charset="-120"/>
              </a:rPr>
              <a:t>GHz Modulation – the same noise cancellation like modulation vs ADC</a:t>
            </a:r>
            <a:endParaRPr lang="LID4096" dirty="0"/>
          </a:p>
        </p:txBody>
      </p:sp>
      <p:sp>
        <p:nvSpPr>
          <p:cNvPr id="7" name="Text Placeholder 6">
            <a:extLst>
              <a:ext uri="{FF2B5EF4-FFF2-40B4-BE49-F238E27FC236}">
                <a16:creationId xmlns:a16="http://schemas.microsoft.com/office/drawing/2014/main" id="{34482EDA-6ED9-410C-9405-76340EB4BA29}"/>
              </a:ext>
            </a:extLst>
          </p:cNvPr>
          <p:cNvSpPr>
            <a:spLocks noGrp="1"/>
          </p:cNvSpPr>
          <p:nvPr>
            <p:ph type="body" sz="quarter" idx="12"/>
          </p:nvPr>
        </p:nvSpPr>
        <p:spPr/>
        <p:txBody>
          <a:bodyPr/>
          <a:lstStyle/>
          <a:p>
            <a:r>
              <a:rPr lang="en-US" dirty="0"/>
              <a:t>What frequencies to use?</a:t>
            </a:r>
          </a:p>
          <a:p>
            <a:r>
              <a:rPr lang="en-US" dirty="0"/>
              <a:t>Is 300 enough?</a:t>
            </a:r>
            <a:endParaRPr lang="LID4096" dirty="0"/>
          </a:p>
        </p:txBody>
      </p:sp>
      <p:sp>
        <p:nvSpPr>
          <p:cNvPr id="8" name="CustomFooter">
            <a:extLst>
              <a:ext uri="{FF2B5EF4-FFF2-40B4-BE49-F238E27FC236}">
                <a16:creationId xmlns:a16="http://schemas.microsoft.com/office/drawing/2014/main" id="{23A7C36B-06DD-4A1D-B59E-6F8C5C42EE53}"/>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37 / 43</a:t>
            </a:r>
            <a:endParaRPr lang="LID4096" sz="1000" spc="100">
              <a:solidFill>
                <a:srgbClr val="A6A6A6"/>
              </a:solidFill>
              <a:latin typeface="Helvetica Neue45 Light"/>
            </a:endParaRPr>
          </a:p>
        </p:txBody>
      </p:sp>
      <p:sp>
        <p:nvSpPr>
          <p:cNvPr id="9" name="TACMeeting">
            <a:extLst>
              <a:ext uri="{FF2B5EF4-FFF2-40B4-BE49-F238E27FC236}">
                <a16:creationId xmlns:a16="http://schemas.microsoft.com/office/drawing/2014/main" id="{704394CD-BCC1-4823-95FF-1C87F1C02D4B}"/>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pic>
        <p:nvPicPr>
          <p:cNvPr id="3" name="Picture 2">
            <a:extLst>
              <a:ext uri="{FF2B5EF4-FFF2-40B4-BE49-F238E27FC236}">
                <a16:creationId xmlns:a16="http://schemas.microsoft.com/office/drawing/2014/main" id="{88C507E2-38B8-4F0D-BE6E-6468F2B8DDB3}"/>
              </a:ext>
            </a:extLst>
          </p:cNvPr>
          <p:cNvPicPr>
            <a:picLocks noChangeAspect="1"/>
          </p:cNvPicPr>
          <p:nvPr/>
        </p:nvPicPr>
        <p:blipFill>
          <a:blip r:embed="rId3"/>
          <a:stretch>
            <a:fillRect/>
          </a:stretch>
        </p:blipFill>
        <p:spPr>
          <a:xfrm>
            <a:off x="5476953" y="1482493"/>
            <a:ext cx="11756160" cy="4483617"/>
          </a:xfrm>
          <a:prstGeom prst="rect">
            <a:avLst/>
          </a:prstGeom>
        </p:spPr>
      </p:pic>
      <p:pic>
        <p:nvPicPr>
          <p:cNvPr id="11" name="Picture 10">
            <a:extLst>
              <a:ext uri="{FF2B5EF4-FFF2-40B4-BE49-F238E27FC236}">
                <a16:creationId xmlns:a16="http://schemas.microsoft.com/office/drawing/2014/main" id="{063462B5-A8B1-4D82-AA54-74F0C5BAD820}"/>
              </a:ext>
            </a:extLst>
          </p:cNvPr>
          <p:cNvPicPr>
            <a:picLocks noChangeAspect="1"/>
          </p:cNvPicPr>
          <p:nvPr/>
        </p:nvPicPr>
        <p:blipFill>
          <a:blip r:embed="rId4"/>
          <a:stretch>
            <a:fillRect/>
          </a:stretch>
        </p:blipFill>
        <p:spPr>
          <a:xfrm>
            <a:off x="6537586" y="6005478"/>
            <a:ext cx="9634895" cy="3675552"/>
          </a:xfrm>
          <a:prstGeom prst="rect">
            <a:avLst/>
          </a:prstGeom>
        </p:spPr>
      </p:pic>
    </p:spTree>
    <p:extLst>
      <p:ext uri="{BB962C8B-B14F-4D97-AF65-F5344CB8AC3E}">
        <p14:creationId xmlns:p14="http://schemas.microsoft.com/office/powerpoint/2010/main" val="12674713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7" name="Title 6">
            <a:extLst>
              <a:ext uri="{FF2B5EF4-FFF2-40B4-BE49-F238E27FC236}">
                <a16:creationId xmlns:a16="http://schemas.microsoft.com/office/drawing/2014/main" id="{117363F0-153C-4BE6-88DC-446B46B323B6}"/>
              </a:ext>
            </a:extLst>
          </p:cNvPr>
          <p:cNvSpPr>
            <a:spLocks noGrp="1"/>
          </p:cNvSpPr>
          <p:nvPr>
            <p:ph type="title"/>
          </p:nvPr>
        </p:nvSpPr>
        <p:spPr>
          <a:xfrm>
            <a:off x="647700" y="1270000"/>
            <a:ext cx="15773400" cy="7874000"/>
          </a:xfrm>
        </p:spPr>
        <p:txBody>
          <a:bodyPr anchor="ctr"/>
          <a:lstStyle/>
          <a:p>
            <a:pPr algn="l">
              <a:lnSpc>
                <a:spcPct val="100000"/>
              </a:lnSpc>
              <a:spcBef>
                <a:spcPts val="600"/>
              </a:spcBef>
              <a:spcAft>
                <a:spcPts val="600"/>
              </a:spcAft>
              <a:buNone/>
            </a:pPr>
            <a:r>
              <a:rPr lang="en-US" sz="2800" dirty="0">
                <a:solidFill>
                  <a:srgbClr val="7F7F7F"/>
                </a:solidFill>
              </a:rPr>
              <a:t>Context</a:t>
            </a:r>
          </a:p>
          <a:p>
            <a:pPr algn="l">
              <a:lnSpc>
                <a:spcPct val="100000"/>
              </a:lnSpc>
              <a:spcBef>
                <a:spcPts val="600"/>
              </a:spcBef>
              <a:spcAft>
                <a:spcPts val="600"/>
              </a:spcAft>
              <a:buNone/>
            </a:pPr>
            <a:r>
              <a:rPr lang="en-US" sz="2800" dirty="0">
                <a:solidFill>
                  <a:srgbClr val="7F7F7F"/>
                </a:solidFill>
              </a:rPr>
              <a:t>Overview of the LISA IDS</a:t>
            </a:r>
          </a:p>
          <a:p>
            <a:pPr algn="l">
              <a:lnSpc>
                <a:spcPct val="100000"/>
              </a:lnSpc>
              <a:spcBef>
                <a:spcPts val="600"/>
              </a:spcBef>
              <a:spcAft>
                <a:spcPts val="600"/>
              </a:spcAft>
              <a:buNone/>
            </a:pPr>
            <a:r>
              <a:rPr lang="en-US" sz="2800" dirty="0">
                <a:solidFill>
                  <a:srgbClr val="7F7F7F"/>
                </a:solidFill>
              </a:rPr>
              <a:t>Testbed Concept</a:t>
            </a:r>
          </a:p>
          <a:p>
            <a:pPr algn="l">
              <a:lnSpc>
                <a:spcPct val="100000"/>
              </a:lnSpc>
              <a:spcBef>
                <a:spcPts val="600"/>
              </a:spcBef>
              <a:spcAft>
                <a:spcPts val="600"/>
              </a:spcAft>
              <a:buNone/>
            </a:pPr>
            <a:r>
              <a:rPr lang="en-US" sz="2800" dirty="0">
                <a:solidFill>
                  <a:srgbClr val="7F7F7F"/>
                </a:solidFill>
              </a:rPr>
              <a:t>TDI and laser noise: status</a:t>
            </a:r>
          </a:p>
          <a:p>
            <a:pPr algn="l">
              <a:lnSpc>
                <a:spcPct val="100000"/>
              </a:lnSpc>
              <a:spcBef>
                <a:spcPts val="600"/>
              </a:spcBef>
              <a:spcAft>
                <a:spcPts val="600"/>
              </a:spcAft>
              <a:buNone/>
            </a:pPr>
            <a:r>
              <a:rPr lang="en-US" sz="2800" dirty="0">
                <a:solidFill>
                  <a:srgbClr val="7F7F7F"/>
                </a:solidFill>
              </a:rPr>
              <a:t>clock noise: status</a:t>
            </a:r>
          </a:p>
          <a:p>
            <a:pPr algn="l">
              <a:lnSpc>
                <a:spcPct val="100000"/>
              </a:lnSpc>
              <a:spcBef>
                <a:spcPts val="1400"/>
              </a:spcBef>
              <a:spcAft>
                <a:spcPts val="1400"/>
              </a:spcAft>
              <a:buNone/>
            </a:pPr>
            <a:r>
              <a:rPr lang="en-US" sz="5400" b="1" dirty="0"/>
              <a:t>Next Steps</a:t>
            </a:r>
          </a:p>
          <a:p>
            <a:pPr algn="l">
              <a:lnSpc>
                <a:spcPct val="100000"/>
              </a:lnSpc>
              <a:spcBef>
                <a:spcPts val="600"/>
              </a:spcBef>
              <a:spcAft>
                <a:spcPts val="600"/>
              </a:spcAft>
              <a:buNone/>
            </a:pPr>
            <a:r>
              <a:rPr lang="en-US" sz="2800" dirty="0">
                <a:solidFill>
                  <a:srgbClr val="7F7F7F"/>
                </a:solidFill>
              </a:rPr>
              <a:t>Conclusion</a:t>
            </a:r>
          </a:p>
        </p:txBody>
      </p:sp>
      <p:sp>
        <p:nvSpPr>
          <p:cNvPr id="9" name="CustomFooter">
            <a:extLst>
              <a:ext uri="{FF2B5EF4-FFF2-40B4-BE49-F238E27FC236}">
                <a16:creationId xmlns:a16="http://schemas.microsoft.com/office/drawing/2014/main" id="{05C6B426-9EE5-4DA3-A049-F9090C94DEC3}"/>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38 / 43</a:t>
            </a:r>
            <a:endParaRPr lang="LID4096" sz="1000" spc="100">
              <a:solidFill>
                <a:srgbClr val="A6A6A6"/>
              </a:solidFill>
              <a:latin typeface="Helvetica Neue45 Light"/>
            </a:endParaRPr>
          </a:p>
        </p:txBody>
      </p:sp>
      <p:sp>
        <p:nvSpPr>
          <p:cNvPr id="10" name="TACMeeting">
            <a:extLst>
              <a:ext uri="{FF2B5EF4-FFF2-40B4-BE49-F238E27FC236}">
                <a16:creationId xmlns:a16="http://schemas.microsoft.com/office/drawing/2014/main" id="{4BEADF7E-CAF2-4ADA-8142-5C291C2E232D}"/>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68813560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2" name="Text Placeholder 1">
            <a:extLst>
              <a:ext uri="{FF2B5EF4-FFF2-40B4-BE49-F238E27FC236}">
                <a16:creationId xmlns:a16="http://schemas.microsoft.com/office/drawing/2014/main" id="{7B6F73C7-8C71-4291-A623-FB72D509D11E}"/>
              </a:ext>
            </a:extLst>
          </p:cNvPr>
          <p:cNvSpPr>
            <a:spLocks noGrp="1"/>
          </p:cNvSpPr>
          <p:nvPr>
            <p:ph type="body" sz="quarter" idx="11"/>
          </p:nvPr>
        </p:nvSpPr>
        <p:spPr/>
        <p:txBody>
          <a:bodyPr/>
          <a:lstStyle/>
          <a:p>
            <a:r>
              <a:rPr lang="en-US" dirty="0"/>
              <a:t>NEXT STEPS</a:t>
            </a:r>
            <a:endParaRPr lang="LID4096" dirty="0"/>
          </a:p>
        </p:txBody>
      </p:sp>
      <p:sp>
        <p:nvSpPr>
          <p:cNvPr id="7" name="Title 6">
            <a:extLst>
              <a:ext uri="{FF2B5EF4-FFF2-40B4-BE49-F238E27FC236}">
                <a16:creationId xmlns:a16="http://schemas.microsoft.com/office/drawing/2014/main" id="{117363F0-153C-4BE6-88DC-446B46B323B6}"/>
              </a:ext>
            </a:extLst>
          </p:cNvPr>
          <p:cNvSpPr>
            <a:spLocks noGrp="1"/>
          </p:cNvSpPr>
          <p:nvPr>
            <p:ph type="title"/>
          </p:nvPr>
        </p:nvSpPr>
        <p:spPr/>
        <p:txBody>
          <a:bodyPr/>
          <a:lstStyle/>
          <a:p>
            <a:r>
              <a:rPr lang="en-US" dirty="0"/>
              <a:t>Step 1</a:t>
            </a:r>
            <a:endParaRPr lang="LID4096" dirty="0"/>
          </a:p>
        </p:txBody>
      </p:sp>
      <p:sp>
        <p:nvSpPr>
          <p:cNvPr id="4" name="Text Placeholder 3">
            <a:extLst>
              <a:ext uri="{FF2B5EF4-FFF2-40B4-BE49-F238E27FC236}">
                <a16:creationId xmlns:a16="http://schemas.microsoft.com/office/drawing/2014/main" id="{E2C91649-DEBE-4145-8A82-565E1EA39B7A}"/>
              </a:ext>
            </a:extLst>
          </p:cNvPr>
          <p:cNvSpPr>
            <a:spLocks noGrp="1"/>
          </p:cNvSpPr>
          <p:nvPr>
            <p:ph type="body" sz="quarter" idx="12"/>
          </p:nvPr>
        </p:nvSpPr>
        <p:spPr>
          <a:xfrm>
            <a:off x="649648" y="1758950"/>
            <a:ext cx="12655647" cy="7332663"/>
          </a:xfrm>
        </p:spPr>
        <p:txBody>
          <a:bodyPr/>
          <a:lstStyle/>
          <a:p>
            <a:r>
              <a:rPr lang="en-US" dirty="0"/>
              <a:t>Figure out </a:t>
            </a:r>
            <a:r>
              <a:rPr lang="en-US" dirty="0" err="1"/>
              <a:t>multiboard</a:t>
            </a:r>
            <a:r>
              <a:rPr lang="en-US" dirty="0"/>
              <a:t> measurements</a:t>
            </a:r>
          </a:p>
          <a:p>
            <a:r>
              <a:rPr lang="en-US" dirty="0"/>
              <a:t>	1) what is the limiting issue</a:t>
            </a:r>
          </a:p>
          <a:p>
            <a:r>
              <a:rPr lang="en-US" dirty="0"/>
              <a:t>	2) there is a sync option, would it help?</a:t>
            </a:r>
          </a:p>
        </p:txBody>
      </p:sp>
      <p:sp>
        <p:nvSpPr>
          <p:cNvPr id="5" name="CustomFooter">
            <a:extLst>
              <a:ext uri="{FF2B5EF4-FFF2-40B4-BE49-F238E27FC236}">
                <a16:creationId xmlns:a16="http://schemas.microsoft.com/office/drawing/2014/main" id="{A0682994-A50D-49F4-BFF8-2549BF1F4135}"/>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39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355B4D41-C381-432E-90CB-66FA30DA8956}"/>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8614527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2" name="Text Placeholder 1">
            <a:extLst>
              <a:ext uri="{FF2B5EF4-FFF2-40B4-BE49-F238E27FC236}">
                <a16:creationId xmlns:a16="http://schemas.microsoft.com/office/drawing/2014/main" id="{7B6F73C7-8C71-4291-A623-FB72D509D11E}"/>
              </a:ext>
            </a:extLst>
          </p:cNvPr>
          <p:cNvSpPr>
            <a:spLocks noGrp="1"/>
          </p:cNvSpPr>
          <p:nvPr>
            <p:ph type="body" sz="quarter" idx="11"/>
          </p:nvPr>
        </p:nvSpPr>
        <p:spPr/>
        <p:txBody>
          <a:bodyPr/>
          <a:lstStyle/>
          <a:p>
            <a:r>
              <a:rPr lang="en-US" dirty="0"/>
              <a:t>NEXT STEPS</a:t>
            </a:r>
            <a:endParaRPr lang="LID4096" dirty="0"/>
          </a:p>
        </p:txBody>
      </p:sp>
      <p:sp>
        <p:nvSpPr>
          <p:cNvPr id="7" name="Title 6">
            <a:extLst>
              <a:ext uri="{FF2B5EF4-FFF2-40B4-BE49-F238E27FC236}">
                <a16:creationId xmlns:a16="http://schemas.microsoft.com/office/drawing/2014/main" id="{117363F0-153C-4BE6-88DC-446B46B323B6}"/>
              </a:ext>
            </a:extLst>
          </p:cNvPr>
          <p:cNvSpPr>
            <a:spLocks noGrp="1"/>
          </p:cNvSpPr>
          <p:nvPr>
            <p:ph type="title"/>
          </p:nvPr>
        </p:nvSpPr>
        <p:spPr/>
        <p:txBody>
          <a:bodyPr/>
          <a:lstStyle/>
          <a:p>
            <a:r>
              <a:rPr lang="en-US" dirty="0"/>
              <a:t>Step 2</a:t>
            </a:r>
            <a:endParaRPr lang="LID4096" dirty="0"/>
          </a:p>
        </p:txBody>
      </p:sp>
      <p:sp>
        <p:nvSpPr>
          <p:cNvPr id="4" name="Text Placeholder 3">
            <a:extLst>
              <a:ext uri="{FF2B5EF4-FFF2-40B4-BE49-F238E27FC236}">
                <a16:creationId xmlns:a16="http://schemas.microsoft.com/office/drawing/2014/main" id="{E2C91649-DEBE-4145-8A82-565E1EA39B7A}"/>
              </a:ext>
            </a:extLst>
          </p:cNvPr>
          <p:cNvSpPr>
            <a:spLocks noGrp="1"/>
          </p:cNvSpPr>
          <p:nvPr>
            <p:ph type="body" sz="quarter" idx="12"/>
          </p:nvPr>
        </p:nvSpPr>
        <p:spPr/>
        <p:txBody>
          <a:bodyPr/>
          <a:lstStyle/>
          <a:p>
            <a:r>
              <a:rPr lang="en-US" dirty="0"/>
              <a:t>Inject laser noise.</a:t>
            </a:r>
          </a:p>
          <a:p>
            <a:r>
              <a:rPr lang="en-US" dirty="0"/>
              <a:t>Inject clock noise	</a:t>
            </a:r>
            <a:endParaRPr lang="LID4096" dirty="0"/>
          </a:p>
        </p:txBody>
      </p:sp>
      <p:sp>
        <p:nvSpPr>
          <p:cNvPr id="5" name="CustomFooter">
            <a:extLst>
              <a:ext uri="{FF2B5EF4-FFF2-40B4-BE49-F238E27FC236}">
                <a16:creationId xmlns:a16="http://schemas.microsoft.com/office/drawing/2014/main" id="{9EECE261-ED2F-47AA-92A7-DCCB2857364B}"/>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40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AB1917CB-FF10-4519-8102-E7AA26E36C15}"/>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24943908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2" name="Text Placeholder 1">
            <a:extLst>
              <a:ext uri="{FF2B5EF4-FFF2-40B4-BE49-F238E27FC236}">
                <a16:creationId xmlns:a16="http://schemas.microsoft.com/office/drawing/2014/main" id="{7B6F73C7-8C71-4291-A623-FB72D509D11E}"/>
              </a:ext>
            </a:extLst>
          </p:cNvPr>
          <p:cNvSpPr>
            <a:spLocks noGrp="1"/>
          </p:cNvSpPr>
          <p:nvPr>
            <p:ph type="body" sz="quarter" idx="11"/>
          </p:nvPr>
        </p:nvSpPr>
        <p:spPr/>
        <p:txBody>
          <a:bodyPr/>
          <a:lstStyle/>
          <a:p>
            <a:r>
              <a:rPr lang="en-US" dirty="0"/>
              <a:t>NEXT STEPS</a:t>
            </a:r>
            <a:endParaRPr lang="LID4096" dirty="0"/>
          </a:p>
        </p:txBody>
      </p:sp>
      <p:sp>
        <p:nvSpPr>
          <p:cNvPr id="7" name="Title 6">
            <a:extLst>
              <a:ext uri="{FF2B5EF4-FFF2-40B4-BE49-F238E27FC236}">
                <a16:creationId xmlns:a16="http://schemas.microsoft.com/office/drawing/2014/main" id="{117363F0-153C-4BE6-88DC-446B46B323B6}"/>
              </a:ext>
            </a:extLst>
          </p:cNvPr>
          <p:cNvSpPr>
            <a:spLocks noGrp="1"/>
          </p:cNvSpPr>
          <p:nvPr>
            <p:ph type="title"/>
          </p:nvPr>
        </p:nvSpPr>
        <p:spPr/>
        <p:txBody>
          <a:bodyPr/>
          <a:lstStyle/>
          <a:p>
            <a:r>
              <a:rPr lang="en-US" dirty="0"/>
              <a:t>Step 3</a:t>
            </a:r>
            <a:endParaRPr lang="LID4096" dirty="0"/>
          </a:p>
        </p:txBody>
      </p:sp>
      <p:sp>
        <p:nvSpPr>
          <p:cNvPr id="4" name="Text Placeholder 3">
            <a:extLst>
              <a:ext uri="{FF2B5EF4-FFF2-40B4-BE49-F238E27FC236}">
                <a16:creationId xmlns:a16="http://schemas.microsoft.com/office/drawing/2014/main" id="{E2C91649-DEBE-4145-8A82-565E1EA39B7A}"/>
              </a:ext>
            </a:extLst>
          </p:cNvPr>
          <p:cNvSpPr>
            <a:spLocks noGrp="1"/>
          </p:cNvSpPr>
          <p:nvPr>
            <p:ph type="body" sz="quarter" idx="12"/>
          </p:nvPr>
        </p:nvSpPr>
        <p:spPr>
          <a:xfrm>
            <a:off x="649648" y="1758950"/>
            <a:ext cx="16297749" cy="7332663"/>
          </a:xfrm>
        </p:spPr>
        <p:txBody>
          <a:bodyPr/>
          <a:lstStyle/>
          <a:p>
            <a:r>
              <a:rPr lang="en-US" b="1" dirty="0"/>
              <a:t>Optical clock-noise removal + the GHz decision.</a:t>
            </a:r>
            <a:r>
              <a:rPr lang="en-US" dirty="0"/>
              <a:t> Integrate the cavities for LISA-like laser noise, run clock removal on optical data, and settle whether GHz is actually required. This is where the thesis Target lives.</a:t>
            </a:r>
            <a:endParaRPr lang="LID4096" dirty="0"/>
          </a:p>
        </p:txBody>
      </p:sp>
      <p:sp>
        <p:nvSpPr>
          <p:cNvPr id="5" name="CustomFooter">
            <a:extLst>
              <a:ext uri="{FF2B5EF4-FFF2-40B4-BE49-F238E27FC236}">
                <a16:creationId xmlns:a16="http://schemas.microsoft.com/office/drawing/2014/main" id="{F30C05FD-9575-4AC8-B93D-170ADAEE5C39}"/>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41 / 43</a:t>
            </a:r>
            <a:endParaRPr lang="LID4096" sz="1000" spc="100">
              <a:solidFill>
                <a:srgbClr val="A6A6A6"/>
              </a:solidFill>
              <a:latin typeface="Helvetica Neue45 Light"/>
            </a:endParaRPr>
          </a:p>
        </p:txBody>
      </p:sp>
      <p:sp>
        <p:nvSpPr>
          <p:cNvPr id="6" name="TACMeeting">
            <a:extLst>
              <a:ext uri="{FF2B5EF4-FFF2-40B4-BE49-F238E27FC236}">
                <a16:creationId xmlns:a16="http://schemas.microsoft.com/office/drawing/2014/main" id="{BF7A387B-7A5C-4986-94E7-E135C662D80A}"/>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30363919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4" name="Shape 22"/>
          <p:cNvSpPr/>
          <p:nvPr/>
        </p:nvSpPr>
        <p:spPr>
          <a:xfrm>
            <a:off x="876300" y="9210675"/>
            <a:ext cx="16535400" cy="9525"/>
          </a:xfrm>
          <a:prstGeom prst="rect">
            <a:avLst/>
          </a:prstGeom>
          <a:solidFill>
            <a:srgbClr val="ECECEC"/>
          </a:solidFill>
          <a:ln/>
        </p:spPr>
      </p:sp>
      <p:sp>
        <p:nvSpPr>
          <p:cNvPr id="25" name="Title 24">
            <a:extLst>
              <a:ext uri="{FF2B5EF4-FFF2-40B4-BE49-F238E27FC236}">
                <a16:creationId xmlns:a16="http://schemas.microsoft.com/office/drawing/2014/main" id="{C6AF43C1-4D07-49FE-A707-BC6E51255250}"/>
              </a:ext>
            </a:extLst>
          </p:cNvPr>
          <p:cNvSpPr>
            <a:spLocks noGrp="1"/>
          </p:cNvSpPr>
          <p:nvPr>
            <p:ph type="title"/>
          </p:nvPr>
        </p:nvSpPr>
        <p:spPr/>
        <p:txBody>
          <a:bodyPr/>
          <a:lstStyle/>
          <a:p>
            <a:r>
              <a:rPr lang="en-US" dirty="0"/>
              <a:t>Conclusions</a:t>
            </a:r>
            <a:endParaRPr lang="LID4096" dirty="0"/>
          </a:p>
        </p:txBody>
      </p:sp>
      <p:sp>
        <p:nvSpPr>
          <p:cNvPr id="29" name="Text Placeholder 28">
            <a:extLst>
              <a:ext uri="{FF2B5EF4-FFF2-40B4-BE49-F238E27FC236}">
                <a16:creationId xmlns:a16="http://schemas.microsoft.com/office/drawing/2014/main" id="{50118A5F-A3EA-471A-A95A-41C509D4C96E}"/>
              </a:ext>
            </a:extLst>
          </p:cNvPr>
          <p:cNvSpPr>
            <a:spLocks noGrp="1"/>
          </p:cNvSpPr>
          <p:nvPr>
            <p:ph type="body" sz="quarter" idx="12"/>
          </p:nvPr>
        </p:nvSpPr>
        <p:spPr>
          <a:xfrm>
            <a:off x="649648" y="1758950"/>
            <a:ext cx="11028325" cy="7332663"/>
          </a:xfrm>
        </p:spPr>
        <p:txBody>
          <a:bodyPr/>
          <a:lstStyle/>
          <a:p>
            <a:endParaRPr lang="LID4096" dirty="0"/>
          </a:p>
        </p:txBody>
      </p:sp>
      <p:sp>
        <p:nvSpPr>
          <p:cNvPr id="30" name="CustomFooter">
            <a:extLst>
              <a:ext uri="{FF2B5EF4-FFF2-40B4-BE49-F238E27FC236}">
                <a16:creationId xmlns:a16="http://schemas.microsoft.com/office/drawing/2014/main" id="{2DD3B313-F0C2-4910-8156-3FC2C6E2A2AC}"/>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42 / 43</a:t>
            </a:r>
            <a:endParaRPr lang="LID4096" sz="1000" spc="100">
              <a:solidFill>
                <a:srgbClr val="A6A6A6"/>
              </a:solidFill>
              <a:latin typeface="Helvetica Neue45 Light"/>
            </a:endParaRPr>
          </a:p>
        </p:txBody>
      </p:sp>
      <p:sp>
        <p:nvSpPr>
          <p:cNvPr id="31" name="TACMeeting">
            <a:extLst>
              <a:ext uri="{FF2B5EF4-FFF2-40B4-BE49-F238E27FC236}">
                <a16:creationId xmlns:a16="http://schemas.microsoft.com/office/drawing/2014/main" id="{2C3AA22C-69E1-4200-B105-7774EC508622}"/>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876300" y="847725"/>
            <a:ext cx="18188940" cy="485775"/>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endParaRPr lang="en-US" sz="3450" dirty="0"/>
          </a:p>
        </p:txBody>
      </p:sp>
      <p:sp>
        <p:nvSpPr>
          <p:cNvPr id="5" name="Text Placeholder 4">
            <a:extLst>
              <a:ext uri="{FF2B5EF4-FFF2-40B4-BE49-F238E27FC236}">
                <a16:creationId xmlns:a16="http://schemas.microsoft.com/office/drawing/2014/main" id="{91BAF9E3-1EAB-4F0A-AED4-6FAC0BF6953B}"/>
              </a:ext>
            </a:extLst>
          </p:cNvPr>
          <p:cNvSpPr>
            <a:spLocks noGrp="1"/>
          </p:cNvSpPr>
          <p:nvPr>
            <p:ph type="body" sz="quarter" idx="11"/>
          </p:nvPr>
        </p:nvSpPr>
        <p:spPr/>
        <p:txBody>
          <a:bodyPr/>
          <a:lstStyle/>
          <a:p>
            <a:r>
              <a:rPr lang="en-US" dirty="0"/>
              <a:t>EXTRA</a:t>
            </a:r>
            <a:endParaRPr lang="LID4096" dirty="0"/>
          </a:p>
        </p:txBody>
      </p:sp>
      <p:sp>
        <p:nvSpPr>
          <p:cNvPr id="4" name="Title 3">
            <a:extLst>
              <a:ext uri="{FF2B5EF4-FFF2-40B4-BE49-F238E27FC236}">
                <a16:creationId xmlns:a16="http://schemas.microsoft.com/office/drawing/2014/main" id="{EE6810BD-7BDC-4A09-89B6-9CA738C84698}"/>
              </a:ext>
            </a:extLst>
          </p:cNvPr>
          <p:cNvSpPr>
            <a:spLocks noGrp="1"/>
          </p:cNvSpPr>
          <p:nvPr>
            <p:ph type="title"/>
          </p:nvPr>
        </p:nvSpPr>
        <p:spPr/>
        <p:txBody>
          <a:bodyPr/>
          <a:lstStyle/>
          <a:p>
            <a:r>
              <a:rPr lang="en-US" sz="3200" b="1" kern="0" spc="-52" dirty="0">
                <a:solidFill>
                  <a:srgbClr val="141414"/>
                </a:solidFill>
                <a:latin typeface="Helvetica Neue" pitchFamily="34" charset="0"/>
                <a:ea typeface="Helvetica Neue" pitchFamily="34" charset="-122"/>
              </a:rPr>
              <a:t>Results from other testbeds</a:t>
            </a:r>
            <a:endParaRPr lang="LID4096" dirty="0"/>
          </a:p>
        </p:txBody>
      </p:sp>
      <p:sp>
        <p:nvSpPr>
          <p:cNvPr id="6" name="Text Placeholder 5">
            <a:extLst>
              <a:ext uri="{FF2B5EF4-FFF2-40B4-BE49-F238E27FC236}">
                <a16:creationId xmlns:a16="http://schemas.microsoft.com/office/drawing/2014/main" id="{0B720270-EBAB-4E19-A3B9-0454BE80830F}"/>
              </a:ext>
            </a:extLst>
          </p:cNvPr>
          <p:cNvSpPr>
            <a:spLocks noGrp="1"/>
          </p:cNvSpPr>
          <p:nvPr>
            <p:ph type="body" sz="quarter" idx="12"/>
          </p:nvPr>
        </p:nvSpPr>
        <p:spPr/>
        <p:txBody>
          <a:bodyPr/>
          <a:lstStyle/>
          <a:p>
            <a:endParaRPr lang="LID4096"/>
          </a:p>
        </p:txBody>
      </p:sp>
      <p:sp>
        <p:nvSpPr>
          <p:cNvPr id="7" name="CustomFooter">
            <a:extLst>
              <a:ext uri="{FF2B5EF4-FFF2-40B4-BE49-F238E27FC236}">
                <a16:creationId xmlns:a16="http://schemas.microsoft.com/office/drawing/2014/main" id="{2D6EFF10-5E59-4928-A1F2-044201A7DC33}"/>
              </a:ext>
            </a:extLst>
          </p:cNvPr>
          <p:cNvSpPr txBox="1"/>
          <p:nvPr/>
        </p:nvSpPr>
        <p:spPr>
          <a:xfrm>
            <a:off x="14605000" y="9715500"/>
            <a:ext cx="2921000" cy="246221"/>
          </a:xfrm>
          <a:prstGeom prst="rect">
            <a:avLst/>
          </a:prstGeom>
          <a:noFill/>
        </p:spPr>
        <p:txBody>
          <a:bodyPr vert="horz" rtlCol="0" anchor="ctr">
            <a:spAutoFit/>
          </a:bodyPr>
          <a:lstStyle/>
          <a:p>
            <a:pPr algn="r"/>
            <a:r>
              <a:rPr lang="en-US" sz="1000" spc="100">
                <a:solidFill>
                  <a:srgbClr val="A6A6A6"/>
                </a:solidFill>
                <a:latin typeface="Helvetica Neue45 Light"/>
              </a:rPr>
              <a:t>27 August 2026 · 43 / 43</a:t>
            </a:r>
            <a:endParaRPr lang="LID4096" sz="1000" spc="100">
              <a:solidFill>
                <a:srgbClr val="A6A6A6"/>
              </a:solidFill>
              <a:latin typeface="Helvetica Neue45 Light"/>
            </a:endParaRPr>
          </a:p>
        </p:txBody>
      </p:sp>
      <p:sp>
        <p:nvSpPr>
          <p:cNvPr id="9" name="TACMeeting">
            <a:extLst>
              <a:ext uri="{FF2B5EF4-FFF2-40B4-BE49-F238E27FC236}">
                <a16:creationId xmlns:a16="http://schemas.microsoft.com/office/drawing/2014/main" id="{BE358027-1FBB-4C39-B7FD-411FA308A397}"/>
              </a:ext>
            </a:extLst>
          </p:cNvPr>
          <p:cNvSpPr txBox="1"/>
          <p:nvPr/>
        </p:nvSpPr>
        <p:spPr>
          <a:xfrm>
            <a:off x="762000" y="9715500"/>
            <a:ext cx="2921000" cy="246221"/>
          </a:xfrm>
          <a:prstGeom prst="rect">
            <a:avLst/>
          </a:prstGeom>
          <a:noFill/>
        </p:spPr>
        <p:txBody>
          <a:bodyPr vert="horz" rtlCol="0" anchor="ctr">
            <a:spAutoFit/>
          </a:bodyPr>
          <a:lstStyle/>
          <a:p>
            <a:r>
              <a:rPr lang="en-US" sz="1000" b="1" spc="150">
                <a:solidFill>
                  <a:srgbClr val="A6A6A6"/>
                </a:solidFill>
                <a:latin typeface="Helvetica Neue 65 Medium"/>
              </a:rPr>
              <a:t>TAC MEETING</a:t>
            </a:r>
            <a:endParaRPr lang="LID4096" sz="1000" b="1" spc="150">
              <a:solidFill>
                <a:srgbClr val="A6A6A6"/>
              </a:solidFill>
              <a:latin typeface="Helvetica Neue 65 Medium"/>
            </a:endParaRPr>
          </a:p>
        </p:txBody>
      </p:sp>
    </p:spTree>
    <p:extLst>
      <p:ext uri="{BB962C8B-B14F-4D97-AF65-F5344CB8AC3E}">
        <p14:creationId xmlns:p14="http://schemas.microsoft.com/office/powerpoint/2010/main" val="1052073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71D6C79C-AD76-4CAF-957F-5489FFCD68AD}">
  <we:reference id="wa200010001" version="1.0.0.1" store="en-US" storeType="OMEX"/>
  <we:alternateReferences>
    <we:reference id="wa200010001" version="1.0.0.1" store="en-US" storeType="OMEX"/>
  </we:alternateReferences>
  <we:properties>
    <we:property name="claude.fileId" value="&quot;8182453a-2342-4880-bf4f-14816433e77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0</TotalTime>
  <Words>2185</Words>
  <Application>Microsoft Office PowerPoint</Application>
  <PresentationFormat>Custom</PresentationFormat>
  <Paragraphs>403</Paragraphs>
  <Slides>45</Slides>
  <Notes>45</Notes>
  <HiddenSlides>1</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Outline of the Talk</vt:lpstr>
      <vt:lpstr>Context Overview of the LISA IDS Testbed Concept TDI and laser noise: status clock noise: status Next Steps Conclusion</vt:lpstr>
      <vt:lpstr>PowerPoint Presentation</vt:lpstr>
      <vt:lpstr>LISA Constellation</vt:lpstr>
      <vt:lpstr>TDI Motivation</vt:lpstr>
      <vt:lpstr>Context Overview of the LISA IDS Testbed Concept TDI and laser noise: status clock noise: status Next Steps Conclusion</vt:lpstr>
      <vt:lpstr>LISA Interferometers overview</vt:lpstr>
      <vt:lpstr>LISA Science Interferometer</vt:lpstr>
      <vt:lpstr>TDI and ranging</vt:lpstr>
      <vt:lpstr>LISA benchmarks and requirements</vt:lpstr>
      <vt:lpstr>Context Overview of the LISA IDS Testbed Concept TDI and laser noise: status clock noise: status Next Steps Conclusion</vt:lpstr>
      <vt:lpstr>How to got the same coupling</vt:lpstr>
      <vt:lpstr>Testbed</vt:lpstr>
      <vt:lpstr>PowerPoint Presentation</vt:lpstr>
      <vt:lpstr>PowerPoint Presentation</vt:lpstr>
      <vt:lpstr>The Full Setup</vt:lpstr>
      <vt:lpstr>Context Overview of the LISA IDS Testbed Concept TDI and laser noise: status clock noise: status Next Steps Conclusion</vt:lpstr>
      <vt:lpstr>The Delay Line</vt:lpstr>
      <vt:lpstr>The Delay Line – How is the delay implemented</vt:lpstr>
      <vt:lpstr>Clock Noise of the boards</vt:lpstr>
      <vt:lpstr>TDI 2, one board</vt:lpstr>
      <vt:lpstr>TDI Michelson X with 3 boards</vt:lpstr>
      <vt:lpstr>Injecting Laser Noise</vt:lpstr>
      <vt:lpstr>PLL lock of far spacecraft</vt:lpstr>
      <vt:lpstr>Recovering the Transferfunction</vt:lpstr>
      <vt:lpstr>Cavity locking two lasers</vt:lpstr>
      <vt:lpstr>Context Overview of the LISA IDS Testbed Concept TDI and laser noise: status clock noise: status Next Steps Conclusion</vt:lpstr>
      <vt:lpstr>Clock Noise transfer in LISA</vt:lpstr>
      <vt:lpstr>FDM</vt:lpstr>
      <vt:lpstr>Clock Noise transfer in the lab</vt:lpstr>
      <vt:lpstr>The clock jitter removal algo and how its based on the same TDI algo </vt:lpstr>
      <vt:lpstr>Preliminary Clock Noise Removal</vt:lpstr>
      <vt:lpstr>Preliminary Clock Noise Removal</vt:lpstr>
      <vt:lpstr>Clock Tone Transfer Limitation</vt:lpstr>
      <vt:lpstr>Clock Tone Transfer Limitation</vt:lpstr>
      <vt:lpstr>GHz Sidebands in the lab</vt:lpstr>
      <vt:lpstr>GHz Modulation – the same noise cancellation like modulation vs ADC</vt:lpstr>
      <vt:lpstr>GHz Modulation – the same noise cancellation like modulation vs ADC</vt:lpstr>
      <vt:lpstr>Context Overview of the LISA IDS Testbed Concept TDI and laser noise: status clock noise: status Next Steps Conclusion</vt:lpstr>
      <vt:lpstr>Step 1</vt:lpstr>
      <vt:lpstr>Step 2</vt:lpstr>
      <vt:lpstr>Step 3</vt:lpstr>
      <vt:lpstr>Conclusions</vt:lpstr>
      <vt:lpstr>Results from other testbeds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kakruu</cp:lastModifiedBy>
  <cp:revision>85</cp:revision>
  <dcterms:created xsi:type="dcterms:W3CDTF">2026-06-21T16:48:27Z</dcterms:created>
  <dcterms:modified xsi:type="dcterms:W3CDTF">2026-08-22T21:24:16Z</dcterms:modified>
</cp:coreProperties>
</file>