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notesMasterIdLst>
    <p:notesMasterId r:id="rId25"/>
  </p:notesMasterIdLst>
  <p:sldIdLst>
    <p:sldId id="256" r:id="rId2"/>
    <p:sldId id="365" r:id="rId3"/>
    <p:sldId id="347" r:id="rId4"/>
    <p:sldId id="348" r:id="rId5"/>
    <p:sldId id="349" r:id="rId6"/>
    <p:sldId id="358" r:id="rId7"/>
    <p:sldId id="351" r:id="rId8"/>
    <p:sldId id="366" r:id="rId9"/>
    <p:sldId id="322" r:id="rId10"/>
    <p:sldId id="354" r:id="rId11"/>
    <p:sldId id="360" r:id="rId12"/>
    <p:sldId id="357" r:id="rId13"/>
    <p:sldId id="362" r:id="rId14"/>
    <p:sldId id="350" r:id="rId15"/>
    <p:sldId id="363" r:id="rId16"/>
    <p:sldId id="367" r:id="rId17"/>
    <p:sldId id="368" r:id="rId18"/>
    <p:sldId id="342" r:id="rId19"/>
    <p:sldId id="364" r:id="rId20"/>
    <p:sldId id="356" r:id="rId21"/>
    <p:sldId id="334" r:id="rId22"/>
    <p:sldId id="323" r:id="rId23"/>
    <p:sldId id="33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CFE3481-4DC0-5320-5BA5-9DED241133D6}" name="Karin Kruuse" initials="KK" userId="S::kruuseka@ut.ee::9d3667ca-44b3-49ee-bafc-89fda7f076aa"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kakruu" initials="k" lastIdx="20" clrIdx="0">
    <p:extLst>
      <p:ext uri="{19B8F6BF-5375-455C-9EA6-DF929625EA0E}">
        <p15:presenceInfo xmlns:p15="http://schemas.microsoft.com/office/powerpoint/2012/main" userId="kakruu"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1364"/>
    <a:srgbClr val="4B4B4B"/>
    <a:srgbClr val="969696"/>
    <a:srgbClr val="323232"/>
    <a:srgbClr val="646464"/>
    <a:srgbClr val="9CADB6"/>
    <a:srgbClr val="D71B2F"/>
    <a:srgbClr val="296024"/>
    <a:srgbClr val="821770"/>
    <a:srgbClr val="D8DF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1940EF0-20C6-4F56-9500-723E26054F68}" v="619" dt="2026-06-17T05:48:05.179"/>
    <p1510:client id="{C4E7A8FC-0504-43EC-83FE-0C776D3BA21D}" v="50" dt="2026-06-16T19:11:17.190"/>
    <p1510:client id="{CBAA3118-9793-2816-690A-EB7D591EF4FF}" v="8" dt="2026-06-17T07:13:22.1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79" autoAdjust="0"/>
    <p:restoredTop sz="83878" autoAdjust="0"/>
  </p:normalViewPr>
  <p:slideViewPr>
    <p:cSldViewPr snapToGrid="0">
      <p:cViewPr varScale="1">
        <p:scale>
          <a:sx n="106" d="100"/>
          <a:sy n="106" d="100"/>
        </p:scale>
        <p:origin x="1104" y="1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123" d="100"/>
          <a:sy n="123" d="100"/>
        </p:scale>
        <p:origin x="4972" y="8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t-EE"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81B2D2-06A2-4596-9391-656CA05E965F}" type="datetimeFigureOut">
              <a:rPr lang="et-EE" smtClean="0"/>
              <a:t>17.06.26</a:t>
            </a:fld>
            <a:endParaRPr lang="et-EE"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t-EE"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t-E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t-EE"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F329CB-E484-4F61-9C3E-A471CEC4EF7E}" type="slidenum">
              <a:rPr lang="et-EE" smtClean="0"/>
              <a:t>‹#›</a:t>
            </a:fld>
            <a:endParaRPr lang="et-EE" dirty="0"/>
          </a:p>
        </p:txBody>
      </p:sp>
    </p:spTree>
    <p:extLst>
      <p:ext uri="{BB962C8B-B14F-4D97-AF65-F5344CB8AC3E}">
        <p14:creationId xmlns:p14="http://schemas.microsoft.com/office/powerpoint/2010/main" val="27491253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a:t>
            </a:r>
            <a:r>
              <a:rPr lang="en-DE" dirty="0"/>
              <a:t>his is a status report</a:t>
            </a:r>
          </a:p>
        </p:txBody>
      </p:sp>
      <p:sp>
        <p:nvSpPr>
          <p:cNvPr id="4" name="Slide Number Placeholder 3"/>
          <p:cNvSpPr>
            <a:spLocks noGrp="1"/>
          </p:cNvSpPr>
          <p:nvPr>
            <p:ph type="sldNum" sz="quarter" idx="5"/>
          </p:nvPr>
        </p:nvSpPr>
        <p:spPr/>
        <p:txBody>
          <a:bodyPr/>
          <a:lstStyle/>
          <a:p>
            <a:fld id="{23F329CB-E484-4F61-9C3E-A471CEC4EF7E}" type="slidenum">
              <a:rPr lang="et-EE" smtClean="0"/>
              <a:t>1</a:t>
            </a:fld>
            <a:endParaRPr lang="et-EE" dirty="0"/>
          </a:p>
        </p:txBody>
      </p:sp>
    </p:spTree>
    <p:extLst>
      <p:ext uri="{BB962C8B-B14F-4D97-AF65-F5344CB8AC3E}">
        <p14:creationId xmlns:p14="http://schemas.microsoft.com/office/powerpoint/2010/main" val="11473349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US" dirty="0"/>
              <a:t>Stress that we want to replicate these noise couplings for the carrier or inter-spacecraft interferometer</a:t>
            </a:r>
            <a:endParaRPr lang="en-DE" dirty="0"/>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2</a:t>
            </a:fld>
            <a:endParaRPr lang="et-EE"/>
          </a:p>
        </p:txBody>
      </p:sp>
    </p:spTree>
    <p:extLst>
      <p:ext uri="{BB962C8B-B14F-4D97-AF65-F5344CB8AC3E}">
        <p14:creationId xmlns:p14="http://schemas.microsoft.com/office/powerpoint/2010/main" val="10262392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3</a:t>
            </a:fld>
            <a:endParaRPr lang="et-EE"/>
          </a:p>
        </p:txBody>
      </p:sp>
    </p:spTree>
    <p:extLst>
      <p:ext uri="{BB962C8B-B14F-4D97-AF65-F5344CB8AC3E}">
        <p14:creationId xmlns:p14="http://schemas.microsoft.com/office/powerpoint/2010/main" val="38497155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4</a:t>
            </a:fld>
            <a:endParaRPr lang="et-EE"/>
          </a:p>
        </p:txBody>
      </p:sp>
    </p:spTree>
    <p:extLst>
      <p:ext uri="{BB962C8B-B14F-4D97-AF65-F5344CB8AC3E}">
        <p14:creationId xmlns:p14="http://schemas.microsoft.com/office/powerpoint/2010/main" val="2951293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M</a:t>
            </a:r>
            <a:r>
              <a:rPr lang="en-DE" dirty="0"/>
              <a:t>ention delayline was talked about! </a:t>
            </a:r>
            <a:r>
              <a:rPr lang="en-GB" dirty="0"/>
              <a:t>That’</a:t>
            </a:r>
            <a:r>
              <a:rPr lang="en-DE" dirty="0"/>
              <a:t>s our starting point. </a:t>
            </a:r>
            <a:r>
              <a:rPr lang="en-GB" dirty="0"/>
              <a:t>T</a:t>
            </a:r>
            <a:r>
              <a:rPr lang="en-DE" dirty="0"/>
              <a:t>ransition from eletronic to opto electronic (add somewhere)</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5</a:t>
            </a:fld>
            <a:endParaRPr lang="et-EE"/>
          </a:p>
        </p:txBody>
      </p:sp>
    </p:spTree>
    <p:extLst>
      <p:ext uri="{BB962C8B-B14F-4D97-AF65-F5344CB8AC3E}">
        <p14:creationId xmlns:p14="http://schemas.microsoft.com/office/powerpoint/2010/main" val="10062034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6</a:t>
            </a:fld>
            <a:endParaRPr lang="et-EE"/>
          </a:p>
        </p:txBody>
      </p:sp>
    </p:spTree>
    <p:extLst>
      <p:ext uri="{BB962C8B-B14F-4D97-AF65-F5344CB8AC3E}">
        <p14:creationId xmlns:p14="http://schemas.microsoft.com/office/powerpoint/2010/main" val="35890550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n-US" dirty="0"/>
              <a:t>Ugly, finish? Probably use the other topology so that its prettier</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7</a:t>
            </a:fld>
            <a:endParaRPr lang="et-EE"/>
          </a:p>
        </p:txBody>
      </p:sp>
    </p:spTree>
    <p:extLst>
      <p:ext uri="{BB962C8B-B14F-4D97-AF65-F5344CB8AC3E}">
        <p14:creationId xmlns:p14="http://schemas.microsoft.com/office/powerpoint/2010/main" val="13824905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n-US" dirty="0" err="1"/>
              <a:t>Exaplain</a:t>
            </a:r>
            <a:r>
              <a:rPr lang="en-US" dirty="0"/>
              <a:t> the locking of the beat note</a:t>
            </a:r>
            <a:br>
              <a:rPr lang="en-US" dirty="0"/>
            </a:br>
            <a:br>
              <a:rPr lang="en-US" dirty="0"/>
            </a:b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8</a:t>
            </a:fld>
            <a:endParaRPr lang="et-EE"/>
          </a:p>
        </p:txBody>
      </p:sp>
    </p:spTree>
    <p:extLst>
      <p:ext uri="{BB962C8B-B14F-4D97-AF65-F5344CB8AC3E}">
        <p14:creationId xmlns:p14="http://schemas.microsoft.com/office/powerpoint/2010/main" val="17668682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t-EE" dirty="0" err="1"/>
              <a:t>Change</a:t>
            </a:r>
            <a:r>
              <a:rPr lang="et-EE" dirty="0"/>
              <a:t> </a:t>
            </a:r>
            <a:r>
              <a:rPr lang="et-EE" dirty="0" err="1"/>
              <a:t>the</a:t>
            </a:r>
            <a:r>
              <a:rPr lang="et-EE" dirty="0"/>
              <a:t> </a:t>
            </a:r>
            <a:r>
              <a:rPr lang="et-EE" dirty="0" err="1"/>
              <a:t>benchmark</a:t>
            </a:r>
            <a:r>
              <a:rPr lang="et-EE" dirty="0"/>
              <a:t>? </a:t>
            </a:r>
          </a:p>
        </p:txBody>
      </p:sp>
      <p:sp>
        <p:nvSpPr>
          <p:cNvPr id="4" name="Slide Number Placeholder 3"/>
          <p:cNvSpPr>
            <a:spLocks noGrp="1"/>
          </p:cNvSpPr>
          <p:nvPr>
            <p:ph type="sldNum" sz="quarter" idx="5"/>
          </p:nvPr>
        </p:nvSpPr>
        <p:spPr/>
        <p:txBody>
          <a:bodyPr/>
          <a:lstStyle/>
          <a:p>
            <a:fld id="{23F329CB-E484-4F61-9C3E-A471CEC4EF7E}" type="slidenum">
              <a:rPr lang="et-EE" smtClean="0"/>
              <a:t>9</a:t>
            </a:fld>
            <a:endParaRPr lang="et-EE"/>
          </a:p>
        </p:txBody>
      </p:sp>
    </p:spTree>
    <p:extLst>
      <p:ext uri="{BB962C8B-B14F-4D97-AF65-F5344CB8AC3E}">
        <p14:creationId xmlns:p14="http://schemas.microsoft.com/office/powerpoint/2010/main" val="18620851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a:t> </a:t>
            </a:r>
            <a:r>
              <a:rPr lang="et-EE" dirty="0" err="1"/>
              <a:t>like</a:t>
            </a:r>
            <a:r>
              <a:rPr lang="et-EE" dirty="0"/>
              <a:t> </a:t>
            </a:r>
            <a:r>
              <a:rPr lang="et-EE" dirty="0" err="1"/>
              <a:t>its</a:t>
            </a:r>
            <a:r>
              <a:rPr lang="et-EE" dirty="0"/>
              <a:t> </a:t>
            </a:r>
            <a:r>
              <a:rPr lang="et-EE" dirty="0" err="1"/>
              <a:t>actually</a:t>
            </a:r>
            <a:r>
              <a:rPr lang="et-EE" dirty="0"/>
              <a:t> </a:t>
            </a:r>
            <a:r>
              <a:rPr lang="et-EE" dirty="0" err="1"/>
              <a:t>measured</a:t>
            </a:r>
            <a:r>
              <a:rPr lang="et-EE" dirty="0"/>
              <a:t>. </a:t>
            </a:r>
            <a:r>
              <a:rPr lang="et-EE" dirty="0" err="1"/>
              <a:t>Make</a:t>
            </a:r>
            <a:r>
              <a:rPr lang="et-EE" dirty="0"/>
              <a:t> </a:t>
            </a:r>
            <a:r>
              <a:rPr lang="et-EE" dirty="0" err="1"/>
              <a:t>the</a:t>
            </a:r>
            <a:r>
              <a:rPr lang="et-EE" dirty="0"/>
              <a:t> </a:t>
            </a:r>
            <a:r>
              <a:rPr lang="et-EE" dirty="0" err="1"/>
              <a:t>diagram</a:t>
            </a:r>
            <a:r>
              <a:rPr lang="et-EE" dirty="0"/>
              <a:t> </a:t>
            </a:r>
            <a:r>
              <a:rPr lang="et-EE" dirty="0" err="1"/>
              <a:t>more</a:t>
            </a:r>
            <a:r>
              <a:rPr lang="et-EE" dirty="0"/>
              <a:t> </a:t>
            </a:r>
            <a:r>
              <a:rPr lang="et-EE" dirty="0" err="1"/>
              <a:t>acurat</a:t>
            </a:r>
            <a:r>
              <a:rPr lang="et-EE" dirty="0"/>
              <a:t> – </a:t>
            </a:r>
            <a:r>
              <a:rPr lang="et-EE" dirty="0" err="1"/>
              <a:t>split</a:t>
            </a:r>
            <a:r>
              <a:rPr lang="et-EE" dirty="0"/>
              <a:t> </a:t>
            </a:r>
            <a:r>
              <a:rPr lang="et-EE" dirty="0" err="1"/>
              <a:t>the</a:t>
            </a:r>
            <a:r>
              <a:rPr lang="et-EE" dirty="0"/>
              <a:t> PLL and </a:t>
            </a:r>
            <a:r>
              <a:rPr lang="et-EE" dirty="0" err="1"/>
              <a:t>the</a:t>
            </a:r>
            <a:r>
              <a:rPr lang="et-EE" dirty="0"/>
              <a:t> </a:t>
            </a:r>
            <a:r>
              <a:rPr lang="et-EE" dirty="0" err="1"/>
              <a:t>phasemeter</a:t>
            </a:r>
            <a:r>
              <a:rPr lang="et-EE" dirty="0"/>
              <a:t> (</a:t>
            </a:r>
            <a:r>
              <a:rPr lang="et-EE" dirty="0" err="1"/>
              <a:t>like</a:t>
            </a:r>
            <a:r>
              <a:rPr lang="et-EE" dirty="0"/>
              <a:t> </a:t>
            </a:r>
            <a:r>
              <a:rPr lang="et-EE" dirty="0" err="1"/>
              <a:t>actually</a:t>
            </a:r>
            <a:r>
              <a:rPr lang="et-EE" dirty="0"/>
              <a:t> </a:t>
            </a:r>
            <a:r>
              <a:rPr lang="et-EE" dirty="0" err="1"/>
              <a:t>the</a:t>
            </a:r>
            <a:r>
              <a:rPr lang="et-EE" dirty="0"/>
              <a:t> </a:t>
            </a:r>
            <a:r>
              <a:rPr lang="et-EE" dirty="0" err="1"/>
              <a:t>details</a:t>
            </a:r>
            <a:r>
              <a:rPr lang="et-EE" dirty="0"/>
              <a:t> of </a:t>
            </a:r>
            <a:r>
              <a:rPr lang="et-EE" dirty="0" err="1"/>
              <a:t>the</a:t>
            </a:r>
            <a:r>
              <a:rPr lang="et-EE" dirty="0"/>
              <a:t> </a:t>
            </a:r>
            <a:r>
              <a:rPr lang="et-EE" dirty="0" err="1"/>
              <a:t>signals</a:t>
            </a:r>
            <a:r>
              <a:rPr lang="et-EE" dirty="0"/>
              <a:t> </a:t>
            </a:r>
            <a:r>
              <a:rPr lang="et-EE" dirty="0" err="1"/>
              <a:t>moving</a:t>
            </a:r>
            <a:r>
              <a:rPr lang="et-EE" dirty="0"/>
              <a:t>, </a:t>
            </a:r>
            <a:r>
              <a:rPr lang="et-EE" dirty="0" err="1"/>
              <a:t>especially</a:t>
            </a:r>
            <a:r>
              <a:rPr lang="et-EE" dirty="0"/>
              <a:t> </a:t>
            </a:r>
            <a:r>
              <a:rPr lang="et-EE" dirty="0" err="1"/>
              <a:t>the</a:t>
            </a:r>
            <a:r>
              <a:rPr lang="et-EE" dirty="0"/>
              <a:t> </a:t>
            </a:r>
            <a:r>
              <a:rPr lang="et-EE" dirty="0" err="1"/>
              <a:t>purple</a:t>
            </a:r>
            <a:r>
              <a:rPr lang="et-EE" dirty="0"/>
              <a:t>)</a:t>
            </a:r>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10</a:t>
            </a:fld>
            <a:endParaRPr lang="et-EE"/>
          </a:p>
        </p:txBody>
      </p:sp>
    </p:spTree>
    <p:extLst>
      <p:ext uri="{BB962C8B-B14F-4D97-AF65-F5344CB8AC3E}">
        <p14:creationId xmlns:p14="http://schemas.microsoft.com/office/powerpoint/2010/main" val="4291730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err="1"/>
              <a:t>Explain</a:t>
            </a:r>
            <a:r>
              <a:rPr lang="et-EE" dirty="0"/>
              <a:t> </a:t>
            </a:r>
            <a:r>
              <a:rPr lang="et-EE" dirty="0" err="1"/>
              <a:t>the</a:t>
            </a:r>
            <a:r>
              <a:rPr lang="et-EE" dirty="0"/>
              <a:t> </a:t>
            </a:r>
            <a:r>
              <a:rPr lang="et-EE" dirty="0" err="1"/>
              <a:t>extraction</a:t>
            </a:r>
            <a:r>
              <a:rPr lang="et-EE" dirty="0"/>
              <a:t> </a:t>
            </a:r>
            <a:r>
              <a:rPr lang="et-EE" dirty="0" err="1"/>
              <a:t>clearly</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11</a:t>
            </a:fld>
            <a:endParaRPr lang="et-EE"/>
          </a:p>
        </p:txBody>
      </p:sp>
    </p:spTree>
    <p:extLst>
      <p:ext uri="{BB962C8B-B14F-4D97-AF65-F5344CB8AC3E}">
        <p14:creationId xmlns:p14="http://schemas.microsoft.com/office/powerpoint/2010/main" val="3260605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C</a:t>
            </a:r>
            <a:r>
              <a:rPr lang="en-DE" dirty="0"/>
              <a:t>larify the modulating freq.</a:t>
            </a:r>
            <a:endParaRPr lang="en-US" dirty="0"/>
          </a:p>
          <a:p>
            <a:r>
              <a:rPr lang="en-GB" dirty="0"/>
              <a:t>A</a:t>
            </a:r>
            <a:r>
              <a:rPr lang="en-DE" dirty="0"/>
              <a:t>dd clarifing notes for the terms/frequencies (already in previous slides)</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12</a:t>
            </a:fld>
            <a:endParaRPr lang="et-EE"/>
          </a:p>
        </p:txBody>
      </p:sp>
    </p:spTree>
    <p:extLst>
      <p:ext uri="{BB962C8B-B14F-4D97-AF65-F5344CB8AC3E}">
        <p14:creationId xmlns:p14="http://schemas.microsoft.com/office/powerpoint/2010/main" val="18771957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r>
              <a:rPr lang="en-GB" dirty="0"/>
              <a:t>H</a:t>
            </a:r>
            <a:r>
              <a:rPr lang="en-DE" dirty="0"/>
              <a:t>ighlight the modulation frequency in the text</a:t>
            </a:r>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13</a:t>
            </a:fld>
            <a:endParaRPr lang="et-EE"/>
          </a:p>
        </p:txBody>
      </p:sp>
    </p:spTree>
    <p:extLst>
      <p:ext uri="{BB962C8B-B14F-4D97-AF65-F5344CB8AC3E}">
        <p14:creationId xmlns:p14="http://schemas.microsoft.com/office/powerpoint/2010/main" val="41100549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err="1"/>
              <a:t>Add</a:t>
            </a:r>
            <a:r>
              <a:rPr lang="et-EE" dirty="0"/>
              <a:t> </a:t>
            </a:r>
            <a:r>
              <a:rPr lang="et-EE" dirty="0" err="1"/>
              <a:t>fibers</a:t>
            </a:r>
            <a:r>
              <a:rPr lang="et-EE" dirty="0"/>
              <a:t>?</a:t>
            </a:r>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14</a:t>
            </a:fld>
            <a:endParaRPr lang="et-EE"/>
          </a:p>
        </p:txBody>
      </p:sp>
    </p:spTree>
    <p:extLst>
      <p:ext uri="{BB962C8B-B14F-4D97-AF65-F5344CB8AC3E}">
        <p14:creationId xmlns:p14="http://schemas.microsoft.com/office/powerpoint/2010/main" val="1884378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4A049-E70D-CD53-3885-41916A524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D07E9-C8C4-D8FD-EE6A-F165033638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C9500-DDB0-8444-EBE5-9708575F9D4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F0796030-26B2-128A-B33C-3FBBA8B307B7}"/>
              </a:ext>
            </a:extLst>
          </p:cNvPr>
          <p:cNvSpPr>
            <a:spLocks noGrp="1"/>
          </p:cNvSpPr>
          <p:nvPr>
            <p:ph type="sldNum" sz="quarter" idx="5"/>
          </p:nvPr>
        </p:nvSpPr>
        <p:spPr/>
        <p:txBody>
          <a:bodyPr/>
          <a:lstStyle/>
          <a:p>
            <a:fld id="{23F329CB-E484-4F61-9C3E-A471CEC4EF7E}" type="slidenum">
              <a:rPr lang="et-EE" smtClean="0"/>
              <a:t>15</a:t>
            </a:fld>
            <a:endParaRPr lang="et-EE"/>
          </a:p>
        </p:txBody>
      </p:sp>
    </p:spTree>
    <p:extLst>
      <p:ext uri="{BB962C8B-B14F-4D97-AF65-F5344CB8AC3E}">
        <p14:creationId xmlns:p14="http://schemas.microsoft.com/office/powerpoint/2010/main" val="28967550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20F2F-6F26-6A89-591D-1AEA83192D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F9E8F-258E-A526-9101-D397A25561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56B824-30A5-399C-617D-FB89E979396F}"/>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C53C2BA-C813-E8C2-29B9-8C29CE37F956}"/>
              </a:ext>
            </a:extLst>
          </p:cNvPr>
          <p:cNvSpPr>
            <a:spLocks noGrp="1"/>
          </p:cNvSpPr>
          <p:nvPr>
            <p:ph type="sldNum" sz="quarter" idx="5"/>
          </p:nvPr>
        </p:nvSpPr>
        <p:spPr/>
        <p:txBody>
          <a:bodyPr/>
          <a:lstStyle/>
          <a:p>
            <a:fld id="{23F329CB-E484-4F61-9C3E-A471CEC4EF7E}" type="slidenum">
              <a:rPr lang="et-EE" smtClean="0"/>
              <a:t>16</a:t>
            </a:fld>
            <a:endParaRPr lang="et-EE"/>
          </a:p>
        </p:txBody>
      </p:sp>
    </p:spTree>
    <p:extLst>
      <p:ext uri="{BB962C8B-B14F-4D97-AF65-F5344CB8AC3E}">
        <p14:creationId xmlns:p14="http://schemas.microsoft.com/office/powerpoint/2010/main" val="3307099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056D-55F6-0C37-5E87-52B5D89A3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DBBB43-4069-B648-6EBE-203C676B0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0A3ED3-1047-72FB-E63E-9122B550F5C2}"/>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CB1170E8-E84C-BAD6-5EF0-BCB39BC181C6}"/>
              </a:ext>
            </a:extLst>
          </p:cNvPr>
          <p:cNvSpPr>
            <a:spLocks noGrp="1"/>
          </p:cNvSpPr>
          <p:nvPr>
            <p:ph type="sldNum" sz="quarter" idx="5"/>
          </p:nvPr>
        </p:nvSpPr>
        <p:spPr/>
        <p:txBody>
          <a:bodyPr/>
          <a:lstStyle/>
          <a:p>
            <a:fld id="{23F329CB-E484-4F61-9C3E-A471CEC4EF7E}" type="slidenum">
              <a:rPr lang="et-EE" smtClean="0"/>
              <a:t>17</a:t>
            </a:fld>
            <a:endParaRPr lang="et-EE"/>
          </a:p>
        </p:txBody>
      </p:sp>
    </p:spTree>
    <p:extLst>
      <p:ext uri="{BB962C8B-B14F-4D97-AF65-F5344CB8AC3E}">
        <p14:creationId xmlns:p14="http://schemas.microsoft.com/office/powerpoint/2010/main" val="1069895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a:t>
            </a:r>
            <a:r>
              <a:rPr lang="en-DE" dirty="0"/>
              <a:t>ix the clock noise stuff</a:t>
            </a:r>
          </a:p>
          <a:p>
            <a:r>
              <a:rPr lang="en-GB" dirty="0"/>
              <a:t>A</a:t>
            </a:r>
            <a:r>
              <a:rPr lang="en-DE" dirty="0"/>
              <a:t>dd the cavity locking plans? – how u get the good beatnote (in the right range)</a:t>
            </a:r>
          </a:p>
          <a:p>
            <a:r>
              <a:rPr lang="en-GB" dirty="0"/>
              <a:t>T</a:t>
            </a:r>
            <a:r>
              <a:rPr lang="en-DE" dirty="0"/>
              <a:t>ake out delay line stuff, like put them together</a:t>
            </a:r>
          </a:p>
        </p:txBody>
      </p:sp>
      <p:sp>
        <p:nvSpPr>
          <p:cNvPr id="4" name="Slide Number Placeholder 3"/>
          <p:cNvSpPr>
            <a:spLocks noGrp="1"/>
          </p:cNvSpPr>
          <p:nvPr>
            <p:ph type="sldNum" sz="quarter" idx="5"/>
          </p:nvPr>
        </p:nvSpPr>
        <p:spPr/>
        <p:txBody>
          <a:bodyPr/>
          <a:lstStyle/>
          <a:p>
            <a:fld id="{23F329CB-E484-4F61-9C3E-A471CEC4EF7E}" type="slidenum">
              <a:rPr lang="et-EE" smtClean="0"/>
              <a:t>18</a:t>
            </a:fld>
            <a:endParaRPr lang="et-EE" dirty="0"/>
          </a:p>
        </p:txBody>
      </p:sp>
    </p:spTree>
    <p:extLst>
      <p:ext uri="{BB962C8B-B14F-4D97-AF65-F5344CB8AC3E}">
        <p14:creationId xmlns:p14="http://schemas.microsoft.com/office/powerpoint/2010/main" val="18463226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A</a:t>
            </a:r>
            <a:r>
              <a:rPr lang="en-DE" dirty="0"/>
              <a:t>dd something that indicates the residuals</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19</a:t>
            </a:fld>
            <a:endParaRPr lang="et-EE"/>
          </a:p>
        </p:txBody>
      </p:sp>
    </p:spTree>
    <p:extLst>
      <p:ext uri="{BB962C8B-B14F-4D97-AF65-F5344CB8AC3E}">
        <p14:creationId xmlns:p14="http://schemas.microsoft.com/office/powerpoint/2010/main" val="16496785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8FBA-726D-2434-A624-0D90F39277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52C87-543A-C50F-F5D5-A8E147E5C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123358-E8CF-64CF-C32E-487E3A372499}"/>
              </a:ext>
            </a:extLst>
          </p:cNvPr>
          <p:cNvSpPr>
            <a:spLocks noGrp="1"/>
          </p:cNvSpPr>
          <p:nvPr>
            <p:ph type="body" idx="1"/>
          </p:nvPr>
        </p:nvSpPr>
        <p:spPr/>
        <p:txBody>
          <a:bodyPr/>
          <a:lstStyle/>
          <a:p>
            <a:r>
              <a:rPr lang="en-GB" dirty="0"/>
              <a:t>T</a:t>
            </a:r>
            <a:r>
              <a:rPr lang="en-DE" dirty="0"/>
              <a:t>ake out</a:t>
            </a:r>
          </a:p>
        </p:txBody>
      </p:sp>
      <p:sp>
        <p:nvSpPr>
          <p:cNvPr id="4" name="Slide Number Placeholder 3">
            <a:extLst>
              <a:ext uri="{FF2B5EF4-FFF2-40B4-BE49-F238E27FC236}">
                <a16:creationId xmlns:a16="http://schemas.microsoft.com/office/drawing/2014/main" id="{77851D3B-B880-91F1-E0E7-25AA06AF8C1D}"/>
              </a:ext>
            </a:extLst>
          </p:cNvPr>
          <p:cNvSpPr>
            <a:spLocks noGrp="1"/>
          </p:cNvSpPr>
          <p:nvPr>
            <p:ph type="sldNum" sz="quarter" idx="5"/>
          </p:nvPr>
        </p:nvSpPr>
        <p:spPr/>
        <p:txBody>
          <a:bodyPr/>
          <a:lstStyle/>
          <a:p>
            <a:fld id="{23F329CB-E484-4F61-9C3E-A471CEC4EF7E}" type="slidenum">
              <a:rPr lang="et-EE" smtClean="0"/>
              <a:t>20</a:t>
            </a:fld>
            <a:endParaRPr lang="et-EE"/>
          </a:p>
        </p:txBody>
      </p:sp>
    </p:spTree>
    <p:extLst>
      <p:ext uri="{BB962C8B-B14F-4D97-AF65-F5344CB8AC3E}">
        <p14:creationId xmlns:p14="http://schemas.microsoft.com/office/powerpoint/2010/main" val="614576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E9A6-7755-F626-D554-73782C32C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B18AA-C72D-C4AC-4567-9473BB65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2540E-6962-EB2D-8236-48FB17273A71}"/>
              </a:ext>
            </a:extLst>
          </p:cNvPr>
          <p:cNvSpPr>
            <a:spLocks noGrp="1"/>
          </p:cNvSpPr>
          <p:nvPr>
            <p:ph type="body" idx="1"/>
          </p:nvPr>
        </p:nvSpPr>
        <p:spPr/>
        <p:txBody>
          <a:bodyPr/>
          <a:lstStyle/>
          <a:p>
            <a:r>
              <a:rPr lang="et-EE" dirty="0"/>
              <a:t>Update! </a:t>
            </a:r>
            <a:r>
              <a:rPr lang="et-EE" dirty="0" err="1"/>
              <a:t>If</a:t>
            </a:r>
            <a:r>
              <a:rPr lang="et-EE" dirty="0"/>
              <a:t> </a:t>
            </a:r>
            <a:r>
              <a:rPr lang="et-EE" dirty="0" err="1"/>
              <a:t>shown</a:t>
            </a:r>
            <a:r>
              <a:rPr lang="et-EE" dirty="0"/>
              <a:t>, show </a:t>
            </a:r>
            <a:r>
              <a:rPr lang="et-EE" dirty="0" err="1"/>
              <a:t>later</a:t>
            </a:r>
            <a:endParaRPr lang="et-EE" dirty="0"/>
          </a:p>
        </p:txBody>
      </p:sp>
      <p:sp>
        <p:nvSpPr>
          <p:cNvPr id="4" name="Slide Number Placeholder 3">
            <a:extLst>
              <a:ext uri="{FF2B5EF4-FFF2-40B4-BE49-F238E27FC236}">
                <a16:creationId xmlns:a16="http://schemas.microsoft.com/office/drawing/2014/main" id="{C034C9B9-B835-B607-2A1B-5D66CCA25659}"/>
              </a:ext>
            </a:extLst>
          </p:cNvPr>
          <p:cNvSpPr>
            <a:spLocks noGrp="1"/>
          </p:cNvSpPr>
          <p:nvPr>
            <p:ph type="sldNum" sz="quarter" idx="5"/>
          </p:nvPr>
        </p:nvSpPr>
        <p:spPr/>
        <p:txBody>
          <a:bodyPr/>
          <a:lstStyle/>
          <a:p>
            <a:fld id="{23F329CB-E484-4F61-9C3E-A471CEC4EF7E}" type="slidenum">
              <a:rPr lang="et-EE" smtClean="0"/>
              <a:t>21</a:t>
            </a:fld>
            <a:endParaRPr lang="et-EE"/>
          </a:p>
        </p:txBody>
      </p:sp>
    </p:spTree>
    <p:extLst>
      <p:ext uri="{BB962C8B-B14F-4D97-AF65-F5344CB8AC3E}">
        <p14:creationId xmlns:p14="http://schemas.microsoft.com/office/powerpoint/2010/main" val="40355242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976B1-8AAD-DECC-0159-8FC0B234A4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4D550-559C-956A-6D77-8F86A480A4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7EA18-1B5C-2D68-E3AD-3784B5AE069D}"/>
              </a:ext>
            </a:extLst>
          </p:cNvPr>
          <p:cNvSpPr>
            <a:spLocks noGrp="1"/>
          </p:cNvSpPr>
          <p:nvPr>
            <p:ph type="body" idx="1"/>
          </p:nvPr>
        </p:nvSpPr>
        <p:spPr/>
        <p:txBody>
          <a:bodyPr/>
          <a:lstStyle/>
          <a:p>
            <a:r>
              <a:rPr lang="et-EE" dirty="0"/>
              <a:t>Decades ago a testbed was build in University of Florida. Our design, which i will soon enough get to, was very similar to ours – so it is the predecessor to our testbed. The experiments performed were able to show that with TDI it is infact possible to cancel the laser noise orders of magnitude while preserving the gravitational wave signal. The strain used here is about two orders of magnitude higher that what was expected for LISA though. Overall the testbed was largely limited by the technology of the time – the baseline noise was high and the possibilities with adding GWs were limited. The testbed also didnt include the laserfield modulation for clock noise removal.</a:t>
            </a:r>
          </a:p>
          <a:p>
            <a:endParaRPr lang="et-EE" dirty="0"/>
          </a:p>
          <a:p>
            <a:endParaRPr lang="et-EE" dirty="0"/>
          </a:p>
          <a:p>
            <a:endParaRPr lang="et-EE" dirty="0"/>
          </a:p>
        </p:txBody>
      </p:sp>
      <p:sp>
        <p:nvSpPr>
          <p:cNvPr id="4" name="Slide Number Placeholder 3">
            <a:extLst>
              <a:ext uri="{FF2B5EF4-FFF2-40B4-BE49-F238E27FC236}">
                <a16:creationId xmlns:a16="http://schemas.microsoft.com/office/drawing/2014/main" id="{F16B86E6-6763-FC4B-6A44-11F441A34C9B}"/>
              </a:ext>
            </a:extLst>
          </p:cNvPr>
          <p:cNvSpPr>
            <a:spLocks noGrp="1"/>
          </p:cNvSpPr>
          <p:nvPr>
            <p:ph type="sldNum" sz="quarter" idx="5"/>
          </p:nvPr>
        </p:nvSpPr>
        <p:spPr/>
        <p:txBody>
          <a:bodyPr/>
          <a:lstStyle/>
          <a:p>
            <a:fld id="{23F329CB-E484-4F61-9C3E-A471CEC4EF7E}" type="slidenum">
              <a:rPr lang="et-EE" smtClean="0"/>
              <a:t>22</a:t>
            </a:fld>
            <a:endParaRPr lang="et-EE"/>
          </a:p>
        </p:txBody>
      </p:sp>
    </p:spTree>
    <p:extLst>
      <p:ext uri="{BB962C8B-B14F-4D97-AF65-F5344CB8AC3E}">
        <p14:creationId xmlns:p14="http://schemas.microsoft.com/office/powerpoint/2010/main" val="35094211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30F51-0FB3-8CC0-2E16-8647C969D1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40F12-9724-12CD-77BA-A394D64D54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259571-8FC7-7DC7-EE6D-3269B11029A5}"/>
              </a:ext>
            </a:extLst>
          </p:cNvPr>
          <p:cNvSpPr>
            <a:spLocks noGrp="1"/>
          </p:cNvSpPr>
          <p:nvPr>
            <p:ph type="body" idx="1"/>
          </p:nvPr>
        </p:nvSpPr>
        <p:spPr/>
        <p:txBody>
          <a:bodyPr/>
          <a:lstStyle/>
          <a:p>
            <a:endParaRPr lang="et-EE" dirty="0"/>
          </a:p>
        </p:txBody>
      </p:sp>
      <p:sp>
        <p:nvSpPr>
          <p:cNvPr id="4" name="Slide Number Placeholder 3">
            <a:extLst>
              <a:ext uri="{FF2B5EF4-FFF2-40B4-BE49-F238E27FC236}">
                <a16:creationId xmlns:a16="http://schemas.microsoft.com/office/drawing/2014/main" id="{BEF85CED-5032-77DA-F212-E6B7C573A076}"/>
              </a:ext>
            </a:extLst>
          </p:cNvPr>
          <p:cNvSpPr>
            <a:spLocks noGrp="1"/>
          </p:cNvSpPr>
          <p:nvPr>
            <p:ph type="sldNum" sz="quarter" idx="5"/>
          </p:nvPr>
        </p:nvSpPr>
        <p:spPr/>
        <p:txBody>
          <a:bodyPr/>
          <a:lstStyle/>
          <a:p>
            <a:fld id="{23F329CB-E484-4F61-9C3E-A471CEC4EF7E}" type="slidenum">
              <a:rPr lang="et-EE" smtClean="0"/>
              <a:t>23</a:t>
            </a:fld>
            <a:endParaRPr lang="et-EE"/>
          </a:p>
        </p:txBody>
      </p:sp>
    </p:spTree>
    <p:extLst>
      <p:ext uri="{BB962C8B-B14F-4D97-AF65-F5344CB8AC3E}">
        <p14:creationId xmlns:p14="http://schemas.microsoft.com/office/powerpoint/2010/main" val="12191182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rgbClr val="323232"/>
                </a:solidFill>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a:xfrm>
            <a:off x="223062" y="6356350"/>
            <a:ext cx="2743200" cy="365125"/>
          </a:xfrm>
        </p:spPr>
        <p:txBody>
          <a:bodyPr/>
          <a:lstStyle>
            <a:lvl1pPr>
              <a:defRPr>
                <a:solidFill>
                  <a:schemeClr val="tx1">
                    <a:lumMod val="75000"/>
                  </a:schemeClr>
                </a:solidFill>
              </a:defRPr>
            </a:lvl1pPr>
          </a:lstStyle>
          <a:p>
            <a:r>
              <a:rPr lang="LID4096" dirty="0"/>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lvl1pPr>
              <a:defRPr>
                <a:solidFill>
                  <a:schemeClr val="tx1">
                    <a:lumMod val="75000"/>
                  </a:schemeClr>
                </a:solidFill>
              </a:defRPr>
            </a:lvl1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26329519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24443" y="241069"/>
            <a:ext cx="10298083" cy="889462"/>
          </a:xfrm>
        </p:spPr>
        <p:txBody>
          <a:bodyPr>
            <a:normAutofit/>
          </a:bodyPr>
          <a:lstStyle>
            <a:lvl1pPr marL="91440">
              <a:defRPr sz="3600" b="1">
                <a:solidFill>
                  <a:srgbClr val="323232"/>
                </a:solidFill>
                <a:latin typeface="Helvetica" pitchFamily="2" charset="0"/>
                <a:cs typeface="Arial" panose="020B0604020202020204" pitchFamily="34" charset="0"/>
              </a:defRPr>
            </a:lvl1pPr>
          </a:lstStyle>
          <a:p>
            <a:r>
              <a:rPr lang="en-US" dirty="0"/>
              <a:t>Click to edit Master title style</a:t>
            </a:r>
          </a:p>
        </p:txBody>
      </p:sp>
      <p:sp>
        <p:nvSpPr>
          <p:cNvPr id="3" name="Content Placeholder 2"/>
          <p:cNvSpPr>
            <a:spLocks noGrp="1"/>
          </p:cNvSpPr>
          <p:nvPr>
            <p:ph idx="1"/>
          </p:nvPr>
        </p:nvSpPr>
        <p:spPr>
          <a:xfrm>
            <a:off x="224442" y="1252452"/>
            <a:ext cx="11266517" cy="4396648"/>
          </a:xfrm>
        </p:spPr>
        <p:txBody>
          <a:bodyPr/>
          <a:lstStyle>
            <a:lvl1pPr marL="91440">
              <a:defRPr sz="2400" b="0">
                <a:solidFill>
                  <a:srgbClr val="323232"/>
                </a:solidFill>
                <a:latin typeface="Helvetica" pitchFamily="2" charset="0"/>
                <a:cs typeface="Arial" panose="020B0604020202020204" pitchFamily="34" charset="0"/>
              </a:defRPr>
            </a:lvl1pPr>
            <a:lvl2pPr>
              <a:defRPr b="0">
                <a:solidFill>
                  <a:srgbClr val="323232"/>
                </a:solidFill>
                <a:latin typeface="Helvetica" pitchFamily="2" charset="0"/>
                <a:cs typeface="Arial" panose="020B0604020202020204" pitchFamily="34" charset="0"/>
              </a:defRPr>
            </a:lvl2pPr>
            <a:lvl3pPr>
              <a:defRPr b="0">
                <a:solidFill>
                  <a:srgbClr val="323232"/>
                </a:solidFill>
                <a:latin typeface="Helvetica" pitchFamily="2" charset="0"/>
                <a:cs typeface="Arial" panose="020B0604020202020204" pitchFamily="34" charset="0"/>
              </a:defRPr>
            </a:lvl3pPr>
            <a:lvl4pPr>
              <a:defRPr b="0">
                <a:solidFill>
                  <a:srgbClr val="323232"/>
                </a:solidFill>
                <a:latin typeface="Helvetica" pitchFamily="2" charset="0"/>
                <a:cs typeface="Arial" panose="020B0604020202020204" pitchFamily="34" charset="0"/>
              </a:defRPr>
            </a:lvl4pPr>
            <a:lvl5pPr>
              <a:defRPr b="0">
                <a:solidFill>
                  <a:srgbClr val="323232"/>
                </a:solidFill>
                <a:latin typeface="Helvetica" pitchFamily="2"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224443" y="6356350"/>
            <a:ext cx="2743200" cy="365125"/>
          </a:xfrm>
        </p:spPr>
        <p:txBody>
          <a:bodyPr/>
          <a:lstStyle>
            <a:lvl1pPr>
              <a:defRPr>
                <a:solidFill>
                  <a:srgbClr val="969696"/>
                </a:solidFill>
                <a:latin typeface="Helvetica" pitchFamily="2" charset="0"/>
                <a:cs typeface="Arial" panose="020B0604020202020204" pitchFamily="34" charset="0"/>
              </a:defRPr>
            </a:lvl1pPr>
          </a:lstStyle>
          <a:p>
            <a:r>
              <a:rPr lang="LID4096"/>
              <a:t>23.06.2026</a:t>
            </a:r>
            <a:endParaRPr lang="et-EE" dirty="0"/>
          </a:p>
        </p:txBody>
      </p:sp>
      <p:sp>
        <p:nvSpPr>
          <p:cNvPr id="5" name="Footer Placeholder 4"/>
          <p:cNvSpPr>
            <a:spLocks noGrp="1"/>
          </p:cNvSpPr>
          <p:nvPr>
            <p:ph type="ftr" sz="quarter" idx="11"/>
          </p:nvPr>
        </p:nvSpPr>
        <p:spPr/>
        <p:txBody>
          <a:bodyPr/>
          <a:lstStyle>
            <a:lvl1pPr>
              <a:defRPr>
                <a:solidFill>
                  <a:srgbClr val="969696"/>
                </a:solidFill>
                <a:latin typeface="Helvetica" pitchFamily="2" charset="0"/>
                <a:cs typeface="Arial" panose="020B0604020202020204" pitchFamily="34" charset="0"/>
              </a:defRPr>
            </a:lvl1p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lvl1pPr>
              <a:defRPr>
                <a:solidFill>
                  <a:srgbClr val="969696"/>
                </a:solidFill>
                <a:latin typeface="Helvetica" pitchFamily="2" charset="0"/>
                <a:cs typeface="Arial" panose="020B0604020202020204" pitchFamily="34" charset="0"/>
              </a:defRPr>
            </a:lvl1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31847818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7" name="Date Placeholder 3">
            <a:extLst>
              <a:ext uri="{FF2B5EF4-FFF2-40B4-BE49-F238E27FC236}">
                <a16:creationId xmlns:a16="http://schemas.microsoft.com/office/drawing/2014/main" id="{D3CFE6F3-8EA7-20B6-44B8-4BBDC4361948}"/>
              </a:ext>
            </a:extLst>
          </p:cNvPr>
          <p:cNvSpPr txBox="1">
            <a:spLocks/>
          </p:cNvSpPr>
          <p:nvPr userDrawn="1"/>
        </p:nvSpPr>
        <p:spPr>
          <a:xfrm>
            <a:off x="376843" y="6508750"/>
            <a:ext cx="2743200" cy="365125"/>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lumMod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t-EE" dirty="0"/>
              <a:t>28.08.2023</a:t>
            </a:r>
          </a:p>
        </p:txBody>
      </p:sp>
      <p:sp>
        <p:nvSpPr>
          <p:cNvPr id="8" name="Slide Number Placeholder 5">
            <a:extLst>
              <a:ext uri="{FF2B5EF4-FFF2-40B4-BE49-F238E27FC236}">
                <a16:creationId xmlns:a16="http://schemas.microsoft.com/office/drawing/2014/main" id="{F3BAF38B-E3FE-B466-B6EB-A14DD731454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lumMod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9F39E346-B1F3-4075-BD67-234EF0F10AC6}" type="slidenum">
              <a:rPr lang="et-EE" smtClean="0"/>
              <a:pPr/>
              <a:t>‹#›</a:t>
            </a:fld>
            <a:endParaRPr lang="et-EE" dirty="0"/>
          </a:p>
        </p:txBody>
      </p:sp>
    </p:spTree>
    <p:extLst>
      <p:ext uri="{BB962C8B-B14F-4D97-AF65-F5344CB8AC3E}">
        <p14:creationId xmlns:p14="http://schemas.microsoft.com/office/powerpoint/2010/main" val="28833203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4180751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r>
              <a:rPr lang="LID4096"/>
              <a:t>23.06.2026</a:t>
            </a:r>
            <a:endParaRPr lang="et-EE" dirty="0"/>
          </a:p>
        </p:txBody>
      </p:sp>
      <p:sp>
        <p:nvSpPr>
          <p:cNvPr id="8" name="Footer Placeholder 7"/>
          <p:cNvSpPr>
            <a:spLocks noGrp="1"/>
          </p:cNvSpPr>
          <p:nvPr>
            <p:ph type="ftr" sz="quarter" idx="11"/>
          </p:nvPr>
        </p:nvSpPr>
        <p:spPr/>
        <p:txBody>
          <a:bodyPr/>
          <a:lstStyle/>
          <a:p>
            <a:r>
              <a:rPr lang="en-US"/>
              <a:t>16th International LISA Symposium</a:t>
            </a:r>
            <a:endParaRPr lang="et-EE" dirty="0"/>
          </a:p>
        </p:txBody>
      </p:sp>
      <p:sp>
        <p:nvSpPr>
          <p:cNvPr id="9" name="Slide Number Placeholder 8"/>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950688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r>
              <a:rPr lang="LID4096"/>
              <a:t>23.06.2026</a:t>
            </a:r>
            <a:endParaRPr lang="et-EE" dirty="0"/>
          </a:p>
        </p:txBody>
      </p:sp>
      <p:sp>
        <p:nvSpPr>
          <p:cNvPr id="4" name="Footer Placeholder 3"/>
          <p:cNvSpPr>
            <a:spLocks noGrp="1"/>
          </p:cNvSpPr>
          <p:nvPr>
            <p:ph type="ftr" sz="quarter" idx="11"/>
          </p:nvPr>
        </p:nvSpPr>
        <p:spPr/>
        <p:txBody>
          <a:bodyPr/>
          <a:lstStyle/>
          <a:p>
            <a:r>
              <a:rPr lang="en-US"/>
              <a:t>16th International LISA Symposium</a:t>
            </a:r>
            <a:endParaRPr lang="et-EE" dirty="0"/>
          </a:p>
        </p:txBody>
      </p:sp>
      <p:sp>
        <p:nvSpPr>
          <p:cNvPr id="5" name="Slide Number Placeholder 4"/>
          <p:cNvSpPr>
            <a:spLocks noGrp="1"/>
          </p:cNvSpPr>
          <p:nvPr>
            <p:ph type="sldNum" sz="quarter" idx="12"/>
          </p:nvPr>
        </p:nvSpPr>
        <p:spPr/>
        <p:txBody>
          <a:bodyPr/>
          <a:lstStyle/>
          <a:p>
            <a:fld id="{9F39E346-B1F3-4075-BD67-234EF0F10AC6}" type="slidenum">
              <a:rPr lang="et-EE" smtClean="0"/>
              <a:t>‹#›</a:t>
            </a:fld>
            <a:endParaRPr lang="et-EE" dirty="0"/>
          </a:p>
        </p:txBody>
      </p:sp>
      <p:sp>
        <p:nvSpPr>
          <p:cNvPr id="6" name="Title 1">
            <a:extLst>
              <a:ext uri="{FF2B5EF4-FFF2-40B4-BE49-F238E27FC236}">
                <a16:creationId xmlns:a16="http://schemas.microsoft.com/office/drawing/2014/main" id="{0069F6E4-9020-7783-DE83-4C47CF315C3E}"/>
              </a:ext>
            </a:extLst>
          </p:cNvPr>
          <p:cNvSpPr>
            <a:spLocks noGrp="1"/>
          </p:cNvSpPr>
          <p:nvPr>
            <p:ph type="title"/>
          </p:nvPr>
        </p:nvSpPr>
        <p:spPr>
          <a:xfrm>
            <a:off x="224443" y="241069"/>
            <a:ext cx="10298083" cy="889462"/>
          </a:xfrm>
        </p:spPr>
        <p:txBody>
          <a:bodyPr>
            <a:normAutofit/>
          </a:bodyPr>
          <a:lstStyle>
            <a:lvl1pPr marL="91440">
              <a:defRPr sz="3200" b="1">
                <a:solidFill>
                  <a:schemeClr val="tx1">
                    <a:lumMod val="95000"/>
                  </a:schemeClr>
                </a:solidFill>
                <a:latin typeface="Helvetica" pitchFamily="2" charset="0"/>
                <a:cs typeface="Arial" panose="020B0604020202020204" pitchFamily="34" charset="0"/>
              </a:defRPr>
            </a:lvl1pPr>
          </a:lstStyle>
          <a:p>
            <a:r>
              <a:rPr lang="en-US" dirty="0"/>
              <a:t>Click to edit Master title style</a:t>
            </a:r>
          </a:p>
        </p:txBody>
      </p:sp>
    </p:spTree>
    <p:extLst>
      <p:ext uri="{BB962C8B-B14F-4D97-AF65-F5344CB8AC3E}">
        <p14:creationId xmlns:p14="http://schemas.microsoft.com/office/powerpoint/2010/main" val="594470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LID4096"/>
              <a:t>23.06.2026</a:t>
            </a:r>
            <a:endParaRPr lang="et-EE" dirty="0"/>
          </a:p>
        </p:txBody>
      </p:sp>
      <p:sp>
        <p:nvSpPr>
          <p:cNvPr id="3" name="Footer Placeholder 2"/>
          <p:cNvSpPr>
            <a:spLocks noGrp="1"/>
          </p:cNvSpPr>
          <p:nvPr>
            <p:ph type="ftr" sz="quarter" idx="11"/>
          </p:nvPr>
        </p:nvSpPr>
        <p:spPr/>
        <p:txBody>
          <a:bodyPr/>
          <a:lstStyle/>
          <a:p>
            <a:r>
              <a:rPr lang="en-US"/>
              <a:t>16th International LISA Symposium</a:t>
            </a:r>
            <a:endParaRPr lang="et-EE" dirty="0"/>
          </a:p>
        </p:txBody>
      </p:sp>
      <p:sp>
        <p:nvSpPr>
          <p:cNvPr id="4" name="Slide Number Placeholder 3"/>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3746337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192504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r>
              <a:rPr lang="LID4096"/>
              <a:t>23.06.2026</a:t>
            </a:r>
            <a:endParaRPr lang="et-EE" dirty="0"/>
          </a:p>
        </p:txBody>
      </p:sp>
      <p:sp>
        <p:nvSpPr>
          <p:cNvPr id="6" name="Footer Placeholder 5"/>
          <p:cNvSpPr>
            <a:spLocks noGrp="1"/>
          </p:cNvSpPr>
          <p:nvPr>
            <p:ph type="ftr" sz="quarter" idx="11"/>
          </p:nvPr>
        </p:nvSpPr>
        <p:spPr/>
        <p:txBody>
          <a:bodyPr/>
          <a:lstStyle/>
          <a:p>
            <a:r>
              <a:rPr lang="en-US"/>
              <a:t>16th International LISA Symposium</a:t>
            </a:r>
            <a:endParaRPr lang="et-EE" dirty="0"/>
          </a:p>
        </p:txBody>
      </p:sp>
      <p:sp>
        <p:nvSpPr>
          <p:cNvPr id="7" name="Slide Number Placeholder 6"/>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5869815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r>
              <a:rPr lang="LID4096"/>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2000484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lvl1pPr>
              <a:defRPr/>
            </a:lvl1pPr>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lvl1pPr>
              <a:defRPr/>
            </a:lvl1pPr>
            <a:lvl2pPr>
              <a:defRPr/>
            </a:lvl2pPr>
            <a:lvl3pPr>
              <a:defRPr/>
            </a:lvl3pPr>
            <a:lvl4pPr>
              <a:defRPr/>
            </a:lvl4pPr>
            <a:lvl5pP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r>
              <a:rPr lang="LID4096"/>
              <a:t>23.06.2026</a:t>
            </a:r>
            <a:endParaRPr lang="et-EE" dirty="0"/>
          </a:p>
        </p:txBody>
      </p:sp>
      <p:sp>
        <p:nvSpPr>
          <p:cNvPr id="5" name="Footer Placeholder 4"/>
          <p:cNvSpPr>
            <a:spLocks noGrp="1"/>
          </p:cNvSpPr>
          <p:nvPr>
            <p:ph type="ftr" sz="quarter" idx="11"/>
          </p:nvPr>
        </p:nvSpPr>
        <p:spPr/>
        <p:txBody>
          <a:bodyPr/>
          <a:lstStyle/>
          <a:p>
            <a:r>
              <a:rPr lang="en-US"/>
              <a:t>16th International LISA Symposium</a:t>
            </a:r>
            <a:endParaRPr lang="et-EE" dirty="0"/>
          </a:p>
        </p:txBody>
      </p:sp>
      <p:sp>
        <p:nvSpPr>
          <p:cNvPr id="6" name="Slide Number Placeholder 5"/>
          <p:cNvSpPr>
            <a:spLocks noGrp="1"/>
          </p:cNvSpPr>
          <p:nvPr>
            <p:ph type="sldNum" sz="quarter" idx="12"/>
          </p:nvPr>
        </p:nvSpPr>
        <p:spPr/>
        <p:txBody>
          <a:bodyPr/>
          <a:lstStyle/>
          <a:p>
            <a:fld id="{9F39E346-B1F3-4075-BD67-234EF0F10AC6}" type="slidenum">
              <a:rPr lang="et-EE" smtClean="0"/>
              <a:t>‹#›</a:t>
            </a:fld>
            <a:endParaRPr lang="et-EE" dirty="0"/>
          </a:p>
        </p:txBody>
      </p:sp>
    </p:spTree>
    <p:extLst>
      <p:ext uri="{BB962C8B-B14F-4D97-AF65-F5344CB8AC3E}">
        <p14:creationId xmlns:p14="http://schemas.microsoft.com/office/powerpoint/2010/main" val="38932994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969696"/>
                </a:solidFill>
                <a:latin typeface="Helvetica" pitchFamily="2" charset="0"/>
              </a:defRPr>
            </a:lvl1pPr>
          </a:lstStyle>
          <a:p>
            <a:r>
              <a:rPr lang="LID4096"/>
              <a:t>23.06.2026</a:t>
            </a:r>
            <a:endParaRPr lang="et-EE"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969696"/>
                </a:solidFill>
                <a:latin typeface="Helvetica" pitchFamily="2" charset="0"/>
              </a:defRPr>
            </a:lvl1pPr>
          </a:lstStyle>
          <a:p>
            <a:r>
              <a:rPr lang="en-US"/>
              <a:t>16th International LISA Symposium</a:t>
            </a:r>
            <a:endParaRPr lang="et-EE" dirty="0"/>
          </a:p>
        </p:txBody>
      </p:sp>
      <p:sp>
        <p:nvSpPr>
          <p:cNvPr id="6" name="Slide Number Placeholder 5"/>
          <p:cNvSpPr>
            <a:spLocks noGrp="1"/>
          </p:cNvSpPr>
          <p:nvPr>
            <p:ph type="sldNum" sz="quarter" idx="4"/>
          </p:nvPr>
        </p:nvSpPr>
        <p:spPr>
          <a:xfrm>
            <a:off x="9250679" y="6356350"/>
            <a:ext cx="2743200" cy="365125"/>
          </a:xfrm>
          <a:prstGeom prst="rect">
            <a:avLst/>
          </a:prstGeom>
        </p:spPr>
        <p:txBody>
          <a:bodyPr vert="horz" lIns="91440" tIns="45720" rIns="91440" bIns="45720" rtlCol="0" anchor="ctr"/>
          <a:lstStyle>
            <a:lvl1pPr algn="r">
              <a:defRPr sz="1200">
                <a:solidFill>
                  <a:srgbClr val="969696"/>
                </a:solidFill>
                <a:latin typeface="Helvetica" pitchFamily="2" charset="0"/>
              </a:defRPr>
            </a:lvl1pPr>
          </a:lstStyle>
          <a:p>
            <a:fld id="{9F39E346-B1F3-4075-BD67-234EF0F10AC6}" type="slidenum">
              <a:rPr lang="et-EE" smtClean="0"/>
              <a:pPr/>
              <a:t>‹#›</a:t>
            </a:fld>
            <a:endParaRPr lang="et-EE" dirty="0"/>
          </a:p>
        </p:txBody>
      </p:sp>
      <p:pic>
        <p:nvPicPr>
          <p:cNvPr id="9" name="Picture 8">
            <a:extLst>
              <a:ext uri="{FF2B5EF4-FFF2-40B4-BE49-F238E27FC236}">
                <a16:creationId xmlns:a16="http://schemas.microsoft.com/office/drawing/2014/main" id="{48AA549F-3261-4FB8-90C4-DDE92830E82A}"/>
              </a:ext>
            </a:extLst>
          </p:cNvPr>
          <p:cNvPicPr>
            <a:picLocks noChangeAspect="1"/>
          </p:cNvPicPr>
          <p:nvPr userDrawn="1"/>
        </p:nvPicPr>
        <p:blipFill>
          <a:blip r:embed="rId13"/>
          <a:stretch>
            <a:fillRect/>
          </a:stretch>
        </p:blipFill>
        <p:spPr>
          <a:xfrm>
            <a:off x="8874266" y="230188"/>
            <a:ext cx="3119613" cy="701913"/>
          </a:xfrm>
          <a:prstGeom prst="rect">
            <a:avLst/>
          </a:prstGeom>
        </p:spPr>
      </p:pic>
    </p:spTree>
    <p:extLst>
      <p:ext uri="{BB962C8B-B14F-4D97-AF65-F5344CB8AC3E}">
        <p14:creationId xmlns:p14="http://schemas.microsoft.com/office/powerpoint/2010/main" val="1449894241"/>
      </p:ext>
    </p:extLst>
  </p:cSld>
  <p:clrMap bg1="dk1" tx1="lt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hf hdr="0"/>
  <p:txStyles>
    <p:titleStyle>
      <a:lvl1pPr algn="l" defTabSz="914400" rtl="0" eaLnBrk="1" latinLnBrk="0" hangingPunct="1">
        <a:lnSpc>
          <a:spcPct val="90000"/>
        </a:lnSpc>
        <a:spcBef>
          <a:spcPct val="0"/>
        </a:spcBef>
        <a:buNone/>
        <a:defRPr sz="4400" b="1" kern="1200">
          <a:solidFill>
            <a:srgbClr val="667982"/>
          </a:solidFill>
          <a:latin typeface="Helvetica" pitchFamily="2"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b="1"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1"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1"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1"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1"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2C0DE-565F-000C-3EEA-F6099D3D648C}"/>
              </a:ext>
            </a:extLst>
          </p:cNvPr>
          <p:cNvSpPr>
            <a:spLocks noGrp="1"/>
          </p:cNvSpPr>
          <p:nvPr>
            <p:ph type="ctrTitle"/>
          </p:nvPr>
        </p:nvSpPr>
        <p:spPr>
          <a:xfrm>
            <a:off x="645242" y="1122363"/>
            <a:ext cx="10575823" cy="2387600"/>
          </a:xfrm>
        </p:spPr>
        <p:txBody>
          <a:bodyPr>
            <a:normAutofit/>
          </a:bodyPr>
          <a:lstStyle/>
          <a:p>
            <a:pPr algn="l"/>
            <a:r>
              <a:rPr lang="en-US" sz="4000" b="1" noProof="0" dirty="0">
                <a:latin typeface="Helvetica" pitchFamily="2" charset="0"/>
              </a:rPr>
              <a:t>Testbed for Validating Second-Generation TDI and Clock Noise Correction for LISA</a:t>
            </a:r>
            <a:endParaRPr lang="en-US" dirty="0"/>
          </a:p>
        </p:txBody>
      </p:sp>
      <p:sp>
        <p:nvSpPr>
          <p:cNvPr id="3" name="Subtitle 2">
            <a:extLst>
              <a:ext uri="{FF2B5EF4-FFF2-40B4-BE49-F238E27FC236}">
                <a16:creationId xmlns:a16="http://schemas.microsoft.com/office/drawing/2014/main" id="{EED6BFAB-E9D0-DE83-B9D8-ED08B206570D}"/>
              </a:ext>
            </a:extLst>
          </p:cNvPr>
          <p:cNvSpPr>
            <a:spLocks noGrp="1"/>
          </p:cNvSpPr>
          <p:nvPr>
            <p:ph type="subTitle" idx="1"/>
          </p:nvPr>
        </p:nvSpPr>
        <p:spPr>
          <a:xfrm>
            <a:off x="645243" y="3602038"/>
            <a:ext cx="10363671" cy="1655762"/>
          </a:xfrm>
        </p:spPr>
        <p:txBody>
          <a:bodyPr vert="horz" lIns="91440" tIns="45720" rIns="91440" bIns="45720" rtlCol="0" anchor="t">
            <a:normAutofit/>
          </a:bodyPr>
          <a:lstStyle/>
          <a:p>
            <a:pPr algn="l"/>
            <a:r>
              <a:rPr lang="en-US" u="sng" noProof="0" dirty="0">
                <a:solidFill>
                  <a:srgbClr val="646464"/>
                </a:solidFill>
                <a:latin typeface="Helvetica"/>
                <a:cs typeface="Arial"/>
              </a:rPr>
              <a:t>Karin Kruuse</a:t>
            </a:r>
            <a:r>
              <a:rPr lang="en-US" noProof="0" dirty="0">
                <a:solidFill>
                  <a:srgbClr val="646464"/>
                </a:solidFill>
                <a:latin typeface="Helvetica"/>
                <a:cs typeface="Arial"/>
              </a:rPr>
              <a:t>, Reid Ferguson, </a:t>
            </a:r>
            <a:r>
              <a:rPr lang="en-US" noProof="0" dirty="0" err="1">
                <a:solidFill>
                  <a:srgbClr val="646464"/>
                </a:solidFill>
                <a:latin typeface="Helvetica"/>
                <a:cs typeface="Arial"/>
              </a:rPr>
              <a:t>Sourath</a:t>
            </a:r>
            <a:r>
              <a:rPr lang="en-US" noProof="0" dirty="0">
                <a:solidFill>
                  <a:srgbClr val="646464"/>
                </a:solidFill>
                <a:latin typeface="Helvetica"/>
                <a:cs typeface="Arial"/>
              </a:rPr>
              <a:t> Ghosh, Patrick Krieger, Daniele </a:t>
            </a:r>
            <a:r>
              <a:rPr lang="en-US" noProof="0" dirty="0" err="1">
                <a:solidFill>
                  <a:srgbClr val="646464"/>
                </a:solidFill>
                <a:latin typeface="Helvetica"/>
                <a:cs typeface="Arial"/>
              </a:rPr>
              <a:t>Vetrugno</a:t>
            </a:r>
            <a:r>
              <a:rPr lang="en-US" noProof="0" dirty="0">
                <a:solidFill>
                  <a:srgbClr val="646464"/>
                </a:solidFill>
                <a:latin typeface="Helvetica"/>
                <a:cs typeface="Arial"/>
              </a:rPr>
              <a:t>, Guido </a:t>
            </a:r>
            <a:r>
              <a:rPr lang="en-US" noProof="0" dirty="0" err="1">
                <a:solidFill>
                  <a:srgbClr val="646464"/>
                </a:solidFill>
                <a:latin typeface="Helvetica"/>
                <a:cs typeface="Arial"/>
              </a:rPr>
              <a:t>Mue</a:t>
            </a:r>
            <a:r>
              <a:rPr lang="en-US" dirty="0" err="1">
                <a:solidFill>
                  <a:srgbClr val="646464"/>
                </a:solidFill>
                <a:latin typeface="Helvetica"/>
                <a:cs typeface="Arial"/>
              </a:rPr>
              <a:t>ller</a:t>
            </a:r>
            <a:br>
              <a:rPr lang="en-US" sz="400" dirty="0">
                <a:solidFill>
                  <a:srgbClr val="646464"/>
                </a:solidFill>
                <a:latin typeface="Helvetica"/>
                <a:cs typeface="Arial"/>
              </a:rPr>
            </a:br>
            <a:br>
              <a:rPr lang="en-US" sz="600" dirty="0">
                <a:solidFill>
                  <a:srgbClr val="646464"/>
                </a:solidFill>
                <a:latin typeface="Helvetica"/>
                <a:cs typeface="Arial"/>
              </a:rPr>
            </a:br>
            <a:r>
              <a:rPr lang="en-US" sz="1400" b="0" dirty="0">
                <a:solidFill>
                  <a:srgbClr val="969696"/>
                </a:solidFill>
              </a:rPr>
              <a:t>Max Planck Institute for Gravitational Physics/Leibniz University Hannover</a:t>
            </a:r>
            <a:endParaRPr lang="en-US" sz="1400" b="0" noProof="0" dirty="0">
              <a:solidFill>
                <a:srgbClr val="969696"/>
              </a:solidFill>
              <a:latin typeface="Helvetica"/>
              <a:cs typeface="Arial"/>
            </a:endParaRPr>
          </a:p>
        </p:txBody>
      </p:sp>
      <p:sp>
        <p:nvSpPr>
          <p:cNvPr id="4" name="Date Placeholder 3">
            <a:extLst>
              <a:ext uri="{FF2B5EF4-FFF2-40B4-BE49-F238E27FC236}">
                <a16:creationId xmlns:a16="http://schemas.microsoft.com/office/drawing/2014/main" id="{14352F94-4D68-9AD9-C559-7E17DBBC93F0}"/>
              </a:ext>
            </a:extLst>
          </p:cNvPr>
          <p:cNvSpPr>
            <a:spLocks noGrp="1"/>
          </p:cNvSpPr>
          <p:nvPr>
            <p:ph type="dt" sz="half" idx="10"/>
          </p:nvPr>
        </p:nvSpPr>
        <p:spPr/>
        <p:txBody>
          <a:bodyPr/>
          <a:lstStyle/>
          <a:p>
            <a:r>
              <a:rPr lang="LID4096" noProof="0" dirty="0">
                <a:solidFill>
                  <a:srgbClr val="969696"/>
                </a:solidFill>
                <a:cs typeface="Arial" panose="020B0604020202020204" pitchFamily="34" charset="0"/>
              </a:rPr>
              <a:t>23.06.2026</a:t>
            </a:r>
            <a:endParaRPr lang="en-US" noProof="0" dirty="0">
              <a:solidFill>
                <a:srgbClr val="969696"/>
              </a:solidFill>
              <a:cs typeface="Arial" panose="020B0604020202020204" pitchFamily="34" charset="0"/>
            </a:endParaRPr>
          </a:p>
        </p:txBody>
      </p:sp>
      <p:sp>
        <p:nvSpPr>
          <p:cNvPr id="7" name="Footer Placeholder 14">
            <a:extLst>
              <a:ext uri="{FF2B5EF4-FFF2-40B4-BE49-F238E27FC236}">
                <a16:creationId xmlns:a16="http://schemas.microsoft.com/office/drawing/2014/main" id="{0541D75B-40C2-421E-A496-AB0AE904A4DC}"/>
              </a:ext>
            </a:extLst>
          </p:cNvPr>
          <p:cNvSpPr>
            <a:spLocks noGrp="1"/>
          </p:cNvSpPr>
          <p:nvPr>
            <p:ph type="ftr" sz="quarter" idx="11"/>
          </p:nvPr>
        </p:nvSpPr>
        <p:spPr>
          <a:xfrm>
            <a:off x="4038600" y="6356350"/>
            <a:ext cx="4114800" cy="365125"/>
          </a:xfrm>
        </p:spPr>
        <p:txBody>
          <a:bodyPr/>
          <a:lstStyle/>
          <a:p>
            <a:r>
              <a:rPr lang="en-US" dirty="0"/>
              <a:t>16th International LISA Symposium</a:t>
            </a:r>
            <a:endParaRPr lang="et-EE" dirty="0"/>
          </a:p>
        </p:txBody>
      </p:sp>
      <p:sp>
        <p:nvSpPr>
          <p:cNvPr id="5" name="Slide Number Placeholder 4">
            <a:extLst>
              <a:ext uri="{FF2B5EF4-FFF2-40B4-BE49-F238E27FC236}">
                <a16:creationId xmlns:a16="http://schemas.microsoft.com/office/drawing/2014/main" id="{F9085AF5-8F8C-460B-B44A-3FBE058FCDA8}"/>
              </a:ext>
            </a:extLst>
          </p:cNvPr>
          <p:cNvSpPr>
            <a:spLocks noGrp="1"/>
          </p:cNvSpPr>
          <p:nvPr>
            <p:ph type="sldNum" sz="quarter" idx="12"/>
          </p:nvPr>
        </p:nvSpPr>
        <p:spPr/>
        <p:txBody>
          <a:bodyPr/>
          <a:lstStyle/>
          <a:p>
            <a:fld id="{9F39E346-B1F3-4075-BD67-234EF0F10AC6}" type="slidenum">
              <a:rPr lang="et-EE" smtClean="0">
                <a:solidFill>
                  <a:srgbClr val="969696"/>
                </a:solidFill>
              </a:rPr>
              <a:pPr/>
              <a:t>1</a:t>
            </a:fld>
            <a:endParaRPr lang="et-EE" dirty="0">
              <a:solidFill>
                <a:srgbClr val="969696"/>
              </a:solidFill>
            </a:endParaRPr>
          </a:p>
        </p:txBody>
      </p:sp>
      <p:pic>
        <p:nvPicPr>
          <p:cNvPr id="11" name="Picture 10">
            <a:extLst>
              <a:ext uri="{FF2B5EF4-FFF2-40B4-BE49-F238E27FC236}">
                <a16:creationId xmlns:a16="http://schemas.microsoft.com/office/drawing/2014/main" id="{F0C933F3-BCF4-4263-B127-A81C44F38D25}"/>
              </a:ext>
            </a:extLst>
          </p:cNvPr>
          <p:cNvPicPr>
            <a:picLocks noChangeAspect="1"/>
          </p:cNvPicPr>
          <p:nvPr/>
        </p:nvPicPr>
        <p:blipFill>
          <a:blip r:embed="rId3"/>
          <a:stretch>
            <a:fillRect/>
          </a:stretch>
        </p:blipFill>
        <p:spPr>
          <a:xfrm>
            <a:off x="223062" y="182941"/>
            <a:ext cx="2458414" cy="709867"/>
          </a:xfrm>
          <a:prstGeom prst="rect">
            <a:avLst/>
          </a:prstGeom>
        </p:spPr>
      </p:pic>
    </p:spTree>
    <p:extLst>
      <p:ext uri="{BB962C8B-B14F-4D97-AF65-F5344CB8AC3E}">
        <p14:creationId xmlns:p14="http://schemas.microsoft.com/office/powerpoint/2010/main" val="1829742012"/>
      </p:ext>
    </p:extLst>
  </p:cSld>
  <p:clrMapOvr>
    <a:masterClrMapping/>
  </p:clrMapOvr>
  <mc:AlternateContent xmlns:mc="http://schemas.openxmlformats.org/markup-compatibility/2006" xmlns:p14="http://schemas.microsoft.com/office/powerpoint/2010/main">
    <mc:Choice Requires="p14">
      <p:transition spd="slow" p14:dur="2000" advTm="2245"/>
    </mc:Choice>
    <mc:Fallback xmlns="">
      <p:transition spd="slow" advTm="2245"/>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t>LISA Science Interferometer</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2</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8" name="Content Placeholder 2">
            <a:extLst>
              <a:ext uri="{FF2B5EF4-FFF2-40B4-BE49-F238E27FC236}">
                <a16:creationId xmlns:a16="http://schemas.microsoft.com/office/drawing/2014/main" id="{EB9334A9-6F79-4633-ADDB-79A5792FCBBE}"/>
              </a:ext>
            </a:extLst>
          </p:cNvPr>
          <p:cNvSpPr>
            <a:spLocks noGrp="1"/>
          </p:cNvSpPr>
          <p:nvPr>
            <p:ph idx="1"/>
          </p:nvPr>
        </p:nvSpPr>
        <p:spPr>
          <a:xfrm>
            <a:off x="343479" y="1161756"/>
            <a:ext cx="11374387" cy="4652022"/>
          </a:xfrm>
        </p:spPr>
        <p:txBody>
          <a:bodyPr/>
          <a:lstStyle/>
          <a:p>
            <a:pPr marL="0" indent="0">
              <a:buNone/>
            </a:pPr>
            <a:r>
              <a:rPr lang="en-US" dirty="0"/>
              <a:t>Two primary noises in the LISA raw data – laser noise and clock timing jitter</a:t>
            </a:r>
            <a:endParaRPr lang="et-EE" dirty="0"/>
          </a:p>
        </p:txBody>
      </p:sp>
      <p:pic>
        <p:nvPicPr>
          <p:cNvPr id="13" name="Picture 12">
            <a:extLst>
              <a:ext uri="{FF2B5EF4-FFF2-40B4-BE49-F238E27FC236}">
                <a16:creationId xmlns:a16="http://schemas.microsoft.com/office/drawing/2014/main" id="{F2DC84A7-FF5B-49D6-9695-63062500573F}"/>
              </a:ext>
            </a:extLst>
          </p:cNvPr>
          <p:cNvPicPr>
            <a:picLocks noChangeAspect="1"/>
          </p:cNvPicPr>
          <p:nvPr/>
        </p:nvPicPr>
        <p:blipFill>
          <a:blip r:embed="rId3"/>
          <a:stretch>
            <a:fillRect/>
          </a:stretch>
        </p:blipFill>
        <p:spPr>
          <a:xfrm>
            <a:off x="1256782" y="2147313"/>
            <a:ext cx="9180595" cy="2563373"/>
          </a:xfrm>
          <a:prstGeom prst="rect">
            <a:avLst/>
          </a:prstGeom>
        </p:spPr>
      </p:pic>
      <p:pic>
        <p:nvPicPr>
          <p:cNvPr id="5" name="Graphic 4">
            <a:extLst>
              <a:ext uri="{FF2B5EF4-FFF2-40B4-BE49-F238E27FC236}">
                <a16:creationId xmlns:a16="http://schemas.microsoft.com/office/drawing/2014/main" id="{B3A2C3B1-2470-AD95-1FCA-770258288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84342" y="4864161"/>
            <a:ext cx="5133761" cy="888591"/>
          </a:xfrm>
          <a:prstGeom prst="rect">
            <a:avLst/>
          </a:prstGeom>
        </p:spPr>
      </p:pic>
    </p:spTree>
    <p:extLst>
      <p:ext uri="{BB962C8B-B14F-4D97-AF65-F5344CB8AC3E}">
        <p14:creationId xmlns:p14="http://schemas.microsoft.com/office/powerpoint/2010/main" val="70484995"/>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noProof="0" dirty="0">
              <a:latin typeface="Helvetica"/>
              <a:cs typeface="Arial"/>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3</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8" name="TextBox 7">
            <a:extLst>
              <a:ext uri="{FF2B5EF4-FFF2-40B4-BE49-F238E27FC236}">
                <a16:creationId xmlns:a16="http://schemas.microsoft.com/office/drawing/2014/main" id="{F9AFC456-2A69-4BBB-9C56-F2A8F08E3702}"/>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9" name="TextBox 8">
            <a:extLst>
              <a:ext uri="{FF2B5EF4-FFF2-40B4-BE49-F238E27FC236}">
                <a16:creationId xmlns:a16="http://schemas.microsoft.com/office/drawing/2014/main" id="{C109864D-8E8B-46E7-8EE3-60B02125B621}"/>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3166160813"/>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4</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10" name="Rectangle 9">
            <a:extLst>
              <a:ext uri="{FF2B5EF4-FFF2-40B4-BE49-F238E27FC236}">
                <a16:creationId xmlns:a16="http://schemas.microsoft.com/office/drawing/2014/main" id="{121D82ED-077F-4BB6-B619-FF99EE956918}"/>
              </a:ext>
            </a:extLst>
          </p:cNvPr>
          <p:cNvSpPr/>
          <p:nvPr/>
        </p:nvSpPr>
        <p:spPr>
          <a:xfrm>
            <a:off x="4622146" y="3835519"/>
            <a:ext cx="1160164"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1" name="Rectangle 10">
            <a:extLst>
              <a:ext uri="{FF2B5EF4-FFF2-40B4-BE49-F238E27FC236}">
                <a16:creationId xmlns:a16="http://schemas.microsoft.com/office/drawing/2014/main" id="{1D5D6F8E-102D-4FE7-A2BF-8E8C4628899C}"/>
              </a:ext>
            </a:extLst>
          </p:cNvPr>
          <p:cNvSpPr/>
          <p:nvPr/>
        </p:nvSpPr>
        <p:spPr>
          <a:xfrm>
            <a:off x="7409402" y="4929142"/>
            <a:ext cx="1238558"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a:p>
        </p:txBody>
      </p:sp>
      <p:sp>
        <p:nvSpPr>
          <p:cNvPr id="12" name="TextBox 11">
            <a:extLst>
              <a:ext uri="{FF2B5EF4-FFF2-40B4-BE49-F238E27FC236}">
                <a16:creationId xmlns:a16="http://schemas.microsoft.com/office/drawing/2014/main" id="{7F913E01-B954-4183-B7C9-090D67979C07}"/>
              </a:ext>
            </a:extLst>
          </p:cNvPr>
          <p:cNvSpPr txBox="1"/>
          <p:nvPr/>
        </p:nvSpPr>
        <p:spPr>
          <a:xfrm>
            <a:off x="4013236" y="3511442"/>
            <a:ext cx="3538148" cy="369332"/>
          </a:xfrm>
          <a:prstGeom prst="rect">
            <a:avLst/>
          </a:prstGeom>
          <a:noFill/>
        </p:spPr>
        <p:txBody>
          <a:bodyPr wrap="none" rtlCol="0">
            <a:spAutoFit/>
          </a:bodyPr>
          <a:lstStyle/>
          <a:p>
            <a:pPr algn="l"/>
            <a:r>
              <a:rPr lang="en-US" dirty="0">
                <a:solidFill>
                  <a:srgbClr val="323232"/>
                </a:solidFill>
                <a:highlight>
                  <a:srgbClr val="EFF1F3"/>
                </a:highlight>
                <a:latin typeface="Helvetica" pitchFamily="2" charset="0"/>
                <a:cs typeface="Arial" panose="020B0604020202020204" pitchFamily="34" charset="0"/>
              </a:rPr>
              <a:t>Carrier from 281 THz to ~50MHz</a:t>
            </a:r>
          </a:p>
        </p:txBody>
      </p:sp>
      <p:sp>
        <p:nvSpPr>
          <p:cNvPr id="16" name="TextBox 15">
            <a:extLst>
              <a:ext uri="{FF2B5EF4-FFF2-40B4-BE49-F238E27FC236}">
                <a16:creationId xmlns:a16="http://schemas.microsoft.com/office/drawing/2014/main" id="{92EC3C2C-9002-46C2-B860-1390083E9A9C}"/>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7" name="TextBox 16">
            <a:extLst>
              <a:ext uri="{FF2B5EF4-FFF2-40B4-BE49-F238E27FC236}">
                <a16:creationId xmlns:a16="http://schemas.microsoft.com/office/drawing/2014/main" id="{0F825BDC-80F7-4492-956D-166A6DB5F9EC}"/>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542356749"/>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5</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66F1A6F-38A1-4210-B6D9-09E7BD00398A}"/>
              </a:ext>
            </a:extLst>
          </p:cNvPr>
          <p:cNvPicPr>
            <a:picLocks noChangeAspect="1"/>
          </p:cNvPicPr>
          <p:nvPr/>
        </p:nvPicPr>
        <p:blipFill>
          <a:blip r:embed="rId3"/>
          <a:stretch>
            <a:fillRect/>
          </a:stretch>
        </p:blipFill>
        <p:spPr>
          <a:xfrm>
            <a:off x="2105484" y="1156046"/>
            <a:ext cx="8609594" cy="5174788"/>
          </a:xfrm>
          <a:prstGeom prst="rect">
            <a:avLst/>
          </a:prstGeom>
        </p:spPr>
      </p:pic>
      <p:sp>
        <p:nvSpPr>
          <p:cNvPr id="13" name="Rectangle 12">
            <a:extLst>
              <a:ext uri="{FF2B5EF4-FFF2-40B4-BE49-F238E27FC236}">
                <a16:creationId xmlns:a16="http://schemas.microsoft.com/office/drawing/2014/main" id="{7DF795BF-18EF-4B4D-82F1-5EF1F97736B2}"/>
              </a:ext>
            </a:extLst>
          </p:cNvPr>
          <p:cNvSpPr/>
          <p:nvPr/>
        </p:nvSpPr>
        <p:spPr>
          <a:xfrm>
            <a:off x="4553154" y="4878341"/>
            <a:ext cx="1222806"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5" name="Rectangle 14">
            <a:extLst>
              <a:ext uri="{FF2B5EF4-FFF2-40B4-BE49-F238E27FC236}">
                <a16:creationId xmlns:a16="http://schemas.microsoft.com/office/drawing/2014/main" id="{CD1C7B5D-38AF-4A19-931D-112748F7D886}"/>
              </a:ext>
            </a:extLst>
          </p:cNvPr>
          <p:cNvSpPr/>
          <p:nvPr/>
        </p:nvSpPr>
        <p:spPr>
          <a:xfrm>
            <a:off x="7577208" y="3820370"/>
            <a:ext cx="1152384" cy="565195"/>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a:p>
        </p:txBody>
      </p:sp>
      <p:sp>
        <p:nvSpPr>
          <p:cNvPr id="16" name="TextBox 15">
            <a:extLst>
              <a:ext uri="{FF2B5EF4-FFF2-40B4-BE49-F238E27FC236}">
                <a16:creationId xmlns:a16="http://schemas.microsoft.com/office/drawing/2014/main" id="{44258E33-07B5-420F-92A6-E67CD80A86DE}"/>
              </a:ext>
            </a:extLst>
          </p:cNvPr>
          <p:cNvSpPr txBox="1"/>
          <p:nvPr/>
        </p:nvSpPr>
        <p:spPr>
          <a:xfrm>
            <a:off x="6262962" y="3284453"/>
            <a:ext cx="2987717" cy="646331"/>
          </a:xfrm>
          <a:prstGeom prst="rect">
            <a:avLst/>
          </a:prstGeom>
          <a:noFill/>
        </p:spPr>
        <p:txBody>
          <a:bodyPr wrap="square" rtlCol="0">
            <a:spAutoFit/>
          </a:bodyPr>
          <a:lstStyle/>
          <a:p>
            <a:pPr algn="l"/>
            <a:r>
              <a:rPr lang="en-US" dirty="0">
                <a:solidFill>
                  <a:srgbClr val="323232"/>
                </a:solidFill>
                <a:highlight>
                  <a:srgbClr val="EFF1F3"/>
                </a:highlight>
                <a:latin typeface="Helvetica" pitchFamily="2" charset="0"/>
                <a:cs typeface="Arial" panose="020B0604020202020204" pitchFamily="34" charset="0"/>
              </a:rPr>
              <a:t>Inter-satellite interferometers</a:t>
            </a:r>
            <a:endParaRPr lang="et-EE" dirty="0">
              <a:solidFill>
                <a:srgbClr val="323232"/>
              </a:solidFill>
              <a:highlight>
                <a:srgbClr val="EFF1F3"/>
              </a:highlight>
              <a:latin typeface="Helvetica" pitchFamily="2" charset="0"/>
              <a:cs typeface="Arial" panose="020B0604020202020204" pitchFamily="34" charset="0"/>
            </a:endParaRPr>
          </a:p>
        </p:txBody>
      </p:sp>
      <p:sp>
        <p:nvSpPr>
          <p:cNvPr id="17" name="Rectangle 16">
            <a:extLst>
              <a:ext uri="{FF2B5EF4-FFF2-40B4-BE49-F238E27FC236}">
                <a16:creationId xmlns:a16="http://schemas.microsoft.com/office/drawing/2014/main" id="{37378D94-8214-4E4D-8556-2636B16A871F}"/>
              </a:ext>
            </a:extLst>
          </p:cNvPr>
          <p:cNvSpPr/>
          <p:nvPr/>
        </p:nvSpPr>
        <p:spPr>
          <a:xfrm>
            <a:off x="4813270" y="2617785"/>
            <a:ext cx="351287" cy="481142"/>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8" name="Rectangle 17">
            <a:extLst>
              <a:ext uri="{FF2B5EF4-FFF2-40B4-BE49-F238E27FC236}">
                <a16:creationId xmlns:a16="http://schemas.microsoft.com/office/drawing/2014/main" id="{2C8E4A5E-228E-41A0-9A69-4A33508870CB}"/>
              </a:ext>
            </a:extLst>
          </p:cNvPr>
          <p:cNvSpPr/>
          <p:nvPr/>
        </p:nvSpPr>
        <p:spPr>
          <a:xfrm>
            <a:off x="8110957" y="1531790"/>
            <a:ext cx="351287" cy="481142"/>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t-EE" dirty="0"/>
          </a:p>
        </p:txBody>
      </p:sp>
      <p:sp>
        <p:nvSpPr>
          <p:cNvPr id="19" name="TextBox 18">
            <a:extLst>
              <a:ext uri="{FF2B5EF4-FFF2-40B4-BE49-F238E27FC236}">
                <a16:creationId xmlns:a16="http://schemas.microsoft.com/office/drawing/2014/main" id="{A32EB51B-296C-4CB5-9D7E-26B624BA01A3}"/>
              </a:ext>
            </a:extLst>
          </p:cNvPr>
          <p:cNvSpPr txBox="1"/>
          <p:nvPr/>
        </p:nvSpPr>
        <p:spPr>
          <a:xfrm>
            <a:off x="805000" y="2071763"/>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20" name="TextBox 19">
            <a:extLst>
              <a:ext uri="{FF2B5EF4-FFF2-40B4-BE49-F238E27FC236}">
                <a16:creationId xmlns:a16="http://schemas.microsoft.com/office/drawing/2014/main" id="{9E312589-29D9-46D6-9CD0-977ACE7B2F22}"/>
              </a:ext>
            </a:extLst>
          </p:cNvPr>
          <p:cNvSpPr txBox="1"/>
          <p:nvPr/>
        </p:nvSpPr>
        <p:spPr>
          <a:xfrm>
            <a:off x="724548" y="4586182"/>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spTree>
    <p:extLst>
      <p:ext uri="{BB962C8B-B14F-4D97-AF65-F5344CB8AC3E}">
        <p14:creationId xmlns:p14="http://schemas.microsoft.com/office/powerpoint/2010/main" val="993346484"/>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6</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EB9E17CC-9801-4929-ADE5-A9CE31DEC402}"/>
              </a:ext>
            </a:extLst>
          </p:cNvPr>
          <p:cNvPicPr>
            <a:picLocks noChangeAspect="1"/>
          </p:cNvPicPr>
          <p:nvPr/>
        </p:nvPicPr>
        <p:blipFill>
          <a:blip r:embed="rId3"/>
          <a:stretch>
            <a:fillRect/>
          </a:stretch>
        </p:blipFill>
        <p:spPr>
          <a:xfrm>
            <a:off x="529145" y="1237556"/>
            <a:ext cx="6402078" cy="1787565"/>
          </a:xfrm>
          <a:prstGeom prst="rect">
            <a:avLst/>
          </a:prstGeom>
        </p:spPr>
      </p:pic>
      <p:pic>
        <p:nvPicPr>
          <p:cNvPr id="18" name="Picture 17">
            <a:extLst>
              <a:ext uri="{FF2B5EF4-FFF2-40B4-BE49-F238E27FC236}">
                <a16:creationId xmlns:a16="http://schemas.microsoft.com/office/drawing/2014/main" id="{4778ECA1-263A-4A9E-A678-9AC8CC3AE121}"/>
              </a:ext>
            </a:extLst>
          </p:cNvPr>
          <p:cNvPicPr>
            <a:picLocks noChangeAspect="1"/>
          </p:cNvPicPr>
          <p:nvPr/>
        </p:nvPicPr>
        <p:blipFill>
          <a:blip r:embed="rId4"/>
          <a:stretch>
            <a:fillRect/>
          </a:stretch>
        </p:blipFill>
        <p:spPr>
          <a:xfrm>
            <a:off x="610393" y="3646424"/>
            <a:ext cx="6646315" cy="2332524"/>
          </a:xfrm>
          <a:prstGeom prst="rect">
            <a:avLst/>
          </a:prstGeom>
        </p:spPr>
      </p:pic>
      <p:sp>
        <p:nvSpPr>
          <p:cNvPr id="13" name="TextBox 12">
            <a:extLst>
              <a:ext uri="{FF2B5EF4-FFF2-40B4-BE49-F238E27FC236}">
                <a16:creationId xmlns:a16="http://schemas.microsoft.com/office/drawing/2014/main" id="{D81A7C8E-3287-48E7-8037-82DBDDBA1F7D}"/>
              </a:ext>
            </a:extLst>
          </p:cNvPr>
          <p:cNvSpPr txBox="1"/>
          <p:nvPr/>
        </p:nvSpPr>
        <p:spPr>
          <a:xfrm>
            <a:off x="10185723" y="2429168"/>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4" name="TextBox 13">
            <a:extLst>
              <a:ext uri="{FF2B5EF4-FFF2-40B4-BE49-F238E27FC236}">
                <a16:creationId xmlns:a16="http://schemas.microsoft.com/office/drawing/2014/main" id="{AB3DD407-5ED4-4D1A-BF5E-0B889D7916E3}"/>
              </a:ext>
            </a:extLst>
          </p:cNvPr>
          <p:cNvSpPr txBox="1"/>
          <p:nvPr/>
        </p:nvSpPr>
        <p:spPr>
          <a:xfrm>
            <a:off x="10105271" y="4943587"/>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pic>
        <p:nvPicPr>
          <p:cNvPr id="3" name="Graphic 2">
            <a:extLst>
              <a:ext uri="{FF2B5EF4-FFF2-40B4-BE49-F238E27FC236}">
                <a16:creationId xmlns:a16="http://schemas.microsoft.com/office/drawing/2014/main" id="{EDA20D83-7C9C-DA1B-A5EE-98DD2525D8F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81876" y="2924520"/>
            <a:ext cx="5403987" cy="1008959"/>
          </a:xfrm>
          <a:prstGeom prst="rect">
            <a:avLst/>
          </a:prstGeom>
        </p:spPr>
      </p:pic>
      <p:pic>
        <p:nvPicPr>
          <p:cNvPr id="5" name="Graphic 4">
            <a:extLst>
              <a:ext uri="{FF2B5EF4-FFF2-40B4-BE49-F238E27FC236}">
                <a16:creationId xmlns:a16="http://schemas.microsoft.com/office/drawing/2014/main" id="{7416453F-DAE5-2A11-2FB2-A23E94751E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341620" y="5519737"/>
            <a:ext cx="6487160" cy="827405"/>
          </a:xfrm>
          <a:prstGeom prst="rect">
            <a:avLst/>
          </a:prstGeom>
        </p:spPr>
      </p:pic>
    </p:spTree>
    <p:extLst>
      <p:ext uri="{BB962C8B-B14F-4D97-AF65-F5344CB8AC3E}">
        <p14:creationId xmlns:p14="http://schemas.microsoft.com/office/powerpoint/2010/main" val="1616769779"/>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sz="3600" noProof="0" dirty="0">
                <a:latin typeface="Helvetica" pitchFamily="2" charset="0"/>
              </a:rPr>
              <a:t>Full Testbed</a:t>
            </a:r>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7</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3" name="Footer Placeholder 2">
            <a:extLst>
              <a:ext uri="{FF2B5EF4-FFF2-40B4-BE49-F238E27FC236}">
                <a16:creationId xmlns:a16="http://schemas.microsoft.com/office/drawing/2014/main" id="{211CA5C6-D35F-4A27-A55E-819E0BCB20E9}"/>
              </a:ext>
            </a:extLst>
          </p:cNvPr>
          <p:cNvSpPr>
            <a:spLocks noGrp="1"/>
          </p:cNvSpPr>
          <p:nvPr>
            <p:ph type="ftr" sz="quarter" idx="11"/>
          </p:nvPr>
        </p:nvSpPr>
        <p:spPr/>
        <p:txBody>
          <a:bodyPr/>
          <a:lstStyle/>
          <a:p>
            <a:r>
              <a:rPr lang="en-US"/>
              <a:t>16th International LISA Symposium</a:t>
            </a:r>
            <a:endParaRPr lang="et-EE" dirty="0"/>
          </a:p>
        </p:txBody>
      </p:sp>
      <p:pic>
        <p:nvPicPr>
          <p:cNvPr id="7" name="Picture 6">
            <a:extLst>
              <a:ext uri="{FF2B5EF4-FFF2-40B4-BE49-F238E27FC236}">
                <a16:creationId xmlns:a16="http://schemas.microsoft.com/office/drawing/2014/main" id="{FAB36162-81EB-4E08-B95C-0F45E32C9974}"/>
              </a:ext>
            </a:extLst>
          </p:cNvPr>
          <p:cNvPicPr>
            <a:picLocks noChangeAspect="1"/>
          </p:cNvPicPr>
          <p:nvPr/>
        </p:nvPicPr>
        <p:blipFill>
          <a:blip r:embed="rId3"/>
          <a:stretch>
            <a:fillRect/>
          </a:stretch>
        </p:blipFill>
        <p:spPr>
          <a:xfrm>
            <a:off x="2804070" y="687592"/>
            <a:ext cx="7012214" cy="5832201"/>
          </a:xfrm>
          <a:prstGeom prst="rect">
            <a:avLst/>
          </a:prstGeom>
        </p:spPr>
      </p:pic>
    </p:spTree>
    <p:extLst>
      <p:ext uri="{BB962C8B-B14F-4D97-AF65-F5344CB8AC3E}">
        <p14:creationId xmlns:p14="http://schemas.microsoft.com/office/powerpoint/2010/main" val="291612426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dirty="0"/>
              <a:t>Cavity Locking</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8</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sp>
        <p:nvSpPr>
          <p:cNvPr id="9" name="Content Placeholder 2">
            <a:extLst>
              <a:ext uri="{FF2B5EF4-FFF2-40B4-BE49-F238E27FC236}">
                <a16:creationId xmlns:a16="http://schemas.microsoft.com/office/drawing/2014/main" id="{A63368C6-E708-4AA5-8BEE-74686A269895}"/>
              </a:ext>
            </a:extLst>
          </p:cNvPr>
          <p:cNvSpPr>
            <a:spLocks noGrp="1"/>
          </p:cNvSpPr>
          <p:nvPr>
            <p:ph idx="1"/>
          </p:nvPr>
        </p:nvSpPr>
        <p:spPr>
          <a:xfrm>
            <a:off x="326043" y="1110956"/>
            <a:ext cx="11391824" cy="4702822"/>
          </a:xfrm>
        </p:spPr>
        <p:txBody>
          <a:bodyPr vert="horz" lIns="91440" tIns="45720" rIns="91440" bIns="45720" rtlCol="0" anchor="t">
            <a:normAutofit/>
          </a:bodyPr>
          <a:lstStyle/>
          <a:p>
            <a:pPr marL="0" indent="0">
              <a:buNone/>
            </a:pPr>
            <a:r>
              <a:rPr lang="en-US" dirty="0"/>
              <a:t>Two lasers locked to separate cavities – 25 cm and 30 cm</a:t>
            </a:r>
          </a:p>
          <a:p>
            <a:pPr marL="0" indent="0">
              <a:buNone/>
            </a:pPr>
            <a:r>
              <a:rPr lang="en-US" dirty="0">
                <a:latin typeface="Helvetica"/>
                <a:cs typeface="Arial"/>
              </a:rPr>
              <a:t>Two separate Pound-</a:t>
            </a:r>
            <a:r>
              <a:rPr lang="en-US">
                <a:latin typeface="Helvetica"/>
                <a:cs typeface="Arial"/>
              </a:rPr>
              <a:t>Drever</a:t>
            </a:r>
            <a:r>
              <a:rPr lang="en-US" dirty="0">
                <a:latin typeface="Helvetica"/>
                <a:cs typeface="Arial"/>
              </a:rPr>
              <a:t>-Hall (PDH) locks</a:t>
            </a:r>
          </a:p>
          <a:p>
            <a:pPr marL="0" indent="0">
              <a:buNone/>
            </a:pPr>
            <a:r>
              <a:rPr lang="en-US">
                <a:latin typeface="Helvetica"/>
                <a:cs typeface="Arial"/>
              </a:rPr>
              <a:t>Beat note needs to be below 60 MHz</a:t>
            </a:r>
            <a:endParaRPr lang="en-US" dirty="0">
              <a:latin typeface="Helvetica"/>
              <a:cs typeface="Arial"/>
            </a:endParaRPr>
          </a:p>
          <a:p>
            <a:endParaRPr lang="et-EE" dirty="0"/>
          </a:p>
        </p:txBody>
      </p:sp>
      <p:pic>
        <p:nvPicPr>
          <p:cNvPr id="7" name="Picture 6">
            <a:extLst>
              <a:ext uri="{FF2B5EF4-FFF2-40B4-BE49-F238E27FC236}">
                <a16:creationId xmlns:a16="http://schemas.microsoft.com/office/drawing/2014/main" id="{4B09278E-BC94-4EDC-9796-6498DFCE891B}"/>
              </a:ext>
            </a:extLst>
          </p:cNvPr>
          <p:cNvPicPr>
            <a:picLocks noChangeAspect="1"/>
          </p:cNvPicPr>
          <p:nvPr/>
        </p:nvPicPr>
        <p:blipFill>
          <a:blip r:embed="rId3"/>
          <a:stretch>
            <a:fillRect/>
          </a:stretch>
        </p:blipFill>
        <p:spPr>
          <a:xfrm>
            <a:off x="-941902" y="3539578"/>
            <a:ext cx="7770150" cy="2816167"/>
          </a:xfrm>
          <a:prstGeom prst="rect">
            <a:avLst/>
          </a:prstGeom>
        </p:spPr>
      </p:pic>
      <p:pic>
        <p:nvPicPr>
          <p:cNvPr id="5" name="Picture 4">
            <a:extLst>
              <a:ext uri="{FF2B5EF4-FFF2-40B4-BE49-F238E27FC236}">
                <a16:creationId xmlns:a16="http://schemas.microsoft.com/office/drawing/2014/main" id="{A08C78D9-2096-2058-5D4E-CF43CCC35DE6}"/>
              </a:ext>
            </a:extLst>
          </p:cNvPr>
          <p:cNvPicPr>
            <a:picLocks noChangeAspect="1"/>
          </p:cNvPicPr>
          <p:nvPr/>
        </p:nvPicPr>
        <p:blipFill>
          <a:blip r:embed="rId4"/>
          <a:stretch>
            <a:fillRect/>
          </a:stretch>
        </p:blipFill>
        <p:spPr>
          <a:xfrm>
            <a:off x="7247868" y="2185737"/>
            <a:ext cx="4945293" cy="4531895"/>
          </a:xfrm>
          <a:prstGeom prst="rect">
            <a:avLst/>
          </a:prstGeom>
        </p:spPr>
      </p:pic>
      <p:sp>
        <p:nvSpPr>
          <p:cNvPr id="6" name="TextBox 5">
            <a:extLst>
              <a:ext uri="{FF2B5EF4-FFF2-40B4-BE49-F238E27FC236}">
                <a16:creationId xmlns:a16="http://schemas.microsoft.com/office/drawing/2014/main" id="{5F27296D-0A8E-9AAF-40D9-AEEEC9F44356}"/>
              </a:ext>
            </a:extLst>
          </p:cNvPr>
          <p:cNvSpPr txBox="1"/>
          <p:nvPr/>
        </p:nvSpPr>
        <p:spPr>
          <a:xfrm>
            <a:off x="1147473" y="3126165"/>
            <a:ext cx="3590491"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solidFill>
                  <a:srgbClr val="4B4B4B"/>
                </a:solidFill>
                <a:latin typeface="Helvetica"/>
                <a:cs typeface="Helvetica"/>
              </a:rPr>
              <a:t>Illustrative cavity resonances</a:t>
            </a:r>
          </a:p>
        </p:txBody>
      </p:sp>
    </p:spTree>
    <p:extLst>
      <p:ext uri="{BB962C8B-B14F-4D97-AF65-F5344CB8AC3E}">
        <p14:creationId xmlns:p14="http://schemas.microsoft.com/office/powerpoint/2010/main" val="1612649794"/>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E6195F3-3C1F-4DCF-AC76-C30857669756}"/>
              </a:ext>
            </a:extLst>
          </p:cNvPr>
          <p:cNvPicPr>
            <a:picLocks noChangeAspect="1"/>
          </p:cNvPicPr>
          <p:nvPr/>
        </p:nvPicPr>
        <p:blipFill>
          <a:blip r:embed="rId3"/>
          <a:srcRect/>
          <a:stretch/>
        </p:blipFill>
        <p:spPr>
          <a:xfrm>
            <a:off x="6539801" y="1898865"/>
            <a:ext cx="5314362" cy="3693209"/>
          </a:xfrm>
          <a:prstGeom prst="rect">
            <a:avLst/>
          </a:prstGeom>
        </p:spPr>
      </p:pic>
      <p:sp>
        <p:nvSpPr>
          <p:cNvPr id="2" name="Title 1">
            <a:extLst>
              <a:ext uri="{FF2B5EF4-FFF2-40B4-BE49-F238E27FC236}">
                <a16:creationId xmlns:a16="http://schemas.microsoft.com/office/drawing/2014/main" id="{BEF6B943-D49C-727C-A350-31F5A3331D69}"/>
              </a:ext>
            </a:extLst>
          </p:cNvPr>
          <p:cNvSpPr>
            <a:spLocks noGrp="1"/>
          </p:cNvSpPr>
          <p:nvPr>
            <p:ph type="title"/>
          </p:nvPr>
        </p:nvSpPr>
        <p:spPr/>
        <p:txBody>
          <a:bodyPr/>
          <a:lstStyle/>
          <a:p>
            <a:r>
              <a:rPr lang="en-US" dirty="0"/>
              <a:t>Delay Line</a:t>
            </a:r>
            <a:endParaRPr lang="et-EE" dirty="0"/>
          </a:p>
        </p:txBody>
      </p:sp>
      <p:sp>
        <p:nvSpPr>
          <p:cNvPr id="3" name="Content Placeholder 2">
            <a:extLst>
              <a:ext uri="{FF2B5EF4-FFF2-40B4-BE49-F238E27FC236}">
                <a16:creationId xmlns:a16="http://schemas.microsoft.com/office/drawing/2014/main" id="{F2A83280-550A-07EE-A9E9-6A0C4D0811D9}"/>
              </a:ext>
            </a:extLst>
          </p:cNvPr>
          <p:cNvSpPr>
            <a:spLocks noGrp="1"/>
          </p:cNvSpPr>
          <p:nvPr>
            <p:ph idx="1"/>
          </p:nvPr>
        </p:nvSpPr>
        <p:spPr>
          <a:xfrm>
            <a:off x="312889" y="1134542"/>
            <a:ext cx="11404978" cy="4679236"/>
          </a:xfrm>
        </p:spPr>
        <p:txBody>
          <a:bodyPr/>
          <a:lstStyle/>
          <a:p>
            <a:r>
              <a:rPr lang="et-EE" dirty="0"/>
              <a:t>Time varying delays</a:t>
            </a:r>
            <a:endParaRPr lang="en-US" dirty="0"/>
          </a:p>
          <a:p>
            <a:r>
              <a:rPr lang="en-US" dirty="0"/>
              <a:t>Doppler shifts for both the carrier and sidebands</a:t>
            </a:r>
          </a:p>
          <a:p>
            <a:r>
              <a:rPr lang="en-US" dirty="0"/>
              <a:t>Gravitational wave injection</a:t>
            </a:r>
          </a:p>
          <a:p>
            <a:endParaRPr lang="en-US" dirty="0"/>
          </a:p>
          <a:p>
            <a:endParaRPr lang="et-EE" dirty="0"/>
          </a:p>
        </p:txBody>
      </p:sp>
      <p:sp>
        <p:nvSpPr>
          <p:cNvPr id="4" name="Slide Number Placeholder 3">
            <a:extLst>
              <a:ext uri="{FF2B5EF4-FFF2-40B4-BE49-F238E27FC236}">
                <a16:creationId xmlns:a16="http://schemas.microsoft.com/office/drawing/2014/main" id="{A09F8D17-7164-DAC5-01A1-F8F2126DE6DE}"/>
              </a:ext>
            </a:extLst>
          </p:cNvPr>
          <p:cNvSpPr>
            <a:spLocks noGrp="1"/>
          </p:cNvSpPr>
          <p:nvPr>
            <p:ph type="sldNum" sz="quarter" idx="12"/>
          </p:nvPr>
        </p:nvSpPr>
        <p:spPr/>
        <p:txBody>
          <a:bodyPr/>
          <a:lstStyle/>
          <a:p>
            <a:fld id="{9F39E346-B1F3-4075-BD67-234EF0F10AC6}" type="slidenum">
              <a:rPr lang="et-EE" smtClean="0"/>
              <a:pPr/>
              <a:t>9</a:t>
            </a:fld>
            <a:endParaRPr lang="et-EE" dirty="0"/>
          </a:p>
        </p:txBody>
      </p:sp>
      <p:pic>
        <p:nvPicPr>
          <p:cNvPr id="9" name="Picture 8">
            <a:extLst>
              <a:ext uri="{FF2B5EF4-FFF2-40B4-BE49-F238E27FC236}">
                <a16:creationId xmlns:a16="http://schemas.microsoft.com/office/drawing/2014/main" id="{3FF7902F-24F2-F9ED-E2A8-52F04A2376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393" y="2854742"/>
            <a:ext cx="3477030" cy="2688903"/>
          </a:xfrm>
          <a:prstGeom prst="rect">
            <a:avLst/>
          </a:prstGeom>
        </p:spPr>
      </p:pic>
      <p:sp>
        <p:nvSpPr>
          <p:cNvPr id="10" name="TextBox 9">
            <a:extLst>
              <a:ext uri="{FF2B5EF4-FFF2-40B4-BE49-F238E27FC236}">
                <a16:creationId xmlns:a16="http://schemas.microsoft.com/office/drawing/2014/main" id="{4DDC4884-6EAE-CD2C-33D7-C4236B7BD784}"/>
              </a:ext>
            </a:extLst>
          </p:cNvPr>
          <p:cNvSpPr txBox="1"/>
          <p:nvPr/>
        </p:nvSpPr>
        <p:spPr>
          <a:xfrm>
            <a:off x="1237824" y="5586788"/>
            <a:ext cx="2871933" cy="738664"/>
          </a:xfrm>
          <a:prstGeom prst="rect">
            <a:avLst/>
          </a:prstGeom>
          <a:noFill/>
        </p:spPr>
        <p:txBody>
          <a:bodyPr wrap="square" rtlCol="0">
            <a:spAutoFit/>
          </a:bodyPr>
          <a:lstStyle/>
          <a:p>
            <a:r>
              <a:rPr lang="en-US" sz="1400" noProof="0" dirty="0">
                <a:solidFill>
                  <a:srgbClr val="667982"/>
                </a:solidFill>
                <a:latin typeface="Helvetica" pitchFamily="2" charset="0"/>
                <a:cs typeface="Arial" panose="020B0604020202020204" pitchFamily="34" charset="0"/>
              </a:rPr>
              <a:t>AMD Zynq™ </a:t>
            </a:r>
            <a:r>
              <a:rPr lang="en-US" sz="1400" noProof="0" dirty="0" err="1">
                <a:solidFill>
                  <a:srgbClr val="667982"/>
                </a:solidFill>
                <a:latin typeface="Helvetica" pitchFamily="2" charset="0"/>
                <a:cs typeface="Arial" panose="020B0604020202020204" pitchFamily="34" charset="0"/>
              </a:rPr>
              <a:t>UltraScale</a:t>
            </a:r>
            <a:r>
              <a:rPr lang="en-US" sz="1400" noProof="0" dirty="0">
                <a:solidFill>
                  <a:srgbClr val="667982"/>
                </a:solidFill>
                <a:latin typeface="Helvetica" pitchFamily="2" charset="0"/>
                <a:cs typeface="Arial" panose="020B0604020202020204" pitchFamily="34" charset="0"/>
              </a:rPr>
              <a:t>+™ </a:t>
            </a:r>
            <a:r>
              <a:rPr lang="en-US" sz="1400" noProof="0" dirty="0" err="1">
                <a:solidFill>
                  <a:srgbClr val="667982"/>
                </a:solidFill>
                <a:latin typeface="Helvetica" pitchFamily="2" charset="0"/>
                <a:cs typeface="Arial" panose="020B0604020202020204" pitchFamily="34" charset="0"/>
              </a:rPr>
              <a:t>RFSoC</a:t>
            </a:r>
            <a:r>
              <a:rPr lang="en-US" sz="1400" noProof="0" dirty="0">
                <a:solidFill>
                  <a:srgbClr val="667982"/>
                </a:solidFill>
                <a:latin typeface="Helvetica" pitchFamily="2" charset="0"/>
                <a:cs typeface="Arial" panose="020B0604020202020204" pitchFamily="34" charset="0"/>
              </a:rPr>
              <a:t> ZCU208 Evaluation Kit</a:t>
            </a:r>
          </a:p>
          <a:p>
            <a:pPr algn="l"/>
            <a:endParaRPr lang="en-US" sz="1400" noProof="0" dirty="0">
              <a:solidFill>
                <a:srgbClr val="667982"/>
              </a:solidFill>
              <a:latin typeface="Helvetica" pitchFamily="2" charset="0"/>
              <a:cs typeface="Arial" panose="020B0604020202020204" pitchFamily="34" charset="0"/>
            </a:endParaRPr>
          </a:p>
        </p:txBody>
      </p:sp>
      <p:sp>
        <p:nvSpPr>
          <p:cNvPr id="5" name="Date Placeholder 4">
            <a:extLst>
              <a:ext uri="{FF2B5EF4-FFF2-40B4-BE49-F238E27FC236}">
                <a16:creationId xmlns:a16="http://schemas.microsoft.com/office/drawing/2014/main" id="{DC06A552-64E1-A995-5E3B-39264C410D43}"/>
              </a:ext>
            </a:extLst>
          </p:cNvPr>
          <p:cNvSpPr>
            <a:spLocks noGrp="1"/>
          </p:cNvSpPr>
          <p:nvPr>
            <p:ph type="dt" sz="half" idx="10"/>
          </p:nvPr>
        </p:nvSpPr>
        <p:spPr/>
        <p:txBody>
          <a:bodyPr/>
          <a:lstStyle/>
          <a:p>
            <a:r>
              <a:rPr lang="LID4096"/>
              <a:t>23.06.2026</a:t>
            </a:r>
            <a:endParaRPr lang="et-EE" dirty="0"/>
          </a:p>
        </p:txBody>
      </p:sp>
      <p:sp>
        <p:nvSpPr>
          <p:cNvPr id="6" name="Footer Placeholder 5">
            <a:extLst>
              <a:ext uri="{FF2B5EF4-FFF2-40B4-BE49-F238E27FC236}">
                <a16:creationId xmlns:a16="http://schemas.microsoft.com/office/drawing/2014/main" id="{904E0ECD-C8B4-1CD9-23F6-CC1276D22FA3}"/>
              </a:ext>
            </a:extLst>
          </p:cNvPr>
          <p:cNvSpPr>
            <a:spLocks noGrp="1"/>
          </p:cNvSpPr>
          <p:nvPr>
            <p:ph type="ftr" sz="quarter" idx="11"/>
          </p:nvPr>
        </p:nvSpPr>
        <p:spPr/>
        <p:txBody>
          <a:bodyPr/>
          <a:lstStyle/>
          <a:p>
            <a:r>
              <a:rPr lang="en-US" dirty="0"/>
              <a:t>16th International LISA Symposium</a:t>
            </a:r>
            <a:endParaRPr lang="et-EE" dirty="0"/>
          </a:p>
        </p:txBody>
      </p:sp>
      <p:sp>
        <p:nvSpPr>
          <p:cNvPr id="11" name="TextBox 10">
            <a:extLst>
              <a:ext uri="{FF2B5EF4-FFF2-40B4-BE49-F238E27FC236}">
                <a16:creationId xmlns:a16="http://schemas.microsoft.com/office/drawing/2014/main" id="{5A47551E-E6E0-DBF4-895F-E712C178CB73}"/>
              </a:ext>
            </a:extLst>
          </p:cNvPr>
          <p:cNvSpPr txBox="1"/>
          <p:nvPr/>
        </p:nvSpPr>
        <p:spPr>
          <a:xfrm>
            <a:off x="7375682" y="5536104"/>
            <a:ext cx="4816791" cy="375552"/>
          </a:xfrm>
          <a:prstGeom prst="rect">
            <a:avLst/>
          </a:prstGeom>
          <a:noFill/>
        </p:spPr>
        <p:txBody>
          <a:bodyPr wrap="square" lIns="91440" tIns="45720" rIns="91440" bIns="45720" rtlCol="0" anchor="t">
            <a:spAutoFit/>
          </a:bodyPr>
          <a:lstStyle/>
          <a:p>
            <a:pPr>
              <a:lnSpc>
                <a:spcPct val="150000"/>
              </a:lnSpc>
            </a:pPr>
            <a:r>
              <a:rPr lang="en-US" sz="1400">
                <a:solidFill>
                  <a:srgbClr val="667982"/>
                </a:solidFill>
                <a:latin typeface="Arial"/>
                <a:cs typeface="Arial"/>
              </a:rPr>
              <a:t>Intrinsic noise floor of one board in purple</a:t>
            </a:r>
          </a:p>
        </p:txBody>
      </p:sp>
      <p:pic>
        <p:nvPicPr>
          <p:cNvPr id="12" name="Picture 11">
            <a:extLst>
              <a:ext uri="{FF2B5EF4-FFF2-40B4-BE49-F238E27FC236}">
                <a16:creationId xmlns:a16="http://schemas.microsoft.com/office/drawing/2014/main" id="{03CB97CD-C5F0-4F22-BD4C-71B76FB16752}"/>
              </a:ext>
            </a:extLst>
          </p:cNvPr>
          <p:cNvPicPr>
            <a:picLocks noChangeAspect="1"/>
          </p:cNvPicPr>
          <p:nvPr/>
        </p:nvPicPr>
        <p:blipFill>
          <a:blip r:embed="rId5"/>
          <a:stretch>
            <a:fillRect/>
          </a:stretch>
        </p:blipFill>
        <p:spPr>
          <a:xfrm>
            <a:off x="4504880" y="2932368"/>
            <a:ext cx="1844862" cy="2222551"/>
          </a:xfrm>
          <a:prstGeom prst="rect">
            <a:avLst/>
          </a:prstGeom>
        </p:spPr>
      </p:pic>
    </p:spTree>
    <p:extLst>
      <p:ext uri="{BB962C8B-B14F-4D97-AF65-F5344CB8AC3E}">
        <p14:creationId xmlns:p14="http://schemas.microsoft.com/office/powerpoint/2010/main" val="300518783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pic>
        <p:nvPicPr>
          <p:cNvPr id="16" name="Graphic 15">
            <a:extLst>
              <a:ext uri="{FF2B5EF4-FFF2-40B4-BE49-F238E27FC236}">
                <a16:creationId xmlns:a16="http://schemas.microsoft.com/office/drawing/2014/main" id="{8CFCBDD0-0DE0-4B20-BB3E-71D00A7B05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85989" y="3659974"/>
            <a:ext cx="5363308" cy="2265596"/>
          </a:xfrm>
          <a:prstGeom prst="rect">
            <a:avLst/>
          </a:prstGeom>
        </p:spPr>
      </p:pic>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Helvetica"/>
              </a:rPr>
              <a:t>PLL Lock of Far Spacecraft</a:t>
            </a:r>
            <a:endParaRPr lang="en-US"/>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10</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14" name="Picture 13">
            <a:extLst>
              <a:ext uri="{FF2B5EF4-FFF2-40B4-BE49-F238E27FC236}">
                <a16:creationId xmlns:a16="http://schemas.microsoft.com/office/drawing/2014/main" id="{1B6C7BFA-18A7-4961-ADFD-E4CA18E45B27}"/>
              </a:ext>
            </a:extLst>
          </p:cNvPr>
          <p:cNvPicPr>
            <a:picLocks noChangeAspect="1"/>
          </p:cNvPicPr>
          <p:nvPr/>
        </p:nvPicPr>
        <p:blipFill>
          <a:blip r:embed="rId5"/>
          <a:stretch>
            <a:fillRect/>
          </a:stretch>
        </p:blipFill>
        <p:spPr>
          <a:xfrm>
            <a:off x="5510411" y="1675368"/>
            <a:ext cx="6096012" cy="4136144"/>
          </a:xfrm>
          <a:prstGeom prst="rect">
            <a:avLst/>
          </a:prstGeom>
        </p:spPr>
      </p:pic>
      <p:cxnSp>
        <p:nvCxnSpPr>
          <p:cNvPr id="23" name="Straight Arrow Connector 22">
            <a:extLst>
              <a:ext uri="{FF2B5EF4-FFF2-40B4-BE49-F238E27FC236}">
                <a16:creationId xmlns:a16="http://schemas.microsoft.com/office/drawing/2014/main" id="{44456030-82DF-4EE0-89B6-A997FD61C64E}"/>
              </a:ext>
            </a:extLst>
          </p:cNvPr>
          <p:cNvCxnSpPr>
            <a:cxnSpLocks/>
          </p:cNvCxnSpPr>
          <p:nvPr/>
        </p:nvCxnSpPr>
        <p:spPr>
          <a:xfrm flipH="1">
            <a:off x="1886041" y="3853709"/>
            <a:ext cx="102117" cy="337678"/>
          </a:xfrm>
          <a:prstGeom prst="straightConnector1">
            <a:avLst/>
          </a:prstGeom>
          <a:ln w="28575">
            <a:solidFill>
              <a:srgbClr val="D71B2F"/>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226DA56-768A-4D7D-A763-98C96D3EB31B}"/>
              </a:ext>
            </a:extLst>
          </p:cNvPr>
          <p:cNvCxnSpPr>
            <a:cxnSpLocks/>
          </p:cNvCxnSpPr>
          <p:nvPr/>
        </p:nvCxnSpPr>
        <p:spPr>
          <a:xfrm flipH="1">
            <a:off x="5236556" y="4022548"/>
            <a:ext cx="273855" cy="235593"/>
          </a:xfrm>
          <a:prstGeom prst="straightConnector1">
            <a:avLst/>
          </a:prstGeom>
          <a:ln w="28575">
            <a:solidFill>
              <a:srgbClr val="82177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166F79D-8694-4FF7-96E3-B5DF6E4D766A}"/>
              </a:ext>
            </a:extLst>
          </p:cNvPr>
          <p:cNvCxnSpPr>
            <a:cxnSpLocks/>
          </p:cNvCxnSpPr>
          <p:nvPr/>
        </p:nvCxnSpPr>
        <p:spPr>
          <a:xfrm flipH="1">
            <a:off x="3894709" y="4508770"/>
            <a:ext cx="143891" cy="408463"/>
          </a:xfrm>
          <a:prstGeom prst="straightConnector1">
            <a:avLst/>
          </a:prstGeom>
          <a:ln w="28575">
            <a:solidFill>
              <a:srgbClr val="296024"/>
            </a:solidFill>
            <a:tailEnd type="triangle"/>
          </a:ln>
        </p:spPr>
        <p:style>
          <a:lnRef idx="1">
            <a:schemeClr val="accent1"/>
          </a:lnRef>
          <a:fillRef idx="0">
            <a:schemeClr val="accent1"/>
          </a:fillRef>
          <a:effectRef idx="0">
            <a:schemeClr val="accent1"/>
          </a:effectRef>
          <a:fontRef idx="minor">
            <a:schemeClr val="tx1"/>
          </a:fontRef>
        </p:style>
      </p:cxnSp>
      <p:sp>
        <p:nvSpPr>
          <p:cNvPr id="8" name="Content Placeholder 2">
            <a:extLst>
              <a:ext uri="{FF2B5EF4-FFF2-40B4-BE49-F238E27FC236}">
                <a16:creationId xmlns:a16="http://schemas.microsoft.com/office/drawing/2014/main" id="{F47AE3B3-C943-E8C4-CA8E-7647EC6444B8}"/>
              </a:ext>
            </a:extLst>
          </p:cNvPr>
          <p:cNvSpPr>
            <a:spLocks noGrp="1"/>
          </p:cNvSpPr>
          <p:nvPr>
            <p:ph idx="1"/>
          </p:nvPr>
        </p:nvSpPr>
        <p:spPr>
          <a:xfrm>
            <a:off x="331592" y="988653"/>
            <a:ext cx="11301513" cy="506358"/>
          </a:xfrm>
        </p:spPr>
        <p:txBody>
          <a:bodyPr vert="horz" lIns="91440" tIns="45720" rIns="91440" bIns="45720" rtlCol="0" anchor="t">
            <a:normAutofit/>
          </a:bodyPr>
          <a:lstStyle/>
          <a:p>
            <a:pPr marL="0" indent="0">
              <a:buNone/>
            </a:pPr>
            <a:endParaRPr lang="en-US" sz="2000" noProof="0" dirty="0">
              <a:solidFill>
                <a:srgbClr val="646464"/>
              </a:solidFill>
            </a:endParaRPr>
          </a:p>
        </p:txBody>
      </p:sp>
      <p:sp>
        <p:nvSpPr>
          <p:cNvPr id="5" name="Content Placeholder 2">
            <a:extLst>
              <a:ext uri="{FF2B5EF4-FFF2-40B4-BE49-F238E27FC236}">
                <a16:creationId xmlns:a16="http://schemas.microsoft.com/office/drawing/2014/main" id="{13DE894E-C6DB-D7F5-9464-A8BEC60134A7}"/>
              </a:ext>
            </a:extLst>
          </p:cNvPr>
          <p:cNvSpPr txBox="1">
            <a:spLocks/>
          </p:cNvSpPr>
          <p:nvPr/>
        </p:nvSpPr>
        <p:spPr>
          <a:xfrm>
            <a:off x="326043" y="1130494"/>
            <a:ext cx="11303901" cy="4693053"/>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a:latin typeface="Helvetica"/>
                <a:cs typeface="Helvetica"/>
              </a:rPr>
              <a:t>Photodetector readings dominated by laser frequency noise</a:t>
            </a:r>
            <a:endParaRPr lang="en-US" dirty="0">
              <a:latin typeface="Helvetica"/>
              <a:cs typeface="Helvetica"/>
            </a:endParaRPr>
          </a:p>
          <a:p>
            <a:pPr marL="0" indent="0">
              <a:spcBef>
                <a:spcPts val="0"/>
              </a:spcBef>
              <a:spcAft>
                <a:spcPts val="800"/>
              </a:spcAft>
              <a:buNone/>
            </a:pPr>
            <a:r>
              <a:rPr lang="en-US">
                <a:latin typeface="Helvetica"/>
                <a:cs typeface="Helvetica"/>
              </a:rPr>
              <a:t>Mixed output</a:t>
            </a:r>
            <a:r>
              <a:rPr lang="en-US" dirty="0">
                <a:latin typeface="Helvetica"/>
                <a:cs typeface="Helvetica"/>
              </a:rPr>
              <a:t> is orders of magnitude lower</a:t>
            </a:r>
          </a:p>
          <a:p>
            <a:pPr marL="0" indent="0">
              <a:spcBef>
                <a:spcPts val="0"/>
              </a:spcBef>
              <a:spcAft>
                <a:spcPts val="800"/>
              </a:spcAft>
              <a:buNone/>
            </a:pPr>
            <a:r>
              <a:rPr lang="en-US" dirty="0">
                <a:latin typeface="Helvetica"/>
                <a:cs typeface="Helvetica"/>
              </a:rPr>
              <a:t>Residual noise at higher </a:t>
            </a:r>
            <a:r>
              <a:rPr lang="en-US">
                <a:latin typeface="Helvetica"/>
                <a:cs typeface="Helvetica"/>
              </a:rPr>
              <a:t>frequencies</a:t>
            </a:r>
            <a:endParaRPr lang="en-US" dirty="0">
              <a:latin typeface="Helvetica"/>
              <a:cs typeface="Helvetica"/>
            </a:endParaRPr>
          </a:p>
          <a:p>
            <a:pPr marL="0" indent="0">
              <a:buNone/>
            </a:pPr>
            <a:endParaRPr lang="en-US" dirty="0"/>
          </a:p>
        </p:txBody>
      </p:sp>
    </p:spTree>
    <p:extLst>
      <p:ext uri="{BB962C8B-B14F-4D97-AF65-F5344CB8AC3E}">
        <p14:creationId xmlns:p14="http://schemas.microsoft.com/office/powerpoint/2010/main" val="484828574"/>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pic>
        <p:nvPicPr>
          <p:cNvPr id="23" name="Picture 22">
            <a:extLst>
              <a:ext uri="{FF2B5EF4-FFF2-40B4-BE49-F238E27FC236}">
                <a16:creationId xmlns:a16="http://schemas.microsoft.com/office/drawing/2014/main" id="{638429EC-90EC-434F-9ACD-25D3135759DD}"/>
              </a:ext>
            </a:extLst>
          </p:cNvPr>
          <p:cNvPicPr>
            <a:picLocks noChangeAspect="1"/>
          </p:cNvPicPr>
          <p:nvPr/>
        </p:nvPicPr>
        <p:blipFill>
          <a:blip r:embed="rId3"/>
          <a:srcRect/>
          <a:stretch/>
        </p:blipFill>
        <p:spPr>
          <a:xfrm>
            <a:off x="5465791" y="1675368"/>
            <a:ext cx="6032004" cy="4136144"/>
          </a:xfrm>
          <a:prstGeom prst="rect">
            <a:avLst/>
          </a:prstGeom>
        </p:spPr>
      </p:pic>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Helvetica"/>
              </a:rPr>
              <a:t>PLL Lock of Far Spacecraft</a:t>
            </a:r>
            <a:endParaRPr lang="en-US"/>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11</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sp>
        <p:nvSpPr>
          <p:cNvPr id="5" name="Content Placeholder 2">
            <a:extLst>
              <a:ext uri="{FF2B5EF4-FFF2-40B4-BE49-F238E27FC236}">
                <a16:creationId xmlns:a16="http://schemas.microsoft.com/office/drawing/2014/main" id="{80E2E3A9-17A3-C3D2-EA40-F552A6CA7B6E}"/>
              </a:ext>
            </a:extLst>
          </p:cNvPr>
          <p:cNvSpPr>
            <a:spLocks noGrp="1"/>
          </p:cNvSpPr>
          <p:nvPr>
            <p:ph idx="1"/>
          </p:nvPr>
        </p:nvSpPr>
        <p:spPr>
          <a:xfrm>
            <a:off x="331592" y="988653"/>
            <a:ext cx="11301513" cy="506358"/>
          </a:xfrm>
        </p:spPr>
        <p:txBody>
          <a:bodyPr vert="horz" lIns="91440" tIns="45720" rIns="91440" bIns="45720" rtlCol="0" anchor="t">
            <a:normAutofit/>
          </a:bodyPr>
          <a:lstStyle/>
          <a:p>
            <a:pPr marL="0" indent="0">
              <a:buNone/>
            </a:pPr>
            <a:endParaRPr lang="en-US" sz="2000" noProof="0" dirty="0">
              <a:solidFill>
                <a:srgbClr val="646464"/>
              </a:solidFill>
            </a:endParaRPr>
          </a:p>
        </p:txBody>
      </p:sp>
      <p:pic>
        <p:nvPicPr>
          <p:cNvPr id="10" name="Graphic 9">
            <a:extLst>
              <a:ext uri="{FF2B5EF4-FFF2-40B4-BE49-F238E27FC236}">
                <a16:creationId xmlns:a16="http://schemas.microsoft.com/office/drawing/2014/main" id="{F2BAEC41-C370-43A8-99AC-01C0AD9636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5989" y="3659974"/>
            <a:ext cx="5363308" cy="2265596"/>
          </a:xfrm>
          <a:prstGeom prst="rect">
            <a:avLst/>
          </a:prstGeom>
        </p:spPr>
      </p:pic>
      <p:sp>
        <p:nvSpPr>
          <p:cNvPr id="6" name="Content Placeholder 2">
            <a:extLst>
              <a:ext uri="{FF2B5EF4-FFF2-40B4-BE49-F238E27FC236}">
                <a16:creationId xmlns:a16="http://schemas.microsoft.com/office/drawing/2014/main" id="{1883147D-7337-8824-7EFA-B3F43D4F7C84}"/>
              </a:ext>
            </a:extLst>
          </p:cNvPr>
          <p:cNvSpPr txBox="1">
            <a:spLocks/>
          </p:cNvSpPr>
          <p:nvPr/>
        </p:nvSpPr>
        <p:spPr>
          <a:xfrm>
            <a:off x="326043" y="1130494"/>
            <a:ext cx="11303901" cy="4693053"/>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a:latin typeface="Helvetica"/>
                <a:cs typeface="Helvetica"/>
              </a:rPr>
              <a:t>We can recover a LISA-like one-way laser noise transfer function</a:t>
            </a:r>
          </a:p>
          <a:p>
            <a:pPr marL="0" indent="0">
              <a:spcBef>
                <a:spcPts val="0"/>
              </a:spcBef>
              <a:spcAft>
                <a:spcPts val="800"/>
              </a:spcAft>
              <a:buNone/>
            </a:pPr>
            <a:endParaRPr lang="en-US" dirty="0">
              <a:cs typeface="Helvetica"/>
            </a:endParaRPr>
          </a:p>
        </p:txBody>
      </p:sp>
    </p:spTree>
    <p:extLst>
      <p:ext uri="{BB962C8B-B14F-4D97-AF65-F5344CB8AC3E}">
        <p14:creationId xmlns:p14="http://schemas.microsoft.com/office/powerpoint/2010/main" val="631316656"/>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dirty="0"/>
              <a:t>Clock Noise in LISA</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12</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AD10AA72-B724-4054-9215-66EE93EC731F}"/>
              </a:ext>
            </a:extLst>
          </p:cNvPr>
          <p:cNvPicPr>
            <a:picLocks noChangeAspect="1"/>
          </p:cNvPicPr>
          <p:nvPr/>
        </p:nvPicPr>
        <p:blipFill>
          <a:blip r:embed="rId3"/>
          <a:stretch>
            <a:fillRect/>
          </a:stretch>
        </p:blipFill>
        <p:spPr>
          <a:xfrm>
            <a:off x="1505702" y="2147313"/>
            <a:ext cx="9180595" cy="2563373"/>
          </a:xfrm>
          <a:prstGeom prst="rect">
            <a:avLst/>
          </a:prstGeom>
        </p:spPr>
      </p:pic>
      <p:pic>
        <p:nvPicPr>
          <p:cNvPr id="3" name="Graphic 2">
            <a:extLst>
              <a:ext uri="{FF2B5EF4-FFF2-40B4-BE49-F238E27FC236}">
                <a16:creationId xmlns:a16="http://schemas.microsoft.com/office/drawing/2014/main" id="{6078BDEF-DF21-0540-54B8-8474653B96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49587" y="4409757"/>
            <a:ext cx="10329545" cy="1665605"/>
          </a:xfrm>
          <a:prstGeom prst="rect">
            <a:avLst/>
          </a:prstGeom>
        </p:spPr>
      </p:pic>
    </p:spTree>
    <p:extLst>
      <p:ext uri="{BB962C8B-B14F-4D97-AF65-F5344CB8AC3E}">
        <p14:creationId xmlns:p14="http://schemas.microsoft.com/office/powerpoint/2010/main" val="252974493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dirty="0">
                <a:latin typeface="Helvetica"/>
                <a:cs typeface="Helvetica"/>
              </a:rPr>
              <a:t>Replicating the LISA Arm in the Lab</a:t>
            </a:r>
            <a:endParaRPr lang="en-US" b="0" dirty="0">
              <a:latin typeface="Helvetica"/>
              <a:cs typeface="Helvetica"/>
            </a:endParaRP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13</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pic>
        <p:nvPicPr>
          <p:cNvPr id="15" name="Picture 14">
            <a:extLst>
              <a:ext uri="{FF2B5EF4-FFF2-40B4-BE49-F238E27FC236}">
                <a16:creationId xmlns:a16="http://schemas.microsoft.com/office/drawing/2014/main" id="{EB9E17CC-9801-4929-ADE5-A9CE31DEC402}"/>
              </a:ext>
            </a:extLst>
          </p:cNvPr>
          <p:cNvPicPr>
            <a:picLocks noChangeAspect="1"/>
          </p:cNvPicPr>
          <p:nvPr/>
        </p:nvPicPr>
        <p:blipFill>
          <a:blip r:embed="rId3"/>
          <a:stretch>
            <a:fillRect/>
          </a:stretch>
        </p:blipFill>
        <p:spPr>
          <a:xfrm>
            <a:off x="529145" y="1237556"/>
            <a:ext cx="6402078" cy="1787565"/>
          </a:xfrm>
          <a:prstGeom prst="rect">
            <a:avLst/>
          </a:prstGeom>
        </p:spPr>
      </p:pic>
      <p:pic>
        <p:nvPicPr>
          <p:cNvPr id="18" name="Picture 17">
            <a:extLst>
              <a:ext uri="{FF2B5EF4-FFF2-40B4-BE49-F238E27FC236}">
                <a16:creationId xmlns:a16="http://schemas.microsoft.com/office/drawing/2014/main" id="{4778ECA1-263A-4A9E-A678-9AC8CC3AE121}"/>
              </a:ext>
            </a:extLst>
          </p:cNvPr>
          <p:cNvPicPr>
            <a:picLocks noChangeAspect="1"/>
          </p:cNvPicPr>
          <p:nvPr/>
        </p:nvPicPr>
        <p:blipFill>
          <a:blip r:embed="rId4"/>
          <a:stretch>
            <a:fillRect/>
          </a:stretch>
        </p:blipFill>
        <p:spPr>
          <a:xfrm>
            <a:off x="610393" y="3646424"/>
            <a:ext cx="6646315" cy="2332524"/>
          </a:xfrm>
          <a:prstGeom prst="rect">
            <a:avLst/>
          </a:prstGeom>
        </p:spPr>
      </p:pic>
      <p:sp>
        <p:nvSpPr>
          <p:cNvPr id="12" name="TextBox 11">
            <a:extLst>
              <a:ext uri="{FF2B5EF4-FFF2-40B4-BE49-F238E27FC236}">
                <a16:creationId xmlns:a16="http://schemas.microsoft.com/office/drawing/2014/main" id="{918529D4-93BF-4F6F-A817-E5AFA6A58243}"/>
              </a:ext>
            </a:extLst>
          </p:cNvPr>
          <p:cNvSpPr txBox="1"/>
          <p:nvPr/>
        </p:nvSpPr>
        <p:spPr>
          <a:xfrm>
            <a:off x="10185723" y="2429168"/>
            <a:ext cx="1300484"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LISA arm</a:t>
            </a:r>
            <a:endParaRPr lang="et-EE" sz="2000" b="1" dirty="0">
              <a:solidFill>
                <a:srgbClr val="323232"/>
              </a:solidFill>
              <a:latin typeface="Helvetica"/>
              <a:cs typeface="Arial"/>
            </a:endParaRPr>
          </a:p>
        </p:txBody>
      </p:sp>
      <p:sp>
        <p:nvSpPr>
          <p:cNvPr id="13" name="TextBox 12">
            <a:extLst>
              <a:ext uri="{FF2B5EF4-FFF2-40B4-BE49-F238E27FC236}">
                <a16:creationId xmlns:a16="http://schemas.microsoft.com/office/drawing/2014/main" id="{34692CC2-78A9-4612-82B5-4326B7ADBD83}"/>
              </a:ext>
            </a:extLst>
          </p:cNvPr>
          <p:cNvSpPr txBox="1"/>
          <p:nvPr/>
        </p:nvSpPr>
        <p:spPr>
          <a:xfrm>
            <a:off x="10105271" y="4943587"/>
            <a:ext cx="1721946" cy="400110"/>
          </a:xfrm>
          <a:prstGeom prst="rect">
            <a:avLst/>
          </a:prstGeom>
          <a:noFill/>
        </p:spPr>
        <p:txBody>
          <a:bodyPr wrap="none" lIns="91440" tIns="45720" rIns="91440" bIns="45720" rtlCol="0" anchor="t">
            <a:spAutoFit/>
          </a:bodyPr>
          <a:lstStyle/>
          <a:p>
            <a:pPr algn="l"/>
            <a:r>
              <a:rPr lang="en-US" sz="2000" b="1" dirty="0">
                <a:solidFill>
                  <a:srgbClr val="323232"/>
                </a:solidFill>
                <a:latin typeface="Helvetica"/>
                <a:cs typeface="Arial"/>
              </a:rPr>
              <a:t>Testbed arm</a:t>
            </a:r>
            <a:endParaRPr lang="et-EE" sz="2000" b="1" dirty="0">
              <a:solidFill>
                <a:srgbClr val="323232"/>
              </a:solidFill>
              <a:latin typeface="Helvetica"/>
              <a:cs typeface="Arial"/>
            </a:endParaRPr>
          </a:p>
        </p:txBody>
      </p:sp>
      <p:pic>
        <p:nvPicPr>
          <p:cNvPr id="3" name="Graphic 2">
            <a:extLst>
              <a:ext uri="{FF2B5EF4-FFF2-40B4-BE49-F238E27FC236}">
                <a16:creationId xmlns:a16="http://schemas.microsoft.com/office/drawing/2014/main" id="{0F680E06-78C7-10D1-030D-6F92AF09385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64801" y="2631020"/>
            <a:ext cx="7962265" cy="1228725"/>
          </a:xfrm>
          <a:prstGeom prst="rect">
            <a:avLst/>
          </a:prstGeom>
        </p:spPr>
      </p:pic>
      <p:pic>
        <p:nvPicPr>
          <p:cNvPr id="8" name="Graphic 7">
            <a:extLst>
              <a:ext uri="{FF2B5EF4-FFF2-40B4-BE49-F238E27FC236}">
                <a16:creationId xmlns:a16="http://schemas.microsoft.com/office/drawing/2014/main" id="{A72DC4A7-D5CF-22CC-CBA6-7F1C8BC6D61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32525" y="5141277"/>
            <a:ext cx="8769350" cy="1228725"/>
          </a:xfrm>
          <a:prstGeom prst="rect">
            <a:avLst/>
          </a:prstGeom>
        </p:spPr>
      </p:pic>
    </p:spTree>
    <p:extLst>
      <p:ext uri="{BB962C8B-B14F-4D97-AF65-F5344CB8AC3E}">
        <p14:creationId xmlns:p14="http://schemas.microsoft.com/office/powerpoint/2010/main" val="3981926500"/>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2A8D76C-7AD9-4CF6-AAF8-FC86A7BE3837}"/>
              </a:ext>
            </a:extLst>
          </p:cNvPr>
          <p:cNvPicPr>
            <a:picLocks noChangeAspect="1"/>
          </p:cNvPicPr>
          <p:nvPr/>
        </p:nvPicPr>
        <p:blipFill>
          <a:blip r:embed="rId3"/>
          <a:stretch>
            <a:fillRect/>
          </a:stretch>
        </p:blipFill>
        <p:spPr>
          <a:xfrm>
            <a:off x="5602547" y="1993227"/>
            <a:ext cx="6265394" cy="4721277"/>
          </a:xfrm>
          <a:prstGeom prst="rect">
            <a:avLst/>
          </a:prstGeom>
        </p:spPr>
      </p:pic>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Arial"/>
              </a:rPr>
              <a:t>Modulation Noise Characterization</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14</a:t>
            </a:fld>
            <a:endParaRPr lang="et-EE" dirty="0"/>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3" name="Picture 2">
            <a:extLst>
              <a:ext uri="{FF2B5EF4-FFF2-40B4-BE49-F238E27FC236}">
                <a16:creationId xmlns:a16="http://schemas.microsoft.com/office/drawing/2014/main" id="{C2885FD6-0492-85D3-963B-554E76E4CB5D}"/>
              </a:ext>
            </a:extLst>
          </p:cNvPr>
          <p:cNvPicPr>
            <a:picLocks noChangeAspect="1"/>
          </p:cNvPicPr>
          <p:nvPr/>
        </p:nvPicPr>
        <p:blipFill>
          <a:blip r:embed="rId4"/>
          <a:stretch>
            <a:fillRect/>
          </a:stretch>
        </p:blipFill>
        <p:spPr>
          <a:xfrm>
            <a:off x="-495794" y="2378467"/>
            <a:ext cx="8143258" cy="3010263"/>
          </a:xfrm>
          <a:prstGeom prst="rect">
            <a:avLst/>
          </a:prstGeom>
        </p:spPr>
      </p:pic>
      <p:sp>
        <p:nvSpPr>
          <p:cNvPr id="6" name="Content Placeholder 2">
            <a:extLst>
              <a:ext uri="{FF2B5EF4-FFF2-40B4-BE49-F238E27FC236}">
                <a16:creationId xmlns:a16="http://schemas.microsoft.com/office/drawing/2014/main" id="{8767BAE2-7B60-4C07-1F4C-87C6320DBAB4}"/>
              </a:ext>
            </a:extLst>
          </p:cNvPr>
          <p:cNvSpPr>
            <a:spLocks noGrp="1"/>
          </p:cNvSpPr>
          <p:nvPr>
            <p:ph idx="1"/>
          </p:nvPr>
        </p:nvSpPr>
        <p:spPr>
          <a:xfrm>
            <a:off x="326043" y="1110956"/>
            <a:ext cx="11391824" cy="4702822"/>
          </a:xfrm>
        </p:spPr>
        <p:txBody>
          <a:bodyPr vert="horz" lIns="91440" tIns="45720" rIns="91440" bIns="45720" rtlCol="0" anchor="t">
            <a:normAutofit/>
          </a:bodyPr>
          <a:lstStyle/>
          <a:p>
            <a:pPr marL="0" indent="0">
              <a:buNone/>
            </a:pPr>
            <a:endParaRPr lang="en-US" dirty="0">
              <a:latin typeface="Helvetica"/>
              <a:cs typeface="Arial"/>
            </a:endParaRPr>
          </a:p>
          <a:p>
            <a:endParaRPr lang="et-EE" dirty="0"/>
          </a:p>
        </p:txBody>
      </p:sp>
    </p:spTree>
    <p:extLst>
      <p:ext uri="{BB962C8B-B14F-4D97-AF65-F5344CB8AC3E}">
        <p14:creationId xmlns:p14="http://schemas.microsoft.com/office/powerpoint/2010/main" val="3344876952"/>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D7A4A-3FF4-D844-2193-477D8DF3F434}"/>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152EE184-AF0D-973A-8E65-9586847A42A6}"/>
              </a:ext>
            </a:extLst>
          </p:cNvPr>
          <p:cNvPicPr>
            <a:picLocks noChangeAspect="1"/>
          </p:cNvPicPr>
          <p:nvPr/>
        </p:nvPicPr>
        <p:blipFill>
          <a:blip r:embed="rId3"/>
          <a:stretch>
            <a:fillRect/>
          </a:stretch>
        </p:blipFill>
        <p:spPr>
          <a:xfrm>
            <a:off x="4223696" y="1716597"/>
            <a:ext cx="6899066" cy="4410766"/>
          </a:xfrm>
          <a:prstGeom prst="rect">
            <a:avLst/>
          </a:prstGeom>
        </p:spPr>
      </p:pic>
      <p:sp>
        <p:nvSpPr>
          <p:cNvPr id="2" name="Title 1">
            <a:extLst>
              <a:ext uri="{FF2B5EF4-FFF2-40B4-BE49-F238E27FC236}">
                <a16:creationId xmlns:a16="http://schemas.microsoft.com/office/drawing/2014/main" id="{39037DCA-1161-1C7E-A435-54E854572B50}"/>
              </a:ext>
            </a:extLst>
          </p:cNvPr>
          <p:cNvSpPr>
            <a:spLocks noGrp="1"/>
          </p:cNvSpPr>
          <p:nvPr>
            <p:ph type="title"/>
          </p:nvPr>
        </p:nvSpPr>
        <p:spPr/>
        <p:txBody>
          <a:bodyPr/>
          <a:lstStyle/>
          <a:p>
            <a:r>
              <a:rPr lang="en-US">
                <a:latin typeface="Helvetica"/>
                <a:cs typeface="Helvetica"/>
              </a:rPr>
              <a:t>Clock Tone Transfer</a:t>
            </a:r>
            <a:endParaRPr lang="en-US" dirty="0">
              <a:latin typeface="Helvetica"/>
              <a:cs typeface="Helvetica"/>
            </a:endParaRPr>
          </a:p>
        </p:txBody>
      </p:sp>
      <p:sp>
        <p:nvSpPr>
          <p:cNvPr id="4" name="Slide Number Placeholder 3">
            <a:extLst>
              <a:ext uri="{FF2B5EF4-FFF2-40B4-BE49-F238E27FC236}">
                <a16:creationId xmlns:a16="http://schemas.microsoft.com/office/drawing/2014/main" id="{ACDF45F2-2DEF-DAEE-8252-CC9102516A00}"/>
              </a:ext>
            </a:extLst>
          </p:cNvPr>
          <p:cNvSpPr>
            <a:spLocks noGrp="1"/>
          </p:cNvSpPr>
          <p:nvPr>
            <p:ph type="sldNum" sz="quarter" idx="12"/>
          </p:nvPr>
        </p:nvSpPr>
        <p:spPr/>
        <p:txBody>
          <a:bodyPr/>
          <a:lstStyle/>
          <a:p>
            <a:fld id="{9F39E346-B1F3-4075-BD67-234EF0F10AC6}" type="slidenum">
              <a:rPr lang="en-US" noProof="0" smtClean="0"/>
              <a:pPr/>
              <a:t>15</a:t>
            </a:fld>
            <a:endParaRPr lang="en-US" noProof="0" dirty="0"/>
          </a:p>
        </p:txBody>
      </p:sp>
      <p:sp>
        <p:nvSpPr>
          <p:cNvPr id="6" name="Date Placeholder 5">
            <a:extLst>
              <a:ext uri="{FF2B5EF4-FFF2-40B4-BE49-F238E27FC236}">
                <a16:creationId xmlns:a16="http://schemas.microsoft.com/office/drawing/2014/main" id="{C934E1D7-CA3C-8A3F-D655-C976C66AA5D8}"/>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C625B93-6E97-8D07-A8EE-ACDF86338171}"/>
              </a:ext>
            </a:extLst>
          </p:cNvPr>
          <p:cNvSpPr>
            <a:spLocks noGrp="1"/>
          </p:cNvSpPr>
          <p:nvPr>
            <p:ph type="ftr" sz="quarter" idx="11"/>
          </p:nvPr>
        </p:nvSpPr>
        <p:spPr/>
        <p:txBody>
          <a:bodyPr/>
          <a:lstStyle/>
          <a:p>
            <a:r>
              <a:rPr lang="en-US" dirty="0"/>
              <a:t>16th International LISA Symposium</a:t>
            </a:r>
            <a:endParaRPr lang="et-EE" dirty="0"/>
          </a:p>
        </p:txBody>
      </p:sp>
      <p:sp>
        <p:nvSpPr>
          <p:cNvPr id="14" name="Content Placeholder 2">
            <a:extLst>
              <a:ext uri="{FF2B5EF4-FFF2-40B4-BE49-F238E27FC236}">
                <a16:creationId xmlns:a16="http://schemas.microsoft.com/office/drawing/2014/main" id="{0724150A-DF9C-4831-A5A5-FA94FA399B22}"/>
              </a:ext>
            </a:extLst>
          </p:cNvPr>
          <p:cNvSpPr>
            <a:spLocks noGrp="1"/>
          </p:cNvSpPr>
          <p:nvPr>
            <p:ph idx="1"/>
          </p:nvPr>
        </p:nvSpPr>
        <p:spPr>
          <a:xfrm>
            <a:off x="224443" y="1161756"/>
            <a:ext cx="11493424" cy="4652022"/>
          </a:xfrm>
        </p:spPr>
        <p:txBody>
          <a:bodyPr/>
          <a:lstStyle/>
          <a:p>
            <a:pPr marL="0" indent="0">
              <a:buNone/>
            </a:pPr>
            <a:endParaRPr lang="en-US" dirty="0"/>
          </a:p>
          <a:p>
            <a:endParaRPr lang="et-EE" dirty="0"/>
          </a:p>
        </p:txBody>
      </p:sp>
      <p:pic>
        <p:nvPicPr>
          <p:cNvPr id="5" name="Picture 4">
            <a:extLst>
              <a:ext uri="{FF2B5EF4-FFF2-40B4-BE49-F238E27FC236}">
                <a16:creationId xmlns:a16="http://schemas.microsoft.com/office/drawing/2014/main" id="{428E6B2A-ECF9-45BE-87EE-C951D54B7C64}"/>
              </a:ext>
            </a:extLst>
          </p:cNvPr>
          <p:cNvPicPr>
            <a:picLocks noChangeAspect="1"/>
          </p:cNvPicPr>
          <p:nvPr/>
        </p:nvPicPr>
        <p:blipFill>
          <a:blip r:embed="rId4"/>
          <a:stretch>
            <a:fillRect/>
          </a:stretch>
        </p:blipFill>
        <p:spPr>
          <a:xfrm>
            <a:off x="393773" y="5009392"/>
            <a:ext cx="4882120" cy="792948"/>
          </a:xfrm>
          <a:prstGeom prst="rect">
            <a:avLst/>
          </a:prstGeom>
        </p:spPr>
      </p:pic>
      <p:sp>
        <p:nvSpPr>
          <p:cNvPr id="9" name="Rectangle 8">
            <a:extLst>
              <a:ext uri="{FF2B5EF4-FFF2-40B4-BE49-F238E27FC236}">
                <a16:creationId xmlns:a16="http://schemas.microsoft.com/office/drawing/2014/main" id="{A5904FEA-78BF-4C7B-AE51-E86E1F7B5BA5}"/>
              </a:ext>
            </a:extLst>
          </p:cNvPr>
          <p:cNvSpPr/>
          <p:nvPr/>
        </p:nvSpPr>
        <p:spPr>
          <a:xfrm>
            <a:off x="3058831" y="5402284"/>
            <a:ext cx="352764" cy="389896"/>
          </a:xfrm>
          <a:prstGeom prst="rect">
            <a:avLst/>
          </a:prstGeom>
          <a:noFill/>
          <a:ln w="57150">
            <a:solidFill>
              <a:srgbClr val="D71B2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Content Placeholder 2">
            <a:extLst>
              <a:ext uri="{FF2B5EF4-FFF2-40B4-BE49-F238E27FC236}">
                <a16:creationId xmlns:a16="http://schemas.microsoft.com/office/drawing/2014/main" id="{C4646A4D-B256-BFDC-4BDE-1D221726CDF4}"/>
              </a:ext>
            </a:extLst>
          </p:cNvPr>
          <p:cNvSpPr txBox="1">
            <a:spLocks/>
          </p:cNvSpPr>
          <p:nvPr/>
        </p:nvSpPr>
        <p:spPr>
          <a:xfrm>
            <a:off x="326043" y="1110956"/>
            <a:ext cx="11391824" cy="4702822"/>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32323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32323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32323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800"/>
              </a:spcAft>
              <a:buNone/>
            </a:pPr>
            <a:r>
              <a:rPr lang="en-US">
                <a:latin typeface="Helvetica"/>
                <a:cs typeface="Helvetica"/>
              </a:rPr>
              <a:t>Modulator noise and the intrinsic noise of the delay line board are too loud if MHz modulation is used.</a:t>
            </a:r>
          </a:p>
          <a:p>
            <a:pPr marL="0" indent="0">
              <a:buNone/>
            </a:pPr>
            <a:endParaRPr lang="en-US" dirty="0"/>
          </a:p>
        </p:txBody>
      </p:sp>
    </p:spTree>
    <p:extLst>
      <p:ext uri="{BB962C8B-B14F-4D97-AF65-F5344CB8AC3E}">
        <p14:creationId xmlns:p14="http://schemas.microsoft.com/office/powerpoint/2010/main" val="1172276438"/>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2FB72-79F9-C5A2-078B-DA25C039D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C7D7C-2538-E540-69B8-70027746BA1B}"/>
              </a:ext>
            </a:extLst>
          </p:cNvPr>
          <p:cNvSpPr>
            <a:spLocks noGrp="1"/>
          </p:cNvSpPr>
          <p:nvPr>
            <p:ph type="title"/>
          </p:nvPr>
        </p:nvSpPr>
        <p:spPr/>
        <p:txBody>
          <a:bodyPr/>
          <a:lstStyle/>
          <a:p>
            <a:r>
              <a:rPr lang="en-US">
                <a:latin typeface="Helvetica"/>
                <a:cs typeface="Helvetica"/>
              </a:rPr>
              <a:t>GHz Modulation</a:t>
            </a:r>
            <a:endParaRPr lang="en-US" dirty="0">
              <a:latin typeface="Helvetica"/>
              <a:cs typeface="Helvetica"/>
            </a:endParaRPr>
          </a:p>
        </p:txBody>
      </p:sp>
      <p:sp>
        <p:nvSpPr>
          <p:cNvPr id="4" name="Slide Number Placeholder 3">
            <a:extLst>
              <a:ext uri="{FF2B5EF4-FFF2-40B4-BE49-F238E27FC236}">
                <a16:creationId xmlns:a16="http://schemas.microsoft.com/office/drawing/2014/main" id="{015552FC-F12A-D723-10AB-CC7B32EF9519}"/>
              </a:ext>
            </a:extLst>
          </p:cNvPr>
          <p:cNvSpPr>
            <a:spLocks noGrp="1"/>
          </p:cNvSpPr>
          <p:nvPr>
            <p:ph type="sldNum" sz="quarter" idx="12"/>
          </p:nvPr>
        </p:nvSpPr>
        <p:spPr/>
        <p:txBody>
          <a:bodyPr/>
          <a:lstStyle/>
          <a:p>
            <a:fld id="{9F39E346-B1F3-4075-BD67-234EF0F10AC6}" type="slidenum">
              <a:rPr lang="en-US" noProof="0" smtClean="0"/>
              <a:pPr/>
              <a:t>16</a:t>
            </a:fld>
            <a:endParaRPr lang="en-US" noProof="0" dirty="0"/>
          </a:p>
        </p:txBody>
      </p:sp>
      <p:sp>
        <p:nvSpPr>
          <p:cNvPr id="6" name="Date Placeholder 5">
            <a:extLst>
              <a:ext uri="{FF2B5EF4-FFF2-40B4-BE49-F238E27FC236}">
                <a16:creationId xmlns:a16="http://schemas.microsoft.com/office/drawing/2014/main" id="{286731BC-6F47-D752-E86E-AD04270BF1BD}"/>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32AFE1EE-CB7C-6EC3-2E1F-84BCA9E5B6BF}"/>
              </a:ext>
            </a:extLst>
          </p:cNvPr>
          <p:cNvSpPr>
            <a:spLocks noGrp="1"/>
          </p:cNvSpPr>
          <p:nvPr>
            <p:ph type="ftr" sz="quarter" idx="11"/>
          </p:nvPr>
        </p:nvSpPr>
        <p:spPr/>
        <p:txBody>
          <a:bodyPr/>
          <a:lstStyle/>
          <a:p>
            <a:r>
              <a:rPr lang="en-US" dirty="0"/>
              <a:t>16th International LISA Symposium</a:t>
            </a:r>
            <a:endParaRPr lang="et-EE" dirty="0"/>
          </a:p>
        </p:txBody>
      </p:sp>
      <p:sp>
        <p:nvSpPr>
          <p:cNvPr id="14" name="Content Placeholder 2">
            <a:extLst>
              <a:ext uri="{FF2B5EF4-FFF2-40B4-BE49-F238E27FC236}">
                <a16:creationId xmlns:a16="http://schemas.microsoft.com/office/drawing/2014/main" id="{04E75D5C-766F-2115-BA72-1FC1E7AAFD9B}"/>
              </a:ext>
            </a:extLst>
          </p:cNvPr>
          <p:cNvSpPr>
            <a:spLocks noGrp="1"/>
          </p:cNvSpPr>
          <p:nvPr>
            <p:ph idx="1"/>
          </p:nvPr>
        </p:nvSpPr>
        <p:spPr>
          <a:xfrm>
            <a:off x="224443" y="1161756"/>
            <a:ext cx="11493424" cy="4652022"/>
          </a:xfrm>
        </p:spPr>
        <p:txBody>
          <a:bodyPr/>
          <a:lstStyle/>
          <a:p>
            <a:pPr marL="0" indent="0">
              <a:buNone/>
            </a:pPr>
            <a:endParaRPr lang="en-US" dirty="0"/>
          </a:p>
          <a:p>
            <a:endParaRPr lang="et-EE" dirty="0"/>
          </a:p>
        </p:txBody>
      </p:sp>
      <p:pic>
        <p:nvPicPr>
          <p:cNvPr id="10" name="Picture 9">
            <a:extLst>
              <a:ext uri="{FF2B5EF4-FFF2-40B4-BE49-F238E27FC236}">
                <a16:creationId xmlns:a16="http://schemas.microsoft.com/office/drawing/2014/main" id="{B658DED9-9263-095C-C798-4F85085E9C2F}"/>
              </a:ext>
            </a:extLst>
          </p:cNvPr>
          <p:cNvPicPr>
            <a:picLocks noChangeAspect="1"/>
          </p:cNvPicPr>
          <p:nvPr/>
        </p:nvPicPr>
        <p:blipFill>
          <a:blip r:embed="rId3"/>
          <a:stretch>
            <a:fillRect/>
          </a:stretch>
        </p:blipFill>
        <p:spPr>
          <a:xfrm>
            <a:off x="707571" y="1622972"/>
            <a:ext cx="10515600" cy="3737604"/>
          </a:xfrm>
          <a:prstGeom prst="rect">
            <a:avLst/>
          </a:prstGeom>
        </p:spPr>
      </p:pic>
      <p:sp>
        <p:nvSpPr>
          <p:cNvPr id="17" name="TextBox 16">
            <a:extLst>
              <a:ext uri="{FF2B5EF4-FFF2-40B4-BE49-F238E27FC236}">
                <a16:creationId xmlns:a16="http://schemas.microsoft.com/office/drawing/2014/main" id="{EE8CEE53-5ED7-6B2F-8011-5B32E1A1F189}"/>
              </a:ext>
            </a:extLst>
          </p:cNvPr>
          <p:cNvSpPr txBox="1"/>
          <p:nvPr/>
        </p:nvSpPr>
        <p:spPr>
          <a:xfrm>
            <a:off x="1988037" y="5352302"/>
            <a:ext cx="4898982" cy="338554"/>
          </a:xfrm>
          <a:prstGeom prst="rect">
            <a:avLst/>
          </a:prstGeom>
          <a:noFill/>
        </p:spPr>
        <p:txBody>
          <a:bodyPr wrap="square" lIns="91440" tIns="45720" rIns="91440" bIns="45720" rtlCol="0" anchor="t">
            <a:spAutoFit/>
          </a:bodyPr>
          <a:lstStyle/>
          <a:p>
            <a:pPr>
              <a:spcAft>
                <a:spcPts val="800"/>
              </a:spcAft>
            </a:pPr>
            <a:r>
              <a:rPr lang="en-US" sz="1600">
                <a:solidFill>
                  <a:srgbClr val="323232"/>
                </a:solidFill>
                <a:latin typeface="Helvetica"/>
                <a:cs typeface="Arial"/>
              </a:rPr>
              <a:t>Where to derive the modulating tone from?</a:t>
            </a:r>
            <a:endParaRPr lang="en-US"/>
          </a:p>
        </p:txBody>
      </p:sp>
      <p:cxnSp>
        <p:nvCxnSpPr>
          <p:cNvPr id="19" name="Straight Arrow Connector 18">
            <a:extLst>
              <a:ext uri="{FF2B5EF4-FFF2-40B4-BE49-F238E27FC236}">
                <a16:creationId xmlns:a16="http://schemas.microsoft.com/office/drawing/2014/main" id="{8060283C-DDA5-5E32-F920-1011850521E6}"/>
              </a:ext>
            </a:extLst>
          </p:cNvPr>
          <p:cNvCxnSpPr>
            <a:cxnSpLocks/>
          </p:cNvCxnSpPr>
          <p:nvPr/>
        </p:nvCxnSpPr>
        <p:spPr>
          <a:xfrm flipH="1" flipV="1">
            <a:off x="2914995" y="4601547"/>
            <a:ext cx="992977" cy="843393"/>
          </a:xfrm>
          <a:prstGeom prst="straightConnector1">
            <a:avLst/>
          </a:prstGeom>
          <a:ln w="28575">
            <a:solidFill>
              <a:srgbClr val="2D1364"/>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416348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43B97-12E0-0407-EA35-1C2841D2CD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4C262-F0CC-579F-4AD4-B3A211AD5ED8}"/>
              </a:ext>
            </a:extLst>
          </p:cNvPr>
          <p:cNvSpPr>
            <a:spLocks noGrp="1"/>
          </p:cNvSpPr>
          <p:nvPr>
            <p:ph type="title"/>
          </p:nvPr>
        </p:nvSpPr>
        <p:spPr/>
        <p:txBody>
          <a:bodyPr/>
          <a:lstStyle/>
          <a:p>
            <a:r>
              <a:rPr lang="en-US">
                <a:latin typeface="Helvetica"/>
                <a:cs typeface="Helvetica"/>
              </a:rPr>
              <a:t>GHz Modulation</a:t>
            </a:r>
            <a:endParaRPr lang="en-US" dirty="0">
              <a:latin typeface="Helvetica"/>
              <a:cs typeface="Helvetica"/>
            </a:endParaRPr>
          </a:p>
        </p:txBody>
      </p:sp>
      <p:sp>
        <p:nvSpPr>
          <p:cNvPr id="4" name="Slide Number Placeholder 3">
            <a:extLst>
              <a:ext uri="{FF2B5EF4-FFF2-40B4-BE49-F238E27FC236}">
                <a16:creationId xmlns:a16="http://schemas.microsoft.com/office/drawing/2014/main" id="{90D793EB-613B-65AF-3EAF-906EB57F38F5}"/>
              </a:ext>
            </a:extLst>
          </p:cNvPr>
          <p:cNvSpPr>
            <a:spLocks noGrp="1"/>
          </p:cNvSpPr>
          <p:nvPr>
            <p:ph type="sldNum" sz="quarter" idx="12"/>
          </p:nvPr>
        </p:nvSpPr>
        <p:spPr/>
        <p:txBody>
          <a:bodyPr/>
          <a:lstStyle/>
          <a:p>
            <a:fld id="{9F39E346-B1F3-4075-BD67-234EF0F10AC6}" type="slidenum">
              <a:rPr lang="en-US" noProof="0" smtClean="0"/>
              <a:pPr/>
              <a:t>17</a:t>
            </a:fld>
            <a:endParaRPr lang="en-US" noProof="0" dirty="0"/>
          </a:p>
        </p:txBody>
      </p:sp>
      <p:sp>
        <p:nvSpPr>
          <p:cNvPr id="6" name="Date Placeholder 5">
            <a:extLst>
              <a:ext uri="{FF2B5EF4-FFF2-40B4-BE49-F238E27FC236}">
                <a16:creationId xmlns:a16="http://schemas.microsoft.com/office/drawing/2014/main" id="{A356FF2B-7DC7-5C8E-F881-AE0F9C227ECF}"/>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88A4BA2B-7B6A-92B3-A432-98BCD666057E}"/>
              </a:ext>
            </a:extLst>
          </p:cNvPr>
          <p:cNvSpPr>
            <a:spLocks noGrp="1"/>
          </p:cNvSpPr>
          <p:nvPr>
            <p:ph type="ftr" sz="quarter" idx="11"/>
          </p:nvPr>
        </p:nvSpPr>
        <p:spPr/>
        <p:txBody>
          <a:bodyPr/>
          <a:lstStyle/>
          <a:p>
            <a:r>
              <a:rPr lang="en-US" dirty="0"/>
              <a:t>16th International LISA Symposium</a:t>
            </a:r>
            <a:endParaRPr lang="et-EE" dirty="0"/>
          </a:p>
        </p:txBody>
      </p:sp>
      <p:sp>
        <p:nvSpPr>
          <p:cNvPr id="14" name="Content Placeholder 2">
            <a:extLst>
              <a:ext uri="{FF2B5EF4-FFF2-40B4-BE49-F238E27FC236}">
                <a16:creationId xmlns:a16="http://schemas.microsoft.com/office/drawing/2014/main" id="{0B789E3C-2D57-EED3-947F-153B864ABAEE}"/>
              </a:ext>
            </a:extLst>
          </p:cNvPr>
          <p:cNvSpPr>
            <a:spLocks noGrp="1"/>
          </p:cNvSpPr>
          <p:nvPr>
            <p:ph idx="1"/>
          </p:nvPr>
        </p:nvSpPr>
        <p:spPr>
          <a:xfrm>
            <a:off x="224443" y="1161756"/>
            <a:ext cx="11493424" cy="4652022"/>
          </a:xfrm>
        </p:spPr>
        <p:txBody>
          <a:bodyPr/>
          <a:lstStyle/>
          <a:p>
            <a:pPr marL="0" indent="0">
              <a:buNone/>
            </a:pPr>
            <a:endParaRPr lang="en-US" dirty="0"/>
          </a:p>
          <a:p>
            <a:endParaRPr lang="et-EE" dirty="0"/>
          </a:p>
        </p:txBody>
      </p:sp>
      <p:pic>
        <p:nvPicPr>
          <p:cNvPr id="3" name="Picture 2">
            <a:extLst>
              <a:ext uri="{FF2B5EF4-FFF2-40B4-BE49-F238E27FC236}">
                <a16:creationId xmlns:a16="http://schemas.microsoft.com/office/drawing/2014/main" id="{9E98C3A7-CD74-F12B-1D43-F8A8E3AEFCD4}"/>
              </a:ext>
            </a:extLst>
          </p:cNvPr>
          <p:cNvPicPr>
            <a:picLocks noChangeAspect="1"/>
          </p:cNvPicPr>
          <p:nvPr/>
        </p:nvPicPr>
        <p:blipFill>
          <a:blip r:embed="rId3"/>
          <a:stretch>
            <a:fillRect/>
          </a:stretch>
        </p:blipFill>
        <p:spPr>
          <a:xfrm>
            <a:off x="965200" y="2061304"/>
            <a:ext cx="9560560" cy="3466912"/>
          </a:xfrm>
          <a:prstGeom prst="rect">
            <a:avLst/>
          </a:prstGeom>
        </p:spPr>
      </p:pic>
      <p:sp>
        <p:nvSpPr>
          <p:cNvPr id="8" name="TextBox 7">
            <a:extLst>
              <a:ext uri="{FF2B5EF4-FFF2-40B4-BE49-F238E27FC236}">
                <a16:creationId xmlns:a16="http://schemas.microsoft.com/office/drawing/2014/main" id="{0787D00B-3548-13DB-F377-6A2F1FF08BFF}"/>
              </a:ext>
            </a:extLst>
          </p:cNvPr>
          <p:cNvSpPr txBox="1"/>
          <p:nvPr/>
        </p:nvSpPr>
        <p:spPr>
          <a:xfrm>
            <a:off x="3298677" y="1715022"/>
            <a:ext cx="4898982" cy="338554"/>
          </a:xfrm>
          <a:prstGeom prst="rect">
            <a:avLst/>
          </a:prstGeom>
          <a:noFill/>
        </p:spPr>
        <p:txBody>
          <a:bodyPr wrap="square" lIns="91440" tIns="45720" rIns="91440" bIns="45720" rtlCol="0" anchor="t">
            <a:spAutoFit/>
          </a:bodyPr>
          <a:lstStyle/>
          <a:p>
            <a:pPr>
              <a:spcAft>
                <a:spcPts val="800"/>
              </a:spcAft>
            </a:pPr>
            <a:r>
              <a:rPr lang="en-US" sz="1600">
                <a:solidFill>
                  <a:srgbClr val="323232"/>
                </a:solidFill>
                <a:latin typeface="Helvetica"/>
                <a:cs typeface="Arial"/>
              </a:rPr>
              <a:t>GHz signal mixing in the ADCs?</a:t>
            </a:r>
            <a:endParaRPr lang="en-US"/>
          </a:p>
        </p:txBody>
      </p:sp>
      <p:cxnSp>
        <p:nvCxnSpPr>
          <p:cNvPr id="16" name="Straight Arrow Connector 15">
            <a:extLst>
              <a:ext uri="{FF2B5EF4-FFF2-40B4-BE49-F238E27FC236}">
                <a16:creationId xmlns:a16="http://schemas.microsoft.com/office/drawing/2014/main" id="{24ACCF1F-F979-A3D0-A25F-02095AD25496}"/>
              </a:ext>
            </a:extLst>
          </p:cNvPr>
          <p:cNvCxnSpPr>
            <a:cxnSpLocks/>
          </p:cNvCxnSpPr>
          <p:nvPr/>
        </p:nvCxnSpPr>
        <p:spPr>
          <a:xfrm>
            <a:off x="4365172" y="2061660"/>
            <a:ext cx="185583" cy="700927"/>
          </a:xfrm>
          <a:prstGeom prst="straightConnector1">
            <a:avLst/>
          </a:prstGeom>
          <a:ln w="28575">
            <a:solidFill>
              <a:srgbClr val="2D1364"/>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7886881"/>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5D086-B300-C6CE-6AA2-D79CB0669198}"/>
              </a:ext>
            </a:extLst>
          </p:cNvPr>
          <p:cNvSpPr>
            <a:spLocks noGrp="1"/>
          </p:cNvSpPr>
          <p:nvPr>
            <p:ph type="title"/>
          </p:nvPr>
        </p:nvSpPr>
        <p:spPr/>
        <p:txBody>
          <a:bodyPr/>
          <a:lstStyle/>
          <a:p>
            <a:r>
              <a:rPr lang="en-US" dirty="0"/>
              <a:t>Next Steps</a:t>
            </a:r>
            <a:endParaRPr lang="et-EE" dirty="0"/>
          </a:p>
        </p:txBody>
      </p:sp>
      <p:sp>
        <p:nvSpPr>
          <p:cNvPr id="3" name="Content Placeholder 2">
            <a:extLst>
              <a:ext uri="{FF2B5EF4-FFF2-40B4-BE49-F238E27FC236}">
                <a16:creationId xmlns:a16="http://schemas.microsoft.com/office/drawing/2014/main" id="{27B071C9-EDE0-96B1-134E-664698E9C6B9}"/>
              </a:ext>
            </a:extLst>
          </p:cNvPr>
          <p:cNvSpPr>
            <a:spLocks noGrp="1"/>
          </p:cNvSpPr>
          <p:nvPr>
            <p:ph idx="1"/>
          </p:nvPr>
        </p:nvSpPr>
        <p:spPr>
          <a:xfrm>
            <a:off x="322765" y="1252452"/>
            <a:ext cx="11432355" cy="4396648"/>
          </a:xfrm>
        </p:spPr>
        <p:txBody>
          <a:bodyPr vert="horz" lIns="91440" tIns="45720" rIns="91440" bIns="45720" rtlCol="0" anchor="t">
            <a:normAutofit/>
          </a:bodyPr>
          <a:lstStyle/>
          <a:p>
            <a:pPr marL="0" indent="0">
              <a:buNone/>
            </a:pPr>
            <a:r>
              <a:rPr lang="en-US" dirty="0">
                <a:latin typeface="Helvetica"/>
                <a:cs typeface="Arial"/>
              </a:rPr>
              <a:t>Put together the optics</a:t>
            </a:r>
          </a:p>
          <a:p>
            <a:pPr marL="0" indent="0">
              <a:buNone/>
            </a:pPr>
            <a:r>
              <a:rPr lang="en-US" dirty="0">
                <a:latin typeface="Helvetica"/>
                <a:cs typeface="Arial"/>
              </a:rPr>
              <a:t>Debug clock noise of the electronics</a:t>
            </a:r>
          </a:p>
          <a:p>
            <a:pPr marL="0" indent="0">
              <a:buNone/>
            </a:pPr>
            <a:r>
              <a:rPr lang="en-US" dirty="0">
                <a:latin typeface="Helvetica"/>
                <a:cs typeface="Arial"/>
              </a:rPr>
              <a:t>Work on ranging methods</a:t>
            </a:r>
          </a:p>
          <a:p>
            <a:pPr marL="0" indent="0">
              <a:buNone/>
            </a:pPr>
            <a:r>
              <a:rPr lang="en-US" dirty="0"/>
              <a:t>Work on sideband measurements</a:t>
            </a:r>
            <a:endParaRPr lang="et-EE" dirty="0"/>
          </a:p>
          <a:p>
            <a:pPr marL="0" indent="0">
              <a:buNone/>
            </a:pPr>
            <a:r>
              <a:rPr lang="en-US" dirty="0">
                <a:latin typeface="Helvetica"/>
                <a:cs typeface="Arial"/>
              </a:rPr>
              <a:t>Bring it all together</a:t>
            </a:r>
            <a:endParaRPr lang="en-US" dirty="0"/>
          </a:p>
          <a:p>
            <a:endParaRPr lang="et-EE" dirty="0"/>
          </a:p>
        </p:txBody>
      </p:sp>
      <p:sp>
        <p:nvSpPr>
          <p:cNvPr id="4" name="Date Placeholder 3">
            <a:extLst>
              <a:ext uri="{FF2B5EF4-FFF2-40B4-BE49-F238E27FC236}">
                <a16:creationId xmlns:a16="http://schemas.microsoft.com/office/drawing/2014/main" id="{956532AB-325A-90E5-4BE9-718B609752E0}"/>
              </a:ext>
            </a:extLst>
          </p:cNvPr>
          <p:cNvSpPr>
            <a:spLocks noGrp="1"/>
          </p:cNvSpPr>
          <p:nvPr>
            <p:ph type="dt" sz="half" idx="10"/>
          </p:nvPr>
        </p:nvSpPr>
        <p:spPr/>
        <p:txBody>
          <a:bodyPr/>
          <a:lstStyle/>
          <a:p>
            <a:r>
              <a:rPr lang="LID4096"/>
              <a:t>23.06.2026</a:t>
            </a:r>
            <a:endParaRPr lang="et-EE" dirty="0"/>
          </a:p>
        </p:txBody>
      </p:sp>
      <p:sp>
        <p:nvSpPr>
          <p:cNvPr id="5" name="Footer Placeholder 4">
            <a:extLst>
              <a:ext uri="{FF2B5EF4-FFF2-40B4-BE49-F238E27FC236}">
                <a16:creationId xmlns:a16="http://schemas.microsoft.com/office/drawing/2014/main" id="{D161BBB6-CA89-C5E9-9576-AD8EAC07586D}"/>
              </a:ext>
            </a:extLst>
          </p:cNvPr>
          <p:cNvSpPr>
            <a:spLocks noGrp="1"/>
          </p:cNvSpPr>
          <p:nvPr>
            <p:ph type="ftr" sz="quarter" idx="11"/>
          </p:nvPr>
        </p:nvSpPr>
        <p:spPr/>
        <p:txBody>
          <a:bodyPr/>
          <a:lstStyle/>
          <a:p>
            <a:r>
              <a:rPr lang="en-US" dirty="0"/>
              <a:t>16th International LISA Symposium</a:t>
            </a:r>
            <a:endParaRPr lang="et-EE" dirty="0"/>
          </a:p>
        </p:txBody>
      </p:sp>
      <p:sp>
        <p:nvSpPr>
          <p:cNvPr id="6" name="Slide Number Placeholder 5">
            <a:extLst>
              <a:ext uri="{FF2B5EF4-FFF2-40B4-BE49-F238E27FC236}">
                <a16:creationId xmlns:a16="http://schemas.microsoft.com/office/drawing/2014/main" id="{3B833FAC-8990-085F-615C-1EA8DE63C6BA}"/>
              </a:ext>
            </a:extLst>
          </p:cNvPr>
          <p:cNvSpPr>
            <a:spLocks noGrp="1"/>
          </p:cNvSpPr>
          <p:nvPr>
            <p:ph type="sldNum" sz="quarter" idx="12"/>
          </p:nvPr>
        </p:nvSpPr>
        <p:spPr/>
        <p:txBody>
          <a:bodyPr/>
          <a:lstStyle/>
          <a:p>
            <a:fld id="{9F39E346-B1F3-4075-BD67-234EF0F10AC6}" type="slidenum">
              <a:rPr lang="et-EE" smtClean="0"/>
              <a:pPr/>
              <a:t>18</a:t>
            </a:fld>
            <a:endParaRPr lang="et-EE" dirty="0"/>
          </a:p>
        </p:txBody>
      </p:sp>
      <p:pic>
        <p:nvPicPr>
          <p:cNvPr id="8" name="Picture 7">
            <a:extLst>
              <a:ext uri="{FF2B5EF4-FFF2-40B4-BE49-F238E27FC236}">
                <a16:creationId xmlns:a16="http://schemas.microsoft.com/office/drawing/2014/main" id="{C21CB066-6031-0BD7-0BF7-10395700BC99}"/>
              </a:ext>
            </a:extLst>
          </p:cNvPr>
          <p:cNvPicPr>
            <a:picLocks noChangeAspect="1"/>
          </p:cNvPicPr>
          <p:nvPr/>
        </p:nvPicPr>
        <p:blipFill>
          <a:blip r:embed="rId3"/>
          <a:srcRect/>
          <a:stretch/>
        </p:blipFill>
        <p:spPr>
          <a:xfrm>
            <a:off x="5792650" y="1130591"/>
            <a:ext cx="6380708" cy="5306965"/>
          </a:xfrm>
          <a:prstGeom prst="rect">
            <a:avLst/>
          </a:prstGeom>
        </p:spPr>
      </p:pic>
    </p:spTree>
    <p:extLst>
      <p:ext uri="{BB962C8B-B14F-4D97-AF65-F5344CB8AC3E}">
        <p14:creationId xmlns:p14="http://schemas.microsoft.com/office/powerpoint/2010/main" val="9139239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a:latin typeface="Helvetica"/>
                <a:cs typeface="Arial"/>
              </a:rPr>
              <a:t>What to do with the clock noise?</a:t>
            </a:r>
            <a:endParaRPr lang="en-US" noProof="0" dirty="0"/>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19</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12" name="Content Placeholder 2">
            <a:extLst>
              <a:ext uri="{FF2B5EF4-FFF2-40B4-BE49-F238E27FC236}">
                <a16:creationId xmlns:a16="http://schemas.microsoft.com/office/drawing/2014/main" id="{DE3F93BE-1157-43BA-825F-D9ADC37F2A22}"/>
              </a:ext>
            </a:extLst>
          </p:cNvPr>
          <p:cNvSpPr>
            <a:spLocks noGrp="1"/>
          </p:cNvSpPr>
          <p:nvPr>
            <p:ph idx="1"/>
          </p:nvPr>
        </p:nvSpPr>
        <p:spPr>
          <a:xfrm>
            <a:off x="224443" y="1161756"/>
            <a:ext cx="4703157" cy="4652022"/>
          </a:xfrm>
        </p:spPr>
        <p:txBody>
          <a:bodyPr/>
          <a:lstStyle/>
          <a:p>
            <a:endParaRPr lang="en-US" dirty="0"/>
          </a:p>
          <a:p>
            <a:endParaRPr lang="et-EE" dirty="0"/>
          </a:p>
        </p:txBody>
      </p:sp>
      <p:pic>
        <p:nvPicPr>
          <p:cNvPr id="3" name="Picture 2">
            <a:extLst>
              <a:ext uri="{FF2B5EF4-FFF2-40B4-BE49-F238E27FC236}">
                <a16:creationId xmlns:a16="http://schemas.microsoft.com/office/drawing/2014/main" id="{1D97E33F-819A-7080-723E-3BA7208FD2D5}"/>
              </a:ext>
            </a:extLst>
          </p:cNvPr>
          <p:cNvPicPr>
            <a:picLocks noChangeAspect="1"/>
          </p:cNvPicPr>
          <p:nvPr/>
        </p:nvPicPr>
        <p:blipFill>
          <a:blip r:embed="rId3"/>
          <a:srcRect l="49496" t="12787" b="121"/>
          <a:stretch>
            <a:fillRect/>
          </a:stretch>
        </p:blipFill>
        <p:spPr>
          <a:xfrm>
            <a:off x="5475640" y="1798872"/>
            <a:ext cx="6157460" cy="4437786"/>
          </a:xfrm>
          <a:prstGeom prst="rect">
            <a:avLst/>
          </a:prstGeom>
        </p:spPr>
      </p:pic>
      <p:sp>
        <p:nvSpPr>
          <p:cNvPr id="10" name="TextBox 9">
            <a:extLst>
              <a:ext uri="{FF2B5EF4-FFF2-40B4-BE49-F238E27FC236}">
                <a16:creationId xmlns:a16="http://schemas.microsoft.com/office/drawing/2014/main" id="{8BBB8E01-32C5-421F-9CC9-8D61E8DD1CF9}"/>
              </a:ext>
            </a:extLst>
          </p:cNvPr>
          <p:cNvSpPr txBox="1"/>
          <p:nvPr/>
        </p:nvSpPr>
        <p:spPr>
          <a:xfrm>
            <a:off x="346696" y="1837702"/>
            <a:ext cx="5633288" cy="1021883"/>
          </a:xfrm>
          <a:prstGeom prst="rect">
            <a:avLst/>
          </a:prstGeom>
          <a:noFill/>
        </p:spPr>
        <p:txBody>
          <a:bodyPr wrap="square" lIns="91440" tIns="45720" rIns="91440" bIns="45720" rtlCol="0" anchor="t">
            <a:spAutoFit/>
          </a:bodyPr>
          <a:lstStyle/>
          <a:p>
            <a:pPr>
              <a:lnSpc>
                <a:spcPct val="150000"/>
              </a:lnSpc>
            </a:pPr>
            <a:r>
              <a:rPr lang="en-US" sz="1400" dirty="0">
                <a:solidFill>
                  <a:srgbClr val="323232"/>
                </a:solidFill>
                <a:latin typeface="Arial"/>
                <a:cs typeface="Arial"/>
              </a:rPr>
              <a:t>We are working on another layer of post processing remove this noise</a:t>
            </a:r>
          </a:p>
          <a:p>
            <a:pPr>
              <a:lnSpc>
                <a:spcPct val="150000"/>
              </a:lnSpc>
            </a:pPr>
            <a:r>
              <a:rPr lang="en-US" sz="1400" dirty="0">
                <a:solidFill>
                  <a:srgbClr val="323232"/>
                </a:solidFill>
                <a:latin typeface="Arial"/>
                <a:cs typeface="Arial"/>
              </a:rPr>
              <a:t>Can be done after TDI and LISA-like clock noise removal</a:t>
            </a:r>
            <a:endParaRPr lang="en-US" sz="1400" dirty="0">
              <a:solidFill>
                <a:srgbClr val="323232"/>
              </a:solidFill>
              <a:latin typeface="Arial" panose="020B0604020202020204" pitchFamily="34" charset="0"/>
              <a:cs typeface="Arial" panose="020B0604020202020204" pitchFamily="34" charset="0"/>
            </a:endParaRPr>
          </a:p>
        </p:txBody>
      </p:sp>
      <p:sp>
        <p:nvSpPr>
          <p:cNvPr id="8" name="Content Placeholder 2">
            <a:extLst>
              <a:ext uri="{FF2B5EF4-FFF2-40B4-BE49-F238E27FC236}">
                <a16:creationId xmlns:a16="http://schemas.microsoft.com/office/drawing/2014/main" id="{109A804B-2067-5686-7250-48BD80C57AEF}"/>
              </a:ext>
            </a:extLst>
          </p:cNvPr>
          <p:cNvSpPr txBox="1">
            <a:spLocks/>
          </p:cNvSpPr>
          <p:nvPr/>
        </p:nvSpPr>
        <p:spPr>
          <a:xfrm>
            <a:off x="331592" y="988653"/>
            <a:ext cx="11301513" cy="506358"/>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solidFill>
                  <a:srgbClr val="646464"/>
                </a:solidFill>
                <a:latin typeface="Helvetica"/>
                <a:cs typeface="Arial"/>
              </a:rPr>
              <a:t>Tests of Delay Line Board Clock Phase Noise</a:t>
            </a:r>
            <a:endParaRPr lang="en-US" sz="2000" dirty="0">
              <a:solidFill>
                <a:srgbClr val="646464"/>
              </a:solidFill>
            </a:endParaRPr>
          </a:p>
        </p:txBody>
      </p:sp>
      <p:sp>
        <p:nvSpPr>
          <p:cNvPr id="11" name="TextBox 10">
            <a:extLst>
              <a:ext uri="{FF2B5EF4-FFF2-40B4-BE49-F238E27FC236}">
                <a16:creationId xmlns:a16="http://schemas.microsoft.com/office/drawing/2014/main" id="{21BA968D-CE33-4647-937E-7DBFC682141A}"/>
              </a:ext>
            </a:extLst>
          </p:cNvPr>
          <p:cNvSpPr txBox="1"/>
          <p:nvPr/>
        </p:nvSpPr>
        <p:spPr>
          <a:xfrm>
            <a:off x="1552696" y="3487767"/>
            <a:ext cx="3221287" cy="307777"/>
          </a:xfrm>
          <a:prstGeom prst="rect">
            <a:avLst/>
          </a:prstGeom>
          <a:noFill/>
        </p:spPr>
        <p:txBody>
          <a:bodyPr wrap="square" rtlCol="0">
            <a:spAutoFit/>
          </a:bodyPr>
          <a:lstStyle/>
          <a:p>
            <a:pPr algn="l"/>
            <a:r>
              <a:rPr lang="en-US" sz="1400" dirty="0">
                <a:solidFill>
                  <a:srgbClr val="667982"/>
                </a:solidFill>
                <a:highlight>
                  <a:srgbClr val="FF0000"/>
                </a:highlight>
                <a:latin typeface="Arial" panose="020B0604020202020204" pitchFamily="34" charset="0"/>
                <a:cs typeface="Arial" panose="020B0604020202020204" pitchFamily="34" charset="0"/>
              </a:rPr>
              <a:t>Only if the residuals are added  </a:t>
            </a:r>
            <a:endParaRPr lang="LID4096" sz="1400" dirty="0">
              <a:solidFill>
                <a:srgbClr val="667982"/>
              </a:solidFill>
              <a:highlight>
                <a:srgbClr val="FF0000"/>
              </a:highlight>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2150341F-1B44-4284-992E-1C343FA9FD51}"/>
              </a:ext>
            </a:extLst>
          </p:cNvPr>
          <p:cNvSpPr txBox="1"/>
          <p:nvPr/>
        </p:nvSpPr>
        <p:spPr>
          <a:xfrm>
            <a:off x="1706313" y="4240344"/>
            <a:ext cx="3221287" cy="523220"/>
          </a:xfrm>
          <a:prstGeom prst="rect">
            <a:avLst/>
          </a:prstGeom>
          <a:noFill/>
        </p:spPr>
        <p:txBody>
          <a:bodyPr wrap="square" rtlCol="0">
            <a:spAutoFit/>
          </a:bodyPr>
          <a:lstStyle/>
          <a:p>
            <a:pPr algn="l"/>
            <a:r>
              <a:rPr lang="en-US" sz="1400" dirty="0">
                <a:solidFill>
                  <a:srgbClr val="667982"/>
                </a:solidFill>
                <a:highlight>
                  <a:srgbClr val="FF0000"/>
                </a:highlight>
                <a:latin typeface="Arial" panose="020B0604020202020204" pitchFamily="34" charset="0"/>
                <a:cs typeface="Arial" panose="020B0604020202020204" pitchFamily="34" charset="0"/>
              </a:rPr>
              <a:t>And </a:t>
            </a:r>
            <a:r>
              <a:rPr lang="en-US" sz="1400" dirty="0" err="1">
                <a:solidFill>
                  <a:srgbClr val="667982"/>
                </a:solidFill>
                <a:highlight>
                  <a:srgbClr val="FF0000"/>
                </a:highlight>
                <a:latin typeface="Arial" panose="020B0604020202020204" pitchFamily="34" charset="0"/>
                <a:cs typeface="Arial" panose="020B0604020202020204" pitchFamily="34" charset="0"/>
              </a:rPr>
              <a:t>rhen</a:t>
            </a:r>
            <a:r>
              <a:rPr lang="en-US" sz="1400" dirty="0">
                <a:solidFill>
                  <a:srgbClr val="667982"/>
                </a:solidFill>
                <a:highlight>
                  <a:srgbClr val="FF0000"/>
                </a:highlight>
                <a:latin typeface="Arial" panose="020B0604020202020204" pitchFamily="34" charset="0"/>
                <a:cs typeface="Arial" panose="020B0604020202020204" pitchFamily="34" charset="0"/>
              </a:rPr>
              <a:t> other noises should also be added</a:t>
            </a:r>
            <a:endParaRPr lang="LID4096" sz="1400" dirty="0">
              <a:solidFill>
                <a:srgbClr val="667982"/>
              </a:solidFill>
              <a:highlight>
                <a:srgbClr val="FF0000"/>
              </a:highligh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90452895"/>
      </p:ext>
    </p:extLst>
  </p:cSld>
  <p:clrMapOvr>
    <a:masterClrMapping/>
  </p:clrMapOvr>
  <mc:AlternateContent xmlns:mc="http://schemas.openxmlformats.org/markup-compatibility/2006">
    <mc:Choice xmlns:p14="http://schemas.microsoft.com/office/powerpoint/2010/main" Requires="p14">
      <p:transition spd="slow" p14:dur="2000" advTm="113047"/>
    </mc:Choice>
    <mc:Fallback>
      <p:transition spd="slow" advTm="113047"/>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5826CC-5C4C-6BC9-4A21-0606D90A5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91450-D693-CD5E-6007-4E033147C0BF}"/>
              </a:ext>
            </a:extLst>
          </p:cNvPr>
          <p:cNvSpPr>
            <a:spLocks noGrp="1"/>
          </p:cNvSpPr>
          <p:nvPr>
            <p:ph type="title"/>
          </p:nvPr>
        </p:nvSpPr>
        <p:spPr/>
        <p:txBody>
          <a:bodyPr/>
          <a:lstStyle/>
          <a:p>
            <a:r>
              <a:rPr lang="en-US">
                <a:latin typeface="Helvetica"/>
                <a:cs typeface="Helvetica"/>
              </a:rPr>
              <a:t>Experiments so Far</a:t>
            </a:r>
            <a:endParaRPr lang="et-EE" b="0">
              <a:latin typeface="Helvetica"/>
              <a:cs typeface="Helvetica"/>
            </a:endParaRPr>
          </a:p>
        </p:txBody>
      </p:sp>
      <p:sp>
        <p:nvSpPr>
          <p:cNvPr id="4" name="Slide Number Placeholder 3">
            <a:extLst>
              <a:ext uri="{FF2B5EF4-FFF2-40B4-BE49-F238E27FC236}">
                <a16:creationId xmlns:a16="http://schemas.microsoft.com/office/drawing/2014/main" id="{9AE38460-C627-4D22-AEC7-03F0D8080A8D}"/>
              </a:ext>
            </a:extLst>
          </p:cNvPr>
          <p:cNvSpPr>
            <a:spLocks noGrp="1"/>
          </p:cNvSpPr>
          <p:nvPr>
            <p:ph type="sldNum" sz="quarter" idx="12"/>
          </p:nvPr>
        </p:nvSpPr>
        <p:spPr/>
        <p:txBody>
          <a:bodyPr/>
          <a:lstStyle/>
          <a:p>
            <a:fld id="{9F39E346-B1F3-4075-BD67-234EF0F10AC6}" type="slidenum">
              <a:rPr lang="en-US" noProof="0" smtClean="0"/>
              <a:pPr/>
              <a:t>20</a:t>
            </a:fld>
            <a:endParaRPr lang="en-US" noProof="0" dirty="0"/>
          </a:p>
        </p:txBody>
      </p:sp>
      <p:sp>
        <p:nvSpPr>
          <p:cNvPr id="6" name="Date Placeholder 5">
            <a:extLst>
              <a:ext uri="{FF2B5EF4-FFF2-40B4-BE49-F238E27FC236}">
                <a16:creationId xmlns:a16="http://schemas.microsoft.com/office/drawing/2014/main" id="{95858DAF-61BF-BFA0-1DA9-12720B979865}"/>
              </a:ext>
            </a:extLst>
          </p:cNvPr>
          <p:cNvSpPr>
            <a:spLocks noGrp="1"/>
          </p:cNvSpPr>
          <p:nvPr>
            <p:ph type="dt" sz="half" idx="10"/>
          </p:nvPr>
        </p:nvSpPr>
        <p:spPr/>
        <p:txBody>
          <a:bodyPr/>
          <a:lstStyle/>
          <a:p>
            <a:r>
              <a:rPr lang="LID4096"/>
              <a:t>23.06.2026</a:t>
            </a:r>
            <a:endParaRPr lang="et-EE" dirty="0"/>
          </a:p>
        </p:txBody>
      </p:sp>
      <p:sp>
        <p:nvSpPr>
          <p:cNvPr id="7" name="Footer Placeholder 6">
            <a:extLst>
              <a:ext uri="{FF2B5EF4-FFF2-40B4-BE49-F238E27FC236}">
                <a16:creationId xmlns:a16="http://schemas.microsoft.com/office/drawing/2014/main" id="{BA23E14E-4446-C8D3-113A-0782DAAE6897}"/>
              </a:ext>
            </a:extLst>
          </p:cNvPr>
          <p:cNvSpPr>
            <a:spLocks noGrp="1"/>
          </p:cNvSpPr>
          <p:nvPr>
            <p:ph type="ftr" sz="quarter" idx="11"/>
          </p:nvPr>
        </p:nvSpPr>
        <p:spPr/>
        <p:txBody>
          <a:bodyPr/>
          <a:lstStyle/>
          <a:p>
            <a:r>
              <a:rPr lang="en-US" dirty="0"/>
              <a:t>16th International LISA Symposium</a:t>
            </a:r>
            <a:endParaRPr lang="et-EE" dirty="0"/>
          </a:p>
        </p:txBody>
      </p:sp>
      <p:sp>
        <p:nvSpPr>
          <p:cNvPr id="12" name="Content Placeholder 2">
            <a:extLst>
              <a:ext uri="{FF2B5EF4-FFF2-40B4-BE49-F238E27FC236}">
                <a16:creationId xmlns:a16="http://schemas.microsoft.com/office/drawing/2014/main" id="{DE3F93BE-1157-43BA-825F-D9ADC37F2A22}"/>
              </a:ext>
            </a:extLst>
          </p:cNvPr>
          <p:cNvSpPr>
            <a:spLocks noGrp="1"/>
          </p:cNvSpPr>
          <p:nvPr>
            <p:ph idx="1"/>
          </p:nvPr>
        </p:nvSpPr>
        <p:spPr>
          <a:xfrm>
            <a:off x="224443" y="1161756"/>
            <a:ext cx="4703157" cy="4652022"/>
          </a:xfrm>
        </p:spPr>
        <p:txBody>
          <a:bodyPr/>
          <a:lstStyle/>
          <a:p>
            <a:endParaRPr lang="en-US" dirty="0"/>
          </a:p>
          <a:p>
            <a:endParaRPr lang="et-EE" dirty="0"/>
          </a:p>
        </p:txBody>
      </p:sp>
      <p:pic>
        <p:nvPicPr>
          <p:cNvPr id="8" name="Picture 7">
            <a:extLst>
              <a:ext uri="{FF2B5EF4-FFF2-40B4-BE49-F238E27FC236}">
                <a16:creationId xmlns:a16="http://schemas.microsoft.com/office/drawing/2014/main" id="{80C7F36F-0BE6-44B0-8935-8FDE8D19AA0F}"/>
              </a:ext>
            </a:extLst>
          </p:cNvPr>
          <p:cNvPicPr>
            <a:picLocks noChangeAspect="1"/>
          </p:cNvPicPr>
          <p:nvPr/>
        </p:nvPicPr>
        <p:blipFill>
          <a:blip r:embed="rId3"/>
          <a:stretch>
            <a:fillRect/>
          </a:stretch>
        </p:blipFill>
        <p:spPr>
          <a:xfrm>
            <a:off x="5298287" y="1715125"/>
            <a:ext cx="6320242" cy="4351202"/>
          </a:xfrm>
          <a:prstGeom prst="rect">
            <a:avLst/>
          </a:prstGeom>
        </p:spPr>
      </p:pic>
      <p:sp>
        <p:nvSpPr>
          <p:cNvPr id="13" name="TextBox 12">
            <a:extLst>
              <a:ext uri="{FF2B5EF4-FFF2-40B4-BE49-F238E27FC236}">
                <a16:creationId xmlns:a16="http://schemas.microsoft.com/office/drawing/2014/main" id="{1785AE95-5F85-497E-9EA5-E874146C9CE8}"/>
              </a:ext>
            </a:extLst>
          </p:cNvPr>
          <p:cNvSpPr txBox="1"/>
          <p:nvPr/>
        </p:nvSpPr>
        <p:spPr>
          <a:xfrm>
            <a:off x="341076" y="1874558"/>
            <a:ext cx="4816791" cy="1021883"/>
          </a:xfrm>
          <a:prstGeom prst="rect">
            <a:avLst/>
          </a:prstGeom>
          <a:noFill/>
        </p:spPr>
        <p:txBody>
          <a:bodyPr wrap="square" lIns="91440" tIns="45720" rIns="91440" bIns="45720" rtlCol="0" anchor="t">
            <a:spAutoFit/>
          </a:bodyPr>
          <a:lstStyle/>
          <a:p>
            <a:pPr>
              <a:lnSpc>
                <a:spcPct val="150000"/>
              </a:lnSpc>
            </a:pPr>
            <a:r>
              <a:rPr lang="en-US" sz="1400" dirty="0">
                <a:solidFill>
                  <a:srgbClr val="667982"/>
                </a:solidFill>
                <a:latin typeface="Arial"/>
                <a:cs typeface="Arial"/>
              </a:rPr>
              <a:t>A new baseline measurement with an optical signal and free running delay line board clock reveals a potential </a:t>
            </a:r>
            <a:r>
              <a:rPr lang="en-US" sz="1400">
                <a:solidFill>
                  <a:srgbClr val="667982"/>
                </a:solidFill>
                <a:latin typeface="Arial"/>
                <a:cs typeface="Arial"/>
              </a:rPr>
              <a:t>problem.</a:t>
            </a:r>
            <a:endParaRPr lang="LID4096" sz="1400">
              <a:solidFill>
                <a:srgbClr val="667982"/>
              </a:solidFill>
              <a:latin typeface="Arial"/>
              <a:cs typeface="Arial"/>
            </a:endParaRPr>
          </a:p>
        </p:txBody>
      </p:sp>
      <p:sp>
        <p:nvSpPr>
          <p:cNvPr id="5" name="Content Placeholder 2">
            <a:extLst>
              <a:ext uri="{FF2B5EF4-FFF2-40B4-BE49-F238E27FC236}">
                <a16:creationId xmlns:a16="http://schemas.microsoft.com/office/drawing/2014/main" id="{2E04BD2C-BD48-E6EE-2A47-EE6F96E04CF8}"/>
              </a:ext>
            </a:extLst>
          </p:cNvPr>
          <p:cNvSpPr txBox="1">
            <a:spLocks/>
          </p:cNvSpPr>
          <p:nvPr/>
        </p:nvSpPr>
        <p:spPr>
          <a:xfrm>
            <a:off x="331592" y="988653"/>
            <a:ext cx="11301513" cy="506358"/>
          </a:xfrm>
          <a:prstGeom prst="rect">
            <a:avLst/>
          </a:prstGeom>
        </p:spPr>
        <p:txBody>
          <a:bodyPr vert="horz" lIns="91440" tIns="45720" rIns="91440" bIns="45720" rtlCol="0" anchor="t">
            <a:normAutofit/>
          </a:bodyPr>
          <a:lstStyle>
            <a:lvl1pPr marL="91440" indent="-228600" algn="l" defTabSz="914400" rtl="0" eaLnBrk="1" latinLnBrk="0" hangingPunct="1">
              <a:lnSpc>
                <a:spcPct val="100000"/>
              </a:lnSpc>
              <a:spcBef>
                <a:spcPts val="10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b="0" kern="1200">
                <a:solidFill>
                  <a:srgbClr val="667982"/>
                </a:solidFill>
                <a:latin typeface="Helvetica" pitchFamily="2" charset="0"/>
                <a:ea typeface="+mn-ea"/>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b="0" kern="1200">
                <a:solidFill>
                  <a:srgbClr val="667982"/>
                </a:solidFill>
                <a:latin typeface="Helvetica" pitchFamily="2" charset="0"/>
                <a:ea typeface="+mn-ea"/>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kern="1200">
                <a:solidFill>
                  <a:srgbClr val="667982"/>
                </a:solidFill>
                <a:latin typeface="Helvetica" pitchFamily="2"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a:latin typeface="Helvetica"/>
                <a:cs typeface="Arial"/>
              </a:rPr>
              <a:t>Tests of Delay Line Board Clock Phase Noise</a:t>
            </a:r>
            <a:endParaRPr lang="en-US" sz="2000"/>
          </a:p>
        </p:txBody>
      </p:sp>
      <p:pic>
        <p:nvPicPr>
          <p:cNvPr id="14" name="Graphic 13">
            <a:extLst>
              <a:ext uri="{FF2B5EF4-FFF2-40B4-BE49-F238E27FC236}">
                <a16:creationId xmlns:a16="http://schemas.microsoft.com/office/drawing/2014/main" id="{0EB02806-D553-45C1-8ED3-7D6D1D2A8DD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1773" y="3736507"/>
            <a:ext cx="4766625" cy="1375487"/>
          </a:xfrm>
          <a:prstGeom prst="rect">
            <a:avLst/>
          </a:prstGeom>
        </p:spPr>
      </p:pic>
    </p:spTree>
    <p:extLst>
      <p:ext uri="{BB962C8B-B14F-4D97-AF65-F5344CB8AC3E}">
        <p14:creationId xmlns:p14="http://schemas.microsoft.com/office/powerpoint/2010/main" val="1736699342"/>
      </p:ext>
    </p:extLst>
  </p:cSld>
  <p:clrMapOvr>
    <a:masterClrMapping/>
  </p:clrMapOvr>
  <mc:AlternateContent xmlns:mc="http://schemas.openxmlformats.org/markup-compatibility/2006" xmlns:p14="http://schemas.microsoft.com/office/powerpoint/2010/main">
    <mc:Choice Requires="p14">
      <p:transition spd="slow" p14:dur="2000" advTm="113047"/>
    </mc:Choice>
    <mc:Fallback xmlns="">
      <p:transition spd="slow" advTm="113047"/>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8B29D3-61A0-11BF-0E79-F5A9A8866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B45B0-E716-5B13-C8A6-61CB8E5EF1F3}"/>
              </a:ext>
            </a:extLst>
          </p:cNvPr>
          <p:cNvSpPr>
            <a:spLocks noGrp="1"/>
          </p:cNvSpPr>
          <p:nvPr>
            <p:ph type="title"/>
          </p:nvPr>
        </p:nvSpPr>
        <p:spPr/>
        <p:txBody>
          <a:bodyPr/>
          <a:lstStyle/>
          <a:p>
            <a:r>
              <a:rPr lang="en-US">
                <a:latin typeface="Helvetica"/>
                <a:cs typeface="Arial"/>
              </a:rPr>
              <a:t>Experiments so Far</a:t>
            </a:r>
            <a:endParaRPr lang="et-EE" dirty="0"/>
          </a:p>
        </p:txBody>
      </p:sp>
      <p:sp>
        <p:nvSpPr>
          <p:cNvPr id="4" name="Slide Number Placeholder 3">
            <a:extLst>
              <a:ext uri="{FF2B5EF4-FFF2-40B4-BE49-F238E27FC236}">
                <a16:creationId xmlns:a16="http://schemas.microsoft.com/office/drawing/2014/main" id="{D6009217-8DE7-2E62-D338-9927CAB79362}"/>
              </a:ext>
            </a:extLst>
          </p:cNvPr>
          <p:cNvSpPr>
            <a:spLocks noGrp="1"/>
          </p:cNvSpPr>
          <p:nvPr>
            <p:ph type="sldNum" sz="quarter" idx="12"/>
          </p:nvPr>
        </p:nvSpPr>
        <p:spPr/>
        <p:txBody>
          <a:bodyPr/>
          <a:lstStyle/>
          <a:p>
            <a:fld id="{9F39E346-B1F3-4075-BD67-234EF0F10AC6}" type="slidenum">
              <a:rPr lang="et-EE" smtClean="0"/>
              <a:pPr/>
              <a:t>21</a:t>
            </a:fld>
            <a:endParaRPr lang="et-EE" dirty="0"/>
          </a:p>
        </p:txBody>
      </p:sp>
      <p:pic>
        <p:nvPicPr>
          <p:cNvPr id="8" name="Picture 7" descr="A close-up of a graph&#10;&#10;AI-generated content may be incorrect.">
            <a:extLst>
              <a:ext uri="{FF2B5EF4-FFF2-40B4-BE49-F238E27FC236}">
                <a16:creationId xmlns:a16="http://schemas.microsoft.com/office/drawing/2014/main" id="{9F8BC057-3266-6B4F-E196-6B8F3690442B}"/>
              </a:ext>
            </a:extLst>
          </p:cNvPr>
          <p:cNvPicPr>
            <a:picLocks noChangeAspect="1"/>
          </p:cNvPicPr>
          <p:nvPr/>
        </p:nvPicPr>
        <p:blipFill>
          <a:blip r:embed="rId3"/>
          <a:stretch>
            <a:fillRect/>
          </a:stretch>
        </p:blipFill>
        <p:spPr>
          <a:xfrm>
            <a:off x="228701" y="1923296"/>
            <a:ext cx="11404392" cy="3803309"/>
          </a:xfrm>
          <a:prstGeom prst="rect">
            <a:avLst/>
          </a:prstGeom>
        </p:spPr>
      </p:pic>
      <p:sp>
        <p:nvSpPr>
          <p:cNvPr id="11" name="TextBox 10">
            <a:extLst>
              <a:ext uri="{FF2B5EF4-FFF2-40B4-BE49-F238E27FC236}">
                <a16:creationId xmlns:a16="http://schemas.microsoft.com/office/drawing/2014/main" id="{50CA1F94-AB10-2E1A-8631-A94B04E05942}"/>
              </a:ext>
            </a:extLst>
          </p:cNvPr>
          <p:cNvSpPr txBox="1"/>
          <p:nvPr/>
        </p:nvSpPr>
        <p:spPr>
          <a:xfrm>
            <a:off x="6096000" y="5725117"/>
            <a:ext cx="5537093" cy="307777"/>
          </a:xfrm>
          <a:prstGeom prst="rect">
            <a:avLst/>
          </a:prstGeom>
          <a:noFill/>
        </p:spPr>
        <p:txBody>
          <a:bodyPr wrap="none" rtlCol="0">
            <a:spAutoFit/>
          </a:bodyPr>
          <a:lstStyle/>
          <a:p>
            <a:r>
              <a:rPr lang="en-US" sz="1400" dirty="0">
                <a:solidFill>
                  <a:srgbClr val="323232"/>
                </a:solidFill>
                <a:latin typeface="Arial" panose="020B0604020202020204" pitchFamily="34" charset="0"/>
                <a:cs typeface="Arial" panose="020B0604020202020204" pitchFamily="34" charset="0"/>
              </a:rPr>
              <a:t>R. Ferguson </a:t>
            </a:r>
            <a:r>
              <a:rPr lang="en-US" sz="1400" i="1" dirty="0">
                <a:solidFill>
                  <a:srgbClr val="323232"/>
                </a:solidFill>
                <a:latin typeface="Arial" panose="020B0604020202020204" pitchFamily="34" charset="0"/>
                <a:cs typeface="Arial" panose="020B0604020202020204" pitchFamily="34" charset="0"/>
              </a:rPr>
              <a:t>et al</a:t>
            </a:r>
            <a:r>
              <a:rPr lang="en-US" sz="1400" dirty="0">
                <a:solidFill>
                  <a:srgbClr val="323232"/>
                </a:solidFill>
                <a:latin typeface="Arial" panose="020B0604020202020204" pitchFamily="34" charset="0"/>
                <a:cs typeface="Arial" panose="020B0604020202020204" pitchFamily="34" charset="0"/>
              </a:rPr>
              <a:t>., </a:t>
            </a:r>
            <a:r>
              <a:rPr lang="en-US" sz="1400" i="1" dirty="0">
                <a:solidFill>
                  <a:srgbClr val="323232"/>
                </a:solidFill>
                <a:latin typeface="Arial" panose="020B0604020202020204" pitchFamily="34" charset="0"/>
                <a:cs typeface="Arial" panose="020B0604020202020204" pitchFamily="34" charset="0"/>
              </a:rPr>
              <a:t>Applying TDI to Hardware-Simulated Data</a:t>
            </a:r>
            <a:r>
              <a:rPr lang="en-US" sz="1400" dirty="0">
                <a:solidFill>
                  <a:srgbClr val="323232"/>
                </a:solidFill>
                <a:latin typeface="Arial" panose="020B0604020202020204" pitchFamily="34" charset="0"/>
                <a:cs typeface="Arial" panose="020B0604020202020204" pitchFamily="34" charset="0"/>
              </a:rPr>
              <a:t>, 2025</a:t>
            </a:r>
            <a:endParaRPr lang="et-EE" sz="1400" dirty="0">
              <a:solidFill>
                <a:srgbClr val="323232"/>
              </a:solidFill>
              <a:latin typeface="Arial" panose="020B0604020202020204" pitchFamily="34" charset="0"/>
              <a:cs typeface="Arial" panose="020B0604020202020204" pitchFamily="34" charset="0"/>
            </a:endParaRPr>
          </a:p>
        </p:txBody>
      </p:sp>
      <p:sp>
        <p:nvSpPr>
          <p:cNvPr id="12" name="Date Placeholder 11">
            <a:extLst>
              <a:ext uri="{FF2B5EF4-FFF2-40B4-BE49-F238E27FC236}">
                <a16:creationId xmlns:a16="http://schemas.microsoft.com/office/drawing/2014/main" id="{7826941B-A5AA-80E4-DA25-D7824FECADF8}"/>
              </a:ext>
            </a:extLst>
          </p:cNvPr>
          <p:cNvSpPr>
            <a:spLocks noGrp="1"/>
          </p:cNvSpPr>
          <p:nvPr>
            <p:ph type="dt" sz="half" idx="10"/>
          </p:nvPr>
        </p:nvSpPr>
        <p:spPr/>
        <p:txBody>
          <a:bodyPr/>
          <a:lstStyle/>
          <a:p>
            <a:r>
              <a:rPr lang="LID4096"/>
              <a:t>23.06.2026</a:t>
            </a:r>
            <a:endParaRPr lang="et-EE" dirty="0"/>
          </a:p>
        </p:txBody>
      </p:sp>
      <p:sp>
        <p:nvSpPr>
          <p:cNvPr id="13" name="Footer Placeholder 12">
            <a:extLst>
              <a:ext uri="{FF2B5EF4-FFF2-40B4-BE49-F238E27FC236}">
                <a16:creationId xmlns:a16="http://schemas.microsoft.com/office/drawing/2014/main" id="{B91872D0-6525-8475-B34F-E953A18BAEE8}"/>
              </a:ext>
            </a:extLst>
          </p:cNvPr>
          <p:cNvSpPr>
            <a:spLocks noGrp="1"/>
          </p:cNvSpPr>
          <p:nvPr>
            <p:ph type="ftr" sz="quarter" idx="11"/>
          </p:nvPr>
        </p:nvSpPr>
        <p:spPr/>
        <p:txBody>
          <a:bodyPr/>
          <a:lstStyle/>
          <a:p>
            <a:r>
              <a:rPr lang="en-US" dirty="0"/>
              <a:t>16th International LISA Symposium</a:t>
            </a:r>
            <a:endParaRPr lang="et-EE" dirty="0"/>
          </a:p>
        </p:txBody>
      </p:sp>
      <p:pic>
        <p:nvPicPr>
          <p:cNvPr id="16" name="Picture 15">
            <a:extLst>
              <a:ext uri="{FF2B5EF4-FFF2-40B4-BE49-F238E27FC236}">
                <a16:creationId xmlns:a16="http://schemas.microsoft.com/office/drawing/2014/main" id="{A3D99B80-29FF-503F-B919-DE4CC7398B4B}"/>
              </a:ext>
            </a:extLst>
          </p:cNvPr>
          <p:cNvPicPr>
            <a:picLocks noChangeAspect="1"/>
          </p:cNvPicPr>
          <p:nvPr/>
        </p:nvPicPr>
        <p:blipFill>
          <a:blip r:embed="rId4"/>
          <a:stretch>
            <a:fillRect/>
          </a:stretch>
        </p:blipFill>
        <p:spPr>
          <a:xfrm>
            <a:off x="6209799" y="1495087"/>
            <a:ext cx="5423294" cy="590476"/>
          </a:xfrm>
          <a:prstGeom prst="rect">
            <a:avLst/>
          </a:prstGeom>
        </p:spPr>
      </p:pic>
      <p:sp>
        <p:nvSpPr>
          <p:cNvPr id="5" name="Content Placeholder 2">
            <a:extLst>
              <a:ext uri="{FF2B5EF4-FFF2-40B4-BE49-F238E27FC236}">
                <a16:creationId xmlns:a16="http://schemas.microsoft.com/office/drawing/2014/main" id="{54D0D5E0-D2B3-DC6F-A458-233C944EA817}"/>
              </a:ext>
            </a:extLst>
          </p:cNvPr>
          <p:cNvSpPr>
            <a:spLocks noGrp="1"/>
          </p:cNvSpPr>
          <p:nvPr>
            <p:ph idx="1"/>
          </p:nvPr>
        </p:nvSpPr>
        <p:spPr>
          <a:xfrm>
            <a:off x="331592" y="988653"/>
            <a:ext cx="11301513" cy="506358"/>
          </a:xfrm>
        </p:spPr>
        <p:txBody>
          <a:bodyPr vert="horz" lIns="91440" tIns="45720" rIns="91440" bIns="45720" rtlCol="0" anchor="t">
            <a:normAutofit/>
          </a:bodyPr>
          <a:lstStyle/>
          <a:p>
            <a:pPr marL="0" indent="0">
              <a:buNone/>
            </a:pPr>
            <a:r>
              <a:rPr lang="en-US" sz="2000">
                <a:latin typeface="Helvetica"/>
                <a:cs typeface="Arial"/>
              </a:rPr>
              <a:t>Fully electronic tests of TDI.</a:t>
            </a:r>
            <a:endParaRPr lang="en-US" sz="2000" noProof="0"/>
          </a:p>
        </p:txBody>
      </p:sp>
    </p:spTree>
    <p:extLst>
      <p:ext uri="{BB962C8B-B14F-4D97-AF65-F5344CB8AC3E}">
        <p14:creationId xmlns:p14="http://schemas.microsoft.com/office/powerpoint/2010/main" val="4022390619"/>
      </p:ext>
    </p:extLst>
  </p:cSld>
  <p:clrMapOvr>
    <a:masterClrMapping/>
  </p:clrMapOvr>
  <mc:AlternateContent xmlns:mc="http://schemas.openxmlformats.org/markup-compatibility/2006" xmlns:p14="http://schemas.microsoft.com/office/powerpoint/2010/main">
    <mc:Choice Requires="p14">
      <p:transition spd="slow" p14:dur="2000" advTm="66238"/>
    </mc:Choice>
    <mc:Fallback xmlns="">
      <p:transition spd="slow" advTm="66238"/>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E692BC-5D04-12E0-7F65-0227E5C29CB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08E3B6D2-33FF-4BE7-3563-45DB85285476}"/>
              </a:ext>
            </a:extLst>
          </p:cNvPr>
          <p:cNvGrpSpPr/>
          <p:nvPr/>
        </p:nvGrpSpPr>
        <p:grpSpPr>
          <a:xfrm>
            <a:off x="2143062" y="1715801"/>
            <a:ext cx="7376596" cy="4460219"/>
            <a:chOff x="1742532" y="1024639"/>
            <a:chExt cx="8199828" cy="4909255"/>
          </a:xfrm>
        </p:grpSpPr>
        <p:pic>
          <p:nvPicPr>
            <p:cNvPr id="5" name="Picture 4">
              <a:extLst>
                <a:ext uri="{FF2B5EF4-FFF2-40B4-BE49-F238E27FC236}">
                  <a16:creationId xmlns:a16="http://schemas.microsoft.com/office/drawing/2014/main" id="{8FD17766-9253-4EE2-98ED-07E6BFB11759}"/>
                </a:ext>
              </a:extLst>
            </p:cNvPr>
            <p:cNvPicPr>
              <a:picLocks noChangeAspect="1"/>
            </p:cNvPicPr>
            <p:nvPr/>
          </p:nvPicPr>
          <p:blipFill>
            <a:blip r:embed="rId3"/>
            <a:stretch>
              <a:fillRect/>
            </a:stretch>
          </p:blipFill>
          <p:spPr>
            <a:xfrm>
              <a:off x="1742532" y="1024639"/>
              <a:ext cx="8199828" cy="4909255"/>
            </a:xfrm>
            <a:prstGeom prst="rect">
              <a:avLst/>
            </a:prstGeom>
          </p:spPr>
        </p:pic>
        <p:sp>
          <p:nvSpPr>
            <p:cNvPr id="6" name="TextBox 5">
              <a:extLst>
                <a:ext uri="{FF2B5EF4-FFF2-40B4-BE49-F238E27FC236}">
                  <a16:creationId xmlns:a16="http://schemas.microsoft.com/office/drawing/2014/main" id="{EDA59605-C185-40C8-8260-0EDE25A81F68}"/>
                </a:ext>
              </a:extLst>
            </p:cNvPr>
            <p:cNvSpPr txBox="1"/>
            <p:nvPr/>
          </p:nvSpPr>
          <p:spPr>
            <a:xfrm>
              <a:off x="5332672" y="3378200"/>
              <a:ext cx="2209414" cy="575896"/>
            </a:xfrm>
            <a:prstGeom prst="rect">
              <a:avLst/>
            </a:prstGeom>
            <a:solidFill>
              <a:schemeClr val="tx1"/>
            </a:solidFill>
            <a:ln>
              <a:solidFill>
                <a:schemeClr val="bg1"/>
              </a:solidFill>
              <a:prstDash val="dash"/>
            </a:ln>
          </p:spPr>
          <p:txBody>
            <a:bodyPr wrap="square" rtlCol="0">
              <a:spAutoFit/>
            </a:bodyPr>
            <a:lstStyle/>
            <a:p>
              <a:pPr algn="l"/>
              <a:r>
                <a:rPr lang="et-EE" sz="1400" dirty="0">
                  <a:solidFill>
                    <a:schemeClr val="bg1"/>
                  </a:solidFill>
                  <a:highlight>
                    <a:srgbClr val="D8DFE3"/>
                  </a:highlight>
                  <a:latin typeface="Courier New" panose="02070309020205020404" pitchFamily="49" charset="0"/>
                  <a:cs typeface="Courier New" panose="02070309020205020404" pitchFamily="49" charset="0"/>
                </a:rPr>
                <a:t>Strain amplitude 4.35×10</a:t>
              </a:r>
              <a:r>
                <a:rPr lang="et-EE" sz="1400" baseline="30000" dirty="0">
                  <a:solidFill>
                    <a:schemeClr val="bg1"/>
                  </a:solidFill>
                  <a:highlight>
                    <a:srgbClr val="D8DFE3"/>
                  </a:highlight>
                  <a:latin typeface="Courier New" panose="02070309020205020404" pitchFamily="49" charset="0"/>
                  <a:cs typeface="Courier New" panose="02070309020205020404" pitchFamily="49" charset="0"/>
                </a:rPr>
                <a:t>−20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sp>
          <p:nvSpPr>
            <p:cNvPr id="7" name="TextBox 6">
              <a:extLst>
                <a:ext uri="{FF2B5EF4-FFF2-40B4-BE49-F238E27FC236}">
                  <a16:creationId xmlns:a16="http://schemas.microsoft.com/office/drawing/2014/main" id="{B7D864D7-4659-44D5-93C7-DADE89854019}"/>
                </a:ext>
              </a:extLst>
            </p:cNvPr>
            <p:cNvSpPr txBox="1"/>
            <p:nvPr/>
          </p:nvSpPr>
          <p:spPr>
            <a:xfrm>
              <a:off x="4046688" y="2681182"/>
              <a:ext cx="1069906" cy="338763"/>
            </a:xfrm>
            <a:prstGeom prst="rect">
              <a:avLst/>
            </a:prstGeom>
            <a:solidFill>
              <a:schemeClr val="tx1"/>
            </a:solidFill>
            <a:ln>
              <a:solidFill>
                <a:schemeClr val="bg1"/>
              </a:solidFill>
              <a:prstDash val="dash"/>
            </a:ln>
          </p:spPr>
          <p:txBody>
            <a:bodyPr wrap="square" rtlCol="0">
              <a:spAutoFit/>
            </a:bodyPr>
            <a:lstStyle/>
            <a:p>
              <a:pPr algn="l"/>
              <a:r>
                <a:rPr lang="en-US" sz="1400" dirty="0">
                  <a:solidFill>
                    <a:schemeClr val="bg1"/>
                  </a:solidFill>
                  <a:highlight>
                    <a:srgbClr val="D8DFE3"/>
                  </a:highlight>
                  <a:latin typeface="Courier New" panose="02070309020205020404" pitchFamily="49" charset="0"/>
                  <a:cs typeface="Courier New" panose="02070309020205020404" pitchFamily="49" charset="0"/>
                </a:rPr>
                <a:t>TDI 1.0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sp>
          <p:nvSpPr>
            <p:cNvPr id="3" name="Rectangle 2">
              <a:extLst>
                <a:ext uri="{FF2B5EF4-FFF2-40B4-BE49-F238E27FC236}">
                  <a16:creationId xmlns:a16="http://schemas.microsoft.com/office/drawing/2014/main" id="{A7027607-EC24-4EE7-885B-340442F6FB63}"/>
                </a:ext>
              </a:extLst>
            </p:cNvPr>
            <p:cNvSpPr/>
            <p:nvPr/>
          </p:nvSpPr>
          <p:spPr>
            <a:xfrm>
              <a:off x="4046688" y="3936097"/>
              <a:ext cx="1085031" cy="348122"/>
            </a:xfrm>
            <a:prstGeom prst="rect">
              <a:avLst/>
            </a:prstGeom>
            <a:solidFill>
              <a:schemeClr val="tx1"/>
            </a:solidFill>
            <a:ln w="9525">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highlight>
                    <a:srgbClr val="D8DFE3"/>
                  </a:highlight>
                  <a:latin typeface="Courier New" panose="02070309020205020404" pitchFamily="49" charset="0"/>
                  <a:cs typeface="Courier New" panose="02070309020205020404" pitchFamily="49" charset="0"/>
                </a:rPr>
                <a:t>TDI 2.0</a:t>
              </a:r>
              <a:endParaRPr lang="LID4096" sz="1400" dirty="0">
                <a:solidFill>
                  <a:schemeClr val="bg1"/>
                </a:solidFill>
                <a:highlight>
                  <a:srgbClr val="D8DFE3"/>
                </a:highlight>
                <a:latin typeface="Courier New" panose="02070309020205020404" pitchFamily="49" charset="0"/>
                <a:cs typeface="Courier New" panose="02070309020205020404" pitchFamily="49" charset="0"/>
              </a:endParaRPr>
            </a:p>
          </p:txBody>
        </p:sp>
      </p:grpSp>
      <p:sp>
        <p:nvSpPr>
          <p:cNvPr id="2" name="Title 1">
            <a:extLst>
              <a:ext uri="{FF2B5EF4-FFF2-40B4-BE49-F238E27FC236}">
                <a16:creationId xmlns:a16="http://schemas.microsoft.com/office/drawing/2014/main" id="{A1E2004A-8C3A-8DA8-42F2-B8BAC8661CF0}"/>
              </a:ext>
            </a:extLst>
          </p:cNvPr>
          <p:cNvSpPr>
            <a:spLocks noGrp="1"/>
          </p:cNvSpPr>
          <p:nvPr>
            <p:ph type="title"/>
          </p:nvPr>
        </p:nvSpPr>
        <p:spPr/>
        <p:txBody>
          <a:bodyPr>
            <a:normAutofit/>
          </a:bodyPr>
          <a:lstStyle/>
          <a:p>
            <a:r>
              <a:rPr lang="en-US" noProof="0" dirty="0"/>
              <a:t>Predecessor Testbed</a:t>
            </a:r>
          </a:p>
        </p:txBody>
      </p:sp>
      <p:sp>
        <p:nvSpPr>
          <p:cNvPr id="4" name="Slide Number Placeholder 3">
            <a:extLst>
              <a:ext uri="{FF2B5EF4-FFF2-40B4-BE49-F238E27FC236}">
                <a16:creationId xmlns:a16="http://schemas.microsoft.com/office/drawing/2014/main" id="{33D03556-D078-1238-23F2-77D595FE2839}"/>
              </a:ext>
            </a:extLst>
          </p:cNvPr>
          <p:cNvSpPr>
            <a:spLocks noGrp="1"/>
          </p:cNvSpPr>
          <p:nvPr>
            <p:ph type="sldNum" sz="quarter" idx="12"/>
          </p:nvPr>
        </p:nvSpPr>
        <p:spPr/>
        <p:txBody>
          <a:bodyPr/>
          <a:lstStyle/>
          <a:p>
            <a:fld id="{9F39E346-B1F3-4075-BD67-234EF0F10AC6}" type="slidenum">
              <a:rPr lang="en-US" noProof="0" smtClean="0"/>
              <a:pPr/>
              <a:t>22</a:t>
            </a:fld>
            <a:endParaRPr lang="en-US" noProof="0" dirty="0"/>
          </a:p>
        </p:txBody>
      </p:sp>
      <p:sp>
        <p:nvSpPr>
          <p:cNvPr id="10" name="Content Placeholder 2">
            <a:extLst>
              <a:ext uri="{FF2B5EF4-FFF2-40B4-BE49-F238E27FC236}">
                <a16:creationId xmlns:a16="http://schemas.microsoft.com/office/drawing/2014/main" id="{9A34A598-540E-5734-16C9-2C47F725D56A}"/>
              </a:ext>
            </a:extLst>
          </p:cNvPr>
          <p:cNvSpPr>
            <a:spLocks noGrp="1"/>
          </p:cNvSpPr>
          <p:nvPr>
            <p:ph idx="1"/>
          </p:nvPr>
        </p:nvSpPr>
        <p:spPr>
          <a:xfrm>
            <a:off x="348620" y="1231301"/>
            <a:ext cx="11301513" cy="506358"/>
          </a:xfrm>
        </p:spPr>
        <p:txBody>
          <a:bodyPr>
            <a:normAutofit/>
          </a:bodyPr>
          <a:lstStyle/>
          <a:p>
            <a:pPr marL="0" indent="0">
              <a:buNone/>
            </a:pPr>
            <a:r>
              <a:rPr lang="en-US" sz="1800" noProof="0" dirty="0"/>
              <a:t>Results from University of Florida Laser Interferometry Simulator</a:t>
            </a:r>
          </a:p>
        </p:txBody>
      </p:sp>
      <p:sp>
        <p:nvSpPr>
          <p:cNvPr id="11" name="Date Placeholder 10">
            <a:extLst>
              <a:ext uri="{FF2B5EF4-FFF2-40B4-BE49-F238E27FC236}">
                <a16:creationId xmlns:a16="http://schemas.microsoft.com/office/drawing/2014/main" id="{6A23D580-B774-F957-40F9-5D9F9AA338E7}"/>
              </a:ext>
            </a:extLst>
          </p:cNvPr>
          <p:cNvSpPr>
            <a:spLocks noGrp="1"/>
          </p:cNvSpPr>
          <p:nvPr>
            <p:ph type="dt" sz="half" idx="10"/>
          </p:nvPr>
        </p:nvSpPr>
        <p:spPr/>
        <p:txBody>
          <a:bodyPr/>
          <a:lstStyle/>
          <a:p>
            <a:r>
              <a:rPr lang="LID4096"/>
              <a:t>23.06.2026</a:t>
            </a:r>
            <a:endParaRPr lang="et-EE" dirty="0"/>
          </a:p>
        </p:txBody>
      </p:sp>
      <p:sp>
        <p:nvSpPr>
          <p:cNvPr id="12" name="Footer Placeholder 11">
            <a:extLst>
              <a:ext uri="{FF2B5EF4-FFF2-40B4-BE49-F238E27FC236}">
                <a16:creationId xmlns:a16="http://schemas.microsoft.com/office/drawing/2014/main" id="{B06F9ECD-4246-B8E3-DDAC-75294EBD17DA}"/>
              </a:ext>
            </a:extLst>
          </p:cNvPr>
          <p:cNvSpPr>
            <a:spLocks noGrp="1"/>
          </p:cNvSpPr>
          <p:nvPr>
            <p:ph type="ftr" sz="quarter" idx="11"/>
          </p:nvPr>
        </p:nvSpPr>
        <p:spPr/>
        <p:txBody>
          <a:bodyPr/>
          <a:lstStyle/>
          <a:p>
            <a:r>
              <a:rPr lang="en-US" dirty="0"/>
              <a:t>16th International LISA Symposium</a:t>
            </a:r>
            <a:endParaRPr lang="et-EE" dirty="0"/>
          </a:p>
        </p:txBody>
      </p:sp>
      <p:sp>
        <p:nvSpPr>
          <p:cNvPr id="14" name="TextBox 13">
            <a:extLst>
              <a:ext uri="{FF2B5EF4-FFF2-40B4-BE49-F238E27FC236}">
                <a16:creationId xmlns:a16="http://schemas.microsoft.com/office/drawing/2014/main" id="{D5C9A108-DB7E-46DC-94D7-46A20921A60C}"/>
              </a:ext>
            </a:extLst>
          </p:cNvPr>
          <p:cNvSpPr txBox="1"/>
          <p:nvPr/>
        </p:nvSpPr>
        <p:spPr>
          <a:xfrm>
            <a:off x="8799041" y="6415801"/>
            <a:ext cx="1723485" cy="246221"/>
          </a:xfrm>
          <a:prstGeom prst="rect">
            <a:avLst/>
          </a:prstGeom>
          <a:noFill/>
        </p:spPr>
        <p:txBody>
          <a:bodyPr wrap="square">
            <a:spAutoFit/>
          </a:bodyPr>
          <a:lstStyle/>
          <a:p>
            <a:r>
              <a:rPr lang="en-US" sz="1000" noProof="0" dirty="0">
                <a:solidFill>
                  <a:srgbClr val="667982"/>
                </a:solidFill>
                <a:highlight>
                  <a:srgbClr val="D8DFE3"/>
                </a:highlight>
                <a:latin typeface="Helvetica" pitchFamily="2" charset="0"/>
                <a:cs typeface="Arial" panose="020B0604020202020204" pitchFamily="34" charset="0"/>
              </a:rPr>
              <a:t>Credit: </a:t>
            </a:r>
            <a:r>
              <a:rPr lang="en-US" sz="1000" dirty="0" err="1">
                <a:solidFill>
                  <a:srgbClr val="667982"/>
                </a:solidFill>
                <a:highlight>
                  <a:srgbClr val="D8DFE3"/>
                </a:highlight>
                <a:latin typeface="Helvetica" pitchFamily="2" charset="0"/>
                <a:cs typeface="Arial" panose="020B0604020202020204" pitchFamily="34" charset="0"/>
              </a:rPr>
              <a:t>Mitryk</a:t>
            </a:r>
            <a:r>
              <a:rPr lang="en-US" sz="1000" noProof="0" dirty="0">
                <a:solidFill>
                  <a:srgbClr val="667982"/>
                </a:solidFill>
                <a:highlight>
                  <a:srgbClr val="D8DFE3"/>
                </a:highlight>
                <a:latin typeface="Helvetica" pitchFamily="2" charset="0"/>
                <a:cs typeface="Arial" panose="020B0604020202020204" pitchFamily="34" charset="0"/>
              </a:rPr>
              <a:t>, 2012</a:t>
            </a:r>
          </a:p>
        </p:txBody>
      </p:sp>
    </p:spTree>
    <p:extLst>
      <p:ext uri="{BB962C8B-B14F-4D97-AF65-F5344CB8AC3E}">
        <p14:creationId xmlns:p14="http://schemas.microsoft.com/office/powerpoint/2010/main" val="1428808930"/>
      </p:ext>
    </p:extLst>
  </p:cSld>
  <p:clrMapOvr>
    <a:masterClrMapping/>
  </p:clrMapOvr>
  <mc:AlternateContent xmlns:mc="http://schemas.openxmlformats.org/markup-compatibility/2006">
    <mc:Choice xmlns:p14="http://schemas.microsoft.com/office/powerpoint/2010/main" Requires="p14">
      <p:transition spd="slow" p14:dur="2000" advTm="96214"/>
    </mc:Choice>
    <mc:Fallback>
      <p:transition spd="slow" advTm="96214"/>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79F2B7-3E97-987C-1F8F-BFFDB77472C5}"/>
            </a:ext>
          </a:extLst>
        </p:cNvPr>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CB0E40C1-D0F4-5B81-7D0B-7B7EA7C1B50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flipV="1">
            <a:off x="347080" y="1258658"/>
            <a:ext cx="6512410" cy="4898608"/>
          </a:xfrm>
        </p:spPr>
      </p:pic>
      <p:sp>
        <p:nvSpPr>
          <p:cNvPr id="2" name="Title 1">
            <a:extLst>
              <a:ext uri="{FF2B5EF4-FFF2-40B4-BE49-F238E27FC236}">
                <a16:creationId xmlns:a16="http://schemas.microsoft.com/office/drawing/2014/main" id="{8FD3DE69-A0A5-0E67-45B2-66D4B04D1A8B}"/>
              </a:ext>
            </a:extLst>
          </p:cNvPr>
          <p:cNvSpPr>
            <a:spLocks noGrp="1"/>
          </p:cNvSpPr>
          <p:nvPr>
            <p:ph type="title"/>
          </p:nvPr>
        </p:nvSpPr>
        <p:spPr/>
        <p:txBody>
          <a:bodyPr/>
          <a:lstStyle/>
          <a:p>
            <a:r>
              <a:rPr lang="en-US" noProof="0" dirty="0"/>
              <a:t>LISA Laser Frequency Noise</a:t>
            </a:r>
          </a:p>
        </p:txBody>
      </p:sp>
      <p:sp>
        <p:nvSpPr>
          <p:cNvPr id="11" name="TextBox 10">
            <a:extLst>
              <a:ext uri="{FF2B5EF4-FFF2-40B4-BE49-F238E27FC236}">
                <a16:creationId xmlns:a16="http://schemas.microsoft.com/office/drawing/2014/main" id="{03606E55-529A-F087-D786-76F77DA97E66}"/>
              </a:ext>
            </a:extLst>
          </p:cNvPr>
          <p:cNvSpPr txBox="1"/>
          <p:nvPr/>
        </p:nvSpPr>
        <p:spPr>
          <a:xfrm>
            <a:off x="2105900" y="6415801"/>
            <a:ext cx="1723485" cy="246221"/>
          </a:xfrm>
          <a:prstGeom prst="rect">
            <a:avLst/>
          </a:prstGeom>
          <a:noFill/>
        </p:spPr>
        <p:txBody>
          <a:bodyPr wrap="square">
            <a:spAutoFit/>
          </a:bodyPr>
          <a:lstStyle/>
          <a:p>
            <a:r>
              <a:rPr lang="en-US" sz="1000" noProof="0" dirty="0">
                <a:solidFill>
                  <a:srgbClr val="667982"/>
                </a:solidFill>
                <a:highlight>
                  <a:srgbClr val="D8DFE3"/>
                </a:highlight>
                <a:latin typeface="Helvetica" pitchFamily="2" charset="0"/>
                <a:cs typeface="Arial" panose="020B0604020202020204" pitchFamily="34" charset="0"/>
              </a:rPr>
              <a:t>Credit: </a:t>
            </a:r>
            <a:r>
              <a:rPr lang="en-US" sz="1000" dirty="0" err="1">
                <a:solidFill>
                  <a:srgbClr val="667982"/>
                </a:solidFill>
                <a:highlight>
                  <a:srgbClr val="D8DFE3"/>
                </a:highlight>
                <a:latin typeface="Helvetica" pitchFamily="2" charset="0"/>
                <a:cs typeface="Arial" panose="020B0604020202020204" pitchFamily="34" charset="0"/>
              </a:rPr>
              <a:t>Jennrich</a:t>
            </a:r>
            <a:r>
              <a:rPr lang="en-US" sz="1000" noProof="0" dirty="0">
                <a:solidFill>
                  <a:srgbClr val="667982"/>
                </a:solidFill>
                <a:highlight>
                  <a:srgbClr val="D8DFE3"/>
                </a:highlight>
                <a:latin typeface="Helvetica" pitchFamily="2" charset="0"/>
                <a:cs typeface="Arial" panose="020B0604020202020204" pitchFamily="34" charset="0"/>
              </a:rPr>
              <a:t>, 2010</a:t>
            </a:r>
          </a:p>
        </p:txBody>
      </p:sp>
      <p:grpSp>
        <p:nvGrpSpPr>
          <p:cNvPr id="10" name="Group 9">
            <a:extLst>
              <a:ext uri="{FF2B5EF4-FFF2-40B4-BE49-F238E27FC236}">
                <a16:creationId xmlns:a16="http://schemas.microsoft.com/office/drawing/2014/main" id="{9BA6C6D6-1744-4E3A-909A-BC6A784BE97C}"/>
              </a:ext>
            </a:extLst>
          </p:cNvPr>
          <p:cNvGrpSpPr/>
          <p:nvPr/>
        </p:nvGrpSpPr>
        <p:grpSpPr>
          <a:xfrm>
            <a:off x="1109306" y="2845853"/>
            <a:ext cx="4901366" cy="2588881"/>
            <a:chOff x="1109306" y="3170775"/>
            <a:chExt cx="4901366" cy="2588881"/>
          </a:xfrm>
        </p:grpSpPr>
        <p:sp>
          <p:nvSpPr>
            <p:cNvPr id="3" name="Rectangle 2">
              <a:extLst>
                <a:ext uri="{FF2B5EF4-FFF2-40B4-BE49-F238E27FC236}">
                  <a16:creationId xmlns:a16="http://schemas.microsoft.com/office/drawing/2014/main" id="{097C700B-BEFD-1DB1-391D-B8D45AE3D918}"/>
                </a:ext>
              </a:extLst>
            </p:cNvPr>
            <p:cNvSpPr>
              <a:spLocks/>
            </p:cNvSpPr>
            <p:nvPr/>
          </p:nvSpPr>
          <p:spPr>
            <a:xfrm>
              <a:off x="5654412" y="3170775"/>
              <a:ext cx="356260" cy="223633"/>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Rectangle 4">
              <a:extLst>
                <a:ext uri="{FF2B5EF4-FFF2-40B4-BE49-F238E27FC236}">
                  <a16:creationId xmlns:a16="http://schemas.microsoft.com/office/drawing/2014/main" id="{841B7AD5-5349-2E93-AE64-46FC4946C53D}"/>
                </a:ext>
              </a:extLst>
            </p:cNvPr>
            <p:cNvSpPr>
              <a:spLocks/>
            </p:cNvSpPr>
            <p:nvPr/>
          </p:nvSpPr>
          <p:spPr>
            <a:xfrm>
              <a:off x="1109306" y="3170775"/>
              <a:ext cx="356260" cy="301905"/>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Rectangle 6">
              <a:extLst>
                <a:ext uri="{FF2B5EF4-FFF2-40B4-BE49-F238E27FC236}">
                  <a16:creationId xmlns:a16="http://schemas.microsoft.com/office/drawing/2014/main" id="{B6E60CCF-DE7E-D947-714E-958A9480DFC4}"/>
                </a:ext>
              </a:extLst>
            </p:cNvPr>
            <p:cNvSpPr>
              <a:spLocks/>
            </p:cNvSpPr>
            <p:nvPr/>
          </p:nvSpPr>
          <p:spPr>
            <a:xfrm>
              <a:off x="4321593" y="5467180"/>
              <a:ext cx="293153" cy="292476"/>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2" name="TextBox 11">
            <a:extLst>
              <a:ext uri="{FF2B5EF4-FFF2-40B4-BE49-F238E27FC236}">
                <a16:creationId xmlns:a16="http://schemas.microsoft.com/office/drawing/2014/main" id="{E33240BA-3E4B-997D-7CDB-1A43F3CDA916}"/>
              </a:ext>
            </a:extLst>
          </p:cNvPr>
          <p:cNvSpPr txBox="1"/>
          <p:nvPr/>
        </p:nvSpPr>
        <p:spPr>
          <a:xfrm>
            <a:off x="2060103" y="2762588"/>
            <a:ext cx="3054928" cy="707886"/>
          </a:xfrm>
          <a:prstGeom prst="rect">
            <a:avLst/>
          </a:prstGeom>
          <a:noFill/>
        </p:spPr>
        <p:txBody>
          <a:bodyPr wrap="square" rtlCol="0">
            <a:spAutoFit/>
          </a:bodyPr>
          <a:lstStyle/>
          <a:p>
            <a:pPr algn="l"/>
            <a:r>
              <a:rPr lang="en-US" sz="2000" dirty="0">
                <a:solidFill>
                  <a:srgbClr val="667982"/>
                </a:solidFill>
                <a:highlight>
                  <a:srgbClr val="D8DFE3"/>
                </a:highlight>
                <a:latin typeface="Helvetica" pitchFamily="2" charset="0"/>
                <a:cs typeface="Arial" panose="020B0604020202020204" pitchFamily="34" charset="0"/>
              </a:rPr>
              <a:t>Unequal arm lengths and laser frequency noise</a:t>
            </a:r>
            <a:endParaRPr lang="et-EE" sz="2000" dirty="0">
              <a:solidFill>
                <a:srgbClr val="667982"/>
              </a:solidFill>
              <a:highlight>
                <a:srgbClr val="D8DFE3"/>
              </a:highlight>
              <a:latin typeface="Helvetica" pitchFamily="2" charset="0"/>
              <a:cs typeface="Arial" panose="020B0604020202020204" pitchFamily="34" charset="0"/>
            </a:endParaRPr>
          </a:p>
        </p:txBody>
      </p:sp>
      <p:sp>
        <p:nvSpPr>
          <p:cNvPr id="14" name="Slide Number Placeholder 3">
            <a:extLst>
              <a:ext uri="{FF2B5EF4-FFF2-40B4-BE49-F238E27FC236}">
                <a16:creationId xmlns:a16="http://schemas.microsoft.com/office/drawing/2014/main" id="{0CE284B1-7819-615D-87C3-38688B8CA8D6}"/>
              </a:ext>
            </a:extLst>
          </p:cNvPr>
          <p:cNvSpPr>
            <a:spLocks noGrp="1"/>
          </p:cNvSpPr>
          <p:nvPr>
            <p:ph type="sldNum" sz="quarter" idx="12"/>
          </p:nvPr>
        </p:nvSpPr>
        <p:spPr>
          <a:xfrm>
            <a:off x="9250679" y="6356350"/>
            <a:ext cx="2743200" cy="365125"/>
          </a:xfrm>
        </p:spPr>
        <p:txBody>
          <a:bodyPr/>
          <a:lstStyle/>
          <a:p>
            <a:fld id="{9F39E346-B1F3-4075-BD67-234EF0F10AC6}" type="slidenum">
              <a:rPr lang="en-US" noProof="0" smtClean="0"/>
              <a:pPr/>
              <a:t>23</a:t>
            </a:fld>
            <a:endParaRPr lang="en-US" noProof="0" dirty="0"/>
          </a:p>
        </p:txBody>
      </p:sp>
      <p:sp>
        <p:nvSpPr>
          <p:cNvPr id="13" name="Date Placeholder 12">
            <a:extLst>
              <a:ext uri="{FF2B5EF4-FFF2-40B4-BE49-F238E27FC236}">
                <a16:creationId xmlns:a16="http://schemas.microsoft.com/office/drawing/2014/main" id="{3646E73C-1B4C-5552-291E-25D5CB8A1F7E}"/>
              </a:ext>
            </a:extLst>
          </p:cNvPr>
          <p:cNvSpPr>
            <a:spLocks noGrp="1"/>
          </p:cNvSpPr>
          <p:nvPr>
            <p:ph type="dt" sz="half" idx="10"/>
          </p:nvPr>
        </p:nvSpPr>
        <p:spPr/>
        <p:txBody>
          <a:bodyPr/>
          <a:lstStyle/>
          <a:p>
            <a:r>
              <a:rPr lang="LID4096"/>
              <a:t>23.06.2026</a:t>
            </a:r>
            <a:endParaRPr lang="et-EE" dirty="0"/>
          </a:p>
        </p:txBody>
      </p:sp>
      <p:sp>
        <p:nvSpPr>
          <p:cNvPr id="15" name="Footer Placeholder 14">
            <a:extLst>
              <a:ext uri="{FF2B5EF4-FFF2-40B4-BE49-F238E27FC236}">
                <a16:creationId xmlns:a16="http://schemas.microsoft.com/office/drawing/2014/main" id="{2FA399B7-D03B-DDC6-E5AE-3C022DEB4322}"/>
              </a:ext>
            </a:extLst>
          </p:cNvPr>
          <p:cNvSpPr>
            <a:spLocks noGrp="1"/>
          </p:cNvSpPr>
          <p:nvPr>
            <p:ph type="ftr" sz="quarter" idx="11"/>
          </p:nvPr>
        </p:nvSpPr>
        <p:spPr/>
        <p:txBody>
          <a:bodyPr/>
          <a:lstStyle/>
          <a:p>
            <a:r>
              <a:rPr lang="en-US" dirty="0">
                <a:solidFill>
                  <a:srgbClr val="A8B7BF"/>
                </a:solidFill>
              </a:rPr>
              <a:t>16th International LISA Symposium</a:t>
            </a:r>
            <a:endParaRPr lang="et-EE" dirty="0">
              <a:solidFill>
                <a:srgbClr val="A8B7BF"/>
              </a:solidFill>
            </a:endParaRPr>
          </a:p>
        </p:txBody>
      </p:sp>
      <p:sp>
        <p:nvSpPr>
          <p:cNvPr id="16" name="TextBox 15">
            <a:extLst>
              <a:ext uri="{FF2B5EF4-FFF2-40B4-BE49-F238E27FC236}">
                <a16:creationId xmlns:a16="http://schemas.microsoft.com/office/drawing/2014/main" id="{2A62B713-251E-ABF2-4A4F-69D4082805E7}"/>
              </a:ext>
            </a:extLst>
          </p:cNvPr>
          <p:cNvSpPr txBox="1"/>
          <p:nvPr/>
        </p:nvSpPr>
        <p:spPr>
          <a:xfrm>
            <a:off x="7322211" y="1885857"/>
            <a:ext cx="4344284"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As per LISA requirements</a:t>
            </a:r>
            <a:endParaRPr lang="et-EE" dirty="0">
              <a:solidFill>
                <a:srgbClr val="667982"/>
              </a:solidFill>
              <a:latin typeface="Helvetica" pitchFamily="2" charset="0"/>
              <a:cs typeface="Arial" panose="020B0604020202020204" pitchFamily="34" charset="0"/>
            </a:endParaRPr>
          </a:p>
        </p:txBody>
      </p:sp>
      <p:sp>
        <p:nvSpPr>
          <p:cNvPr id="4" name="TextBox 3">
            <a:extLst>
              <a:ext uri="{FF2B5EF4-FFF2-40B4-BE49-F238E27FC236}">
                <a16:creationId xmlns:a16="http://schemas.microsoft.com/office/drawing/2014/main" id="{903FEEFB-EC0E-E8C0-919D-DE237E09D8DE}"/>
              </a:ext>
            </a:extLst>
          </p:cNvPr>
          <p:cNvSpPr txBox="1"/>
          <p:nvPr/>
        </p:nvSpPr>
        <p:spPr>
          <a:xfrm>
            <a:off x="6754283" y="3242380"/>
            <a:ext cx="4901239"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Hence for the arm length uncertainty we get</a:t>
            </a:r>
            <a:endParaRPr lang="et-EE" dirty="0">
              <a:solidFill>
                <a:srgbClr val="667982"/>
              </a:solidFill>
              <a:latin typeface="Helvetica" pitchFamily="2" charset="0"/>
              <a:cs typeface="Arial" panose="020B0604020202020204" pitchFamily="34" charset="0"/>
            </a:endParaRPr>
          </a:p>
        </p:txBody>
      </p:sp>
      <p:pic>
        <p:nvPicPr>
          <p:cNvPr id="8" name="Picture 7" descr="A math equation with numbers and symbols&#10;&#10;AI-generated content may be incorrect.">
            <a:extLst>
              <a:ext uri="{FF2B5EF4-FFF2-40B4-BE49-F238E27FC236}">
                <a16:creationId xmlns:a16="http://schemas.microsoft.com/office/drawing/2014/main" id="{94BBD61C-6E53-E254-18F0-BCCD64F3FD46}"/>
              </a:ext>
            </a:extLst>
          </p:cNvPr>
          <p:cNvPicPr>
            <a:picLocks noChangeAspect="1"/>
          </p:cNvPicPr>
          <p:nvPr/>
        </p:nvPicPr>
        <p:blipFill>
          <a:blip r:embed="rId4"/>
          <a:srcRect t="13493"/>
          <a:stretch>
            <a:fillRect/>
          </a:stretch>
        </p:blipFill>
        <p:spPr>
          <a:xfrm>
            <a:off x="7894780" y="2274807"/>
            <a:ext cx="1599573" cy="785578"/>
          </a:xfrm>
          <a:prstGeom prst="rect">
            <a:avLst/>
          </a:prstGeom>
        </p:spPr>
      </p:pic>
      <p:pic>
        <p:nvPicPr>
          <p:cNvPr id="18" name="Picture 17" descr="A number and symbol on a white background&#10;&#10;AI-generated content may be incorrect.">
            <a:extLst>
              <a:ext uri="{FF2B5EF4-FFF2-40B4-BE49-F238E27FC236}">
                <a16:creationId xmlns:a16="http://schemas.microsoft.com/office/drawing/2014/main" id="{264369EB-260B-9576-918B-C747397A9113}"/>
              </a:ext>
            </a:extLst>
          </p:cNvPr>
          <p:cNvPicPr>
            <a:picLocks noChangeAspect="1"/>
          </p:cNvPicPr>
          <p:nvPr/>
        </p:nvPicPr>
        <p:blipFill>
          <a:blip r:embed="rId5"/>
          <a:srcRect t="13764" b="10197"/>
          <a:stretch>
            <a:fillRect/>
          </a:stretch>
        </p:blipFill>
        <p:spPr>
          <a:xfrm>
            <a:off x="6307736" y="3606371"/>
            <a:ext cx="5458706" cy="769461"/>
          </a:xfrm>
          <a:prstGeom prst="rect">
            <a:avLst/>
          </a:prstGeom>
        </p:spPr>
      </p:pic>
      <p:sp>
        <p:nvSpPr>
          <p:cNvPr id="19" name="TextBox 18">
            <a:extLst>
              <a:ext uri="{FF2B5EF4-FFF2-40B4-BE49-F238E27FC236}">
                <a16:creationId xmlns:a16="http://schemas.microsoft.com/office/drawing/2014/main" id="{5D9E715E-D4BA-544B-C067-81032BCE9141}"/>
              </a:ext>
            </a:extLst>
          </p:cNvPr>
          <p:cNvSpPr txBox="1"/>
          <p:nvPr/>
        </p:nvSpPr>
        <p:spPr>
          <a:xfrm>
            <a:off x="6307736" y="4739823"/>
            <a:ext cx="5670441" cy="369332"/>
          </a:xfrm>
          <a:prstGeom prst="rect">
            <a:avLst/>
          </a:prstGeom>
          <a:noFill/>
        </p:spPr>
        <p:txBody>
          <a:bodyPr wrap="square" rtlCol="0">
            <a:spAutoFit/>
          </a:bodyPr>
          <a:lstStyle/>
          <a:p>
            <a:pPr algn="l"/>
            <a:r>
              <a:rPr lang="en-US" dirty="0">
                <a:solidFill>
                  <a:srgbClr val="667982"/>
                </a:solidFill>
                <a:latin typeface="Helvetica" pitchFamily="2" charset="0"/>
                <a:cs typeface="Arial" panose="020B0604020202020204" pitchFamily="34" charset="0"/>
              </a:rPr>
              <a:t>But to be sensitive enough to detect GWs, we need</a:t>
            </a:r>
            <a:endParaRPr lang="et-EE" dirty="0">
              <a:solidFill>
                <a:srgbClr val="667982"/>
              </a:solidFill>
              <a:latin typeface="Helvetica" pitchFamily="2" charset="0"/>
              <a:cs typeface="Arial" panose="020B0604020202020204" pitchFamily="34" charset="0"/>
            </a:endParaRPr>
          </a:p>
        </p:txBody>
      </p:sp>
      <p:pic>
        <p:nvPicPr>
          <p:cNvPr id="22" name="Picture 21" descr="A close up of a number&#10;&#10;AI-generated content may be incorrect.">
            <a:extLst>
              <a:ext uri="{FF2B5EF4-FFF2-40B4-BE49-F238E27FC236}">
                <a16:creationId xmlns:a16="http://schemas.microsoft.com/office/drawing/2014/main" id="{368CF62F-964C-8805-483C-CC5F8CA76C5A}"/>
              </a:ext>
            </a:extLst>
          </p:cNvPr>
          <p:cNvPicPr>
            <a:picLocks noChangeAspect="1"/>
          </p:cNvPicPr>
          <p:nvPr/>
        </p:nvPicPr>
        <p:blipFill>
          <a:blip r:embed="rId6"/>
          <a:stretch>
            <a:fillRect/>
          </a:stretch>
        </p:blipFill>
        <p:spPr>
          <a:xfrm>
            <a:off x="6970410" y="5102834"/>
            <a:ext cx="3993226" cy="510584"/>
          </a:xfrm>
          <a:prstGeom prst="rect">
            <a:avLst/>
          </a:prstGeom>
        </p:spPr>
      </p:pic>
    </p:spTree>
    <p:extLst>
      <p:ext uri="{BB962C8B-B14F-4D97-AF65-F5344CB8AC3E}">
        <p14:creationId xmlns:p14="http://schemas.microsoft.com/office/powerpoint/2010/main" val="3359804855"/>
      </p:ext>
    </p:extLst>
  </p:cSld>
  <p:clrMapOvr>
    <a:masterClrMapping/>
  </p:clrMapOvr>
  <mc:AlternateContent xmlns:mc="http://schemas.openxmlformats.org/markup-compatibility/2006" xmlns:p14="http://schemas.microsoft.com/office/powerpoint/2010/main">
    <mc:Choice Requires="p14">
      <p:transition spd="slow" p14:dur="2000" advTm="2617"/>
    </mc:Choice>
    <mc:Fallback xmlns="">
      <p:transition spd="slow" advTm="2617"/>
    </mc:Fallback>
  </mc:AlternateContent>
</p:sld>
</file>

<file path=ppt/theme/theme1.xml><?xml version="1.0" encoding="utf-8"?>
<a:theme xmlns:a="http://schemas.openxmlformats.org/drawingml/2006/main" name="Office Them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a:spAutoFit/>
      </a:bodyPr>
      <a:lstStyle>
        <a:defPPr algn="l">
          <a:defRPr sz="1400" dirty="0" smtClean="0">
            <a:solidFill>
              <a:srgbClr val="667982"/>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Office Theme 2013 - 2022" id="{62F939B6-93AF-4DB8-9C6B-D6C7DFDC589F}" vid="{4F46216B-77A9-411A-B9D3-5023FCB702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B1DC66D-E5F2-47AE-95B4-0173315A923C}">
  <we:reference id="wa200010001" version="1.0.0.1" store="en-US" storeType="OMEX"/>
  <we:alternateReferences>
    <we:reference id="wa200010001" version="1.0.0.1" store="en-US" storeType="OMEX"/>
  </we:alternateReferences>
  <we:properties>
    <we:property name="claude.fileId" value="&quot;bd6d9704-7f75-4984-a044-2c5291c8eb3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 2013 - 2022</Template>
  <TotalTime>105</TotalTime>
  <Words>949</Words>
  <Application>Microsoft Macintosh PowerPoint</Application>
  <PresentationFormat>Widescreen</PresentationFormat>
  <Paragraphs>189</Paragraphs>
  <Slides>23</Slides>
  <Notes>23</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Courier New</vt:lpstr>
      <vt:lpstr>Helvetica</vt:lpstr>
      <vt:lpstr>Office Theme</vt:lpstr>
      <vt:lpstr>Testbed for Validating Second-Generation TDI and Clock Noise Correction for LISA</vt:lpstr>
      <vt:lpstr>LISA Science Interferometer</vt:lpstr>
      <vt:lpstr>Replicating the LISA Arm in the Lab</vt:lpstr>
      <vt:lpstr>Replicating the LISA Arm in the Lab</vt:lpstr>
      <vt:lpstr>Replicating the LISA Arm in the Lab</vt:lpstr>
      <vt:lpstr>Replicating the LISA Arm in the Lab</vt:lpstr>
      <vt:lpstr>Full Testbed</vt:lpstr>
      <vt:lpstr>Cavity Locking</vt:lpstr>
      <vt:lpstr>Delay Line</vt:lpstr>
      <vt:lpstr>PLL Lock of Far Spacecraft</vt:lpstr>
      <vt:lpstr>PLL Lock of Far Spacecraft</vt:lpstr>
      <vt:lpstr>Clock Noise in LISA</vt:lpstr>
      <vt:lpstr>Replicating the LISA Arm in the Lab</vt:lpstr>
      <vt:lpstr>Modulation Noise Characterization</vt:lpstr>
      <vt:lpstr>Clock Tone Transfer</vt:lpstr>
      <vt:lpstr>GHz Modulation</vt:lpstr>
      <vt:lpstr>GHz Modulation</vt:lpstr>
      <vt:lpstr>Next Steps</vt:lpstr>
      <vt:lpstr>What to do with the clock noise?</vt:lpstr>
      <vt:lpstr>Experiments so Far</vt:lpstr>
      <vt:lpstr>Experiments so Far</vt:lpstr>
      <vt:lpstr>Predecessor Testbed</vt:lpstr>
      <vt:lpstr>LISA Laser Frequency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Implementing a Terramechanics-based Wheel-terrain Contact Model into a Multi-body Simulation Environment</dc:title>
  <dc:creator>Karin Kruuse</dc:creator>
  <cp:lastModifiedBy>user</cp:lastModifiedBy>
  <cp:revision>711</cp:revision>
  <dcterms:created xsi:type="dcterms:W3CDTF">2023-08-26T08:59:13Z</dcterms:created>
  <dcterms:modified xsi:type="dcterms:W3CDTF">2026-06-17T09:34:24Z</dcterms:modified>
</cp:coreProperties>
</file>