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27"/>
  </p:notesMasterIdLst>
  <p:sldIdLst>
    <p:sldId id="256" r:id="rId2"/>
    <p:sldId id="365" r:id="rId3"/>
    <p:sldId id="370" r:id="rId4"/>
    <p:sldId id="347" r:id="rId5"/>
    <p:sldId id="348" r:id="rId6"/>
    <p:sldId id="349" r:id="rId7"/>
    <p:sldId id="358" r:id="rId8"/>
    <p:sldId id="351" r:id="rId9"/>
    <p:sldId id="371" r:id="rId10"/>
    <p:sldId id="366" r:id="rId11"/>
    <p:sldId id="322" r:id="rId12"/>
    <p:sldId id="354" r:id="rId13"/>
    <p:sldId id="360" r:id="rId14"/>
    <p:sldId id="357" r:id="rId15"/>
    <p:sldId id="362" r:id="rId16"/>
    <p:sldId id="363" r:id="rId17"/>
    <p:sldId id="367" r:id="rId18"/>
    <p:sldId id="369" r:id="rId19"/>
    <p:sldId id="342" r:id="rId20"/>
    <p:sldId id="350" r:id="rId21"/>
    <p:sldId id="364" r:id="rId22"/>
    <p:sldId id="356" r:id="rId23"/>
    <p:sldId id="334" r:id="rId24"/>
    <p:sldId id="323" r:id="rId25"/>
    <p:sldId id="33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FE3481-4DC0-5320-5BA5-9DED241133D6}" name="Karin Kruuse" initials="KK" userId="S::kruuseka@ut.ee::9d3667ca-44b3-49ee-bafc-89fda7f076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kruu" initials="k" lastIdx="20" clrIdx="0">
    <p:extLst>
      <p:ext uri="{19B8F6BF-5375-455C-9EA6-DF929625EA0E}">
        <p15:presenceInfo xmlns:p15="http://schemas.microsoft.com/office/powerpoint/2012/main" userId="kakru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1364"/>
    <a:srgbClr val="4B4B4B"/>
    <a:srgbClr val="969696"/>
    <a:srgbClr val="323232"/>
    <a:srgbClr val="646464"/>
    <a:srgbClr val="9CADB6"/>
    <a:srgbClr val="D71B2F"/>
    <a:srgbClr val="296024"/>
    <a:srgbClr val="821770"/>
    <a:srgbClr val="D8DF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940EF0-20C6-4F56-9500-723E26054F68}" v="619" dt="2026-06-17T05:48:05.179"/>
    <p1510:client id="{C4E7A8FC-0504-43EC-83FE-0C776D3BA21D}" v="50" dt="2026-06-16T19:11:17.190"/>
    <p1510:client id="{CBAA3118-9793-2816-690A-EB7D591EF4FF}" v="8" dt="2026-06-17T07:13:22.1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6" autoAdjust="0"/>
    <p:restoredTop sz="83878" autoAdjust="0"/>
  </p:normalViewPr>
  <p:slideViewPr>
    <p:cSldViewPr snapToGrid="0">
      <p:cViewPr varScale="1">
        <p:scale>
          <a:sx n="106" d="100"/>
          <a:sy n="106" d="100"/>
        </p:scale>
        <p:origin x="1312"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23" d="100"/>
          <a:sy n="123" d="100"/>
        </p:scale>
        <p:origin x="4972" y="8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t-EE"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81B2D2-06A2-4596-9391-656CA05E965F}" type="datetimeFigureOut">
              <a:rPr lang="et-EE" smtClean="0"/>
              <a:t>17.06.26</a:t>
            </a:fld>
            <a:endParaRPr lang="et-EE"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t-EE"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t-E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t-EE"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F329CB-E484-4F61-9C3E-A471CEC4EF7E}" type="slidenum">
              <a:rPr lang="et-EE" smtClean="0"/>
              <a:t>‹#›</a:t>
            </a:fld>
            <a:endParaRPr lang="et-EE" dirty="0"/>
          </a:p>
        </p:txBody>
      </p:sp>
    </p:spTree>
    <p:extLst>
      <p:ext uri="{BB962C8B-B14F-4D97-AF65-F5344CB8AC3E}">
        <p14:creationId xmlns:p14="http://schemas.microsoft.com/office/powerpoint/2010/main" val="2749125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t>
            </a:r>
            <a:r>
              <a:rPr lang="en-DE" dirty="0"/>
              <a:t>his is a status report</a:t>
            </a:r>
          </a:p>
        </p:txBody>
      </p:sp>
      <p:sp>
        <p:nvSpPr>
          <p:cNvPr id="4" name="Slide Number Placeholder 3"/>
          <p:cNvSpPr>
            <a:spLocks noGrp="1"/>
          </p:cNvSpPr>
          <p:nvPr>
            <p:ph type="sldNum" sz="quarter" idx="5"/>
          </p:nvPr>
        </p:nvSpPr>
        <p:spPr/>
        <p:txBody>
          <a:bodyPr/>
          <a:lstStyle/>
          <a:p>
            <a:fld id="{23F329CB-E484-4F61-9C3E-A471CEC4EF7E}" type="slidenum">
              <a:rPr lang="et-EE" smtClean="0"/>
              <a:t>1</a:t>
            </a:fld>
            <a:endParaRPr lang="et-EE" dirty="0"/>
          </a:p>
        </p:txBody>
      </p:sp>
    </p:spTree>
    <p:extLst>
      <p:ext uri="{BB962C8B-B14F-4D97-AF65-F5344CB8AC3E}">
        <p14:creationId xmlns:p14="http://schemas.microsoft.com/office/powerpoint/2010/main" val="1147334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r>
              <a:rPr lang="en-US" dirty="0"/>
              <a:t>Stress that we want to replicate these noise couplings for the carrier or inter-spacecraft interferometer</a:t>
            </a:r>
          </a:p>
          <a:p>
            <a:r>
              <a:rPr lang="en-US" dirty="0"/>
              <a:t>Mention the reason for the testbed</a:t>
            </a:r>
          </a:p>
          <a:p>
            <a:endParaRPr lang="en-US" dirty="0"/>
          </a:p>
          <a:p>
            <a:r>
              <a:rPr lang="en-US" dirty="0"/>
              <a:t>Clarify the goal of the testbed more? Like our results are results for TDI. In best case scenario we just show that </a:t>
            </a:r>
            <a:r>
              <a:rPr lang="en-US" dirty="0" err="1"/>
              <a:t>simultaions</a:t>
            </a:r>
            <a:r>
              <a:rPr lang="en-US" dirty="0"/>
              <a:t> are fine</a:t>
            </a:r>
            <a:endParaRPr lang="en-DE" dirty="0"/>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2</a:t>
            </a:fld>
            <a:endParaRPr lang="et-EE"/>
          </a:p>
        </p:txBody>
      </p:sp>
    </p:spTree>
    <p:extLst>
      <p:ext uri="{BB962C8B-B14F-4D97-AF65-F5344CB8AC3E}">
        <p14:creationId xmlns:p14="http://schemas.microsoft.com/office/powerpoint/2010/main" val="1026239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E122-8529-29E8-E889-2E6DADAD2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9E67E-07D3-64A6-48E1-E038A4DB2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387A1-CD32-C505-B59B-BD01E790AA28}"/>
              </a:ext>
            </a:extLst>
          </p:cNvPr>
          <p:cNvSpPr>
            <a:spLocks noGrp="1"/>
          </p:cNvSpPr>
          <p:nvPr>
            <p:ph type="body" idx="1"/>
          </p:nvPr>
        </p:nvSpPr>
        <p:spPr/>
        <p:txBody>
          <a:bodyPr/>
          <a:lstStyle/>
          <a:p>
            <a:r>
              <a:rPr lang="en-US" dirty="0"/>
              <a:t>Stress that we want to replicate these noise couplings for the carrier or inter-spacecraft interferometer</a:t>
            </a:r>
          </a:p>
          <a:p>
            <a:r>
              <a:rPr lang="en-US" dirty="0"/>
              <a:t>Mention the reason for the testbed</a:t>
            </a:r>
            <a:endParaRPr lang="en-DE" dirty="0"/>
          </a:p>
        </p:txBody>
      </p:sp>
      <p:sp>
        <p:nvSpPr>
          <p:cNvPr id="4" name="Slide Number Placeholder 3">
            <a:extLst>
              <a:ext uri="{FF2B5EF4-FFF2-40B4-BE49-F238E27FC236}">
                <a16:creationId xmlns:a16="http://schemas.microsoft.com/office/drawing/2014/main" id="{4F171576-4D27-EF32-74C8-2BA62130339F}"/>
              </a:ext>
            </a:extLst>
          </p:cNvPr>
          <p:cNvSpPr>
            <a:spLocks noGrp="1"/>
          </p:cNvSpPr>
          <p:nvPr>
            <p:ph type="sldNum" sz="quarter" idx="5"/>
          </p:nvPr>
        </p:nvSpPr>
        <p:spPr/>
        <p:txBody>
          <a:bodyPr/>
          <a:lstStyle/>
          <a:p>
            <a:fld id="{23F329CB-E484-4F61-9C3E-A471CEC4EF7E}" type="slidenum">
              <a:rPr lang="et-EE" smtClean="0"/>
              <a:t>3</a:t>
            </a:fld>
            <a:endParaRPr lang="et-EE"/>
          </a:p>
        </p:txBody>
      </p:sp>
    </p:spTree>
    <p:extLst>
      <p:ext uri="{BB962C8B-B14F-4D97-AF65-F5344CB8AC3E}">
        <p14:creationId xmlns:p14="http://schemas.microsoft.com/office/powerpoint/2010/main" val="1048882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4</a:t>
            </a:fld>
            <a:endParaRPr lang="et-EE"/>
          </a:p>
        </p:txBody>
      </p:sp>
    </p:spTree>
    <p:extLst>
      <p:ext uri="{BB962C8B-B14F-4D97-AF65-F5344CB8AC3E}">
        <p14:creationId xmlns:p14="http://schemas.microsoft.com/office/powerpoint/2010/main" val="3849715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5</a:t>
            </a:fld>
            <a:endParaRPr lang="et-EE"/>
          </a:p>
        </p:txBody>
      </p:sp>
    </p:spTree>
    <p:extLst>
      <p:ext uri="{BB962C8B-B14F-4D97-AF65-F5344CB8AC3E}">
        <p14:creationId xmlns:p14="http://schemas.microsoft.com/office/powerpoint/2010/main" val="295129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r>
              <a:rPr lang="en-GB" dirty="0"/>
              <a:t>M</a:t>
            </a:r>
            <a:r>
              <a:rPr lang="en-DE" dirty="0"/>
              <a:t>ention delayline was talked about! </a:t>
            </a:r>
            <a:r>
              <a:rPr lang="en-GB" dirty="0"/>
              <a:t>That’</a:t>
            </a:r>
            <a:r>
              <a:rPr lang="en-DE" dirty="0"/>
              <a:t>s our starting point. </a:t>
            </a:r>
            <a:r>
              <a:rPr lang="en-GB" dirty="0"/>
              <a:t>T</a:t>
            </a:r>
            <a:r>
              <a:rPr lang="en-DE" dirty="0"/>
              <a:t>ransition from eletronic to opto electronic (add somewhere)</a:t>
            </a:r>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6</a:t>
            </a:fld>
            <a:endParaRPr lang="et-EE"/>
          </a:p>
        </p:txBody>
      </p:sp>
    </p:spTree>
    <p:extLst>
      <p:ext uri="{BB962C8B-B14F-4D97-AF65-F5344CB8AC3E}">
        <p14:creationId xmlns:p14="http://schemas.microsoft.com/office/powerpoint/2010/main" val="1006203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4A049-E70D-CD53-3885-41916A524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D07E9-C8C4-D8FD-EE6A-F16503363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C9500-DDB0-8444-EBE5-9708575F9D4D}"/>
              </a:ext>
            </a:extLst>
          </p:cNvPr>
          <p:cNvSpPr>
            <a:spLocks noGrp="1"/>
          </p:cNvSpPr>
          <p:nvPr>
            <p:ph type="body" idx="1"/>
          </p:nvPr>
        </p:nvSpPr>
        <p:spPr/>
        <p:txBody>
          <a:bodyPr/>
          <a:lstStyle/>
          <a:p>
            <a:r>
              <a:rPr lang="en-GB" dirty="0"/>
              <a:t>F</a:t>
            </a:r>
            <a:r>
              <a:rPr lang="en-DE" dirty="0"/>
              <a:t>ix the signs</a:t>
            </a:r>
          </a:p>
        </p:txBody>
      </p:sp>
      <p:sp>
        <p:nvSpPr>
          <p:cNvPr id="4" name="Slide Number Placeholder 3">
            <a:extLst>
              <a:ext uri="{FF2B5EF4-FFF2-40B4-BE49-F238E27FC236}">
                <a16:creationId xmlns:a16="http://schemas.microsoft.com/office/drawing/2014/main" id="{F0796030-26B2-128A-B33C-3FBBA8B307B7}"/>
              </a:ext>
            </a:extLst>
          </p:cNvPr>
          <p:cNvSpPr>
            <a:spLocks noGrp="1"/>
          </p:cNvSpPr>
          <p:nvPr>
            <p:ph type="sldNum" sz="quarter" idx="5"/>
          </p:nvPr>
        </p:nvSpPr>
        <p:spPr/>
        <p:txBody>
          <a:bodyPr/>
          <a:lstStyle/>
          <a:p>
            <a:fld id="{23F329CB-E484-4F61-9C3E-A471CEC4EF7E}" type="slidenum">
              <a:rPr lang="et-EE" smtClean="0"/>
              <a:t>7</a:t>
            </a:fld>
            <a:endParaRPr lang="et-EE"/>
          </a:p>
        </p:txBody>
      </p:sp>
    </p:spTree>
    <p:extLst>
      <p:ext uri="{BB962C8B-B14F-4D97-AF65-F5344CB8AC3E}">
        <p14:creationId xmlns:p14="http://schemas.microsoft.com/office/powerpoint/2010/main" val="3589055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E9A6-7755-F626-D554-73782C32C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B18AA-C72D-C4AC-4567-9473BB65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2540E-6962-EB2D-8236-48FB17273A71}"/>
              </a:ext>
            </a:extLst>
          </p:cNvPr>
          <p:cNvSpPr>
            <a:spLocks noGrp="1"/>
          </p:cNvSpPr>
          <p:nvPr>
            <p:ph type="body" idx="1"/>
          </p:nvPr>
        </p:nvSpPr>
        <p:spPr/>
        <p:txBody>
          <a:bodyPr/>
          <a:lstStyle/>
          <a:p>
            <a:r>
              <a:rPr lang="et-EE" dirty="0" err="1"/>
              <a:t>Lasers</a:t>
            </a:r>
            <a:r>
              <a:rPr lang="et-EE" dirty="0"/>
              <a:t>, </a:t>
            </a:r>
            <a:r>
              <a:rPr lang="et-EE" dirty="0" err="1"/>
              <a:t>delaylines</a:t>
            </a:r>
            <a:r>
              <a:rPr lang="et-EE" dirty="0"/>
              <a:t>, </a:t>
            </a:r>
            <a:r>
              <a:rPr lang="et-EE" dirty="0" err="1"/>
              <a:t>locking</a:t>
            </a:r>
            <a:r>
              <a:rPr lang="et-EE" dirty="0"/>
              <a:t>, </a:t>
            </a:r>
            <a:r>
              <a:rPr lang="et-EE" dirty="0" err="1"/>
              <a:t>add</a:t>
            </a:r>
            <a:r>
              <a:rPr lang="et-EE" dirty="0"/>
              <a:t> </a:t>
            </a:r>
            <a:r>
              <a:rPr lang="et-EE" dirty="0" err="1"/>
              <a:t>pic</a:t>
            </a:r>
            <a:r>
              <a:rPr lang="et-EE" dirty="0"/>
              <a:t> of </a:t>
            </a:r>
            <a:r>
              <a:rPr lang="et-EE" dirty="0" err="1"/>
              <a:t>lab</a:t>
            </a:r>
            <a:endParaRPr lang="et-EE" dirty="0"/>
          </a:p>
        </p:txBody>
      </p:sp>
      <p:sp>
        <p:nvSpPr>
          <p:cNvPr id="4" name="Slide Number Placeholder 3">
            <a:extLst>
              <a:ext uri="{FF2B5EF4-FFF2-40B4-BE49-F238E27FC236}">
                <a16:creationId xmlns:a16="http://schemas.microsoft.com/office/drawing/2014/main" id="{C034C9B9-B835-B607-2A1B-5D66CCA25659}"/>
              </a:ext>
            </a:extLst>
          </p:cNvPr>
          <p:cNvSpPr>
            <a:spLocks noGrp="1"/>
          </p:cNvSpPr>
          <p:nvPr>
            <p:ph type="sldNum" sz="quarter" idx="5"/>
          </p:nvPr>
        </p:nvSpPr>
        <p:spPr/>
        <p:txBody>
          <a:bodyPr/>
          <a:lstStyle/>
          <a:p>
            <a:fld id="{23F329CB-E484-4F61-9C3E-A471CEC4EF7E}" type="slidenum">
              <a:rPr lang="et-EE" smtClean="0"/>
              <a:t>8</a:t>
            </a:fld>
            <a:endParaRPr lang="et-EE"/>
          </a:p>
        </p:txBody>
      </p:sp>
    </p:spTree>
    <p:extLst>
      <p:ext uri="{BB962C8B-B14F-4D97-AF65-F5344CB8AC3E}">
        <p14:creationId xmlns:p14="http://schemas.microsoft.com/office/powerpoint/2010/main" val="1382490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01529-B84E-6090-89E2-7E9602F41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3FC8C-0DC8-60B2-79D1-AA972B7C1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3F06E-843D-AE0A-37E3-E79643E42F30}"/>
              </a:ext>
            </a:extLst>
          </p:cNvPr>
          <p:cNvSpPr>
            <a:spLocks noGrp="1"/>
          </p:cNvSpPr>
          <p:nvPr>
            <p:ph type="body" idx="1"/>
          </p:nvPr>
        </p:nvSpPr>
        <p:spPr/>
        <p:txBody>
          <a:bodyPr/>
          <a:lstStyle/>
          <a:p>
            <a:r>
              <a:rPr lang="et-EE" dirty="0"/>
              <a:t>CAVITY</a:t>
            </a:r>
          </a:p>
        </p:txBody>
      </p:sp>
      <p:sp>
        <p:nvSpPr>
          <p:cNvPr id="4" name="Slide Number Placeholder 3">
            <a:extLst>
              <a:ext uri="{FF2B5EF4-FFF2-40B4-BE49-F238E27FC236}">
                <a16:creationId xmlns:a16="http://schemas.microsoft.com/office/drawing/2014/main" id="{AF18B2A0-81A6-1DFB-855C-59D726BC41DE}"/>
              </a:ext>
            </a:extLst>
          </p:cNvPr>
          <p:cNvSpPr>
            <a:spLocks noGrp="1"/>
          </p:cNvSpPr>
          <p:nvPr>
            <p:ph type="sldNum" sz="quarter" idx="5"/>
          </p:nvPr>
        </p:nvSpPr>
        <p:spPr/>
        <p:txBody>
          <a:bodyPr/>
          <a:lstStyle/>
          <a:p>
            <a:fld id="{23F329CB-E484-4F61-9C3E-A471CEC4EF7E}" type="slidenum">
              <a:rPr lang="et-EE" smtClean="0"/>
              <a:t>9</a:t>
            </a:fld>
            <a:endParaRPr lang="et-EE"/>
          </a:p>
        </p:txBody>
      </p:sp>
    </p:spTree>
    <p:extLst>
      <p:ext uri="{BB962C8B-B14F-4D97-AF65-F5344CB8AC3E}">
        <p14:creationId xmlns:p14="http://schemas.microsoft.com/office/powerpoint/2010/main" val="2731662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E9A6-7755-F626-D554-73782C32C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B18AA-C72D-C4AC-4567-9473BB65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2540E-6962-EB2D-8236-48FB17273A71}"/>
              </a:ext>
            </a:extLst>
          </p:cNvPr>
          <p:cNvSpPr>
            <a:spLocks noGrp="1"/>
          </p:cNvSpPr>
          <p:nvPr>
            <p:ph type="body" idx="1"/>
          </p:nvPr>
        </p:nvSpPr>
        <p:spPr/>
        <p:txBody>
          <a:bodyPr/>
          <a:lstStyle/>
          <a:p>
            <a:r>
              <a:rPr lang="en-US" dirty="0"/>
              <a:t>The length variability, like how it affects the </a:t>
            </a:r>
            <a:br>
              <a:rPr lang="en-US" dirty="0"/>
            </a:br>
            <a:br>
              <a:rPr lang="en-US" dirty="0"/>
            </a:br>
            <a:endParaRPr lang="et-EE" dirty="0"/>
          </a:p>
        </p:txBody>
      </p:sp>
      <p:sp>
        <p:nvSpPr>
          <p:cNvPr id="4" name="Slide Number Placeholder 3">
            <a:extLst>
              <a:ext uri="{FF2B5EF4-FFF2-40B4-BE49-F238E27FC236}">
                <a16:creationId xmlns:a16="http://schemas.microsoft.com/office/drawing/2014/main" id="{C034C9B9-B835-B607-2A1B-5D66CCA25659}"/>
              </a:ext>
            </a:extLst>
          </p:cNvPr>
          <p:cNvSpPr>
            <a:spLocks noGrp="1"/>
          </p:cNvSpPr>
          <p:nvPr>
            <p:ph type="sldNum" sz="quarter" idx="5"/>
          </p:nvPr>
        </p:nvSpPr>
        <p:spPr/>
        <p:txBody>
          <a:bodyPr/>
          <a:lstStyle/>
          <a:p>
            <a:fld id="{23F329CB-E484-4F61-9C3E-A471CEC4EF7E}" type="slidenum">
              <a:rPr lang="et-EE" smtClean="0"/>
              <a:t>10</a:t>
            </a:fld>
            <a:endParaRPr lang="et-EE"/>
          </a:p>
        </p:txBody>
      </p:sp>
    </p:spTree>
    <p:extLst>
      <p:ext uri="{BB962C8B-B14F-4D97-AF65-F5344CB8AC3E}">
        <p14:creationId xmlns:p14="http://schemas.microsoft.com/office/powerpoint/2010/main" val="1766868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t-EE" dirty="0" err="1"/>
              <a:t>Change</a:t>
            </a:r>
            <a:r>
              <a:rPr lang="et-EE" dirty="0"/>
              <a:t> </a:t>
            </a:r>
            <a:r>
              <a:rPr lang="et-EE" dirty="0" err="1"/>
              <a:t>the</a:t>
            </a:r>
            <a:r>
              <a:rPr lang="et-EE" dirty="0"/>
              <a:t> </a:t>
            </a:r>
            <a:r>
              <a:rPr lang="et-EE" dirty="0" err="1"/>
              <a:t>benchmark</a:t>
            </a:r>
            <a:r>
              <a:rPr lang="et-EE" dirty="0"/>
              <a:t>? </a:t>
            </a:r>
          </a:p>
        </p:txBody>
      </p:sp>
      <p:sp>
        <p:nvSpPr>
          <p:cNvPr id="4" name="Slide Number Placeholder 3"/>
          <p:cNvSpPr>
            <a:spLocks noGrp="1"/>
          </p:cNvSpPr>
          <p:nvPr>
            <p:ph type="sldNum" sz="quarter" idx="5"/>
          </p:nvPr>
        </p:nvSpPr>
        <p:spPr/>
        <p:txBody>
          <a:bodyPr/>
          <a:lstStyle/>
          <a:p>
            <a:fld id="{23F329CB-E484-4F61-9C3E-A471CEC4EF7E}" type="slidenum">
              <a:rPr lang="et-EE" smtClean="0"/>
              <a:t>11</a:t>
            </a:fld>
            <a:endParaRPr lang="et-EE"/>
          </a:p>
        </p:txBody>
      </p:sp>
    </p:spTree>
    <p:extLst>
      <p:ext uri="{BB962C8B-B14F-4D97-AF65-F5344CB8AC3E}">
        <p14:creationId xmlns:p14="http://schemas.microsoft.com/office/powerpoint/2010/main" val="1862085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E9A6-7755-F626-D554-73782C32C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B18AA-C72D-C4AC-4567-9473BB65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2540E-6962-EB2D-8236-48FB17273A71}"/>
              </a:ext>
            </a:extLst>
          </p:cNvPr>
          <p:cNvSpPr>
            <a:spLocks noGrp="1"/>
          </p:cNvSpPr>
          <p:nvPr>
            <p:ph type="body" idx="1"/>
          </p:nvPr>
        </p:nvSpPr>
        <p:spPr/>
        <p:txBody>
          <a:bodyPr/>
          <a:lstStyle/>
          <a:p>
            <a:r>
              <a:rPr lang="et-EE" dirty="0"/>
              <a:t> </a:t>
            </a:r>
            <a:r>
              <a:rPr lang="et-EE" dirty="0" err="1"/>
              <a:t>like</a:t>
            </a:r>
            <a:r>
              <a:rPr lang="et-EE" dirty="0"/>
              <a:t> </a:t>
            </a:r>
            <a:r>
              <a:rPr lang="et-EE" dirty="0" err="1"/>
              <a:t>its</a:t>
            </a:r>
            <a:r>
              <a:rPr lang="et-EE" dirty="0"/>
              <a:t> </a:t>
            </a:r>
            <a:r>
              <a:rPr lang="et-EE" dirty="0" err="1"/>
              <a:t>actually</a:t>
            </a:r>
            <a:r>
              <a:rPr lang="et-EE" dirty="0"/>
              <a:t> </a:t>
            </a:r>
            <a:r>
              <a:rPr lang="et-EE" dirty="0" err="1"/>
              <a:t>measured</a:t>
            </a:r>
            <a:r>
              <a:rPr lang="et-EE" dirty="0"/>
              <a:t>. </a:t>
            </a:r>
            <a:r>
              <a:rPr lang="et-EE" dirty="0" err="1"/>
              <a:t>Make</a:t>
            </a:r>
            <a:r>
              <a:rPr lang="et-EE" dirty="0"/>
              <a:t> </a:t>
            </a:r>
            <a:r>
              <a:rPr lang="et-EE" dirty="0" err="1"/>
              <a:t>the</a:t>
            </a:r>
            <a:r>
              <a:rPr lang="et-EE" dirty="0"/>
              <a:t> </a:t>
            </a:r>
            <a:r>
              <a:rPr lang="et-EE" dirty="0" err="1"/>
              <a:t>diagram</a:t>
            </a:r>
            <a:r>
              <a:rPr lang="et-EE" dirty="0"/>
              <a:t> </a:t>
            </a:r>
            <a:r>
              <a:rPr lang="et-EE" dirty="0" err="1"/>
              <a:t>more</a:t>
            </a:r>
            <a:r>
              <a:rPr lang="et-EE" dirty="0"/>
              <a:t> </a:t>
            </a:r>
            <a:r>
              <a:rPr lang="et-EE" dirty="0" err="1"/>
              <a:t>acurat</a:t>
            </a:r>
            <a:r>
              <a:rPr lang="et-EE" dirty="0"/>
              <a:t> – </a:t>
            </a:r>
            <a:r>
              <a:rPr lang="et-EE" dirty="0" err="1"/>
              <a:t>split</a:t>
            </a:r>
            <a:r>
              <a:rPr lang="et-EE" dirty="0"/>
              <a:t> </a:t>
            </a:r>
            <a:r>
              <a:rPr lang="et-EE" dirty="0" err="1"/>
              <a:t>the</a:t>
            </a:r>
            <a:r>
              <a:rPr lang="et-EE" dirty="0"/>
              <a:t> PLL and </a:t>
            </a:r>
            <a:r>
              <a:rPr lang="et-EE" dirty="0" err="1"/>
              <a:t>the</a:t>
            </a:r>
            <a:r>
              <a:rPr lang="et-EE" dirty="0"/>
              <a:t> </a:t>
            </a:r>
            <a:r>
              <a:rPr lang="et-EE" dirty="0" err="1"/>
              <a:t>phasemeter</a:t>
            </a:r>
            <a:r>
              <a:rPr lang="et-EE" dirty="0"/>
              <a:t> (</a:t>
            </a:r>
            <a:r>
              <a:rPr lang="et-EE" dirty="0" err="1"/>
              <a:t>like</a:t>
            </a:r>
            <a:r>
              <a:rPr lang="et-EE" dirty="0"/>
              <a:t> </a:t>
            </a:r>
            <a:r>
              <a:rPr lang="et-EE" dirty="0" err="1"/>
              <a:t>actually</a:t>
            </a:r>
            <a:r>
              <a:rPr lang="et-EE" dirty="0"/>
              <a:t> </a:t>
            </a:r>
            <a:r>
              <a:rPr lang="et-EE" dirty="0" err="1"/>
              <a:t>the</a:t>
            </a:r>
            <a:r>
              <a:rPr lang="et-EE" dirty="0"/>
              <a:t> </a:t>
            </a:r>
            <a:r>
              <a:rPr lang="et-EE" dirty="0" err="1"/>
              <a:t>details</a:t>
            </a:r>
            <a:r>
              <a:rPr lang="et-EE" dirty="0"/>
              <a:t> of </a:t>
            </a:r>
            <a:r>
              <a:rPr lang="et-EE" dirty="0" err="1"/>
              <a:t>the</a:t>
            </a:r>
            <a:r>
              <a:rPr lang="et-EE" dirty="0"/>
              <a:t> </a:t>
            </a:r>
            <a:r>
              <a:rPr lang="et-EE" dirty="0" err="1"/>
              <a:t>signals</a:t>
            </a:r>
            <a:r>
              <a:rPr lang="et-EE" dirty="0"/>
              <a:t> </a:t>
            </a:r>
            <a:r>
              <a:rPr lang="et-EE" dirty="0" err="1"/>
              <a:t>moving</a:t>
            </a:r>
            <a:r>
              <a:rPr lang="et-EE" dirty="0"/>
              <a:t>, </a:t>
            </a:r>
            <a:r>
              <a:rPr lang="et-EE" dirty="0" err="1"/>
              <a:t>especially</a:t>
            </a:r>
            <a:r>
              <a:rPr lang="et-EE" dirty="0"/>
              <a:t> </a:t>
            </a:r>
            <a:r>
              <a:rPr lang="et-EE" dirty="0" err="1"/>
              <a:t>the</a:t>
            </a:r>
            <a:r>
              <a:rPr lang="et-EE" dirty="0"/>
              <a:t> </a:t>
            </a:r>
            <a:r>
              <a:rPr lang="et-EE" dirty="0" err="1"/>
              <a:t>purple</a:t>
            </a:r>
            <a:r>
              <a:rPr lang="et-EE" dirty="0"/>
              <a:t>)</a:t>
            </a:r>
          </a:p>
        </p:txBody>
      </p:sp>
      <p:sp>
        <p:nvSpPr>
          <p:cNvPr id="4" name="Slide Number Placeholder 3">
            <a:extLst>
              <a:ext uri="{FF2B5EF4-FFF2-40B4-BE49-F238E27FC236}">
                <a16:creationId xmlns:a16="http://schemas.microsoft.com/office/drawing/2014/main" id="{C034C9B9-B835-B607-2A1B-5D66CCA25659}"/>
              </a:ext>
            </a:extLst>
          </p:cNvPr>
          <p:cNvSpPr>
            <a:spLocks noGrp="1"/>
          </p:cNvSpPr>
          <p:nvPr>
            <p:ph type="sldNum" sz="quarter" idx="5"/>
          </p:nvPr>
        </p:nvSpPr>
        <p:spPr/>
        <p:txBody>
          <a:bodyPr/>
          <a:lstStyle/>
          <a:p>
            <a:fld id="{23F329CB-E484-4F61-9C3E-A471CEC4EF7E}" type="slidenum">
              <a:rPr lang="et-EE" smtClean="0"/>
              <a:t>12</a:t>
            </a:fld>
            <a:endParaRPr lang="et-EE"/>
          </a:p>
        </p:txBody>
      </p:sp>
    </p:spTree>
    <p:extLst>
      <p:ext uri="{BB962C8B-B14F-4D97-AF65-F5344CB8AC3E}">
        <p14:creationId xmlns:p14="http://schemas.microsoft.com/office/powerpoint/2010/main" val="429173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E9A6-7755-F626-D554-73782C32C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B18AA-C72D-C4AC-4567-9473BB65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2540E-6962-EB2D-8236-48FB17273A71}"/>
              </a:ext>
            </a:extLst>
          </p:cNvPr>
          <p:cNvSpPr>
            <a:spLocks noGrp="1"/>
          </p:cNvSpPr>
          <p:nvPr>
            <p:ph type="body" idx="1"/>
          </p:nvPr>
        </p:nvSpPr>
        <p:spPr/>
        <p:txBody>
          <a:bodyPr/>
          <a:lstStyle/>
          <a:p>
            <a:r>
              <a:rPr lang="et-EE" dirty="0" err="1"/>
              <a:t>Explain</a:t>
            </a:r>
            <a:r>
              <a:rPr lang="et-EE" dirty="0"/>
              <a:t> </a:t>
            </a:r>
            <a:r>
              <a:rPr lang="et-EE" dirty="0" err="1"/>
              <a:t>the</a:t>
            </a:r>
            <a:r>
              <a:rPr lang="et-EE" dirty="0"/>
              <a:t> </a:t>
            </a:r>
            <a:r>
              <a:rPr lang="et-EE" dirty="0" err="1"/>
              <a:t>extraction</a:t>
            </a:r>
            <a:r>
              <a:rPr lang="et-EE" dirty="0"/>
              <a:t> </a:t>
            </a:r>
            <a:r>
              <a:rPr lang="et-EE" dirty="0" err="1"/>
              <a:t>clearly</a:t>
            </a:r>
            <a:r>
              <a:rPr lang="et-EE" dirty="0"/>
              <a:t>, </a:t>
            </a:r>
            <a:r>
              <a:rPr lang="et-EE" dirty="0" err="1"/>
              <a:t>fix</a:t>
            </a:r>
            <a:r>
              <a:rPr lang="et-EE" dirty="0"/>
              <a:t> </a:t>
            </a:r>
            <a:r>
              <a:rPr lang="et-EE" dirty="0" err="1"/>
              <a:t>the</a:t>
            </a:r>
            <a:r>
              <a:rPr lang="et-EE" dirty="0"/>
              <a:t> </a:t>
            </a:r>
            <a:r>
              <a:rPr lang="et-EE" dirty="0" err="1"/>
              <a:t>mistake</a:t>
            </a:r>
            <a:r>
              <a:rPr lang="et-EE" dirty="0"/>
              <a:t> </a:t>
            </a:r>
            <a:r>
              <a:rPr lang="et-EE" dirty="0" err="1"/>
              <a:t>or</a:t>
            </a:r>
            <a:r>
              <a:rPr lang="et-EE" dirty="0"/>
              <a:t> </a:t>
            </a:r>
            <a:r>
              <a:rPr lang="et-EE" dirty="0" err="1"/>
              <a:t>remove</a:t>
            </a:r>
            <a:r>
              <a:rPr lang="et-EE" dirty="0"/>
              <a:t> </a:t>
            </a:r>
            <a:r>
              <a:rPr lang="et-EE" dirty="0" err="1"/>
              <a:t>the</a:t>
            </a:r>
            <a:r>
              <a:rPr lang="et-EE" dirty="0"/>
              <a:t> </a:t>
            </a:r>
            <a:r>
              <a:rPr lang="et-EE" dirty="0" err="1"/>
              <a:t>second</a:t>
            </a:r>
            <a:r>
              <a:rPr lang="et-EE" dirty="0"/>
              <a:t> </a:t>
            </a:r>
            <a:r>
              <a:rPr lang="et-EE" dirty="0" err="1"/>
              <a:t>ratio</a:t>
            </a:r>
            <a:endParaRPr lang="et-EE" dirty="0"/>
          </a:p>
        </p:txBody>
      </p:sp>
      <p:sp>
        <p:nvSpPr>
          <p:cNvPr id="4" name="Slide Number Placeholder 3">
            <a:extLst>
              <a:ext uri="{FF2B5EF4-FFF2-40B4-BE49-F238E27FC236}">
                <a16:creationId xmlns:a16="http://schemas.microsoft.com/office/drawing/2014/main" id="{C034C9B9-B835-B607-2A1B-5D66CCA25659}"/>
              </a:ext>
            </a:extLst>
          </p:cNvPr>
          <p:cNvSpPr>
            <a:spLocks noGrp="1"/>
          </p:cNvSpPr>
          <p:nvPr>
            <p:ph type="sldNum" sz="quarter" idx="5"/>
          </p:nvPr>
        </p:nvSpPr>
        <p:spPr/>
        <p:txBody>
          <a:bodyPr/>
          <a:lstStyle/>
          <a:p>
            <a:fld id="{23F329CB-E484-4F61-9C3E-A471CEC4EF7E}" type="slidenum">
              <a:rPr lang="et-EE" smtClean="0"/>
              <a:t>13</a:t>
            </a:fld>
            <a:endParaRPr lang="et-EE"/>
          </a:p>
        </p:txBody>
      </p:sp>
    </p:spTree>
    <p:extLst>
      <p:ext uri="{BB962C8B-B14F-4D97-AF65-F5344CB8AC3E}">
        <p14:creationId xmlns:p14="http://schemas.microsoft.com/office/powerpoint/2010/main" val="3260605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r>
              <a:rPr lang="en-GB" dirty="0"/>
              <a:t>C</a:t>
            </a:r>
            <a:r>
              <a:rPr lang="en-DE" dirty="0"/>
              <a:t>larify the modulating freq.</a:t>
            </a:r>
            <a:endParaRPr lang="en-US" dirty="0"/>
          </a:p>
          <a:p>
            <a:r>
              <a:rPr lang="en-GB" dirty="0"/>
              <a:t>A</a:t>
            </a:r>
            <a:r>
              <a:rPr lang="en-DE" dirty="0"/>
              <a:t>dd clarifing notes for the terms/frequencies (already in previous slides)</a:t>
            </a:r>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14</a:t>
            </a:fld>
            <a:endParaRPr lang="et-EE"/>
          </a:p>
        </p:txBody>
      </p:sp>
    </p:spTree>
    <p:extLst>
      <p:ext uri="{BB962C8B-B14F-4D97-AF65-F5344CB8AC3E}">
        <p14:creationId xmlns:p14="http://schemas.microsoft.com/office/powerpoint/2010/main" val="1877195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4A049-E70D-CD53-3885-41916A524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D07E9-C8C4-D8FD-EE6A-F16503363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C9500-DDB0-8444-EBE5-9708575F9D4D}"/>
              </a:ext>
            </a:extLst>
          </p:cNvPr>
          <p:cNvSpPr>
            <a:spLocks noGrp="1"/>
          </p:cNvSpPr>
          <p:nvPr>
            <p:ph type="body" idx="1"/>
          </p:nvPr>
        </p:nvSpPr>
        <p:spPr/>
        <p:txBody>
          <a:bodyPr/>
          <a:lstStyle/>
          <a:p>
            <a:r>
              <a:rPr lang="en-GB" dirty="0"/>
              <a:t>H</a:t>
            </a:r>
            <a:r>
              <a:rPr lang="en-DE" dirty="0"/>
              <a:t>ighlight the modulation frequency in the text, explain the GHz limitation better</a:t>
            </a:r>
            <a:br>
              <a:rPr lang="en-DE" dirty="0"/>
            </a:br>
            <a:r>
              <a:rPr lang="en-DE" dirty="0"/>
              <a:t>change slide text, this is sideband</a:t>
            </a:r>
          </a:p>
        </p:txBody>
      </p:sp>
      <p:sp>
        <p:nvSpPr>
          <p:cNvPr id="4" name="Slide Number Placeholder 3">
            <a:extLst>
              <a:ext uri="{FF2B5EF4-FFF2-40B4-BE49-F238E27FC236}">
                <a16:creationId xmlns:a16="http://schemas.microsoft.com/office/drawing/2014/main" id="{F0796030-26B2-128A-B33C-3FBBA8B307B7}"/>
              </a:ext>
            </a:extLst>
          </p:cNvPr>
          <p:cNvSpPr>
            <a:spLocks noGrp="1"/>
          </p:cNvSpPr>
          <p:nvPr>
            <p:ph type="sldNum" sz="quarter" idx="5"/>
          </p:nvPr>
        </p:nvSpPr>
        <p:spPr/>
        <p:txBody>
          <a:bodyPr/>
          <a:lstStyle/>
          <a:p>
            <a:fld id="{23F329CB-E484-4F61-9C3E-A471CEC4EF7E}" type="slidenum">
              <a:rPr lang="et-EE" smtClean="0"/>
              <a:t>15</a:t>
            </a:fld>
            <a:endParaRPr lang="et-EE"/>
          </a:p>
        </p:txBody>
      </p:sp>
    </p:spTree>
    <p:extLst>
      <p:ext uri="{BB962C8B-B14F-4D97-AF65-F5344CB8AC3E}">
        <p14:creationId xmlns:p14="http://schemas.microsoft.com/office/powerpoint/2010/main" val="4110054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4A049-E70D-CD53-3885-41916A524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D07E9-C8C4-D8FD-EE6A-F16503363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C9500-DDB0-8444-EBE5-9708575F9D4D}"/>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F0796030-26B2-128A-B33C-3FBBA8B307B7}"/>
              </a:ext>
            </a:extLst>
          </p:cNvPr>
          <p:cNvSpPr>
            <a:spLocks noGrp="1"/>
          </p:cNvSpPr>
          <p:nvPr>
            <p:ph type="sldNum" sz="quarter" idx="5"/>
          </p:nvPr>
        </p:nvSpPr>
        <p:spPr/>
        <p:txBody>
          <a:bodyPr/>
          <a:lstStyle/>
          <a:p>
            <a:fld id="{23F329CB-E484-4F61-9C3E-A471CEC4EF7E}" type="slidenum">
              <a:rPr lang="et-EE" smtClean="0"/>
              <a:t>16</a:t>
            </a:fld>
            <a:endParaRPr lang="et-EE"/>
          </a:p>
        </p:txBody>
      </p:sp>
    </p:spTree>
    <p:extLst>
      <p:ext uri="{BB962C8B-B14F-4D97-AF65-F5344CB8AC3E}">
        <p14:creationId xmlns:p14="http://schemas.microsoft.com/office/powerpoint/2010/main" val="2896755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0F2F-6F26-6A89-591D-1AEA83192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F9E8F-258E-A526-9101-D397A2556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6B824-30A5-399C-617D-FB89E979396F}"/>
              </a:ext>
            </a:extLst>
          </p:cNvPr>
          <p:cNvSpPr>
            <a:spLocks noGrp="1"/>
          </p:cNvSpPr>
          <p:nvPr>
            <p:ph type="body" idx="1"/>
          </p:nvPr>
        </p:nvSpPr>
        <p:spPr/>
        <p:txBody>
          <a:bodyPr/>
          <a:lstStyle/>
          <a:p>
            <a:r>
              <a:rPr lang="en-GB" dirty="0"/>
              <a:t>S</a:t>
            </a:r>
            <a:r>
              <a:rPr lang="en-DE" dirty="0"/>
              <a:t>olution nr 1</a:t>
            </a:r>
          </a:p>
        </p:txBody>
      </p:sp>
      <p:sp>
        <p:nvSpPr>
          <p:cNvPr id="4" name="Slide Number Placeholder 3">
            <a:extLst>
              <a:ext uri="{FF2B5EF4-FFF2-40B4-BE49-F238E27FC236}">
                <a16:creationId xmlns:a16="http://schemas.microsoft.com/office/drawing/2014/main" id="{5C53C2BA-C813-E8C2-29B9-8C29CE37F956}"/>
              </a:ext>
            </a:extLst>
          </p:cNvPr>
          <p:cNvSpPr>
            <a:spLocks noGrp="1"/>
          </p:cNvSpPr>
          <p:nvPr>
            <p:ph type="sldNum" sz="quarter" idx="5"/>
          </p:nvPr>
        </p:nvSpPr>
        <p:spPr/>
        <p:txBody>
          <a:bodyPr/>
          <a:lstStyle/>
          <a:p>
            <a:fld id="{23F329CB-E484-4F61-9C3E-A471CEC4EF7E}" type="slidenum">
              <a:rPr lang="et-EE" smtClean="0"/>
              <a:t>17</a:t>
            </a:fld>
            <a:endParaRPr lang="et-EE"/>
          </a:p>
        </p:txBody>
      </p:sp>
    </p:spTree>
    <p:extLst>
      <p:ext uri="{BB962C8B-B14F-4D97-AF65-F5344CB8AC3E}">
        <p14:creationId xmlns:p14="http://schemas.microsoft.com/office/powerpoint/2010/main" val="3307099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0F2F-6F26-6A89-591D-1AEA83192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F9E8F-258E-A526-9101-D397A2556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6B824-30A5-399C-617D-FB89E979396F}"/>
              </a:ext>
            </a:extLst>
          </p:cNvPr>
          <p:cNvSpPr>
            <a:spLocks noGrp="1"/>
          </p:cNvSpPr>
          <p:nvPr>
            <p:ph type="body" idx="1"/>
          </p:nvPr>
        </p:nvSpPr>
        <p:spPr/>
        <p:txBody>
          <a:bodyPr/>
          <a:lstStyle/>
          <a:p>
            <a:r>
              <a:rPr lang="en-GB" dirty="0"/>
              <a:t>O</a:t>
            </a:r>
            <a:r>
              <a:rPr lang="en-DE" dirty="0"/>
              <a:t>ur firmware currently doesn’t allow for GHz “front end”. </a:t>
            </a:r>
            <a:r>
              <a:rPr lang="en-GB" dirty="0"/>
              <a:t>S</a:t>
            </a:r>
            <a:r>
              <a:rPr lang="en-DE" dirty="0"/>
              <a:t>olution nr 2, add</a:t>
            </a:r>
            <a:br>
              <a:rPr lang="en-DE" dirty="0"/>
            </a:br>
            <a:r>
              <a:rPr lang="en-DE" dirty="0"/>
              <a:t>Clarify the solution properly. </a:t>
            </a:r>
            <a:r>
              <a:rPr lang="en-GB" dirty="0"/>
              <a:t>L</a:t>
            </a:r>
            <a:r>
              <a:rPr lang="en-DE" dirty="0"/>
              <a:t>ike why is this even an issue currently</a:t>
            </a:r>
          </a:p>
        </p:txBody>
      </p:sp>
      <p:sp>
        <p:nvSpPr>
          <p:cNvPr id="4" name="Slide Number Placeholder 3">
            <a:extLst>
              <a:ext uri="{FF2B5EF4-FFF2-40B4-BE49-F238E27FC236}">
                <a16:creationId xmlns:a16="http://schemas.microsoft.com/office/drawing/2014/main" id="{5C53C2BA-C813-E8C2-29B9-8C29CE37F956}"/>
              </a:ext>
            </a:extLst>
          </p:cNvPr>
          <p:cNvSpPr>
            <a:spLocks noGrp="1"/>
          </p:cNvSpPr>
          <p:nvPr>
            <p:ph type="sldNum" sz="quarter" idx="5"/>
          </p:nvPr>
        </p:nvSpPr>
        <p:spPr/>
        <p:txBody>
          <a:bodyPr/>
          <a:lstStyle/>
          <a:p>
            <a:fld id="{23F329CB-E484-4F61-9C3E-A471CEC4EF7E}" type="slidenum">
              <a:rPr lang="et-EE" smtClean="0"/>
              <a:t>18</a:t>
            </a:fld>
            <a:endParaRPr lang="et-EE"/>
          </a:p>
        </p:txBody>
      </p:sp>
    </p:spTree>
    <p:extLst>
      <p:ext uri="{BB962C8B-B14F-4D97-AF65-F5344CB8AC3E}">
        <p14:creationId xmlns:p14="http://schemas.microsoft.com/office/powerpoint/2010/main" val="2433340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t>
            </a:r>
            <a:r>
              <a:rPr lang="en-DE" dirty="0"/>
              <a:t>ix the clock noise stuff</a:t>
            </a:r>
          </a:p>
          <a:p>
            <a:r>
              <a:rPr lang="en-GB" dirty="0"/>
              <a:t>A</a:t>
            </a:r>
            <a:r>
              <a:rPr lang="en-DE" dirty="0"/>
              <a:t>dd the cavity locking plans? – how u get the good beatnote (in the right range)</a:t>
            </a:r>
          </a:p>
          <a:p>
            <a:r>
              <a:rPr lang="en-GB" dirty="0"/>
              <a:t>T</a:t>
            </a:r>
            <a:r>
              <a:rPr lang="en-DE" dirty="0"/>
              <a:t>ake out delay line stuff, like put them together</a:t>
            </a:r>
          </a:p>
          <a:p>
            <a:endParaRPr lang="en-DE" dirty="0"/>
          </a:p>
        </p:txBody>
      </p:sp>
      <p:sp>
        <p:nvSpPr>
          <p:cNvPr id="4" name="Slide Number Placeholder 3"/>
          <p:cNvSpPr>
            <a:spLocks noGrp="1"/>
          </p:cNvSpPr>
          <p:nvPr>
            <p:ph type="sldNum" sz="quarter" idx="5"/>
          </p:nvPr>
        </p:nvSpPr>
        <p:spPr/>
        <p:txBody>
          <a:bodyPr/>
          <a:lstStyle/>
          <a:p>
            <a:fld id="{23F329CB-E484-4F61-9C3E-A471CEC4EF7E}" type="slidenum">
              <a:rPr lang="et-EE" smtClean="0"/>
              <a:t>19</a:t>
            </a:fld>
            <a:endParaRPr lang="et-EE" dirty="0"/>
          </a:p>
        </p:txBody>
      </p:sp>
    </p:spTree>
    <p:extLst>
      <p:ext uri="{BB962C8B-B14F-4D97-AF65-F5344CB8AC3E}">
        <p14:creationId xmlns:p14="http://schemas.microsoft.com/office/powerpoint/2010/main" val="1846322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E9A6-7755-F626-D554-73782C32C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B18AA-C72D-C4AC-4567-9473BB65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2540E-6962-EB2D-8236-48FB17273A71}"/>
              </a:ext>
            </a:extLst>
          </p:cNvPr>
          <p:cNvSpPr>
            <a:spLocks noGrp="1"/>
          </p:cNvSpPr>
          <p:nvPr>
            <p:ph type="body" idx="1"/>
          </p:nvPr>
        </p:nvSpPr>
        <p:spPr/>
        <p:txBody>
          <a:bodyPr/>
          <a:lstStyle/>
          <a:p>
            <a:r>
              <a:rPr lang="et-EE" dirty="0" err="1"/>
              <a:t>Add</a:t>
            </a:r>
            <a:r>
              <a:rPr lang="et-EE" dirty="0"/>
              <a:t> </a:t>
            </a:r>
            <a:r>
              <a:rPr lang="et-EE" dirty="0" err="1"/>
              <a:t>fibers</a:t>
            </a:r>
            <a:r>
              <a:rPr lang="et-EE" dirty="0"/>
              <a:t>?</a:t>
            </a:r>
          </a:p>
        </p:txBody>
      </p:sp>
      <p:sp>
        <p:nvSpPr>
          <p:cNvPr id="4" name="Slide Number Placeholder 3">
            <a:extLst>
              <a:ext uri="{FF2B5EF4-FFF2-40B4-BE49-F238E27FC236}">
                <a16:creationId xmlns:a16="http://schemas.microsoft.com/office/drawing/2014/main" id="{C034C9B9-B835-B607-2A1B-5D66CCA25659}"/>
              </a:ext>
            </a:extLst>
          </p:cNvPr>
          <p:cNvSpPr>
            <a:spLocks noGrp="1"/>
          </p:cNvSpPr>
          <p:nvPr>
            <p:ph type="sldNum" sz="quarter" idx="5"/>
          </p:nvPr>
        </p:nvSpPr>
        <p:spPr/>
        <p:txBody>
          <a:bodyPr/>
          <a:lstStyle/>
          <a:p>
            <a:fld id="{23F329CB-E484-4F61-9C3E-A471CEC4EF7E}" type="slidenum">
              <a:rPr lang="et-EE" smtClean="0"/>
              <a:t>20</a:t>
            </a:fld>
            <a:endParaRPr lang="et-EE"/>
          </a:p>
        </p:txBody>
      </p:sp>
    </p:spTree>
    <p:extLst>
      <p:ext uri="{BB962C8B-B14F-4D97-AF65-F5344CB8AC3E}">
        <p14:creationId xmlns:p14="http://schemas.microsoft.com/office/powerpoint/2010/main" val="1884378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r>
              <a:rPr lang="en-GB" dirty="0"/>
              <a:t>A</a:t>
            </a:r>
            <a:r>
              <a:rPr lang="en-DE" dirty="0"/>
              <a:t>dd something that indicates the residuals</a:t>
            </a:r>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21</a:t>
            </a:fld>
            <a:endParaRPr lang="et-EE"/>
          </a:p>
        </p:txBody>
      </p:sp>
    </p:spTree>
    <p:extLst>
      <p:ext uri="{BB962C8B-B14F-4D97-AF65-F5344CB8AC3E}">
        <p14:creationId xmlns:p14="http://schemas.microsoft.com/office/powerpoint/2010/main" val="1649678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68FBA-726D-2434-A624-0D90F3927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2C87-543A-C50F-F5D5-A8E147E5C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23358-E8CF-64CF-C32E-487E3A372499}"/>
              </a:ext>
            </a:extLst>
          </p:cNvPr>
          <p:cNvSpPr>
            <a:spLocks noGrp="1"/>
          </p:cNvSpPr>
          <p:nvPr>
            <p:ph type="body" idx="1"/>
          </p:nvPr>
        </p:nvSpPr>
        <p:spPr/>
        <p:txBody>
          <a:bodyPr/>
          <a:lstStyle/>
          <a:p>
            <a:r>
              <a:rPr lang="en-GB" dirty="0"/>
              <a:t>T</a:t>
            </a:r>
            <a:r>
              <a:rPr lang="en-DE" dirty="0"/>
              <a:t>ake out</a:t>
            </a:r>
          </a:p>
        </p:txBody>
      </p:sp>
      <p:sp>
        <p:nvSpPr>
          <p:cNvPr id="4" name="Slide Number Placeholder 3">
            <a:extLst>
              <a:ext uri="{FF2B5EF4-FFF2-40B4-BE49-F238E27FC236}">
                <a16:creationId xmlns:a16="http://schemas.microsoft.com/office/drawing/2014/main" id="{77851D3B-B880-91F1-E0E7-25AA06AF8C1D}"/>
              </a:ext>
            </a:extLst>
          </p:cNvPr>
          <p:cNvSpPr>
            <a:spLocks noGrp="1"/>
          </p:cNvSpPr>
          <p:nvPr>
            <p:ph type="sldNum" sz="quarter" idx="5"/>
          </p:nvPr>
        </p:nvSpPr>
        <p:spPr/>
        <p:txBody>
          <a:bodyPr/>
          <a:lstStyle/>
          <a:p>
            <a:fld id="{23F329CB-E484-4F61-9C3E-A471CEC4EF7E}" type="slidenum">
              <a:rPr lang="et-EE" smtClean="0"/>
              <a:t>22</a:t>
            </a:fld>
            <a:endParaRPr lang="et-EE"/>
          </a:p>
        </p:txBody>
      </p:sp>
    </p:spTree>
    <p:extLst>
      <p:ext uri="{BB962C8B-B14F-4D97-AF65-F5344CB8AC3E}">
        <p14:creationId xmlns:p14="http://schemas.microsoft.com/office/powerpoint/2010/main" val="61457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DE9A6-7755-F626-D554-73782C32C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B18AA-C72D-C4AC-4567-9473BB65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2540E-6962-EB2D-8236-48FB17273A71}"/>
              </a:ext>
            </a:extLst>
          </p:cNvPr>
          <p:cNvSpPr>
            <a:spLocks noGrp="1"/>
          </p:cNvSpPr>
          <p:nvPr>
            <p:ph type="body" idx="1"/>
          </p:nvPr>
        </p:nvSpPr>
        <p:spPr/>
        <p:txBody>
          <a:bodyPr/>
          <a:lstStyle/>
          <a:p>
            <a:r>
              <a:rPr lang="et-EE" dirty="0"/>
              <a:t>Update! </a:t>
            </a:r>
            <a:r>
              <a:rPr lang="et-EE" dirty="0" err="1"/>
              <a:t>If</a:t>
            </a:r>
            <a:r>
              <a:rPr lang="et-EE" dirty="0"/>
              <a:t> </a:t>
            </a:r>
            <a:r>
              <a:rPr lang="et-EE" dirty="0" err="1"/>
              <a:t>shown</a:t>
            </a:r>
            <a:r>
              <a:rPr lang="et-EE" dirty="0"/>
              <a:t>, show </a:t>
            </a:r>
            <a:r>
              <a:rPr lang="et-EE" dirty="0" err="1"/>
              <a:t>later</a:t>
            </a:r>
            <a:endParaRPr lang="et-EE" dirty="0"/>
          </a:p>
        </p:txBody>
      </p:sp>
      <p:sp>
        <p:nvSpPr>
          <p:cNvPr id="4" name="Slide Number Placeholder 3">
            <a:extLst>
              <a:ext uri="{FF2B5EF4-FFF2-40B4-BE49-F238E27FC236}">
                <a16:creationId xmlns:a16="http://schemas.microsoft.com/office/drawing/2014/main" id="{C034C9B9-B835-B607-2A1B-5D66CCA25659}"/>
              </a:ext>
            </a:extLst>
          </p:cNvPr>
          <p:cNvSpPr>
            <a:spLocks noGrp="1"/>
          </p:cNvSpPr>
          <p:nvPr>
            <p:ph type="sldNum" sz="quarter" idx="5"/>
          </p:nvPr>
        </p:nvSpPr>
        <p:spPr/>
        <p:txBody>
          <a:bodyPr/>
          <a:lstStyle/>
          <a:p>
            <a:fld id="{23F329CB-E484-4F61-9C3E-A471CEC4EF7E}" type="slidenum">
              <a:rPr lang="et-EE" smtClean="0"/>
              <a:t>23</a:t>
            </a:fld>
            <a:endParaRPr lang="et-EE"/>
          </a:p>
        </p:txBody>
      </p:sp>
    </p:spTree>
    <p:extLst>
      <p:ext uri="{BB962C8B-B14F-4D97-AF65-F5344CB8AC3E}">
        <p14:creationId xmlns:p14="http://schemas.microsoft.com/office/powerpoint/2010/main" val="4035524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976B1-8AAD-DECC-0159-8FC0B234A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4D550-559C-956A-6D77-8F86A480A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7EA18-1B5C-2D68-E3AD-3784B5AE069D}"/>
              </a:ext>
            </a:extLst>
          </p:cNvPr>
          <p:cNvSpPr>
            <a:spLocks noGrp="1"/>
          </p:cNvSpPr>
          <p:nvPr>
            <p:ph type="body" idx="1"/>
          </p:nvPr>
        </p:nvSpPr>
        <p:spPr/>
        <p:txBody>
          <a:bodyPr/>
          <a:lstStyle/>
          <a:p>
            <a:r>
              <a:rPr lang="et-EE" dirty="0"/>
              <a:t>Decades ago a testbed was build in University of Florida. Our design, which i will soon enough get to, was very similar to ours – so it is the predecessor to our testbed. The experiments performed were able to show that with TDI it is infact possible to cancel the laser noise orders of magnitude while preserving the gravitational wave signal. The strain used here is about two orders of magnitude higher that what was expected for LISA though. Overall the testbed was largely limited by the technology of the time – the baseline noise was high and the possibilities with adding GWs were limited. The testbed also didnt include the laserfield modulation for clock noise removal.</a:t>
            </a:r>
          </a:p>
          <a:p>
            <a:endParaRPr lang="et-EE" dirty="0"/>
          </a:p>
          <a:p>
            <a:endParaRPr lang="et-EE" dirty="0"/>
          </a:p>
          <a:p>
            <a:endParaRPr lang="et-EE" dirty="0"/>
          </a:p>
        </p:txBody>
      </p:sp>
      <p:sp>
        <p:nvSpPr>
          <p:cNvPr id="4" name="Slide Number Placeholder 3">
            <a:extLst>
              <a:ext uri="{FF2B5EF4-FFF2-40B4-BE49-F238E27FC236}">
                <a16:creationId xmlns:a16="http://schemas.microsoft.com/office/drawing/2014/main" id="{F16B86E6-6763-FC4B-6A44-11F441A34C9B}"/>
              </a:ext>
            </a:extLst>
          </p:cNvPr>
          <p:cNvSpPr>
            <a:spLocks noGrp="1"/>
          </p:cNvSpPr>
          <p:nvPr>
            <p:ph type="sldNum" sz="quarter" idx="5"/>
          </p:nvPr>
        </p:nvSpPr>
        <p:spPr/>
        <p:txBody>
          <a:bodyPr/>
          <a:lstStyle/>
          <a:p>
            <a:fld id="{23F329CB-E484-4F61-9C3E-A471CEC4EF7E}" type="slidenum">
              <a:rPr lang="et-EE" smtClean="0"/>
              <a:t>24</a:t>
            </a:fld>
            <a:endParaRPr lang="et-EE"/>
          </a:p>
        </p:txBody>
      </p:sp>
    </p:spTree>
    <p:extLst>
      <p:ext uri="{BB962C8B-B14F-4D97-AF65-F5344CB8AC3E}">
        <p14:creationId xmlns:p14="http://schemas.microsoft.com/office/powerpoint/2010/main" val="3509421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30F51-0FB3-8CC0-2E16-8647C969D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40F12-9724-12CD-77BA-A394D64D5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59571-8FC7-7DC7-EE6D-3269B11029A5}"/>
              </a:ext>
            </a:extLst>
          </p:cNvPr>
          <p:cNvSpPr>
            <a:spLocks noGrp="1"/>
          </p:cNvSpPr>
          <p:nvPr>
            <p:ph type="body" idx="1"/>
          </p:nvPr>
        </p:nvSpPr>
        <p:spPr/>
        <p:txBody>
          <a:bodyPr/>
          <a:lstStyle/>
          <a:p>
            <a:endParaRPr lang="et-EE" dirty="0"/>
          </a:p>
        </p:txBody>
      </p:sp>
      <p:sp>
        <p:nvSpPr>
          <p:cNvPr id="4" name="Slide Number Placeholder 3">
            <a:extLst>
              <a:ext uri="{FF2B5EF4-FFF2-40B4-BE49-F238E27FC236}">
                <a16:creationId xmlns:a16="http://schemas.microsoft.com/office/drawing/2014/main" id="{BEF85CED-5032-77DA-F212-E6B7C573A076}"/>
              </a:ext>
            </a:extLst>
          </p:cNvPr>
          <p:cNvSpPr>
            <a:spLocks noGrp="1"/>
          </p:cNvSpPr>
          <p:nvPr>
            <p:ph type="sldNum" sz="quarter" idx="5"/>
          </p:nvPr>
        </p:nvSpPr>
        <p:spPr/>
        <p:txBody>
          <a:bodyPr/>
          <a:lstStyle/>
          <a:p>
            <a:fld id="{23F329CB-E484-4F61-9C3E-A471CEC4EF7E}" type="slidenum">
              <a:rPr lang="et-EE" smtClean="0"/>
              <a:t>25</a:t>
            </a:fld>
            <a:endParaRPr lang="et-EE"/>
          </a:p>
        </p:txBody>
      </p:sp>
    </p:spTree>
    <p:extLst>
      <p:ext uri="{BB962C8B-B14F-4D97-AF65-F5344CB8AC3E}">
        <p14:creationId xmlns:p14="http://schemas.microsoft.com/office/powerpoint/2010/main" val="1219118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rgbClr val="323232"/>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223062" y="6356350"/>
            <a:ext cx="2743200" cy="365125"/>
          </a:xfrm>
        </p:spPr>
        <p:txBody>
          <a:bodyPr/>
          <a:lstStyle>
            <a:lvl1pPr>
              <a:defRPr>
                <a:solidFill>
                  <a:schemeClr val="tx1">
                    <a:lumMod val="75000"/>
                  </a:schemeClr>
                </a:solidFill>
              </a:defRPr>
            </a:lvl1pPr>
          </a:lstStyle>
          <a:p>
            <a:r>
              <a:rPr lang="LID4096" dirty="0"/>
              <a:t>23.06.2026</a:t>
            </a:r>
            <a:endParaRPr lang="et-EE" dirty="0"/>
          </a:p>
        </p:txBody>
      </p:sp>
      <p:sp>
        <p:nvSpPr>
          <p:cNvPr id="5" name="Footer Placeholder 4"/>
          <p:cNvSpPr>
            <a:spLocks noGrp="1"/>
          </p:cNvSpPr>
          <p:nvPr>
            <p:ph type="ftr" sz="quarter" idx="11"/>
          </p:nvPr>
        </p:nvSpPr>
        <p:spPr/>
        <p:txBody>
          <a:bodyPr/>
          <a:lstStyle/>
          <a:p>
            <a:r>
              <a:rPr lang="en-US"/>
              <a:t>16th International LISA Symposium</a:t>
            </a:r>
            <a:endParaRPr lang="et-EE" dirty="0"/>
          </a:p>
        </p:txBody>
      </p:sp>
      <p:sp>
        <p:nvSpPr>
          <p:cNvPr id="6" name="Slide Number Placeholder 5"/>
          <p:cNvSpPr>
            <a:spLocks noGrp="1"/>
          </p:cNvSpPr>
          <p:nvPr>
            <p:ph type="sldNum" sz="quarter" idx="12"/>
          </p:nvPr>
        </p:nvSpPr>
        <p:spPr/>
        <p:txBody>
          <a:bodyPr/>
          <a:lstStyle>
            <a:lvl1pPr>
              <a:defRPr>
                <a:solidFill>
                  <a:schemeClr val="tx1">
                    <a:lumMod val="75000"/>
                  </a:schemeClr>
                </a:solidFill>
              </a:defRPr>
            </a:lvl1pPr>
          </a:lstStyle>
          <a:p>
            <a:fld id="{9F39E346-B1F3-4075-BD67-234EF0F10AC6}" type="slidenum">
              <a:rPr lang="et-EE" smtClean="0"/>
              <a:pPr/>
              <a:t>‹#›</a:t>
            </a:fld>
            <a:endParaRPr lang="et-EE" dirty="0"/>
          </a:p>
        </p:txBody>
      </p:sp>
    </p:spTree>
    <p:extLst>
      <p:ext uri="{BB962C8B-B14F-4D97-AF65-F5344CB8AC3E}">
        <p14:creationId xmlns:p14="http://schemas.microsoft.com/office/powerpoint/2010/main" val="2632951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4443" y="241069"/>
            <a:ext cx="10298083" cy="889462"/>
          </a:xfrm>
        </p:spPr>
        <p:txBody>
          <a:bodyPr>
            <a:normAutofit/>
          </a:bodyPr>
          <a:lstStyle>
            <a:lvl1pPr marL="91440">
              <a:defRPr sz="3600" b="1">
                <a:solidFill>
                  <a:srgbClr val="323232"/>
                </a:solidFill>
                <a:latin typeface="Helvetica" pitchFamily="2"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224442" y="1252452"/>
            <a:ext cx="11266517" cy="4396648"/>
          </a:xfrm>
        </p:spPr>
        <p:txBody>
          <a:bodyPr/>
          <a:lstStyle>
            <a:lvl1pPr marL="91440">
              <a:defRPr sz="2400" b="0">
                <a:solidFill>
                  <a:srgbClr val="323232"/>
                </a:solidFill>
                <a:latin typeface="Helvetica" pitchFamily="2" charset="0"/>
                <a:cs typeface="Arial" panose="020B0604020202020204" pitchFamily="34" charset="0"/>
              </a:defRPr>
            </a:lvl1pPr>
            <a:lvl2pPr>
              <a:defRPr b="0">
                <a:solidFill>
                  <a:srgbClr val="323232"/>
                </a:solidFill>
                <a:latin typeface="Helvetica" pitchFamily="2" charset="0"/>
                <a:cs typeface="Arial" panose="020B0604020202020204" pitchFamily="34" charset="0"/>
              </a:defRPr>
            </a:lvl2pPr>
            <a:lvl3pPr>
              <a:defRPr b="0">
                <a:solidFill>
                  <a:srgbClr val="323232"/>
                </a:solidFill>
                <a:latin typeface="Helvetica" pitchFamily="2" charset="0"/>
                <a:cs typeface="Arial" panose="020B0604020202020204" pitchFamily="34" charset="0"/>
              </a:defRPr>
            </a:lvl3pPr>
            <a:lvl4pPr>
              <a:defRPr b="0">
                <a:solidFill>
                  <a:srgbClr val="323232"/>
                </a:solidFill>
                <a:latin typeface="Helvetica" pitchFamily="2" charset="0"/>
                <a:cs typeface="Arial" panose="020B0604020202020204" pitchFamily="34" charset="0"/>
              </a:defRPr>
            </a:lvl4pPr>
            <a:lvl5pPr>
              <a:defRPr b="0">
                <a:solidFill>
                  <a:srgbClr val="323232"/>
                </a:solidFill>
                <a:latin typeface="Helvetica" pitchFamily="2"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224443" y="6356350"/>
            <a:ext cx="2743200" cy="365125"/>
          </a:xfrm>
        </p:spPr>
        <p:txBody>
          <a:bodyPr/>
          <a:lstStyle>
            <a:lvl1pPr>
              <a:defRPr>
                <a:solidFill>
                  <a:srgbClr val="969696"/>
                </a:solidFill>
                <a:latin typeface="Helvetica" pitchFamily="2" charset="0"/>
                <a:cs typeface="Arial" panose="020B0604020202020204" pitchFamily="34" charset="0"/>
              </a:defRPr>
            </a:lvl1pPr>
          </a:lstStyle>
          <a:p>
            <a:r>
              <a:rPr lang="LID4096"/>
              <a:t>23.06.2026</a:t>
            </a:r>
            <a:endParaRPr lang="et-EE" dirty="0"/>
          </a:p>
        </p:txBody>
      </p:sp>
      <p:sp>
        <p:nvSpPr>
          <p:cNvPr id="5" name="Footer Placeholder 4"/>
          <p:cNvSpPr>
            <a:spLocks noGrp="1"/>
          </p:cNvSpPr>
          <p:nvPr>
            <p:ph type="ftr" sz="quarter" idx="11"/>
          </p:nvPr>
        </p:nvSpPr>
        <p:spPr/>
        <p:txBody>
          <a:bodyPr/>
          <a:lstStyle>
            <a:lvl1pPr>
              <a:defRPr>
                <a:solidFill>
                  <a:srgbClr val="969696"/>
                </a:solidFill>
                <a:latin typeface="Helvetica" pitchFamily="2" charset="0"/>
                <a:cs typeface="Arial" panose="020B0604020202020204" pitchFamily="34" charset="0"/>
              </a:defRPr>
            </a:lvl1pPr>
          </a:lstStyle>
          <a:p>
            <a:r>
              <a:rPr lang="en-US"/>
              <a:t>16th International LISA Symposium</a:t>
            </a:r>
            <a:endParaRPr lang="et-EE" dirty="0"/>
          </a:p>
        </p:txBody>
      </p:sp>
      <p:sp>
        <p:nvSpPr>
          <p:cNvPr id="6" name="Slide Number Placeholder 5"/>
          <p:cNvSpPr>
            <a:spLocks noGrp="1"/>
          </p:cNvSpPr>
          <p:nvPr>
            <p:ph type="sldNum" sz="quarter" idx="12"/>
          </p:nvPr>
        </p:nvSpPr>
        <p:spPr/>
        <p:txBody>
          <a:bodyPr/>
          <a:lstStyle>
            <a:lvl1pPr>
              <a:defRPr>
                <a:solidFill>
                  <a:srgbClr val="969696"/>
                </a:solidFill>
                <a:latin typeface="Helvetica" pitchFamily="2" charset="0"/>
                <a:cs typeface="Arial" panose="020B0604020202020204" pitchFamily="34" charset="0"/>
              </a:defRPr>
            </a:lvl1pPr>
          </a:lstStyle>
          <a:p>
            <a:fld id="{9F39E346-B1F3-4075-BD67-234EF0F10AC6}" type="slidenum">
              <a:rPr lang="et-EE" smtClean="0"/>
              <a:pPr/>
              <a:t>‹#›</a:t>
            </a:fld>
            <a:endParaRPr lang="et-EE" dirty="0"/>
          </a:p>
        </p:txBody>
      </p:sp>
    </p:spTree>
    <p:extLst>
      <p:ext uri="{BB962C8B-B14F-4D97-AF65-F5344CB8AC3E}">
        <p14:creationId xmlns:p14="http://schemas.microsoft.com/office/powerpoint/2010/main" val="3184781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p:cNvSpPr>
            <a:spLocks noGrp="1"/>
          </p:cNvSpPr>
          <p:nvPr>
            <p:ph type="ftr" sz="quarter" idx="11"/>
          </p:nvPr>
        </p:nvSpPr>
        <p:spPr/>
        <p:txBody>
          <a:bodyPr/>
          <a:lstStyle/>
          <a:p>
            <a:r>
              <a:rPr lang="en-US"/>
              <a:t>16th International LISA Symposium</a:t>
            </a:r>
            <a:endParaRPr lang="et-EE" dirty="0"/>
          </a:p>
        </p:txBody>
      </p:sp>
      <p:sp>
        <p:nvSpPr>
          <p:cNvPr id="7" name="Date Placeholder 3">
            <a:extLst>
              <a:ext uri="{FF2B5EF4-FFF2-40B4-BE49-F238E27FC236}">
                <a16:creationId xmlns:a16="http://schemas.microsoft.com/office/drawing/2014/main" id="{D3CFE6F3-8EA7-20B6-44B8-4BBDC4361948}"/>
              </a:ext>
            </a:extLst>
          </p:cNvPr>
          <p:cNvSpPr txBox="1">
            <a:spLocks/>
          </p:cNvSpPr>
          <p:nvPr userDrawn="1"/>
        </p:nvSpPr>
        <p:spPr>
          <a:xfrm>
            <a:off x="376843" y="6508750"/>
            <a:ext cx="27432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t-EE" dirty="0"/>
              <a:t>28.08.2023</a:t>
            </a:r>
          </a:p>
        </p:txBody>
      </p:sp>
      <p:sp>
        <p:nvSpPr>
          <p:cNvPr id="8" name="Slide Number Placeholder 5">
            <a:extLst>
              <a:ext uri="{FF2B5EF4-FFF2-40B4-BE49-F238E27FC236}">
                <a16:creationId xmlns:a16="http://schemas.microsoft.com/office/drawing/2014/main" id="{F3BAF38B-E3FE-B466-B6EB-A14DD731454D}"/>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39E346-B1F3-4075-BD67-234EF0F10AC6}" type="slidenum">
              <a:rPr lang="et-EE" smtClean="0"/>
              <a:pPr/>
              <a:t>‹#›</a:t>
            </a:fld>
            <a:endParaRPr lang="et-EE" dirty="0"/>
          </a:p>
        </p:txBody>
      </p:sp>
    </p:spTree>
    <p:extLst>
      <p:ext uri="{BB962C8B-B14F-4D97-AF65-F5344CB8AC3E}">
        <p14:creationId xmlns:p14="http://schemas.microsoft.com/office/powerpoint/2010/main" val="2883320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r>
              <a:rPr lang="LID4096"/>
              <a:t>23.06.2026</a:t>
            </a:r>
            <a:endParaRPr lang="et-EE" dirty="0"/>
          </a:p>
        </p:txBody>
      </p:sp>
      <p:sp>
        <p:nvSpPr>
          <p:cNvPr id="6" name="Footer Placeholder 5"/>
          <p:cNvSpPr>
            <a:spLocks noGrp="1"/>
          </p:cNvSpPr>
          <p:nvPr>
            <p:ph type="ftr" sz="quarter" idx="11"/>
          </p:nvPr>
        </p:nvSpPr>
        <p:spPr/>
        <p:txBody>
          <a:bodyPr/>
          <a:lstStyle/>
          <a:p>
            <a:r>
              <a:rPr lang="en-US"/>
              <a:t>16th International LISA Symposium</a:t>
            </a:r>
            <a:endParaRPr lang="et-EE" dirty="0"/>
          </a:p>
        </p:txBody>
      </p:sp>
      <p:sp>
        <p:nvSpPr>
          <p:cNvPr id="7" name="Slide Number Placeholder 6"/>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3418075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r>
              <a:rPr lang="LID4096"/>
              <a:t>23.06.2026</a:t>
            </a:r>
            <a:endParaRPr lang="et-EE" dirty="0"/>
          </a:p>
        </p:txBody>
      </p:sp>
      <p:sp>
        <p:nvSpPr>
          <p:cNvPr id="8" name="Footer Placeholder 7"/>
          <p:cNvSpPr>
            <a:spLocks noGrp="1"/>
          </p:cNvSpPr>
          <p:nvPr>
            <p:ph type="ftr" sz="quarter" idx="11"/>
          </p:nvPr>
        </p:nvSpPr>
        <p:spPr/>
        <p:txBody>
          <a:bodyPr/>
          <a:lstStyle/>
          <a:p>
            <a:r>
              <a:rPr lang="en-US"/>
              <a:t>16th International LISA Symposium</a:t>
            </a:r>
            <a:endParaRPr lang="et-EE" dirty="0"/>
          </a:p>
        </p:txBody>
      </p:sp>
      <p:sp>
        <p:nvSpPr>
          <p:cNvPr id="9" name="Slide Number Placeholder 8"/>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295068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LID4096"/>
              <a:t>23.06.2026</a:t>
            </a:r>
            <a:endParaRPr lang="et-EE" dirty="0"/>
          </a:p>
        </p:txBody>
      </p:sp>
      <p:sp>
        <p:nvSpPr>
          <p:cNvPr id="4" name="Footer Placeholder 3"/>
          <p:cNvSpPr>
            <a:spLocks noGrp="1"/>
          </p:cNvSpPr>
          <p:nvPr>
            <p:ph type="ftr" sz="quarter" idx="11"/>
          </p:nvPr>
        </p:nvSpPr>
        <p:spPr/>
        <p:txBody>
          <a:bodyPr/>
          <a:lstStyle/>
          <a:p>
            <a:r>
              <a:rPr lang="en-US"/>
              <a:t>16th International LISA Symposium</a:t>
            </a:r>
            <a:endParaRPr lang="et-EE" dirty="0"/>
          </a:p>
        </p:txBody>
      </p:sp>
      <p:sp>
        <p:nvSpPr>
          <p:cNvPr id="5" name="Slide Number Placeholder 4"/>
          <p:cNvSpPr>
            <a:spLocks noGrp="1"/>
          </p:cNvSpPr>
          <p:nvPr>
            <p:ph type="sldNum" sz="quarter" idx="12"/>
          </p:nvPr>
        </p:nvSpPr>
        <p:spPr/>
        <p:txBody>
          <a:bodyPr/>
          <a:lstStyle/>
          <a:p>
            <a:fld id="{9F39E346-B1F3-4075-BD67-234EF0F10AC6}" type="slidenum">
              <a:rPr lang="et-EE" smtClean="0"/>
              <a:t>‹#›</a:t>
            </a:fld>
            <a:endParaRPr lang="et-EE" dirty="0"/>
          </a:p>
        </p:txBody>
      </p:sp>
      <p:sp>
        <p:nvSpPr>
          <p:cNvPr id="6" name="Title 1">
            <a:extLst>
              <a:ext uri="{FF2B5EF4-FFF2-40B4-BE49-F238E27FC236}">
                <a16:creationId xmlns:a16="http://schemas.microsoft.com/office/drawing/2014/main" id="{0069F6E4-9020-7783-DE83-4C47CF315C3E}"/>
              </a:ext>
            </a:extLst>
          </p:cNvPr>
          <p:cNvSpPr>
            <a:spLocks noGrp="1"/>
          </p:cNvSpPr>
          <p:nvPr>
            <p:ph type="title"/>
          </p:nvPr>
        </p:nvSpPr>
        <p:spPr>
          <a:xfrm>
            <a:off x="224443" y="241069"/>
            <a:ext cx="10298083" cy="889462"/>
          </a:xfrm>
        </p:spPr>
        <p:txBody>
          <a:bodyPr>
            <a:normAutofit/>
          </a:bodyPr>
          <a:lstStyle>
            <a:lvl1pPr marL="91440">
              <a:defRPr sz="3200" b="1">
                <a:solidFill>
                  <a:schemeClr val="tx1">
                    <a:lumMod val="95000"/>
                  </a:schemeClr>
                </a:solidFill>
                <a:latin typeface="Helvetica" pitchFamily="2"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594470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LID4096"/>
              <a:t>23.06.2026</a:t>
            </a:r>
            <a:endParaRPr lang="et-EE" dirty="0"/>
          </a:p>
        </p:txBody>
      </p:sp>
      <p:sp>
        <p:nvSpPr>
          <p:cNvPr id="3" name="Footer Placeholder 2"/>
          <p:cNvSpPr>
            <a:spLocks noGrp="1"/>
          </p:cNvSpPr>
          <p:nvPr>
            <p:ph type="ftr" sz="quarter" idx="11"/>
          </p:nvPr>
        </p:nvSpPr>
        <p:spPr/>
        <p:txBody>
          <a:bodyPr/>
          <a:lstStyle/>
          <a:p>
            <a:r>
              <a:rPr lang="en-US"/>
              <a:t>16th International LISA Symposium</a:t>
            </a:r>
            <a:endParaRPr lang="et-EE" dirty="0"/>
          </a:p>
        </p:txBody>
      </p:sp>
      <p:sp>
        <p:nvSpPr>
          <p:cNvPr id="4" name="Slide Number Placeholder 3"/>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3374633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r>
              <a:rPr lang="LID4096"/>
              <a:t>23.06.2026</a:t>
            </a:r>
            <a:endParaRPr lang="et-EE" dirty="0"/>
          </a:p>
        </p:txBody>
      </p:sp>
      <p:sp>
        <p:nvSpPr>
          <p:cNvPr id="6" name="Footer Placeholder 5"/>
          <p:cNvSpPr>
            <a:spLocks noGrp="1"/>
          </p:cNvSpPr>
          <p:nvPr>
            <p:ph type="ftr" sz="quarter" idx="11"/>
          </p:nvPr>
        </p:nvSpPr>
        <p:spPr/>
        <p:txBody>
          <a:bodyPr/>
          <a:lstStyle/>
          <a:p>
            <a:r>
              <a:rPr lang="en-US"/>
              <a:t>16th International LISA Symposium</a:t>
            </a:r>
            <a:endParaRPr lang="et-EE" dirty="0"/>
          </a:p>
        </p:txBody>
      </p:sp>
      <p:sp>
        <p:nvSpPr>
          <p:cNvPr id="7" name="Slide Number Placeholder 6"/>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219250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r>
              <a:rPr lang="LID4096"/>
              <a:t>23.06.2026</a:t>
            </a:r>
            <a:endParaRPr lang="et-EE" dirty="0"/>
          </a:p>
        </p:txBody>
      </p:sp>
      <p:sp>
        <p:nvSpPr>
          <p:cNvPr id="6" name="Footer Placeholder 5"/>
          <p:cNvSpPr>
            <a:spLocks noGrp="1"/>
          </p:cNvSpPr>
          <p:nvPr>
            <p:ph type="ftr" sz="quarter" idx="11"/>
          </p:nvPr>
        </p:nvSpPr>
        <p:spPr/>
        <p:txBody>
          <a:bodyPr/>
          <a:lstStyle/>
          <a:p>
            <a:r>
              <a:rPr lang="en-US"/>
              <a:t>16th International LISA Symposium</a:t>
            </a:r>
            <a:endParaRPr lang="et-EE" dirty="0"/>
          </a:p>
        </p:txBody>
      </p:sp>
      <p:sp>
        <p:nvSpPr>
          <p:cNvPr id="7" name="Slide Number Placeholder 6"/>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3586981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LID4096"/>
              <a:t>23.06.2026</a:t>
            </a:r>
            <a:endParaRPr lang="et-EE" dirty="0"/>
          </a:p>
        </p:txBody>
      </p:sp>
      <p:sp>
        <p:nvSpPr>
          <p:cNvPr id="5" name="Footer Placeholder 4"/>
          <p:cNvSpPr>
            <a:spLocks noGrp="1"/>
          </p:cNvSpPr>
          <p:nvPr>
            <p:ph type="ftr" sz="quarter" idx="11"/>
          </p:nvPr>
        </p:nvSpPr>
        <p:spPr/>
        <p:txBody>
          <a:bodyPr/>
          <a:lstStyle/>
          <a:p>
            <a:r>
              <a:rPr lang="en-US"/>
              <a:t>16th International LISA Symposium</a:t>
            </a:r>
            <a:endParaRPr lang="et-EE" dirty="0"/>
          </a:p>
        </p:txBody>
      </p:sp>
      <p:sp>
        <p:nvSpPr>
          <p:cNvPr id="6" name="Slide Number Placeholder 5"/>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2000484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a:lvl1pPr>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LID4096"/>
              <a:t>23.06.2026</a:t>
            </a:r>
            <a:endParaRPr lang="et-EE" dirty="0"/>
          </a:p>
        </p:txBody>
      </p:sp>
      <p:sp>
        <p:nvSpPr>
          <p:cNvPr id="5" name="Footer Placeholder 4"/>
          <p:cNvSpPr>
            <a:spLocks noGrp="1"/>
          </p:cNvSpPr>
          <p:nvPr>
            <p:ph type="ftr" sz="quarter" idx="11"/>
          </p:nvPr>
        </p:nvSpPr>
        <p:spPr/>
        <p:txBody>
          <a:bodyPr/>
          <a:lstStyle/>
          <a:p>
            <a:r>
              <a:rPr lang="en-US"/>
              <a:t>16th International LISA Symposium</a:t>
            </a:r>
            <a:endParaRPr lang="et-EE" dirty="0"/>
          </a:p>
        </p:txBody>
      </p:sp>
      <p:sp>
        <p:nvSpPr>
          <p:cNvPr id="6" name="Slide Number Placeholder 5"/>
          <p:cNvSpPr>
            <a:spLocks noGrp="1"/>
          </p:cNvSpPr>
          <p:nvPr>
            <p:ph type="sldNum" sz="quarter" idx="12"/>
          </p:nvPr>
        </p:nvSpPr>
        <p:spPr/>
        <p:txBody>
          <a:bodyPr/>
          <a:lstStyle/>
          <a:p>
            <a:fld id="{9F39E346-B1F3-4075-BD67-234EF0F10AC6}" type="slidenum">
              <a:rPr lang="et-EE" smtClean="0"/>
              <a:t>‹#›</a:t>
            </a:fld>
            <a:endParaRPr lang="et-EE" dirty="0"/>
          </a:p>
        </p:txBody>
      </p:sp>
    </p:spTree>
    <p:extLst>
      <p:ext uri="{BB962C8B-B14F-4D97-AF65-F5344CB8AC3E}">
        <p14:creationId xmlns:p14="http://schemas.microsoft.com/office/powerpoint/2010/main" val="389329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969696"/>
                </a:solidFill>
                <a:latin typeface="Helvetica" pitchFamily="2" charset="0"/>
              </a:defRPr>
            </a:lvl1pPr>
          </a:lstStyle>
          <a:p>
            <a:r>
              <a:rPr lang="LID4096"/>
              <a:t>23.06.2026</a:t>
            </a:r>
            <a:endParaRPr lang="et-EE"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969696"/>
                </a:solidFill>
                <a:latin typeface="Helvetica" pitchFamily="2" charset="0"/>
              </a:defRPr>
            </a:lvl1pPr>
          </a:lstStyle>
          <a:p>
            <a:r>
              <a:rPr lang="en-US"/>
              <a:t>16th International LISA Symposium</a:t>
            </a:r>
            <a:endParaRPr lang="et-EE" dirty="0"/>
          </a:p>
        </p:txBody>
      </p:sp>
      <p:sp>
        <p:nvSpPr>
          <p:cNvPr id="6" name="Slide Number Placeholder 5"/>
          <p:cNvSpPr>
            <a:spLocks noGrp="1"/>
          </p:cNvSpPr>
          <p:nvPr>
            <p:ph type="sldNum" sz="quarter" idx="4"/>
          </p:nvPr>
        </p:nvSpPr>
        <p:spPr>
          <a:xfrm>
            <a:off x="9250679" y="6356350"/>
            <a:ext cx="2743200" cy="365125"/>
          </a:xfrm>
          <a:prstGeom prst="rect">
            <a:avLst/>
          </a:prstGeom>
        </p:spPr>
        <p:txBody>
          <a:bodyPr vert="horz" lIns="91440" tIns="45720" rIns="91440" bIns="45720" rtlCol="0" anchor="ctr"/>
          <a:lstStyle>
            <a:lvl1pPr algn="r">
              <a:defRPr sz="1200">
                <a:solidFill>
                  <a:srgbClr val="969696"/>
                </a:solidFill>
                <a:latin typeface="Helvetica" pitchFamily="2" charset="0"/>
              </a:defRPr>
            </a:lvl1pPr>
          </a:lstStyle>
          <a:p>
            <a:fld id="{9F39E346-B1F3-4075-BD67-234EF0F10AC6}" type="slidenum">
              <a:rPr lang="et-EE" smtClean="0"/>
              <a:pPr/>
              <a:t>‹#›</a:t>
            </a:fld>
            <a:endParaRPr lang="et-EE" dirty="0"/>
          </a:p>
        </p:txBody>
      </p:sp>
      <p:pic>
        <p:nvPicPr>
          <p:cNvPr id="9" name="Picture 8">
            <a:extLst>
              <a:ext uri="{FF2B5EF4-FFF2-40B4-BE49-F238E27FC236}">
                <a16:creationId xmlns:a16="http://schemas.microsoft.com/office/drawing/2014/main" id="{48AA549F-3261-4FB8-90C4-DDE92830E82A}"/>
              </a:ext>
            </a:extLst>
          </p:cNvPr>
          <p:cNvPicPr>
            <a:picLocks noChangeAspect="1"/>
          </p:cNvPicPr>
          <p:nvPr userDrawn="1"/>
        </p:nvPicPr>
        <p:blipFill>
          <a:blip r:embed="rId13"/>
          <a:stretch>
            <a:fillRect/>
          </a:stretch>
        </p:blipFill>
        <p:spPr>
          <a:xfrm>
            <a:off x="8874266" y="230188"/>
            <a:ext cx="3119613" cy="701913"/>
          </a:xfrm>
          <a:prstGeom prst="rect">
            <a:avLst/>
          </a:prstGeom>
        </p:spPr>
      </p:pic>
    </p:spTree>
    <p:extLst>
      <p:ext uri="{BB962C8B-B14F-4D97-AF65-F5344CB8AC3E}">
        <p14:creationId xmlns:p14="http://schemas.microsoft.com/office/powerpoint/2010/main" val="1449894241"/>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90000"/>
        </a:lnSpc>
        <a:spcBef>
          <a:spcPct val="0"/>
        </a:spcBef>
        <a:buNone/>
        <a:defRPr sz="4400" b="1" kern="1200">
          <a:solidFill>
            <a:srgbClr val="667982"/>
          </a:solidFill>
          <a:latin typeface="Helvetica" pitchFamily="2"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b="1" kern="1200">
          <a:solidFill>
            <a:srgbClr val="66798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1" kern="1200">
          <a:solidFill>
            <a:srgbClr val="66798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1" kern="1200">
          <a:solidFill>
            <a:srgbClr val="66798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1" kern="1200">
          <a:solidFill>
            <a:srgbClr val="66798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1" kern="1200">
          <a:solidFill>
            <a:srgbClr val="66798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1.sv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C0DE-565F-000C-3EEA-F6099D3D648C}"/>
              </a:ext>
            </a:extLst>
          </p:cNvPr>
          <p:cNvSpPr>
            <a:spLocks noGrp="1"/>
          </p:cNvSpPr>
          <p:nvPr>
            <p:ph type="ctrTitle"/>
          </p:nvPr>
        </p:nvSpPr>
        <p:spPr>
          <a:xfrm>
            <a:off x="645242" y="1122363"/>
            <a:ext cx="10575823" cy="2387600"/>
          </a:xfrm>
        </p:spPr>
        <p:txBody>
          <a:bodyPr>
            <a:normAutofit/>
          </a:bodyPr>
          <a:lstStyle/>
          <a:p>
            <a:pPr algn="l"/>
            <a:r>
              <a:rPr lang="en-US" sz="4000" b="1" noProof="0" dirty="0">
                <a:latin typeface="Helvetica" pitchFamily="2" charset="0"/>
              </a:rPr>
              <a:t>Testbed for Validating Second-Generation TDI and Clock Noise Correction for LISA</a:t>
            </a:r>
            <a:endParaRPr lang="en-US" dirty="0"/>
          </a:p>
        </p:txBody>
      </p:sp>
      <p:sp>
        <p:nvSpPr>
          <p:cNvPr id="3" name="Subtitle 2">
            <a:extLst>
              <a:ext uri="{FF2B5EF4-FFF2-40B4-BE49-F238E27FC236}">
                <a16:creationId xmlns:a16="http://schemas.microsoft.com/office/drawing/2014/main" id="{EED6BFAB-E9D0-DE83-B9D8-ED08B206570D}"/>
              </a:ext>
            </a:extLst>
          </p:cNvPr>
          <p:cNvSpPr>
            <a:spLocks noGrp="1"/>
          </p:cNvSpPr>
          <p:nvPr>
            <p:ph type="subTitle" idx="1"/>
          </p:nvPr>
        </p:nvSpPr>
        <p:spPr>
          <a:xfrm>
            <a:off x="645243" y="3602038"/>
            <a:ext cx="10363671" cy="1655762"/>
          </a:xfrm>
        </p:spPr>
        <p:txBody>
          <a:bodyPr vert="horz" lIns="91440" tIns="45720" rIns="91440" bIns="45720" rtlCol="0" anchor="t">
            <a:normAutofit/>
          </a:bodyPr>
          <a:lstStyle/>
          <a:p>
            <a:pPr algn="l"/>
            <a:r>
              <a:rPr lang="en-US" u="sng" noProof="0" dirty="0">
                <a:solidFill>
                  <a:srgbClr val="646464"/>
                </a:solidFill>
                <a:latin typeface="Helvetica"/>
                <a:cs typeface="Arial"/>
              </a:rPr>
              <a:t>Karin Kruuse</a:t>
            </a:r>
            <a:r>
              <a:rPr lang="en-US" noProof="0" dirty="0">
                <a:solidFill>
                  <a:srgbClr val="646464"/>
                </a:solidFill>
                <a:latin typeface="Helvetica"/>
                <a:cs typeface="Arial"/>
              </a:rPr>
              <a:t>, Reid Ferguson, </a:t>
            </a:r>
            <a:r>
              <a:rPr lang="en-US" noProof="0" dirty="0" err="1">
                <a:solidFill>
                  <a:srgbClr val="646464"/>
                </a:solidFill>
                <a:latin typeface="Helvetica"/>
                <a:cs typeface="Arial"/>
              </a:rPr>
              <a:t>Sourath</a:t>
            </a:r>
            <a:r>
              <a:rPr lang="en-US" noProof="0" dirty="0">
                <a:solidFill>
                  <a:srgbClr val="646464"/>
                </a:solidFill>
                <a:latin typeface="Helvetica"/>
                <a:cs typeface="Arial"/>
              </a:rPr>
              <a:t> Ghosh, Patrick Krieger, Daniele </a:t>
            </a:r>
            <a:r>
              <a:rPr lang="en-US" noProof="0" dirty="0" err="1">
                <a:solidFill>
                  <a:srgbClr val="646464"/>
                </a:solidFill>
                <a:latin typeface="Helvetica"/>
                <a:cs typeface="Arial"/>
              </a:rPr>
              <a:t>Vetrugno</a:t>
            </a:r>
            <a:r>
              <a:rPr lang="en-US" noProof="0" dirty="0">
                <a:solidFill>
                  <a:srgbClr val="646464"/>
                </a:solidFill>
                <a:latin typeface="Helvetica"/>
                <a:cs typeface="Arial"/>
              </a:rPr>
              <a:t>, Guido </a:t>
            </a:r>
            <a:r>
              <a:rPr lang="en-US" noProof="0" dirty="0" err="1">
                <a:solidFill>
                  <a:srgbClr val="646464"/>
                </a:solidFill>
                <a:latin typeface="Helvetica"/>
                <a:cs typeface="Arial"/>
              </a:rPr>
              <a:t>Mue</a:t>
            </a:r>
            <a:r>
              <a:rPr lang="en-US" dirty="0" err="1">
                <a:solidFill>
                  <a:srgbClr val="646464"/>
                </a:solidFill>
                <a:latin typeface="Helvetica"/>
                <a:cs typeface="Arial"/>
              </a:rPr>
              <a:t>ller</a:t>
            </a:r>
            <a:br>
              <a:rPr lang="en-US" sz="400" dirty="0">
                <a:solidFill>
                  <a:srgbClr val="646464"/>
                </a:solidFill>
                <a:latin typeface="Helvetica"/>
                <a:cs typeface="Arial"/>
              </a:rPr>
            </a:br>
            <a:br>
              <a:rPr lang="en-US" sz="600" dirty="0">
                <a:solidFill>
                  <a:srgbClr val="646464"/>
                </a:solidFill>
                <a:latin typeface="Helvetica"/>
                <a:cs typeface="Arial"/>
              </a:rPr>
            </a:br>
            <a:r>
              <a:rPr lang="en-US" sz="1400" b="0" dirty="0">
                <a:solidFill>
                  <a:srgbClr val="969696"/>
                </a:solidFill>
              </a:rPr>
              <a:t>Max Planck Institute for Gravitational Physics/Leibniz University Hannover</a:t>
            </a:r>
            <a:endParaRPr lang="en-US" sz="1400" b="0" noProof="0" dirty="0">
              <a:solidFill>
                <a:srgbClr val="969696"/>
              </a:solidFill>
              <a:latin typeface="Helvetica"/>
              <a:cs typeface="Arial"/>
            </a:endParaRPr>
          </a:p>
        </p:txBody>
      </p:sp>
      <p:sp>
        <p:nvSpPr>
          <p:cNvPr id="4" name="Date Placeholder 3">
            <a:extLst>
              <a:ext uri="{FF2B5EF4-FFF2-40B4-BE49-F238E27FC236}">
                <a16:creationId xmlns:a16="http://schemas.microsoft.com/office/drawing/2014/main" id="{14352F94-4D68-9AD9-C559-7E17DBBC93F0}"/>
              </a:ext>
            </a:extLst>
          </p:cNvPr>
          <p:cNvSpPr>
            <a:spLocks noGrp="1"/>
          </p:cNvSpPr>
          <p:nvPr>
            <p:ph type="dt" sz="half" idx="10"/>
          </p:nvPr>
        </p:nvSpPr>
        <p:spPr/>
        <p:txBody>
          <a:bodyPr/>
          <a:lstStyle/>
          <a:p>
            <a:r>
              <a:rPr lang="LID4096" noProof="0" dirty="0">
                <a:solidFill>
                  <a:srgbClr val="969696"/>
                </a:solidFill>
                <a:cs typeface="Arial" panose="020B0604020202020204" pitchFamily="34" charset="0"/>
              </a:rPr>
              <a:t>23.06.2026</a:t>
            </a:r>
            <a:endParaRPr lang="en-US" noProof="0" dirty="0">
              <a:solidFill>
                <a:srgbClr val="969696"/>
              </a:solidFill>
              <a:cs typeface="Arial" panose="020B0604020202020204" pitchFamily="34" charset="0"/>
            </a:endParaRPr>
          </a:p>
        </p:txBody>
      </p:sp>
      <p:sp>
        <p:nvSpPr>
          <p:cNvPr id="7" name="Footer Placeholder 14">
            <a:extLst>
              <a:ext uri="{FF2B5EF4-FFF2-40B4-BE49-F238E27FC236}">
                <a16:creationId xmlns:a16="http://schemas.microsoft.com/office/drawing/2014/main" id="{0541D75B-40C2-421E-A496-AB0AE904A4DC}"/>
              </a:ext>
            </a:extLst>
          </p:cNvPr>
          <p:cNvSpPr>
            <a:spLocks noGrp="1"/>
          </p:cNvSpPr>
          <p:nvPr>
            <p:ph type="ftr" sz="quarter" idx="11"/>
          </p:nvPr>
        </p:nvSpPr>
        <p:spPr>
          <a:xfrm>
            <a:off x="4038600" y="6356350"/>
            <a:ext cx="4114800" cy="365125"/>
          </a:xfrm>
        </p:spPr>
        <p:txBody>
          <a:bodyPr/>
          <a:lstStyle/>
          <a:p>
            <a:r>
              <a:rPr lang="en-US" dirty="0"/>
              <a:t>16th International LISA Symposium</a:t>
            </a:r>
            <a:endParaRPr lang="et-EE" dirty="0"/>
          </a:p>
        </p:txBody>
      </p:sp>
      <p:sp>
        <p:nvSpPr>
          <p:cNvPr id="5" name="Slide Number Placeholder 4">
            <a:extLst>
              <a:ext uri="{FF2B5EF4-FFF2-40B4-BE49-F238E27FC236}">
                <a16:creationId xmlns:a16="http://schemas.microsoft.com/office/drawing/2014/main" id="{F9085AF5-8F8C-460B-B44A-3FBE058FCDA8}"/>
              </a:ext>
            </a:extLst>
          </p:cNvPr>
          <p:cNvSpPr>
            <a:spLocks noGrp="1"/>
          </p:cNvSpPr>
          <p:nvPr>
            <p:ph type="sldNum" sz="quarter" idx="12"/>
          </p:nvPr>
        </p:nvSpPr>
        <p:spPr/>
        <p:txBody>
          <a:bodyPr/>
          <a:lstStyle/>
          <a:p>
            <a:fld id="{9F39E346-B1F3-4075-BD67-234EF0F10AC6}" type="slidenum">
              <a:rPr lang="et-EE" smtClean="0">
                <a:solidFill>
                  <a:srgbClr val="969696"/>
                </a:solidFill>
              </a:rPr>
              <a:pPr/>
              <a:t>1</a:t>
            </a:fld>
            <a:endParaRPr lang="et-EE" dirty="0">
              <a:solidFill>
                <a:srgbClr val="969696"/>
              </a:solidFill>
            </a:endParaRPr>
          </a:p>
        </p:txBody>
      </p:sp>
      <p:pic>
        <p:nvPicPr>
          <p:cNvPr id="11" name="Picture 10">
            <a:extLst>
              <a:ext uri="{FF2B5EF4-FFF2-40B4-BE49-F238E27FC236}">
                <a16:creationId xmlns:a16="http://schemas.microsoft.com/office/drawing/2014/main" id="{F0C933F3-BCF4-4263-B127-A81C44F38D25}"/>
              </a:ext>
            </a:extLst>
          </p:cNvPr>
          <p:cNvPicPr>
            <a:picLocks noChangeAspect="1"/>
          </p:cNvPicPr>
          <p:nvPr/>
        </p:nvPicPr>
        <p:blipFill>
          <a:blip r:embed="rId3"/>
          <a:stretch>
            <a:fillRect/>
          </a:stretch>
        </p:blipFill>
        <p:spPr>
          <a:xfrm>
            <a:off x="223062" y="182941"/>
            <a:ext cx="2458414" cy="709867"/>
          </a:xfrm>
          <a:prstGeom prst="rect">
            <a:avLst/>
          </a:prstGeom>
        </p:spPr>
      </p:pic>
    </p:spTree>
    <p:extLst>
      <p:ext uri="{BB962C8B-B14F-4D97-AF65-F5344CB8AC3E}">
        <p14:creationId xmlns:p14="http://schemas.microsoft.com/office/powerpoint/2010/main" val="1829742012"/>
      </p:ext>
    </p:extLst>
  </p:cSld>
  <p:clrMapOvr>
    <a:masterClrMapping/>
  </p:clrMapOvr>
  <mc:AlternateContent xmlns:mc="http://schemas.openxmlformats.org/markup-compatibility/2006" xmlns:p14="http://schemas.microsoft.com/office/powerpoint/2010/main">
    <mc:Choice Requires="p14">
      <p:transition spd="slow" p14:dur="2000" advTm="2245"/>
    </mc:Choice>
    <mc:Fallback xmlns="">
      <p:transition spd="slow" advTm="22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dirty="0"/>
              <a:t>LISA Science Interferometer</a:t>
            </a:r>
            <a:endParaRPr lang="en-US" noProof="0" dirty="0"/>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2</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sp>
        <p:nvSpPr>
          <p:cNvPr id="8" name="Content Placeholder 2">
            <a:extLst>
              <a:ext uri="{FF2B5EF4-FFF2-40B4-BE49-F238E27FC236}">
                <a16:creationId xmlns:a16="http://schemas.microsoft.com/office/drawing/2014/main" id="{EB9334A9-6F79-4633-ADDB-79A5792FCBBE}"/>
              </a:ext>
            </a:extLst>
          </p:cNvPr>
          <p:cNvSpPr>
            <a:spLocks noGrp="1"/>
          </p:cNvSpPr>
          <p:nvPr>
            <p:ph idx="1"/>
          </p:nvPr>
        </p:nvSpPr>
        <p:spPr>
          <a:xfrm>
            <a:off x="343479" y="1161756"/>
            <a:ext cx="11374387" cy="4652022"/>
          </a:xfrm>
        </p:spPr>
        <p:txBody>
          <a:bodyPr/>
          <a:lstStyle/>
          <a:p>
            <a:pPr marL="0" indent="0">
              <a:buNone/>
            </a:pPr>
            <a:r>
              <a:rPr lang="en-US" dirty="0"/>
              <a:t>Two primary noises in the LISA raw data – laser noise and clock timing jitter</a:t>
            </a:r>
            <a:endParaRPr lang="et-EE" dirty="0"/>
          </a:p>
        </p:txBody>
      </p:sp>
      <p:pic>
        <p:nvPicPr>
          <p:cNvPr id="13" name="Picture 12">
            <a:extLst>
              <a:ext uri="{FF2B5EF4-FFF2-40B4-BE49-F238E27FC236}">
                <a16:creationId xmlns:a16="http://schemas.microsoft.com/office/drawing/2014/main" id="{F2DC84A7-FF5B-49D6-9695-63062500573F}"/>
              </a:ext>
            </a:extLst>
          </p:cNvPr>
          <p:cNvPicPr>
            <a:picLocks noChangeAspect="1"/>
          </p:cNvPicPr>
          <p:nvPr/>
        </p:nvPicPr>
        <p:blipFill>
          <a:blip r:embed="rId3"/>
          <a:stretch>
            <a:fillRect/>
          </a:stretch>
        </p:blipFill>
        <p:spPr>
          <a:xfrm>
            <a:off x="1256782" y="2147313"/>
            <a:ext cx="9180595" cy="2563373"/>
          </a:xfrm>
          <a:prstGeom prst="rect">
            <a:avLst/>
          </a:prstGeom>
        </p:spPr>
      </p:pic>
      <p:pic>
        <p:nvPicPr>
          <p:cNvPr id="5" name="Graphic 4">
            <a:extLst>
              <a:ext uri="{FF2B5EF4-FFF2-40B4-BE49-F238E27FC236}">
                <a16:creationId xmlns:a16="http://schemas.microsoft.com/office/drawing/2014/main" id="{B3A2C3B1-2470-AD95-1FCA-7702582881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84342" y="4864161"/>
            <a:ext cx="5133761" cy="888591"/>
          </a:xfrm>
          <a:prstGeom prst="rect">
            <a:avLst/>
          </a:prstGeom>
        </p:spPr>
      </p:pic>
    </p:spTree>
    <p:extLst>
      <p:ext uri="{BB962C8B-B14F-4D97-AF65-F5344CB8AC3E}">
        <p14:creationId xmlns:p14="http://schemas.microsoft.com/office/powerpoint/2010/main" val="70484995"/>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5467-CEEF-5D2A-CF77-102463FCE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D83F5-D102-3443-07A2-0FC95C148D1B}"/>
              </a:ext>
            </a:extLst>
          </p:cNvPr>
          <p:cNvSpPr>
            <a:spLocks noGrp="1"/>
          </p:cNvSpPr>
          <p:nvPr>
            <p:ph type="title"/>
          </p:nvPr>
        </p:nvSpPr>
        <p:spPr/>
        <p:txBody>
          <a:bodyPr/>
          <a:lstStyle/>
          <a:p>
            <a:r>
              <a:rPr lang="en-US" dirty="0"/>
              <a:t>LISA Science Interferometer</a:t>
            </a:r>
            <a:endParaRPr lang="en-US" noProof="0" dirty="0"/>
          </a:p>
        </p:txBody>
      </p:sp>
      <p:sp>
        <p:nvSpPr>
          <p:cNvPr id="4" name="Slide Number Placeholder 3">
            <a:extLst>
              <a:ext uri="{FF2B5EF4-FFF2-40B4-BE49-F238E27FC236}">
                <a16:creationId xmlns:a16="http://schemas.microsoft.com/office/drawing/2014/main" id="{4DFB8E41-C5D0-A113-4E86-DB51E96AA123}"/>
              </a:ext>
            </a:extLst>
          </p:cNvPr>
          <p:cNvSpPr>
            <a:spLocks noGrp="1"/>
          </p:cNvSpPr>
          <p:nvPr>
            <p:ph type="sldNum" sz="quarter" idx="12"/>
          </p:nvPr>
        </p:nvSpPr>
        <p:spPr/>
        <p:txBody>
          <a:bodyPr/>
          <a:lstStyle/>
          <a:p>
            <a:fld id="{9F39E346-B1F3-4075-BD67-234EF0F10AC6}" type="slidenum">
              <a:rPr lang="en-US" noProof="0" smtClean="0"/>
              <a:pPr/>
              <a:t>3</a:t>
            </a:fld>
            <a:endParaRPr lang="en-US" noProof="0" dirty="0"/>
          </a:p>
        </p:txBody>
      </p:sp>
      <p:sp>
        <p:nvSpPr>
          <p:cNvPr id="6" name="Date Placeholder 5">
            <a:extLst>
              <a:ext uri="{FF2B5EF4-FFF2-40B4-BE49-F238E27FC236}">
                <a16:creationId xmlns:a16="http://schemas.microsoft.com/office/drawing/2014/main" id="{7DEC8BDB-7D04-332D-8162-4CD45A1D5C72}"/>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6B238D33-5E95-114D-DF10-58769042D906}"/>
              </a:ext>
            </a:extLst>
          </p:cNvPr>
          <p:cNvSpPr>
            <a:spLocks noGrp="1"/>
          </p:cNvSpPr>
          <p:nvPr>
            <p:ph type="ftr" sz="quarter" idx="11"/>
          </p:nvPr>
        </p:nvSpPr>
        <p:spPr/>
        <p:txBody>
          <a:bodyPr/>
          <a:lstStyle/>
          <a:p>
            <a:r>
              <a:rPr lang="en-US" dirty="0"/>
              <a:t>16th International LISA Symposium</a:t>
            </a:r>
            <a:endParaRPr lang="et-EE" dirty="0"/>
          </a:p>
        </p:txBody>
      </p:sp>
      <p:sp>
        <p:nvSpPr>
          <p:cNvPr id="8" name="Content Placeholder 2">
            <a:extLst>
              <a:ext uri="{FF2B5EF4-FFF2-40B4-BE49-F238E27FC236}">
                <a16:creationId xmlns:a16="http://schemas.microsoft.com/office/drawing/2014/main" id="{BB946A29-EF0C-D82F-15B8-99197BC70667}"/>
              </a:ext>
            </a:extLst>
          </p:cNvPr>
          <p:cNvSpPr>
            <a:spLocks noGrp="1"/>
          </p:cNvSpPr>
          <p:nvPr>
            <p:ph idx="1"/>
          </p:nvPr>
        </p:nvSpPr>
        <p:spPr>
          <a:xfrm>
            <a:off x="343479" y="1161756"/>
            <a:ext cx="11374387" cy="4652022"/>
          </a:xfrm>
        </p:spPr>
        <p:txBody>
          <a:bodyPr/>
          <a:lstStyle/>
          <a:p>
            <a:pPr marL="0" indent="0">
              <a:buNone/>
            </a:pPr>
            <a:r>
              <a:rPr lang="en-US" dirty="0"/>
              <a:t>Two primary noises in the LISA raw data – laser noise and clock timing jitter</a:t>
            </a:r>
            <a:endParaRPr lang="et-EE" dirty="0"/>
          </a:p>
        </p:txBody>
      </p:sp>
      <p:pic>
        <p:nvPicPr>
          <p:cNvPr id="13" name="Picture 12">
            <a:extLst>
              <a:ext uri="{FF2B5EF4-FFF2-40B4-BE49-F238E27FC236}">
                <a16:creationId xmlns:a16="http://schemas.microsoft.com/office/drawing/2014/main" id="{05EA5861-1DCA-279D-27CE-FBEC29CA1B00}"/>
              </a:ext>
            </a:extLst>
          </p:cNvPr>
          <p:cNvPicPr>
            <a:picLocks noChangeAspect="1"/>
          </p:cNvPicPr>
          <p:nvPr/>
        </p:nvPicPr>
        <p:blipFill>
          <a:blip r:embed="rId3"/>
          <a:stretch>
            <a:fillRect/>
          </a:stretch>
        </p:blipFill>
        <p:spPr>
          <a:xfrm>
            <a:off x="1256782" y="2147313"/>
            <a:ext cx="9180595" cy="2563373"/>
          </a:xfrm>
          <a:prstGeom prst="rect">
            <a:avLst/>
          </a:prstGeom>
        </p:spPr>
      </p:pic>
      <p:pic>
        <p:nvPicPr>
          <p:cNvPr id="5" name="Graphic 4">
            <a:extLst>
              <a:ext uri="{FF2B5EF4-FFF2-40B4-BE49-F238E27FC236}">
                <a16:creationId xmlns:a16="http://schemas.microsoft.com/office/drawing/2014/main" id="{04E54002-01B3-1A88-B465-CC2B997D75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84342" y="4864161"/>
            <a:ext cx="5133761" cy="888591"/>
          </a:xfrm>
          <a:prstGeom prst="rect">
            <a:avLst/>
          </a:prstGeom>
        </p:spPr>
      </p:pic>
    </p:spTree>
    <p:extLst>
      <p:ext uri="{BB962C8B-B14F-4D97-AF65-F5344CB8AC3E}">
        <p14:creationId xmlns:p14="http://schemas.microsoft.com/office/powerpoint/2010/main" val="1679538435"/>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dirty="0">
                <a:latin typeface="Helvetica"/>
                <a:cs typeface="Helvetica"/>
              </a:rPr>
              <a:t>Replicating the LISA Arm in the Lab</a:t>
            </a:r>
            <a:endParaRPr lang="en-US" noProof="0" dirty="0">
              <a:latin typeface="Helvetica"/>
              <a:cs typeface="Arial"/>
            </a:endParaRPr>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4</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pic>
        <p:nvPicPr>
          <p:cNvPr id="14" name="Picture 13">
            <a:extLst>
              <a:ext uri="{FF2B5EF4-FFF2-40B4-BE49-F238E27FC236}">
                <a16:creationId xmlns:a16="http://schemas.microsoft.com/office/drawing/2014/main" id="{166F1A6F-38A1-4210-B6D9-09E7BD00398A}"/>
              </a:ext>
            </a:extLst>
          </p:cNvPr>
          <p:cNvPicPr>
            <a:picLocks noChangeAspect="1"/>
          </p:cNvPicPr>
          <p:nvPr/>
        </p:nvPicPr>
        <p:blipFill>
          <a:blip r:embed="rId3"/>
          <a:stretch>
            <a:fillRect/>
          </a:stretch>
        </p:blipFill>
        <p:spPr>
          <a:xfrm>
            <a:off x="2105484" y="1156046"/>
            <a:ext cx="8609594" cy="5174788"/>
          </a:xfrm>
          <a:prstGeom prst="rect">
            <a:avLst/>
          </a:prstGeom>
        </p:spPr>
      </p:pic>
      <p:sp>
        <p:nvSpPr>
          <p:cNvPr id="8" name="TextBox 7">
            <a:extLst>
              <a:ext uri="{FF2B5EF4-FFF2-40B4-BE49-F238E27FC236}">
                <a16:creationId xmlns:a16="http://schemas.microsoft.com/office/drawing/2014/main" id="{F9AFC456-2A69-4BBB-9C56-F2A8F08E3702}"/>
              </a:ext>
            </a:extLst>
          </p:cNvPr>
          <p:cNvSpPr txBox="1"/>
          <p:nvPr/>
        </p:nvSpPr>
        <p:spPr>
          <a:xfrm>
            <a:off x="805000" y="2071763"/>
            <a:ext cx="1300484"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LISA arm</a:t>
            </a:r>
            <a:endParaRPr lang="et-EE" sz="2000" b="1" dirty="0">
              <a:solidFill>
                <a:srgbClr val="323232"/>
              </a:solidFill>
              <a:latin typeface="Helvetica"/>
              <a:cs typeface="Arial"/>
            </a:endParaRPr>
          </a:p>
        </p:txBody>
      </p:sp>
      <p:sp>
        <p:nvSpPr>
          <p:cNvPr id="9" name="TextBox 8">
            <a:extLst>
              <a:ext uri="{FF2B5EF4-FFF2-40B4-BE49-F238E27FC236}">
                <a16:creationId xmlns:a16="http://schemas.microsoft.com/office/drawing/2014/main" id="{C109864D-8E8B-46E7-8EE3-60B02125B621}"/>
              </a:ext>
            </a:extLst>
          </p:cNvPr>
          <p:cNvSpPr txBox="1"/>
          <p:nvPr/>
        </p:nvSpPr>
        <p:spPr>
          <a:xfrm>
            <a:off x="724548" y="4586182"/>
            <a:ext cx="1721946"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Testbed arm</a:t>
            </a:r>
            <a:endParaRPr lang="et-EE" sz="2000" b="1" dirty="0">
              <a:solidFill>
                <a:srgbClr val="323232"/>
              </a:solidFill>
              <a:latin typeface="Helvetica"/>
              <a:cs typeface="Arial"/>
            </a:endParaRPr>
          </a:p>
        </p:txBody>
      </p:sp>
    </p:spTree>
    <p:extLst>
      <p:ext uri="{BB962C8B-B14F-4D97-AF65-F5344CB8AC3E}">
        <p14:creationId xmlns:p14="http://schemas.microsoft.com/office/powerpoint/2010/main" val="3166160813"/>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dirty="0">
                <a:latin typeface="Helvetica"/>
                <a:cs typeface="Helvetica"/>
              </a:rPr>
              <a:t>Replicating the LISA Arm in the Lab</a:t>
            </a:r>
            <a:endParaRPr lang="en-US" b="0" dirty="0">
              <a:latin typeface="Helvetica"/>
              <a:cs typeface="Helvetica"/>
            </a:endParaRPr>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5</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pic>
        <p:nvPicPr>
          <p:cNvPr id="14" name="Picture 13">
            <a:extLst>
              <a:ext uri="{FF2B5EF4-FFF2-40B4-BE49-F238E27FC236}">
                <a16:creationId xmlns:a16="http://schemas.microsoft.com/office/drawing/2014/main" id="{166F1A6F-38A1-4210-B6D9-09E7BD00398A}"/>
              </a:ext>
            </a:extLst>
          </p:cNvPr>
          <p:cNvPicPr>
            <a:picLocks noChangeAspect="1"/>
          </p:cNvPicPr>
          <p:nvPr/>
        </p:nvPicPr>
        <p:blipFill>
          <a:blip r:embed="rId3"/>
          <a:stretch>
            <a:fillRect/>
          </a:stretch>
        </p:blipFill>
        <p:spPr>
          <a:xfrm>
            <a:off x="2105484" y="1156046"/>
            <a:ext cx="8609594" cy="5174788"/>
          </a:xfrm>
          <a:prstGeom prst="rect">
            <a:avLst/>
          </a:prstGeom>
        </p:spPr>
      </p:pic>
      <p:sp>
        <p:nvSpPr>
          <p:cNvPr id="10" name="Rectangle 9">
            <a:extLst>
              <a:ext uri="{FF2B5EF4-FFF2-40B4-BE49-F238E27FC236}">
                <a16:creationId xmlns:a16="http://schemas.microsoft.com/office/drawing/2014/main" id="{121D82ED-077F-4BB6-B619-FF99EE956918}"/>
              </a:ext>
            </a:extLst>
          </p:cNvPr>
          <p:cNvSpPr/>
          <p:nvPr/>
        </p:nvSpPr>
        <p:spPr>
          <a:xfrm>
            <a:off x="4622146" y="3835519"/>
            <a:ext cx="1160164" cy="56519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t-EE" dirty="0"/>
          </a:p>
        </p:txBody>
      </p:sp>
      <p:sp>
        <p:nvSpPr>
          <p:cNvPr id="11" name="Rectangle 10">
            <a:extLst>
              <a:ext uri="{FF2B5EF4-FFF2-40B4-BE49-F238E27FC236}">
                <a16:creationId xmlns:a16="http://schemas.microsoft.com/office/drawing/2014/main" id="{1D5D6F8E-102D-4FE7-A2BF-8E8C4628899C}"/>
              </a:ext>
            </a:extLst>
          </p:cNvPr>
          <p:cNvSpPr/>
          <p:nvPr/>
        </p:nvSpPr>
        <p:spPr>
          <a:xfrm>
            <a:off x="7409402" y="4929142"/>
            <a:ext cx="1238558" cy="56519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t-EE"/>
          </a:p>
        </p:txBody>
      </p:sp>
      <p:sp>
        <p:nvSpPr>
          <p:cNvPr id="12" name="TextBox 11">
            <a:extLst>
              <a:ext uri="{FF2B5EF4-FFF2-40B4-BE49-F238E27FC236}">
                <a16:creationId xmlns:a16="http://schemas.microsoft.com/office/drawing/2014/main" id="{7F913E01-B954-4183-B7C9-090D67979C07}"/>
              </a:ext>
            </a:extLst>
          </p:cNvPr>
          <p:cNvSpPr txBox="1"/>
          <p:nvPr/>
        </p:nvSpPr>
        <p:spPr>
          <a:xfrm>
            <a:off x="4013236" y="3511442"/>
            <a:ext cx="3538148" cy="369332"/>
          </a:xfrm>
          <a:prstGeom prst="rect">
            <a:avLst/>
          </a:prstGeom>
          <a:noFill/>
        </p:spPr>
        <p:txBody>
          <a:bodyPr wrap="none" rtlCol="0">
            <a:spAutoFit/>
          </a:bodyPr>
          <a:lstStyle/>
          <a:p>
            <a:pPr algn="l"/>
            <a:r>
              <a:rPr lang="en-US" dirty="0">
                <a:solidFill>
                  <a:srgbClr val="323232"/>
                </a:solidFill>
                <a:highlight>
                  <a:srgbClr val="EFF1F3"/>
                </a:highlight>
                <a:latin typeface="Helvetica" pitchFamily="2" charset="0"/>
                <a:cs typeface="Arial" panose="020B0604020202020204" pitchFamily="34" charset="0"/>
              </a:rPr>
              <a:t>Carrier from 281 THz to ~50MHz</a:t>
            </a:r>
          </a:p>
        </p:txBody>
      </p:sp>
      <p:sp>
        <p:nvSpPr>
          <p:cNvPr id="16" name="TextBox 15">
            <a:extLst>
              <a:ext uri="{FF2B5EF4-FFF2-40B4-BE49-F238E27FC236}">
                <a16:creationId xmlns:a16="http://schemas.microsoft.com/office/drawing/2014/main" id="{92EC3C2C-9002-46C2-B860-1390083E9A9C}"/>
              </a:ext>
            </a:extLst>
          </p:cNvPr>
          <p:cNvSpPr txBox="1"/>
          <p:nvPr/>
        </p:nvSpPr>
        <p:spPr>
          <a:xfrm>
            <a:off x="805000" y="2071763"/>
            <a:ext cx="1300484"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LISA arm</a:t>
            </a:r>
            <a:endParaRPr lang="et-EE" sz="2000" b="1" dirty="0">
              <a:solidFill>
                <a:srgbClr val="323232"/>
              </a:solidFill>
              <a:latin typeface="Helvetica"/>
              <a:cs typeface="Arial"/>
            </a:endParaRPr>
          </a:p>
        </p:txBody>
      </p:sp>
      <p:sp>
        <p:nvSpPr>
          <p:cNvPr id="17" name="TextBox 16">
            <a:extLst>
              <a:ext uri="{FF2B5EF4-FFF2-40B4-BE49-F238E27FC236}">
                <a16:creationId xmlns:a16="http://schemas.microsoft.com/office/drawing/2014/main" id="{0F825BDC-80F7-4492-956D-166A6DB5F9EC}"/>
              </a:ext>
            </a:extLst>
          </p:cNvPr>
          <p:cNvSpPr txBox="1"/>
          <p:nvPr/>
        </p:nvSpPr>
        <p:spPr>
          <a:xfrm>
            <a:off x="724548" y="4586182"/>
            <a:ext cx="1721946"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Testbed arm</a:t>
            </a:r>
            <a:endParaRPr lang="et-EE" sz="2000" b="1" dirty="0">
              <a:solidFill>
                <a:srgbClr val="323232"/>
              </a:solidFill>
              <a:latin typeface="Helvetica"/>
              <a:cs typeface="Arial"/>
            </a:endParaRPr>
          </a:p>
        </p:txBody>
      </p:sp>
    </p:spTree>
    <p:extLst>
      <p:ext uri="{BB962C8B-B14F-4D97-AF65-F5344CB8AC3E}">
        <p14:creationId xmlns:p14="http://schemas.microsoft.com/office/powerpoint/2010/main" val="542356749"/>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dirty="0">
                <a:latin typeface="Helvetica"/>
                <a:cs typeface="Helvetica"/>
              </a:rPr>
              <a:t>Replicating the LISA Arm in the Lab</a:t>
            </a:r>
            <a:endParaRPr lang="en-US" b="0" dirty="0">
              <a:latin typeface="Helvetica"/>
              <a:cs typeface="Helvetica"/>
            </a:endParaRPr>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6</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pic>
        <p:nvPicPr>
          <p:cNvPr id="14" name="Picture 13">
            <a:extLst>
              <a:ext uri="{FF2B5EF4-FFF2-40B4-BE49-F238E27FC236}">
                <a16:creationId xmlns:a16="http://schemas.microsoft.com/office/drawing/2014/main" id="{166F1A6F-38A1-4210-B6D9-09E7BD00398A}"/>
              </a:ext>
            </a:extLst>
          </p:cNvPr>
          <p:cNvPicPr>
            <a:picLocks noChangeAspect="1"/>
          </p:cNvPicPr>
          <p:nvPr/>
        </p:nvPicPr>
        <p:blipFill>
          <a:blip r:embed="rId3"/>
          <a:stretch>
            <a:fillRect/>
          </a:stretch>
        </p:blipFill>
        <p:spPr>
          <a:xfrm>
            <a:off x="2105484" y="1156046"/>
            <a:ext cx="8609594" cy="5174788"/>
          </a:xfrm>
          <a:prstGeom prst="rect">
            <a:avLst/>
          </a:prstGeom>
        </p:spPr>
      </p:pic>
      <p:sp>
        <p:nvSpPr>
          <p:cNvPr id="13" name="Rectangle 12">
            <a:extLst>
              <a:ext uri="{FF2B5EF4-FFF2-40B4-BE49-F238E27FC236}">
                <a16:creationId xmlns:a16="http://schemas.microsoft.com/office/drawing/2014/main" id="{7DF795BF-18EF-4B4D-82F1-5EF1F97736B2}"/>
              </a:ext>
            </a:extLst>
          </p:cNvPr>
          <p:cNvSpPr/>
          <p:nvPr/>
        </p:nvSpPr>
        <p:spPr>
          <a:xfrm>
            <a:off x="4553154" y="4878341"/>
            <a:ext cx="1222806" cy="56519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t-EE" dirty="0"/>
          </a:p>
        </p:txBody>
      </p:sp>
      <p:sp>
        <p:nvSpPr>
          <p:cNvPr id="15" name="Rectangle 14">
            <a:extLst>
              <a:ext uri="{FF2B5EF4-FFF2-40B4-BE49-F238E27FC236}">
                <a16:creationId xmlns:a16="http://schemas.microsoft.com/office/drawing/2014/main" id="{CD1C7B5D-38AF-4A19-931D-112748F7D886}"/>
              </a:ext>
            </a:extLst>
          </p:cNvPr>
          <p:cNvSpPr/>
          <p:nvPr/>
        </p:nvSpPr>
        <p:spPr>
          <a:xfrm>
            <a:off x="7577208" y="3820370"/>
            <a:ext cx="1152384" cy="56519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t-EE"/>
          </a:p>
        </p:txBody>
      </p:sp>
      <p:sp>
        <p:nvSpPr>
          <p:cNvPr id="16" name="TextBox 15">
            <a:extLst>
              <a:ext uri="{FF2B5EF4-FFF2-40B4-BE49-F238E27FC236}">
                <a16:creationId xmlns:a16="http://schemas.microsoft.com/office/drawing/2014/main" id="{44258E33-07B5-420F-92A6-E67CD80A86DE}"/>
              </a:ext>
            </a:extLst>
          </p:cNvPr>
          <p:cNvSpPr txBox="1"/>
          <p:nvPr/>
        </p:nvSpPr>
        <p:spPr>
          <a:xfrm>
            <a:off x="6262962" y="3284453"/>
            <a:ext cx="2987717" cy="646331"/>
          </a:xfrm>
          <a:prstGeom prst="rect">
            <a:avLst/>
          </a:prstGeom>
          <a:noFill/>
        </p:spPr>
        <p:txBody>
          <a:bodyPr wrap="square" rtlCol="0">
            <a:spAutoFit/>
          </a:bodyPr>
          <a:lstStyle/>
          <a:p>
            <a:pPr algn="l"/>
            <a:r>
              <a:rPr lang="en-US" dirty="0">
                <a:solidFill>
                  <a:srgbClr val="323232"/>
                </a:solidFill>
                <a:highlight>
                  <a:srgbClr val="EFF1F3"/>
                </a:highlight>
                <a:latin typeface="Helvetica" pitchFamily="2" charset="0"/>
                <a:cs typeface="Arial" panose="020B0604020202020204" pitchFamily="34" charset="0"/>
              </a:rPr>
              <a:t>Inter-satellite interferometers</a:t>
            </a:r>
            <a:endParaRPr lang="et-EE" dirty="0">
              <a:solidFill>
                <a:srgbClr val="323232"/>
              </a:solidFill>
              <a:highlight>
                <a:srgbClr val="EFF1F3"/>
              </a:highlight>
              <a:latin typeface="Helvetica" pitchFamily="2" charset="0"/>
              <a:cs typeface="Arial" panose="020B0604020202020204" pitchFamily="34" charset="0"/>
            </a:endParaRPr>
          </a:p>
        </p:txBody>
      </p:sp>
      <p:sp>
        <p:nvSpPr>
          <p:cNvPr id="17" name="Rectangle 16">
            <a:extLst>
              <a:ext uri="{FF2B5EF4-FFF2-40B4-BE49-F238E27FC236}">
                <a16:creationId xmlns:a16="http://schemas.microsoft.com/office/drawing/2014/main" id="{37378D94-8214-4E4D-8556-2636B16A871F}"/>
              </a:ext>
            </a:extLst>
          </p:cNvPr>
          <p:cNvSpPr/>
          <p:nvPr/>
        </p:nvSpPr>
        <p:spPr>
          <a:xfrm>
            <a:off x="4813270" y="2617785"/>
            <a:ext cx="351287" cy="48114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t-EE" dirty="0"/>
          </a:p>
        </p:txBody>
      </p:sp>
      <p:sp>
        <p:nvSpPr>
          <p:cNvPr id="18" name="Rectangle 17">
            <a:extLst>
              <a:ext uri="{FF2B5EF4-FFF2-40B4-BE49-F238E27FC236}">
                <a16:creationId xmlns:a16="http://schemas.microsoft.com/office/drawing/2014/main" id="{2C8E4A5E-228E-41A0-9A69-4A33508870CB}"/>
              </a:ext>
            </a:extLst>
          </p:cNvPr>
          <p:cNvSpPr/>
          <p:nvPr/>
        </p:nvSpPr>
        <p:spPr>
          <a:xfrm>
            <a:off x="8110957" y="1531790"/>
            <a:ext cx="351287" cy="48114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t-EE" dirty="0"/>
          </a:p>
        </p:txBody>
      </p:sp>
      <p:sp>
        <p:nvSpPr>
          <p:cNvPr id="19" name="TextBox 18">
            <a:extLst>
              <a:ext uri="{FF2B5EF4-FFF2-40B4-BE49-F238E27FC236}">
                <a16:creationId xmlns:a16="http://schemas.microsoft.com/office/drawing/2014/main" id="{A32EB51B-296C-4CB5-9D7E-26B624BA01A3}"/>
              </a:ext>
            </a:extLst>
          </p:cNvPr>
          <p:cNvSpPr txBox="1"/>
          <p:nvPr/>
        </p:nvSpPr>
        <p:spPr>
          <a:xfrm>
            <a:off x="805000" y="2071763"/>
            <a:ext cx="1300484"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LISA arm</a:t>
            </a:r>
            <a:endParaRPr lang="et-EE" sz="2000" b="1" dirty="0">
              <a:solidFill>
                <a:srgbClr val="323232"/>
              </a:solidFill>
              <a:latin typeface="Helvetica"/>
              <a:cs typeface="Arial"/>
            </a:endParaRPr>
          </a:p>
        </p:txBody>
      </p:sp>
      <p:sp>
        <p:nvSpPr>
          <p:cNvPr id="20" name="TextBox 19">
            <a:extLst>
              <a:ext uri="{FF2B5EF4-FFF2-40B4-BE49-F238E27FC236}">
                <a16:creationId xmlns:a16="http://schemas.microsoft.com/office/drawing/2014/main" id="{9E312589-29D9-46D6-9CD0-977ACE7B2F22}"/>
              </a:ext>
            </a:extLst>
          </p:cNvPr>
          <p:cNvSpPr txBox="1"/>
          <p:nvPr/>
        </p:nvSpPr>
        <p:spPr>
          <a:xfrm>
            <a:off x="724548" y="4586182"/>
            <a:ext cx="1721946"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Testbed arm</a:t>
            </a:r>
            <a:endParaRPr lang="et-EE" sz="2000" b="1" dirty="0">
              <a:solidFill>
                <a:srgbClr val="323232"/>
              </a:solidFill>
              <a:latin typeface="Helvetica"/>
              <a:cs typeface="Arial"/>
            </a:endParaRPr>
          </a:p>
        </p:txBody>
      </p:sp>
    </p:spTree>
    <p:extLst>
      <p:ext uri="{BB962C8B-B14F-4D97-AF65-F5344CB8AC3E}">
        <p14:creationId xmlns:p14="http://schemas.microsoft.com/office/powerpoint/2010/main" val="993346484"/>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7A4A-3FF4-D844-2193-477D8DF3F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37DCA-1161-1C7E-A435-54E854572B50}"/>
              </a:ext>
            </a:extLst>
          </p:cNvPr>
          <p:cNvSpPr>
            <a:spLocks noGrp="1"/>
          </p:cNvSpPr>
          <p:nvPr>
            <p:ph type="title"/>
          </p:nvPr>
        </p:nvSpPr>
        <p:spPr/>
        <p:txBody>
          <a:bodyPr/>
          <a:lstStyle/>
          <a:p>
            <a:r>
              <a:rPr lang="en-US" dirty="0">
                <a:latin typeface="Helvetica"/>
                <a:cs typeface="Helvetica"/>
              </a:rPr>
              <a:t>Replicating the LISA Arm in the Lab</a:t>
            </a:r>
            <a:endParaRPr lang="en-US" b="0" dirty="0">
              <a:latin typeface="Helvetica"/>
              <a:cs typeface="Helvetica"/>
            </a:endParaRPr>
          </a:p>
        </p:txBody>
      </p:sp>
      <p:sp>
        <p:nvSpPr>
          <p:cNvPr id="4" name="Slide Number Placeholder 3">
            <a:extLst>
              <a:ext uri="{FF2B5EF4-FFF2-40B4-BE49-F238E27FC236}">
                <a16:creationId xmlns:a16="http://schemas.microsoft.com/office/drawing/2014/main" id="{ACDF45F2-2DEF-DAEE-8252-CC9102516A00}"/>
              </a:ext>
            </a:extLst>
          </p:cNvPr>
          <p:cNvSpPr>
            <a:spLocks noGrp="1"/>
          </p:cNvSpPr>
          <p:nvPr>
            <p:ph type="sldNum" sz="quarter" idx="12"/>
          </p:nvPr>
        </p:nvSpPr>
        <p:spPr/>
        <p:txBody>
          <a:bodyPr/>
          <a:lstStyle/>
          <a:p>
            <a:fld id="{9F39E346-B1F3-4075-BD67-234EF0F10AC6}" type="slidenum">
              <a:rPr lang="en-US" noProof="0" smtClean="0"/>
              <a:pPr/>
              <a:t>7</a:t>
            </a:fld>
            <a:endParaRPr lang="en-US" noProof="0" dirty="0"/>
          </a:p>
        </p:txBody>
      </p:sp>
      <p:sp>
        <p:nvSpPr>
          <p:cNvPr id="6" name="Date Placeholder 5">
            <a:extLst>
              <a:ext uri="{FF2B5EF4-FFF2-40B4-BE49-F238E27FC236}">
                <a16:creationId xmlns:a16="http://schemas.microsoft.com/office/drawing/2014/main" id="{C934E1D7-CA3C-8A3F-D655-C976C66AA5D8}"/>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3C625B93-6E97-8D07-A8EE-ACDF86338171}"/>
              </a:ext>
            </a:extLst>
          </p:cNvPr>
          <p:cNvSpPr>
            <a:spLocks noGrp="1"/>
          </p:cNvSpPr>
          <p:nvPr>
            <p:ph type="ftr" sz="quarter" idx="11"/>
          </p:nvPr>
        </p:nvSpPr>
        <p:spPr/>
        <p:txBody>
          <a:bodyPr/>
          <a:lstStyle/>
          <a:p>
            <a:r>
              <a:rPr lang="en-US" dirty="0"/>
              <a:t>16th International LISA Symposium</a:t>
            </a:r>
            <a:endParaRPr lang="et-EE" dirty="0"/>
          </a:p>
        </p:txBody>
      </p:sp>
      <p:pic>
        <p:nvPicPr>
          <p:cNvPr id="15" name="Picture 14">
            <a:extLst>
              <a:ext uri="{FF2B5EF4-FFF2-40B4-BE49-F238E27FC236}">
                <a16:creationId xmlns:a16="http://schemas.microsoft.com/office/drawing/2014/main" id="{EB9E17CC-9801-4929-ADE5-A9CE31DEC402}"/>
              </a:ext>
            </a:extLst>
          </p:cNvPr>
          <p:cNvPicPr>
            <a:picLocks noChangeAspect="1"/>
          </p:cNvPicPr>
          <p:nvPr/>
        </p:nvPicPr>
        <p:blipFill>
          <a:blip r:embed="rId3"/>
          <a:stretch>
            <a:fillRect/>
          </a:stretch>
        </p:blipFill>
        <p:spPr>
          <a:xfrm>
            <a:off x="529145" y="1237556"/>
            <a:ext cx="6402078" cy="1787565"/>
          </a:xfrm>
          <a:prstGeom prst="rect">
            <a:avLst/>
          </a:prstGeom>
        </p:spPr>
      </p:pic>
      <p:pic>
        <p:nvPicPr>
          <p:cNvPr id="18" name="Picture 17">
            <a:extLst>
              <a:ext uri="{FF2B5EF4-FFF2-40B4-BE49-F238E27FC236}">
                <a16:creationId xmlns:a16="http://schemas.microsoft.com/office/drawing/2014/main" id="{4778ECA1-263A-4A9E-A678-9AC8CC3AE121}"/>
              </a:ext>
            </a:extLst>
          </p:cNvPr>
          <p:cNvPicPr>
            <a:picLocks noChangeAspect="1"/>
          </p:cNvPicPr>
          <p:nvPr/>
        </p:nvPicPr>
        <p:blipFill>
          <a:blip r:embed="rId4"/>
          <a:stretch>
            <a:fillRect/>
          </a:stretch>
        </p:blipFill>
        <p:spPr>
          <a:xfrm>
            <a:off x="610393" y="3646424"/>
            <a:ext cx="6646315" cy="2332524"/>
          </a:xfrm>
          <a:prstGeom prst="rect">
            <a:avLst/>
          </a:prstGeom>
        </p:spPr>
      </p:pic>
      <p:sp>
        <p:nvSpPr>
          <p:cNvPr id="13" name="TextBox 12">
            <a:extLst>
              <a:ext uri="{FF2B5EF4-FFF2-40B4-BE49-F238E27FC236}">
                <a16:creationId xmlns:a16="http://schemas.microsoft.com/office/drawing/2014/main" id="{D81A7C8E-3287-48E7-8037-82DBDDBA1F7D}"/>
              </a:ext>
            </a:extLst>
          </p:cNvPr>
          <p:cNvSpPr txBox="1"/>
          <p:nvPr/>
        </p:nvSpPr>
        <p:spPr>
          <a:xfrm>
            <a:off x="10185723" y="2429168"/>
            <a:ext cx="1300484"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LISA arm</a:t>
            </a:r>
            <a:endParaRPr lang="et-EE" sz="2000" b="1" dirty="0">
              <a:solidFill>
                <a:srgbClr val="323232"/>
              </a:solidFill>
              <a:latin typeface="Helvetica"/>
              <a:cs typeface="Arial"/>
            </a:endParaRPr>
          </a:p>
        </p:txBody>
      </p:sp>
      <p:sp>
        <p:nvSpPr>
          <p:cNvPr id="14" name="TextBox 13">
            <a:extLst>
              <a:ext uri="{FF2B5EF4-FFF2-40B4-BE49-F238E27FC236}">
                <a16:creationId xmlns:a16="http://schemas.microsoft.com/office/drawing/2014/main" id="{AB3DD407-5ED4-4D1A-BF5E-0B889D7916E3}"/>
              </a:ext>
            </a:extLst>
          </p:cNvPr>
          <p:cNvSpPr txBox="1"/>
          <p:nvPr/>
        </p:nvSpPr>
        <p:spPr>
          <a:xfrm>
            <a:off x="10105271" y="4943587"/>
            <a:ext cx="1721946"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Testbed arm</a:t>
            </a:r>
            <a:endParaRPr lang="et-EE" sz="2000" b="1" dirty="0">
              <a:solidFill>
                <a:srgbClr val="323232"/>
              </a:solidFill>
              <a:latin typeface="Helvetica"/>
              <a:cs typeface="Arial"/>
            </a:endParaRPr>
          </a:p>
        </p:txBody>
      </p:sp>
      <p:pic>
        <p:nvPicPr>
          <p:cNvPr id="3" name="Graphic 2">
            <a:extLst>
              <a:ext uri="{FF2B5EF4-FFF2-40B4-BE49-F238E27FC236}">
                <a16:creationId xmlns:a16="http://schemas.microsoft.com/office/drawing/2014/main" id="{EDA20D83-7C9C-DA1B-A5EE-98DD2525D8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1876" y="2924520"/>
            <a:ext cx="5403987" cy="1008959"/>
          </a:xfrm>
          <a:prstGeom prst="rect">
            <a:avLst/>
          </a:prstGeom>
        </p:spPr>
      </p:pic>
      <p:pic>
        <p:nvPicPr>
          <p:cNvPr id="5" name="Graphic 4">
            <a:extLst>
              <a:ext uri="{FF2B5EF4-FFF2-40B4-BE49-F238E27FC236}">
                <a16:creationId xmlns:a16="http://schemas.microsoft.com/office/drawing/2014/main" id="{7416453F-DAE5-2A11-2FB2-A23E94751E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41620" y="5519737"/>
            <a:ext cx="6487160" cy="827405"/>
          </a:xfrm>
          <a:prstGeom prst="rect">
            <a:avLst/>
          </a:prstGeom>
        </p:spPr>
      </p:pic>
    </p:spTree>
    <p:extLst>
      <p:ext uri="{BB962C8B-B14F-4D97-AF65-F5344CB8AC3E}">
        <p14:creationId xmlns:p14="http://schemas.microsoft.com/office/powerpoint/2010/main" val="1616769779"/>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29D3-61A0-11BF-0E79-F5A9A8866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B45B0-E716-5B13-C8A6-61CB8E5EF1F3}"/>
              </a:ext>
            </a:extLst>
          </p:cNvPr>
          <p:cNvSpPr>
            <a:spLocks noGrp="1"/>
          </p:cNvSpPr>
          <p:nvPr>
            <p:ph type="title"/>
          </p:nvPr>
        </p:nvSpPr>
        <p:spPr/>
        <p:txBody>
          <a:bodyPr/>
          <a:lstStyle/>
          <a:p>
            <a:r>
              <a:rPr lang="en-US" sz="3600" noProof="0" dirty="0">
                <a:latin typeface="Helvetica" pitchFamily="2" charset="0"/>
              </a:rPr>
              <a:t>Full Testbed</a:t>
            </a:r>
          </a:p>
        </p:txBody>
      </p:sp>
      <p:sp>
        <p:nvSpPr>
          <p:cNvPr id="4" name="Slide Number Placeholder 3">
            <a:extLst>
              <a:ext uri="{FF2B5EF4-FFF2-40B4-BE49-F238E27FC236}">
                <a16:creationId xmlns:a16="http://schemas.microsoft.com/office/drawing/2014/main" id="{D6009217-8DE7-2E62-D338-9927CAB79362}"/>
              </a:ext>
            </a:extLst>
          </p:cNvPr>
          <p:cNvSpPr>
            <a:spLocks noGrp="1"/>
          </p:cNvSpPr>
          <p:nvPr>
            <p:ph type="sldNum" sz="quarter" idx="12"/>
          </p:nvPr>
        </p:nvSpPr>
        <p:spPr/>
        <p:txBody>
          <a:bodyPr/>
          <a:lstStyle/>
          <a:p>
            <a:fld id="{9F39E346-B1F3-4075-BD67-234EF0F10AC6}" type="slidenum">
              <a:rPr lang="et-EE" smtClean="0"/>
              <a:pPr/>
              <a:t>8</a:t>
            </a:fld>
            <a:endParaRPr lang="et-EE" dirty="0"/>
          </a:p>
        </p:txBody>
      </p:sp>
      <p:sp>
        <p:nvSpPr>
          <p:cNvPr id="12" name="Date Placeholder 11">
            <a:extLst>
              <a:ext uri="{FF2B5EF4-FFF2-40B4-BE49-F238E27FC236}">
                <a16:creationId xmlns:a16="http://schemas.microsoft.com/office/drawing/2014/main" id="{7826941B-A5AA-80E4-DA25-D7824FECADF8}"/>
              </a:ext>
            </a:extLst>
          </p:cNvPr>
          <p:cNvSpPr>
            <a:spLocks noGrp="1"/>
          </p:cNvSpPr>
          <p:nvPr>
            <p:ph type="dt" sz="half" idx="10"/>
          </p:nvPr>
        </p:nvSpPr>
        <p:spPr/>
        <p:txBody>
          <a:bodyPr/>
          <a:lstStyle/>
          <a:p>
            <a:r>
              <a:rPr lang="LID4096"/>
              <a:t>23.06.2026</a:t>
            </a:r>
            <a:endParaRPr lang="et-EE" dirty="0"/>
          </a:p>
        </p:txBody>
      </p:sp>
      <p:sp>
        <p:nvSpPr>
          <p:cNvPr id="3" name="Footer Placeholder 2">
            <a:extLst>
              <a:ext uri="{FF2B5EF4-FFF2-40B4-BE49-F238E27FC236}">
                <a16:creationId xmlns:a16="http://schemas.microsoft.com/office/drawing/2014/main" id="{211CA5C6-D35F-4A27-A55E-819E0BCB20E9}"/>
              </a:ext>
            </a:extLst>
          </p:cNvPr>
          <p:cNvSpPr>
            <a:spLocks noGrp="1"/>
          </p:cNvSpPr>
          <p:nvPr>
            <p:ph type="ftr" sz="quarter" idx="11"/>
          </p:nvPr>
        </p:nvSpPr>
        <p:spPr/>
        <p:txBody>
          <a:bodyPr/>
          <a:lstStyle/>
          <a:p>
            <a:r>
              <a:rPr lang="en-US"/>
              <a:t>16th International LISA Symposium</a:t>
            </a:r>
            <a:endParaRPr lang="et-EE" dirty="0"/>
          </a:p>
        </p:txBody>
      </p:sp>
      <p:pic>
        <p:nvPicPr>
          <p:cNvPr id="7" name="Picture 6">
            <a:extLst>
              <a:ext uri="{FF2B5EF4-FFF2-40B4-BE49-F238E27FC236}">
                <a16:creationId xmlns:a16="http://schemas.microsoft.com/office/drawing/2014/main" id="{FAB36162-81EB-4E08-B95C-0F45E32C9974}"/>
              </a:ext>
            </a:extLst>
          </p:cNvPr>
          <p:cNvPicPr>
            <a:picLocks noChangeAspect="1"/>
          </p:cNvPicPr>
          <p:nvPr/>
        </p:nvPicPr>
        <p:blipFill>
          <a:blip r:embed="rId3"/>
          <a:stretch>
            <a:fillRect/>
          </a:stretch>
        </p:blipFill>
        <p:spPr>
          <a:xfrm>
            <a:off x="2804070" y="687592"/>
            <a:ext cx="7012214" cy="5832201"/>
          </a:xfrm>
          <a:prstGeom prst="rect">
            <a:avLst/>
          </a:prstGeom>
        </p:spPr>
      </p:pic>
    </p:spTree>
    <p:extLst>
      <p:ext uri="{BB962C8B-B14F-4D97-AF65-F5344CB8AC3E}">
        <p14:creationId xmlns:p14="http://schemas.microsoft.com/office/powerpoint/2010/main" val="2916124266"/>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B6ED-96F1-FA49-58A7-7D7F4D27C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F024E-3102-E332-B98F-2872D3FDBDF7}"/>
              </a:ext>
            </a:extLst>
          </p:cNvPr>
          <p:cNvSpPr>
            <a:spLocks noGrp="1"/>
          </p:cNvSpPr>
          <p:nvPr>
            <p:ph type="title"/>
          </p:nvPr>
        </p:nvSpPr>
        <p:spPr/>
        <p:txBody>
          <a:bodyPr/>
          <a:lstStyle/>
          <a:p>
            <a:r>
              <a:rPr lang="en-US" sz="3600" noProof="0" dirty="0">
                <a:latin typeface="Helvetica" pitchFamily="2" charset="0"/>
              </a:rPr>
              <a:t>Full Testbed</a:t>
            </a:r>
          </a:p>
        </p:txBody>
      </p:sp>
      <p:sp>
        <p:nvSpPr>
          <p:cNvPr id="4" name="Slide Number Placeholder 3">
            <a:extLst>
              <a:ext uri="{FF2B5EF4-FFF2-40B4-BE49-F238E27FC236}">
                <a16:creationId xmlns:a16="http://schemas.microsoft.com/office/drawing/2014/main" id="{25183336-2D3A-E975-DEDA-89439FF819F1}"/>
              </a:ext>
            </a:extLst>
          </p:cNvPr>
          <p:cNvSpPr>
            <a:spLocks noGrp="1"/>
          </p:cNvSpPr>
          <p:nvPr>
            <p:ph type="sldNum" sz="quarter" idx="12"/>
          </p:nvPr>
        </p:nvSpPr>
        <p:spPr/>
        <p:txBody>
          <a:bodyPr/>
          <a:lstStyle/>
          <a:p>
            <a:fld id="{9F39E346-B1F3-4075-BD67-234EF0F10AC6}" type="slidenum">
              <a:rPr lang="et-EE" smtClean="0"/>
              <a:pPr/>
              <a:t>9</a:t>
            </a:fld>
            <a:endParaRPr lang="et-EE" dirty="0"/>
          </a:p>
        </p:txBody>
      </p:sp>
      <p:sp>
        <p:nvSpPr>
          <p:cNvPr id="12" name="Date Placeholder 11">
            <a:extLst>
              <a:ext uri="{FF2B5EF4-FFF2-40B4-BE49-F238E27FC236}">
                <a16:creationId xmlns:a16="http://schemas.microsoft.com/office/drawing/2014/main" id="{552BA5D0-9A47-E919-1809-E13B2B88BD7E}"/>
              </a:ext>
            </a:extLst>
          </p:cNvPr>
          <p:cNvSpPr>
            <a:spLocks noGrp="1"/>
          </p:cNvSpPr>
          <p:nvPr>
            <p:ph type="dt" sz="half" idx="10"/>
          </p:nvPr>
        </p:nvSpPr>
        <p:spPr/>
        <p:txBody>
          <a:bodyPr/>
          <a:lstStyle/>
          <a:p>
            <a:r>
              <a:rPr lang="LID4096"/>
              <a:t>23.06.2026</a:t>
            </a:r>
            <a:endParaRPr lang="et-EE" dirty="0"/>
          </a:p>
        </p:txBody>
      </p:sp>
      <p:sp>
        <p:nvSpPr>
          <p:cNvPr id="3" name="Footer Placeholder 2">
            <a:extLst>
              <a:ext uri="{FF2B5EF4-FFF2-40B4-BE49-F238E27FC236}">
                <a16:creationId xmlns:a16="http://schemas.microsoft.com/office/drawing/2014/main" id="{0FA5F266-1E8B-3B2A-856F-DD62198C909D}"/>
              </a:ext>
            </a:extLst>
          </p:cNvPr>
          <p:cNvSpPr>
            <a:spLocks noGrp="1"/>
          </p:cNvSpPr>
          <p:nvPr>
            <p:ph type="ftr" sz="quarter" idx="11"/>
          </p:nvPr>
        </p:nvSpPr>
        <p:spPr/>
        <p:txBody>
          <a:bodyPr/>
          <a:lstStyle/>
          <a:p>
            <a:r>
              <a:rPr lang="en-US"/>
              <a:t>16th International LISA Symposium</a:t>
            </a:r>
            <a:endParaRPr lang="et-EE" dirty="0"/>
          </a:p>
        </p:txBody>
      </p:sp>
      <p:pic>
        <p:nvPicPr>
          <p:cNvPr id="7" name="Picture 6">
            <a:extLst>
              <a:ext uri="{FF2B5EF4-FFF2-40B4-BE49-F238E27FC236}">
                <a16:creationId xmlns:a16="http://schemas.microsoft.com/office/drawing/2014/main" id="{8F230DA5-3885-75B8-06BA-53C7A4F3E355}"/>
              </a:ext>
            </a:extLst>
          </p:cNvPr>
          <p:cNvPicPr>
            <a:picLocks noChangeAspect="1"/>
          </p:cNvPicPr>
          <p:nvPr/>
        </p:nvPicPr>
        <p:blipFill>
          <a:blip r:embed="rId3"/>
          <a:stretch>
            <a:fillRect/>
          </a:stretch>
        </p:blipFill>
        <p:spPr>
          <a:xfrm>
            <a:off x="2804070" y="687592"/>
            <a:ext cx="7012214" cy="5832201"/>
          </a:xfrm>
          <a:prstGeom prst="rect">
            <a:avLst/>
          </a:prstGeom>
        </p:spPr>
      </p:pic>
    </p:spTree>
    <p:extLst>
      <p:ext uri="{BB962C8B-B14F-4D97-AF65-F5344CB8AC3E}">
        <p14:creationId xmlns:p14="http://schemas.microsoft.com/office/powerpoint/2010/main" val="3459066694"/>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29D3-61A0-11BF-0E79-F5A9A8866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B45B0-E716-5B13-C8A6-61CB8E5EF1F3}"/>
              </a:ext>
            </a:extLst>
          </p:cNvPr>
          <p:cNvSpPr>
            <a:spLocks noGrp="1"/>
          </p:cNvSpPr>
          <p:nvPr>
            <p:ph type="title"/>
          </p:nvPr>
        </p:nvSpPr>
        <p:spPr/>
        <p:txBody>
          <a:bodyPr/>
          <a:lstStyle/>
          <a:p>
            <a:r>
              <a:rPr lang="en-US" dirty="0"/>
              <a:t>Cavity Locking</a:t>
            </a:r>
            <a:endParaRPr lang="et-EE" dirty="0"/>
          </a:p>
        </p:txBody>
      </p:sp>
      <p:sp>
        <p:nvSpPr>
          <p:cNvPr id="4" name="Slide Number Placeholder 3">
            <a:extLst>
              <a:ext uri="{FF2B5EF4-FFF2-40B4-BE49-F238E27FC236}">
                <a16:creationId xmlns:a16="http://schemas.microsoft.com/office/drawing/2014/main" id="{D6009217-8DE7-2E62-D338-9927CAB79362}"/>
              </a:ext>
            </a:extLst>
          </p:cNvPr>
          <p:cNvSpPr>
            <a:spLocks noGrp="1"/>
          </p:cNvSpPr>
          <p:nvPr>
            <p:ph type="sldNum" sz="quarter" idx="12"/>
          </p:nvPr>
        </p:nvSpPr>
        <p:spPr/>
        <p:txBody>
          <a:bodyPr/>
          <a:lstStyle/>
          <a:p>
            <a:fld id="{9F39E346-B1F3-4075-BD67-234EF0F10AC6}" type="slidenum">
              <a:rPr lang="et-EE" smtClean="0"/>
              <a:pPr/>
              <a:t>10</a:t>
            </a:fld>
            <a:endParaRPr lang="et-EE" dirty="0"/>
          </a:p>
        </p:txBody>
      </p:sp>
      <p:sp>
        <p:nvSpPr>
          <p:cNvPr id="12" name="Date Placeholder 11">
            <a:extLst>
              <a:ext uri="{FF2B5EF4-FFF2-40B4-BE49-F238E27FC236}">
                <a16:creationId xmlns:a16="http://schemas.microsoft.com/office/drawing/2014/main" id="{7826941B-A5AA-80E4-DA25-D7824FECADF8}"/>
              </a:ext>
            </a:extLst>
          </p:cNvPr>
          <p:cNvSpPr>
            <a:spLocks noGrp="1"/>
          </p:cNvSpPr>
          <p:nvPr>
            <p:ph type="dt" sz="half" idx="10"/>
          </p:nvPr>
        </p:nvSpPr>
        <p:spPr/>
        <p:txBody>
          <a:bodyPr/>
          <a:lstStyle/>
          <a:p>
            <a:r>
              <a:rPr lang="LID4096"/>
              <a:t>23.06.2026</a:t>
            </a:r>
            <a:endParaRPr lang="et-EE" dirty="0"/>
          </a:p>
        </p:txBody>
      </p:sp>
      <p:sp>
        <p:nvSpPr>
          <p:cNvPr id="13" name="Footer Placeholder 12">
            <a:extLst>
              <a:ext uri="{FF2B5EF4-FFF2-40B4-BE49-F238E27FC236}">
                <a16:creationId xmlns:a16="http://schemas.microsoft.com/office/drawing/2014/main" id="{B91872D0-6525-8475-B34F-E953A18BAEE8}"/>
              </a:ext>
            </a:extLst>
          </p:cNvPr>
          <p:cNvSpPr>
            <a:spLocks noGrp="1"/>
          </p:cNvSpPr>
          <p:nvPr>
            <p:ph type="ftr" sz="quarter" idx="11"/>
          </p:nvPr>
        </p:nvSpPr>
        <p:spPr/>
        <p:txBody>
          <a:bodyPr/>
          <a:lstStyle/>
          <a:p>
            <a:r>
              <a:rPr lang="en-US" dirty="0"/>
              <a:t>16th International LISA Symposium</a:t>
            </a:r>
            <a:endParaRPr lang="et-EE" dirty="0"/>
          </a:p>
        </p:txBody>
      </p:sp>
      <p:sp>
        <p:nvSpPr>
          <p:cNvPr id="9" name="Content Placeholder 2">
            <a:extLst>
              <a:ext uri="{FF2B5EF4-FFF2-40B4-BE49-F238E27FC236}">
                <a16:creationId xmlns:a16="http://schemas.microsoft.com/office/drawing/2014/main" id="{A63368C6-E708-4AA5-8BEE-74686A269895}"/>
              </a:ext>
            </a:extLst>
          </p:cNvPr>
          <p:cNvSpPr>
            <a:spLocks noGrp="1"/>
          </p:cNvSpPr>
          <p:nvPr>
            <p:ph idx="1"/>
          </p:nvPr>
        </p:nvSpPr>
        <p:spPr>
          <a:xfrm>
            <a:off x="326043" y="1110956"/>
            <a:ext cx="11391824" cy="4702822"/>
          </a:xfrm>
        </p:spPr>
        <p:txBody>
          <a:bodyPr vert="horz" lIns="91440" tIns="45720" rIns="91440" bIns="45720" rtlCol="0" anchor="t">
            <a:normAutofit/>
          </a:bodyPr>
          <a:lstStyle/>
          <a:p>
            <a:pPr marL="0" indent="0">
              <a:buNone/>
            </a:pPr>
            <a:r>
              <a:rPr lang="en-US" dirty="0"/>
              <a:t>Two lasers locked to separate cavities – 25 cm and 30 cm</a:t>
            </a:r>
          </a:p>
          <a:p>
            <a:pPr marL="0" indent="0">
              <a:buNone/>
            </a:pPr>
            <a:r>
              <a:rPr lang="en-US" dirty="0">
                <a:latin typeface="Helvetica"/>
                <a:cs typeface="Arial"/>
              </a:rPr>
              <a:t>Two separate Pound-Drever-Hall (PDH) locks</a:t>
            </a:r>
          </a:p>
          <a:p>
            <a:pPr marL="0" indent="0">
              <a:buNone/>
            </a:pPr>
            <a:r>
              <a:rPr lang="en-US" dirty="0">
                <a:latin typeface="Helvetica"/>
                <a:cs typeface="Arial"/>
              </a:rPr>
              <a:t>Beat note needs to be below 60 MHz</a:t>
            </a:r>
          </a:p>
          <a:p>
            <a:endParaRPr lang="et-EE" dirty="0"/>
          </a:p>
        </p:txBody>
      </p:sp>
      <p:pic>
        <p:nvPicPr>
          <p:cNvPr id="7" name="Picture 6">
            <a:extLst>
              <a:ext uri="{FF2B5EF4-FFF2-40B4-BE49-F238E27FC236}">
                <a16:creationId xmlns:a16="http://schemas.microsoft.com/office/drawing/2014/main" id="{4B09278E-BC94-4EDC-9796-6498DFCE891B}"/>
              </a:ext>
            </a:extLst>
          </p:cNvPr>
          <p:cNvPicPr>
            <a:picLocks noChangeAspect="1"/>
          </p:cNvPicPr>
          <p:nvPr/>
        </p:nvPicPr>
        <p:blipFill>
          <a:blip r:embed="rId3"/>
          <a:stretch>
            <a:fillRect/>
          </a:stretch>
        </p:blipFill>
        <p:spPr>
          <a:xfrm>
            <a:off x="-941902" y="3539578"/>
            <a:ext cx="7770150" cy="2816167"/>
          </a:xfrm>
          <a:prstGeom prst="rect">
            <a:avLst/>
          </a:prstGeom>
        </p:spPr>
      </p:pic>
      <p:pic>
        <p:nvPicPr>
          <p:cNvPr id="5" name="Picture 4">
            <a:extLst>
              <a:ext uri="{FF2B5EF4-FFF2-40B4-BE49-F238E27FC236}">
                <a16:creationId xmlns:a16="http://schemas.microsoft.com/office/drawing/2014/main" id="{A08C78D9-2096-2058-5D4E-CF43CCC35DE6}"/>
              </a:ext>
            </a:extLst>
          </p:cNvPr>
          <p:cNvPicPr>
            <a:picLocks noChangeAspect="1"/>
          </p:cNvPicPr>
          <p:nvPr/>
        </p:nvPicPr>
        <p:blipFill>
          <a:blip r:embed="rId4"/>
          <a:stretch>
            <a:fillRect/>
          </a:stretch>
        </p:blipFill>
        <p:spPr>
          <a:xfrm>
            <a:off x="7247868" y="2185737"/>
            <a:ext cx="4945293" cy="4531895"/>
          </a:xfrm>
          <a:prstGeom prst="rect">
            <a:avLst/>
          </a:prstGeom>
        </p:spPr>
      </p:pic>
      <p:sp>
        <p:nvSpPr>
          <p:cNvPr id="6" name="TextBox 5">
            <a:extLst>
              <a:ext uri="{FF2B5EF4-FFF2-40B4-BE49-F238E27FC236}">
                <a16:creationId xmlns:a16="http://schemas.microsoft.com/office/drawing/2014/main" id="{5F27296D-0A8E-9AAF-40D9-AEEEC9F44356}"/>
              </a:ext>
            </a:extLst>
          </p:cNvPr>
          <p:cNvSpPr txBox="1"/>
          <p:nvPr/>
        </p:nvSpPr>
        <p:spPr>
          <a:xfrm>
            <a:off x="326043" y="3293090"/>
            <a:ext cx="359049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4B4B4B"/>
                </a:solidFill>
                <a:latin typeface="Helvetica"/>
                <a:cs typeface="Helvetica"/>
              </a:rPr>
              <a:t>Illustrative cavity resonances</a:t>
            </a:r>
          </a:p>
        </p:txBody>
      </p:sp>
    </p:spTree>
    <p:extLst>
      <p:ext uri="{BB962C8B-B14F-4D97-AF65-F5344CB8AC3E}">
        <p14:creationId xmlns:p14="http://schemas.microsoft.com/office/powerpoint/2010/main" val="1612649794"/>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98031B6-96F2-43BA-83FC-639284088401}"/>
              </a:ext>
            </a:extLst>
          </p:cNvPr>
          <p:cNvPicPr>
            <a:picLocks noChangeAspect="1"/>
          </p:cNvPicPr>
          <p:nvPr/>
        </p:nvPicPr>
        <p:blipFill>
          <a:blip r:embed="rId3"/>
          <a:stretch>
            <a:fillRect/>
          </a:stretch>
        </p:blipFill>
        <p:spPr>
          <a:xfrm>
            <a:off x="5897867" y="1806468"/>
            <a:ext cx="6096012" cy="4209297"/>
          </a:xfrm>
          <a:prstGeom prst="rect">
            <a:avLst/>
          </a:prstGeom>
        </p:spPr>
      </p:pic>
      <p:sp>
        <p:nvSpPr>
          <p:cNvPr id="2" name="Title 1">
            <a:extLst>
              <a:ext uri="{FF2B5EF4-FFF2-40B4-BE49-F238E27FC236}">
                <a16:creationId xmlns:a16="http://schemas.microsoft.com/office/drawing/2014/main" id="{BEF6B943-D49C-727C-A350-31F5A3331D69}"/>
              </a:ext>
            </a:extLst>
          </p:cNvPr>
          <p:cNvSpPr>
            <a:spLocks noGrp="1"/>
          </p:cNvSpPr>
          <p:nvPr>
            <p:ph type="title"/>
          </p:nvPr>
        </p:nvSpPr>
        <p:spPr/>
        <p:txBody>
          <a:bodyPr/>
          <a:lstStyle/>
          <a:p>
            <a:r>
              <a:rPr lang="en-US" dirty="0"/>
              <a:t>Delay Line</a:t>
            </a:r>
            <a:endParaRPr lang="et-EE" dirty="0"/>
          </a:p>
        </p:txBody>
      </p:sp>
      <p:sp>
        <p:nvSpPr>
          <p:cNvPr id="3" name="Content Placeholder 2">
            <a:extLst>
              <a:ext uri="{FF2B5EF4-FFF2-40B4-BE49-F238E27FC236}">
                <a16:creationId xmlns:a16="http://schemas.microsoft.com/office/drawing/2014/main" id="{F2A83280-550A-07EE-A9E9-6A0C4D0811D9}"/>
              </a:ext>
            </a:extLst>
          </p:cNvPr>
          <p:cNvSpPr>
            <a:spLocks noGrp="1"/>
          </p:cNvSpPr>
          <p:nvPr>
            <p:ph idx="1"/>
          </p:nvPr>
        </p:nvSpPr>
        <p:spPr>
          <a:xfrm>
            <a:off x="312889" y="1134542"/>
            <a:ext cx="11404978" cy="4679236"/>
          </a:xfrm>
        </p:spPr>
        <p:txBody>
          <a:bodyPr/>
          <a:lstStyle/>
          <a:p>
            <a:r>
              <a:rPr lang="et-EE" dirty="0"/>
              <a:t>Time varying delays</a:t>
            </a:r>
            <a:endParaRPr lang="en-US" dirty="0"/>
          </a:p>
          <a:p>
            <a:r>
              <a:rPr lang="en-US" dirty="0"/>
              <a:t>Doppler shifts for both the carrier and sidebands</a:t>
            </a:r>
          </a:p>
          <a:p>
            <a:r>
              <a:rPr lang="en-US" dirty="0"/>
              <a:t>Gravitational wave injection</a:t>
            </a:r>
          </a:p>
          <a:p>
            <a:endParaRPr lang="en-US" dirty="0"/>
          </a:p>
          <a:p>
            <a:endParaRPr lang="et-EE" dirty="0"/>
          </a:p>
        </p:txBody>
      </p:sp>
      <p:sp>
        <p:nvSpPr>
          <p:cNvPr id="4" name="Slide Number Placeholder 3">
            <a:extLst>
              <a:ext uri="{FF2B5EF4-FFF2-40B4-BE49-F238E27FC236}">
                <a16:creationId xmlns:a16="http://schemas.microsoft.com/office/drawing/2014/main" id="{A09F8D17-7164-DAC5-01A1-F8F2126DE6DE}"/>
              </a:ext>
            </a:extLst>
          </p:cNvPr>
          <p:cNvSpPr>
            <a:spLocks noGrp="1"/>
          </p:cNvSpPr>
          <p:nvPr>
            <p:ph type="sldNum" sz="quarter" idx="12"/>
          </p:nvPr>
        </p:nvSpPr>
        <p:spPr/>
        <p:txBody>
          <a:bodyPr/>
          <a:lstStyle/>
          <a:p>
            <a:fld id="{9F39E346-B1F3-4075-BD67-234EF0F10AC6}" type="slidenum">
              <a:rPr lang="et-EE" smtClean="0"/>
              <a:pPr/>
              <a:t>11</a:t>
            </a:fld>
            <a:endParaRPr lang="et-EE" dirty="0"/>
          </a:p>
        </p:txBody>
      </p:sp>
      <p:pic>
        <p:nvPicPr>
          <p:cNvPr id="9" name="Picture 8">
            <a:extLst>
              <a:ext uri="{FF2B5EF4-FFF2-40B4-BE49-F238E27FC236}">
                <a16:creationId xmlns:a16="http://schemas.microsoft.com/office/drawing/2014/main" id="{3FF7902F-24F2-F9ED-E2A8-52F04A2376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393" y="2854742"/>
            <a:ext cx="3477030" cy="2688903"/>
          </a:xfrm>
          <a:prstGeom prst="rect">
            <a:avLst/>
          </a:prstGeom>
        </p:spPr>
      </p:pic>
      <p:sp>
        <p:nvSpPr>
          <p:cNvPr id="10" name="TextBox 9">
            <a:extLst>
              <a:ext uri="{FF2B5EF4-FFF2-40B4-BE49-F238E27FC236}">
                <a16:creationId xmlns:a16="http://schemas.microsoft.com/office/drawing/2014/main" id="{4DDC4884-6EAE-CD2C-33D7-C4236B7BD784}"/>
              </a:ext>
            </a:extLst>
          </p:cNvPr>
          <p:cNvSpPr txBox="1"/>
          <p:nvPr/>
        </p:nvSpPr>
        <p:spPr>
          <a:xfrm>
            <a:off x="1237824" y="5586788"/>
            <a:ext cx="2871933" cy="738664"/>
          </a:xfrm>
          <a:prstGeom prst="rect">
            <a:avLst/>
          </a:prstGeom>
          <a:noFill/>
        </p:spPr>
        <p:txBody>
          <a:bodyPr wrap="square" rtlCol="0">
            <a:spAutoFit/>
          </a:bodyPr>
          <a:lstStyle/>
          <a:p>
            <a:r>
              <a:rPr lang="en-US" sz="1400" noProof="0" dirty="0">
                <a:solidFill>
                  <a:srgbClr val="667982"/>
                </a:solidFill>
                <a:latin typeface="Helvetica" pitchFamily="2" charset="0"/>
                <a:cs typeface="Arial" panose="020B0604020202020204" pitchFamily="34" charset="0"/>
              </a:rPr>
              <a:t>AMD Zynq™ </a:t>
            </a:r>
            <a:r>
              <a:rPr lang="en-US" sz="1400" noProof="0" dirty="0" err="1">
                <a:solidFill>
                  <a:srgbClr val="667982"/>
                </a:solidFill>
                <a:latin typeface="Helvetica" pitchFamily="2" charset="0"/>
                <a:cs typeface="Arial" panose="020B0604020202020204" pitchFamily="34" charset="0"/>
              </a:rPr>
              <a:t>UltraScale</a:t>
            </a:r>
            <a:r>
              <a:rPr lang="en-US" sz="1400" noProof="0" dirty="0">
                <a:solidFill>
                  <a:srgbClr val="667982"/>
                </a:solidFill>
                <a:latin typeface="Helvetica" pitchFamily="2" charset="0"/>
                <a:cs typeface="Arial" panose="020B0604020202020204" pitchFamily="34" charset="0"/>
              </a:rPr>
              <a:t>+™ </a:t>
            </a:r>
            <a:r>
              <a:rPr lang="en-US" sz="1400" noProof="0" dirty="0" err="1">
                <a:solidFill>
                  <a:srgbClr val="667982"/>
                </a:solidFill>
                <a:latin typeface="Helvetica" pitchFamily="2" charset="0"/>
                <a:cs typeface="Arial" panose="020B0604020202020204" pitchFamily="34" charset="0"/>
              </a:rPr>
              <a:t>RFSoC</a:t>
            </a:r>
            <a:r>
              <a:rPr lang="en-US" sz="1400" noProof="0" dirty="0">
                <a:solidFill>
                  <a:srgbClr val="667982"/>
                </a:solidFill>
                <a:latin typeface="Helvetica" pitchFamily="2" charset="0"/>
                <a:cs typeface="Arial" panose="020B0604020202020204" pitchFamily="34" charset="0"/>
              </a:rPr>
              <a:t> ZCU208 Evaluation Kit</a:t>
            </a:r>
          </a:p>
          <a:p>
            <a:pPr algn="l"/>
            <a:endParaRPr lang="en-US" sz="1400" noProof="0" dirty="0">
              <a:solidFill>
                <a:srgbClr val="667982"/>
              </a:solidFill>
              <a:latin typeface="Helvetica" pitchFamily="2" charset="0"/>
              <a:cs typeface="Arial" panose="020B0604020202020204" pitchFamily="34" charset="0"/>
            </a:endParaRPr>
          </a:p>
        </p:txBody>
      </p:sp>
      <p:sp>
        <p:nvSpPr>
          <p:cNvPr id="5" name="Date Placeholder 4">
            <a:extLst>
              <a:ext uri="{FF2B5EF4-FFF2-40B4-BE49-F238E27FC236}">
                <a16:creationId xmlns:a16="http://schemas.microsoft.com/office/drawing/2014/main" id="{DC06A552-64E1-A995-5E3B-39264C410D43}"/>
              </a:ext>
            </a:extLst>
          </p:cNvPr>
          <p:cNvSpPr>
            <a:spLocks noGrp="1"/>
          </p:cNvSpPr>
          <p:nvPr>
            <p:ph type="dt" sz="half" idx="10"/>
          </p:nvPr>
        </p:nvSpPr>
        <p:spPr/>
        <p:txBody>
          <a:bodyPr/>
          <a:lstStyle/>
          <a:p>
            <a:r>
              <a:rPr lang="LID4096"/>
              <a:t>23.06.2026</a:t>
            </a:r>
            <a:endParaRPr lang="et-EE" dirty="0"/>
          </a:p>
        </p:txBody>
      </p:sp>
      <p:sp>
        <p:nvSpPr>
          <p:cNvPr id="6" name="Footer Placeholder 5">
            <a:extLst>
              <a:ext uri="{FF2B5EF4-FFF2-40B4-BE49-F238E27FC236}">
                <a16:creationId xmlns:a16="http://schemas.microsoft.com/office/drawing/2014/main" id="{904E0ECD-C8B4-1CD9-23F6-CC1276D22FA3}"/>
              </a:ext>
            </a:extLst>
          </p:cNvPr>
          <p:cNvSpPr>
            <a:spLocks noGrp="1"/>
          </p:cNvSpPr>
          <p:nvPr>
            <p:ph type="ftr" sz="quarter" idx="11"/>
          </p:nvPr>
        </p:nvSpPr>
        <p:spPr/>
        <p:txBody>
          <a:bodyPr/>
          <a:lstStyle/>
          <a:p>
            <a:r>
              <a:rPr lang="en-US" dirty="0"/>
              <a:t>16th International LISA Symposium</a:t>
            </a:r>
            <a:endParaRPr lang="et-EE" dirty="0"/>
          </a:p>
        </p:txBody>
      </p:sp>
      <p:sp>
        <p:nvSpPr>
          <p:cNvPr id="11" name="TextBox 10">
            <a:extLst>
              <a:ext uri="{FF2B5EF4-FFF2-40B4-BE49-F238E27FC236}">
                <a16:creationId xmlns:a16="http://schemas.microsoft.com/office/drawing/2014/main" id="{5A47551E-E6E0-DBF4-895F-E712C178CB73}"/>
              </a:ext>
            </a:extLst>
          </p:cNvPr>
          <p:cNvSpPr txBox="1"/>
          <p:nvPr/>
        </p:nvSpPr>
        <p:spPr>
          <a:xfrm>
            <a:off x="7640255" y="5911363"/>
            <a:ext cx="4816791" cy="375552"/>
          </a:xfrm>
          <a:prstGeom prst="rect">
            <a:avLst/>
          </a:prstGeom>
          <a:noFill/>
        </p:spPr>
        <p:txBody>
          <a:bodyPr wrap="square" lIns="91440" tIns="45720" rIns="91440" bIns="45720" rtlCol="0" anchor="t">
            <a:spAutoFit/>
          </a:bodyPr>
          <a:lstStyle/>
          <a:p>
            <a:pPr>
              <a:lnSpc>
                <a:spcPct val="150000"/>
              </a:lnSpc>
            </a:pPr>
            <a:r>
              <a:rPr lang="en-US" sz="1400" dirty="0">
                <a:solidFill>
                  <a:srgbClr val="667982"/>
                </a:solidFill>
                <a:latin typeface="Arial"/>
                <a:cs typeface="Arial"/>
              </a:rPr>
              <a:t>Intrinsic noise floor of one board in purple</a:t>
            </a:r>
          </a:p>
        </p:txBody>
      </p:sp>
      <p:pic>
        <p:nvPicPr>
          <p:cNvPr id="12" name="Picture 11">
            <a:extLst>
              <a:ext uri="{FF2B5EF4-FFF2-40B4-BE49-F238E27FC236}">
                <a16:creationId xmlns:a16="http://schemas.microsoft.com/office/drawing/2014/main" id="{03CB97CD-C5F0-4F22-BD4C-71B76FB16752}"/>
              </a:ext>
            </a:extLst>
          </p:cNvPr>
          <p:cNvPicPr>
            <a:picLocks noChangeAspect="1"/>
          </p:cNvPicPr>
          <p:nvPr/>
        </p:nvPicPr>
        <p:blipFill>
          <a:blip r:embed="rId5"/>
          <a:stretch>
            <a:fillRect/>
          </a:stretch>
        </p:blipFill>
        <p:spPr>
          <a:xfrm>
            <a:off x="4108869" y="3040354"/>
            <a:ext cx="1844862" cy="2222551"/>
          </a:xfrm>
          <a:prstGeom prst="rect">
            <a:avLst/>
          </a:prstGeom>
        </p:spPr>
      </p:pic>
    </p:spTree>
    <p:extLst>
      <p:ext uri="{BB962C8B-B14F-4D97-AF65-F5344CB8AC3E}">
        <p14:creationId xmlns:p14="http://schemas.microsoft.com/office/powerpoint/2010/main" val="3005187836"/>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29D3-61A0-11BF-0E79-F5A9A8866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B45B0-E716-5B13-C8A6-61CB8E5EF1F3}"/>
              </a:ext>
            </a:extLst>
          </p:cNvPr>
          <p:cNvSpPr>
            <a:spLocks noGrp="1"/>
          </p:cNvSpPr>
          <p:nvPr>
            <p:ph type="title"/>
          </p:nvPr>
        </p:nvSpPr>
        <p:spPr/>
        <p:txBody>
          <a:bodyPr/>
          <a:lstStyle/>
          <a:p>
            <a:r>
              <a:rPr lang="en-US" dirty="0">
                <a:latin typeface="Helvetica"/>
                <a:cs typeface="Helvetica"/>
              </a:rPr>
              <a:t>PLL Lock of Far Spacecraft</a:t>
            </a:r>
            <a:endParaRPr lang="en-US" dirty="0"/>
          </a:p>
        </p:txBody>
      </p:sp>
      <p:sp>
        <p:nvSpPr>
          <p:cNvPr id="4" name="Slide Number Placeholder 3">
            <a:extLst>
              <a:ext uri="{FF2B5EF4-FFF2-40B4-BE49-F238E27FC236}">
                <a16:creationId xmlns:a16="http://schemas.microsoft.com/office/drawing/2014/main" id="{D6009217-8DE7-2E62-D338-9927CAB79362}"/>
              </a:ext>
            </a:extLst>
          </p:cNvPr>
          <p:cNvSpPr>
            <a:spLocks noGrp="1"/>
          </p:cNvSpPr>
          <p:nvPr>
            <p:ph type="sldNum" sz="quarter" idx="12"/>
          </p:nvPr>
        </p:nvSpPr>
        <p:spPr/>
        <p:txBody>
          <a:bodyPr/>
          <a:lstStyle/>
          <a:p>
            <a:fld id="{9F39E346-B1F3-4075-BD67-234EF0F10AC6}" type="slidenum">
              <a:rPr lang="et-EE" smtClean="0"/>
              <a:pPr/>
              <a:t>12</a:t>
            </a:fld>
            <a:endParaRPr lang="et-EE" dirty="0"/>
          </a:p>
        </p:txBody>
      </p:sp>
      <p:sp>
        <p:nvSpPr>
          <p:cNvPr id="12" name="Date Placeholder 11">
            <a:extLst>
              <a:ext uri="{FF2B5EF4-FFF2-40B4-BE49-F238E27FC236}">
                <a16:creationId xmlns:a16="http://schemas.microsoft.com/office/drawing/2014/main" id="{7826941B-A5AA-80E4-DA25-D7824FECADF8}"/>
              </a:ext>
            </a:extLst>
          </p:cNvPr>
          <p:cNvSpPr>
            <a:spLocks noGrp="1"/>
          </p:cNvSpPr>
          <p:nvPr>
            <p:ph type="dt" sz="half" idx="10"/>
          </p:nvPr>
        </p:nvSpPr>
        <p:spPr/>
        <p:txBody>
          <a:bodyPr/>
          <a:lstStyle/>
          <a:p>
            <a:r>
              <a:rPr lang="LID4096"/>
              <a:t>23.06.2026</a:t>
            </a:r>
            <a:endParaRPr lang="et-EE" dirty="0"/>
          </a:p>
        </p:txBody>
      </p:sp>
      <p:sp>
        <p:nvSpPr>
          <p:cNvPr id="13" name="Footer Placeholder 12">
            <a:extLst>
              <a:ext uri="{FF2B5EF4-FFF2-40B4-BE49-F238E27FC236}">
                <a16:creationId xmlns:a16="http://schemas.microsoft.com/office/drawing/2014/main" id="{B91872D0-6525-8475-B34F-E953A18BAEE8}"/>
              </a:ext>
            </a:extLst>
          </p:cNvPr>
          <p:cNvSpPr>
            <a:spLocks noGrp="1"/>
          </p:cNvSpPr>
          <p:nvPr>
            <p:ph type="ftr" sz="quarter" idx="11"/>
          </p:nvPr>
        </p:nvSpPr>
        <p:spPr/>
        <p:txBody>
          <a:bodyPr/>
          <a:lstStyle/>
          <a:p>
            <a:r>
              <a:rPr lang="en-US" dirty="0"/>
              <a:t>16th International LISA Symposium</a:t>
            </a:r>
            <a:endParaRPr lang="et-EE" dirty="0"/>
          </a:p>
        </p:txBody>
      </p:sp>
      <p:pic>
        <p:nvPicPr>
          <p:cNvPr id="14" name="Picture 13">
            <a:extLst>
              <a:ext uri="{FF2B5EF4-FFF2-40B4-BE49-F238E27FC236}">
                <a16:creationId xmlns:a16="http://schemas.microsoft.com/office/drawing/2014/main" id="{1B6C7BFA-18A7-4961-ADFD-E4CA18E45B27}"/>
              </a:ext>
            </a:extLst>
          </p:cNvPr>
          <p:cNvPicPr>
            <a:picLocks noChangeAspect="1"/>
          </p:cNvPicPr>
          <p:nvPr/>
        </p:nvPicPr>
        <p:blipFill>
          <a:blip r:embed="rId3"/>
          <a:stretch>
            <a:fillRect/>
          </a:stretch>
        </p:blipFill>
        <p:spPr>
          <a:xfrm>
            <a:off x="5780763" y="2113494"/>
            <a:ext cx="5972201" cy="4052138"/>
          </a:xfrm>
          <a:prstGeom prst="rect">
            <a:avLst/>
          </a:prstGeom>
        </p:spPr>
      </p:pic>
      <p:sp>
        <p:nvSpPr>
          <p:cNvPr id="5" name="Content Placeholder 2">
            <a:extLst>
              <a:ext uri="{FF2B5EF4-FFF2-40B4-BE49-F238E27FC236}">
                <a16:creationId xmlns:a16="http://schemas.microsoft.com/office/drawing/2014/main" id="{13DE894E-C6DB-D7F5-9464-A8BEC60134A7}"/>
              </a:ext>
            </a:extLst>
          </p:cNvPr>
          <p:cNvSpPr txBox="1">
            <a:spLocks/>
          </p:cNvSpPr>
          <p:nvPr/>
        </p:nvSpPr>
        <p:spPr>
          <a:xfrm>
            <a:off x="326043" y="1130494"/>
            <a:ext cx="11303901" cy="4693053"/>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800"/>
              </a:spcAft>
              <a:buNone/>
            </a:pPr>
            <a:r>
              <a:rPr lang="en-US" dirty="0">
                <a:latin typeface="Helvetica"/>
                <a:cs typeface="Helvetica"/>
              </a:rPr>
              <a:t>Photodetector readings are dominated by free running laser frequency noise.</a:t>
            </a:r>
          </a:p>
          <a:p>
            <a:pPr marL="0" indent="0">
              <a:spcBef>
                <a:spcPts val="0"/>
              </a:spcBef>
              <a:spcAft>
                <a:spcPts val="800"/>
              </a:spcAft>
              <a:buNone/>
            </a:pPr>
            <a:r>
              <a:rPr lang="en-US" dirty="0">
                <a:latin typeface="Helvetica"/>
                <a:cs typeface="Helvetica"/>
              </a:rPr>
              <a:t>Mixed output is orders of magnitude lower.</a:t>
            </a:r>
          </a:p>
          <a:p>
            <a:pPr marL="0" indent="0">
              <a:buNone/>
            </a:pPr>
            <a:endParaRPr lang="en-US" dirty="0"/>
          </a:p>
        </p:txBody>
      </p:sp>
      <p:pic>
        <p:nvPicPr>
          <p:cNvPr id="6" name="Content Placeholder 5">
            <a:extLst>
              <a:ext uri="{FF2B5EF4-FFF2-40B4-BE49-F238E27FC236}">
                <a16:creationId xmlns:a16="http://schemas.microsoft.com/office/drawing/2014/main" id="{EB343D02-584A-4A6B-9206-3BC4BE5E5E80}"/>
              </a:ext>
            </a:extLst>
          </p:cNvPr>
          <p:cNvPicPr>
            <a:picLocks noGrp="1" noChangeAspect="1"/>
          </p:cNvPicPr>
          <p:nvPr>
            <p:ph idx="1"/>
          </p:nvPr>
        </p:nvPicPr>
        <p:blipFill>
          <a:blip r:embed="rId4"/>
          <a:stretch>
            <a:fillRect/>
          </a:stretch>
        </p:blipFill>
        <p:spPr>
          <a:xfrm>
            <a:off x="172053" y="3743440"/>
            <a:ext cx="5832172" cy="2518918"/>
          </a:xfrm>
        </p:spPr>
      </p:pic>
      <p:pic>
        <p:nvPicPr>
          <p:cNvPr id="19" name="Graphic 18">
            <a:extLst>
              <a:ext uri="{FF2B5EF4-FFF2-40B4-BE49-F238E27FC236}">
                <a16:creationId xmlns:a16="http://schemas.microsoft.com/office/drawing/2014/main" id="{AAABE998-6DB7-43AB-AC8A-F13DC0A304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063" y="3552968"/>
            <a:ext cx="2365021" cy="390554"/>
          </a:xfrm>
          <a:prstGeom prst="rect">
            <a:avLst/>
          </a:prstGeom>
        </p:spPr>
      </p:pic>
      <p:pic>
        <p:nvPicPr>
          <p:cNvPr id="21" name="Graphic 20">
            <a:extLst>
              <a:ext uri="{FF2B5EF4-FFF2-40B4-BE49-F238E27FC236}">
                <a16:creationId xmlns:a16="http://schemas.microsoft.com/office/drawing/2014/main" id="{8B612996-EF55-4776-8619-4678D2E5C9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29764" y="5920211"/>
            <a:ext cx="2274461" cy="375599"/>
          </a:xfrm>
          <a:prstGeom prst="rect">
            <a:avLst/>
          </a:prstGeom>
        </p:spPr>
      </p:pic>
      <p:pic>
        <p:nvPicPr>
          <p:cNvPr id="24" name="Graphic 23">
            <a:extLst>
              <a:ext uri="{FF2B5EF4-FFF2-40B4-BE49-F238E27FC236}">
                <a16:creationId xmlns:a16="http://schemas.microsoft.com/office/drawing/2014/main" id="{33B8DABB-BCBC-4CF3-95E2-1B43A5074C4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275" y="2436476"/>
            <a:ext cx="7910083" cy="683587"/>
          </a:xfrm>
          <a:prstGeom prst="rect">
            <a:avLst/>
          </a:prstGeom>
        </p:spPr>
      </p:pic>
    </p:spTree>
    <p:extLst>
      <p:ext uri="{BB962C8B-B14F-4D97-AF65-F5344CB8AC3E}">
        <p14:creationId xmlns:p14="http://schemas.microsoft.com/office/powerpoint/2010/main" val="484828574"/>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29D3-61A0-11BF-0E79-F5A9A88669EA}"/>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638429EC-90EC-434F-9ACD-25D3135759DD}"/>
              </a:ext>
            </a:extLst>
          </p:cNvPr>
          <p:cNvPicPr>
            <a:picLocks noChangeAspect="1"/>
          </p:cNvPicPr>
          <p:nvPr/>
        </p:nvPicPr>
        <p:blipFill>
          <a:blip r:embed="rId3"/>
          <a:srcRect/>
          <a:stretch/>
        </p:blipFill>
        <p:spPr>
          <a:xfrm>
            <a:off x="5722031" y="1915158"/>
            <a:ext cx="5909493" cy="4052138"/>
          </a:xfrm>
          <a:prstGeom prst="rect">
            <a:avLst/>
          </a:prstGeom>
        </p:spPr>
      </p:pic>
      <p:sp>
        <p:nvSpPr>
          <p:cNvPr id="2" name="Title 1">
            <a:extLst>
              <a:ext uri="{FF2B5EF4-FFF2-40B4-BE49-F238E27FC236}">
                <a16:creationId xmlns:a16="http://schemas.microsoft.com/office/drawing/2014/main" id="{311B45B0-E716-5B13-C8A6-61CB8E5EF1F3}"/>
              </a:ext>
            </a:extLst>
          </p:cNvPr>
          <p:cNvSpPr>
            <a:spLocks noGrp="1"/>
          </p:cNvSpPr>
          <p:nvPr>
            <p:ph type="title"/>
          </p:nvPr>
        </p:nvSpPr>
        <p:spPr/>
        <p:txBody>
          <a:bodyPr/>
          <a:lstStyle/>
          <a:p>
            <a:r>
              <a:rPr lang="en-US">
                <a:latin typeface="Helvetica"/>
                <a:cs typeface="Helvetica"/>
              </a:rPr>
              <a:t>PLL Lock of Far Spacecraft</a:t>
            </a:r>
            <a:endParaRPr lang="en-US"/>
          </a:p>
        </p:txBody>
      </p:sp>
      <p:sp>
        <p:nvSpPr>
          <p:cNvPr id="4" name="Slide Number Placeholder 3">
            <a:extLst>
              <a:ext uri="{FF2B5EF4-FFF2-40B4-BE49-F238E27FC236}">
                <a16:creationId xmlns:a16="http://schemas.microsoft.com/office/drawing/2014/main" id="{D6009217-8DE7-2E62-D338-9927CAB79362}"/>
              </a:ext>
            </a:extLst>
          </p:cNvPr>
          <p:cNvSpPr>
            <a:spLocks noGrp="1"/>
          </p:cNvSpPr>
          <p:nvPr>
            <p:ph type="sldNum" sz="quarter" idx="12"/>
          </p:nvPr>
        </p:nvSpPr>
        <p:spPr/>
        <p:txBody>
          <a:bodyPr/>
          <a:lstStyle/>
          <a:p>
            <a:fld id="{9F39E346-B1F3-4075-BD67-234EF0F10AC6}" type="slidenum">
              <a:rPr lang="et-EE" smtClean="0"/>
              <a:pPr/>
              <a:t>13</a:t>
            </a:fld>
            <a:endParaRPr lang="et-EE" dirty="0"/>
          </a:p>
        </p:txBody>
      </p:sp>
      <p:sp>
        <p:nvSpPr>
          <p:cNvPr id="12" name="Date Placeholder 11">
            <a:extLst>
              <a:ext uri="{FF2B5EF4-FFF2-40B4-BE49-F238E27FC236}">
                <a16:creationId xmlns:a16="http://schemas.microsoft.com/office/drawing/2014/main" id="{7826941B-A5AA-80E4-DA25-D7824FECADF8}"/>
              </a:ext>
            </a:extLst>
          </p:cNvPr>
          <p:cNvSpPr>
            <a:spLocks noGrp="1"/>
          </p:cNvSpPr>
          <p:nvPr>
            <p:ph type="dt" sz="half" idx="10"/>
          </p:nvPr>
        </p:nvSpPr>
        <p:spPr/>
        <p:txBody>
          <a:bodyPr/>
          <a:lstStyle/>
          <a:p>
            <a:r>
              <a:rPr lang="LID4096"/>
              <a:t>23.06.2026</a:t>
            </a:r>
            <a:endParaRPr lang="et-EE" dirty="0"/>
          </a:p>
        </p:txBody>
      </p:sp>
      <p:sp>
        <p:nvSpPr>
          <p:cNvPr id="13" name="Footer Placeholder 12">
            <a:extLst>
              <a:ext uri="{FF2B5EF4-FFF2-40B4-BE49-F238E27FC236}">
                <a16:creationId xmlns:a16="http://schemas.microsoft.com/office/drawing/2014/main" id="{B91872D0-6525-8475-B34F-E953A18BAEE8}"/>
              </a:ext>
            </a:extLst>
          </p:cNvPr>
          <p:cNvSpPr>
            <a:spLocks noGrp="1"/>
          </p:cNvSpPr>
          <p:nvPr>
            <p:ph type="ftr" sz="quarter" idx="11"/>
          </p:nvPr>
        </p:nvSpPr>
        <p:spPr/>
        <p:txBody>
          <a:bodyPr/>
          <a:lstStyle/>
          <a:p>
            <a:r>
              <a:rPr lang="en-US" dirty="0"/>
              <a:t>16th International LISA Symposium</a:t>
            </a:r>
            <a:endParaRPr lang="et-EE" dirty="0"/>
          </a:p>
        </p:txBody>
      </p:sp>
      <p:pic>
        <p:nvPicPr>
          <p:cNvPr id="7" name="Content Placeholder 6">
            <a:extLst>
              <a:ext uri="{FF2B5EF4-FFF2-40B4-BE49-F238E27FC236}">
                <a16:creationId xmlns:a16="http://schemas.microsoft.com/office/drawing/2014/main" id="{75F867A0-97F5-49E9-AD03-34122587C3F1}"/>
              </a:ext>
            </a:extLst>
          </p:cNvPr>
          <p:cNvPicPr>
            <a:picLocks noGrp="1" noChangeAspect="1"/>
          </p:cNvPicPr>
          <p:nvPr>
            <p:ph idx="1"/>
          </p:nvPr>
        </p:nvPicPr>
        <p:blipFill>
          <a:blip r:embed="rId4">
            <a:extLst>
              <a:ext uri="{96DAC541-7B7A-43D3-8B79-37D633B846F1}">
                <asvg:svgBlip xmlns:asvg="http://schemas.microsoft.com/office/drawing/2016/SVG/main" r:embed="rId5"/>
              </a:ext>
            </a:extLst>
          </a:blip>
          <a:stretch>
            <a:fillRect/>
          </a:stretch>
        </p:blipFill>
        <p:spPr>
          <a:xfrm>
            <a:off x="486113" y="2821171"/>
            <a:ext cx="5075849" cy="727741"/>
          </a:xfrm>
        </p:spPr>
      </p:pic>
      <p:sp>
        <p:nvSpPr>
          <p:cNvPr id="6" name="Content Placeholder 2">
            <a:extLst>
              <a:ext uri="{FF2B5EF4-FFF2-40B4-BE49-F238E27FC236}">
                <a16:creationId xmlns:a16="http://schemas.microsoft.com/office/drawing/2014/main" id="{1883147D-7337-8824-7EFA-B3F43D4F7C84}"/>
              </a:ext>
            </a:extLst>
          </p:cNvPr>
          <p:cNvSpPr txBox="1">
            <a:spLocks/>
          </p:cNvSpPr>
          <p:nvPr/>
        </p:nvSpPr>
        <p:spPr>
          <a:xfrm>
            <a:off x="326043" y="1130494"/>
            <a:ext cx="11303901" cy="4693053"/>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dirty="0">
                <a:latin typeface="Helvetica"/>
                <a:cs typeface="Helvetica"/>
              </a:rPr>
              <a:t>We can recover a LISA-like one-way laser noise transfer function</a:t>
            </a:r>
          </a:p>
          <a:p>
            <a:pPr marL="0" indent="0">
              <a:spcBef>
                <a:spcPts val="0"/>
              </a:spcBef>
              <a:spcAft>
                <a:spcPts val="800"/>
              </a:spcAft>
              <a:buNone/>
            </a:pPr>
            <a:endParaRPr lang="en-US" dirty="0">
              <a:cs typeface="Helvetica"/>
            </a:endParaRPr>
          </a:p>
        </p:txBody>
      </p:sp>
      <p:pic>
        <p:nvPicPr>
          <p:cNvPr id="11" name="Content Placeholder 5">
            <a:extLst>
              <a:ext uri="{FF2B5EF4-FFF2-40B4-BE49-F238E27FC236}">
                <a16:creationId xmlns:a16="http://schemas.microsoft.com/office/drawing/2014/main" id="{A21CCE60-CF5A-4C40-A3C9-2E19C62C7405}"/>
              </a:ext>
            </a:extLst>
          </p:cNvPr>
          <p:cNvPicPr>
            <a:picLocks noChangeAspect="1"/>
          </p:cNvPicPr>
          <p:nvPr/>
        </p:nvPicPr>
        <p:blipFill>
          <a:blip r:embed="rId6"/>
          <a:stretch>
            <a:fillRect/>
          </a:stretch>
        </p:blipFill>
        <p:spPr>
          <a:xfrm>
            <a:off x="51557" y="3743440"/>
            <a:ext cx="5832172" cy="2518918"/>
          </a:xfrm>
          <a:prstGeom prst="rect">
            <a:avLst/>
          </a:prstGeom>
        </p:spPr>
      </p:pic>
    </p:spTree>
    <p:extLst>
      <p:ext uri="{BB962C8B-B14F-4D97-AF65-F5344CB8AC3E}">
        <p14:creationId xmlns:p14="http://schemas.microsoft.com/office/powerpoint/2010/main" val="631316656"/>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dirty="0"/>
              <a:t>Clock Noise in LISA</a:t>
            </a:r>
            <a:endParaRPr lang="en-US" noProof="0" dirty="0"/>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14</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pic>
        <p:nvPicPr>
          <p:cNvPr id="15" name="Picture 14">
            <a:extLst>
              <a:ext uri="{FF2B5EF4-FFF2-40B4-BE49-F238E27FC236}">
                <a16:creationId xmlns:a16="http://schemas.microsoft.com/office/drawing/2014/main" id="{AD10AA72-B724-4054-9215-66EE93EC731F}"/>
              </a:ext>
            </a:extLst>
          </p:cNvPr>
          <p:cNvPicPr>
            <a:picLocks noChangeAspect="1"/>
          </p:cNvPicPr>
          <p:nvPr/>
        </p:nvPicPr>
        <p:blipFill>
          <a:blip r:embed="rId3"/>
          <a:stretch>
            <a:fillRect/>
          </a:stretch>
        </p:blipFill>
        <p:spPr>
          <a:xfrm>
            <a:off x="1505702" y="2147313"/>
            <a:ext cx="9180595" cy="2563373"/>
          </a:xfrm>
          <a:prstGeom prst="rect">
            <a:avLst/>
          </a:prstGeom>
        </p:spPr>
      </p:pic>
      <p:pic>
        <p:nvPicPr>
          <p:cNvPr id="3" name="Graphic 2">
            <a:extLst>
              <a:ext uri="{FF2B5EF4-FFF2-40B4-BE49-F238E27FC236}">
                <a16:creationId xmlns:a16="http://schemas.microsoft.com/office/drawing/2014/main" id="{6078BDEF-DF21-0540-54B8-8474653B96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9587" y="4409757"/>
            <a:ext cx="10329545" cy="1665605"/>
          </a:xfrm>
          <a:prstGeom prst="rect">
            <a:avLst/>
          </a:prstGeom>
        </p:spPr>
      </p:pic>
    </p:spTree>
    <p:extLst>
      <p:ext uri="{BB962C8B-B14F-4D97-AF65-F5344CB8AC3E}">
        <p14:creationId xmlns:p14="http://schemas.microsoft.com/office/powerpoint/2010/main" val="2529744932"/>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7A4A-3FF4-D844-2193-477D8DF3F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37DCA-1161-1C7E-A435-54E854572B50}"/>
              </a:ext>
            </a:extLst>
          </p:cNvPr>
          <p:cNvSpPr>
            <a:spLocks noGrp="1"/>
          </p:cNvSpPr>
          <p:nvPr>
            <p:ph type="title"/>
          </p:nvPr>
        </p:nvSpPr>
        <p:spPr/>
        <p:txBody>
          <a:bodyPr/>
          <a:lstStyle/>
          <a:p>
            <a:r>
              <a:rPr lang="en-US" dirty="0">
                <a:latin typeface="Helvetica"/>
                <a:cs typeface="Helvetica"/>
              </a:rPr>
              <a:t>Replicating the LISA Arm in the Lab</a:t>
            </a:r>
            <a:endParaRPr lang="en-US" b="0" dirty="0">
              <a:latin typeface="Helvetica"/>
              <a:cs typeface="Helvetica"/>
            </a:endParaRPr>
          </a:p>
        </p:txBody>
      </p:sp>
      <p:sp>
        <p:nvSpPr>
          <p:cNvPr id="4" name="Slide Number Placeholder 3">
            <a:extLst>
              <a:ext uri="{FF2B5EF4-FFF2-40B4-BE49-F238E27FC236}">
                <a16:creationId xmlns:a16="http://schemas.microsoft.com/office/drawing/2014/main" id="{ACDF45F2-2DEF-DAEE-8252-CC9102516A00}"/>
              </a:ext>
            </a:extLst>
          </p:cNvPr>
          <p:cNvSpPr>
            <a:spLocks noGrp="1"/>
          </p:cNvSpPr>
          <p:nvPr>
            <p:ph type="sldNum" sz="quarter" idx="12"/>
          </p:nvPr>
        </p:nvSpPr>
        <p:spPr/>
        <p:txBody>
          <a:bodyPr/>
          <a:lstStyle/>
          <a:p>
            <a:fld id="{9F39E346-B1F3-4075-BD67-234EF0F10AC6}" type="slidenum">
              <a:rPr lang="en-US" noProof="0" smtClean="0"/>
              <a:pPr/>
              <a:t>15</a:t>
            </a:fld>
            <a:endParaRPr lang="en-US" noProof="0" dirty="0"/>
          </a:p>
        </p:txBody>
      </p:sp>
      <p:sp>
        <p:nvSpPr>
          <p:cNvPr id="6" name="Date Placeholder 5">
            <a:extLst>
              <a:ext uri="{FF2B5EF4-FFF2-40B4-BE49-F238E27FC236}">
                <a16:creationId xmlns:a16="http://schemas.microsoft.com/office/drawing/2014/main" id="{C934E1D7-CA3C-8A3F-D655-C976C66AA5D8}"/>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3C625B93-6E97-8D07-A8EE-ACDF86338171}"/>
              </a:ext>
            </a:extLst>
          </p:cNvPr>
          <p:cNvSpPr>
            <a:spLocks noGrp="1"/>
          </p:cNvSpPr>
          <p:nvPr>
            <p:ph type="ftr" sz="quarter" idx="11"/>
          </p:nvPr>
        </p:nvSpPr>
        <p:spPr/>
        <p:txBody>
          <a:bodyPr/>
          <a:lstStyle/>
          <a:p>
            <a:r>
              <a:rPr lang="en-US" dirty="0"/>
              <a:t>16th International LISA Symposium</a:t>
            </a:r>
            <a:endParaRPr lang="et-EE" dirty="0"/>
          </a:p>
        </p:txBody>
      </p:sp>
      <p:pic>
        <p:nvPicPr>
          <p:cNvPr id="15" name="Picture 14">
            <a:extLst>
              <a:ext uri="{FF2B5EF4-FFF2-40B4-BE49-F238E27FC236}">
                <a16:creationId xmlns:a16="http://schemas.microsoft.com/office/drawing/2014/main" id="{EB9E17CC-9801-4929-ADE5-A9CE31DEC402}"/>
              </a:ext>
            </a:extLst>
          </p:cNvPr>
          <p:cNvPicPr>
            <a:picLocks noChangeAspect="1"/>
          </p:cNvPicPr>
          <p:nvPr/>
        </p:nvPicPr>
        <p:blipFill>
          <a:blip r:embed="rId3"/>
          <a:stretch>
            <a:fillRect/>
          </a:stretch>
        </p:blipFill>
        <p:spPr>
          <a:xfrm>
            <a:off x="529145" y="1237556"/>
            <a:ext cx="6402078" cy="1787565"/>
          </a:xfrm>
          <a:prstGeom prst="rect">
            <a:avLst/>
          </a:prstGeom>
        </p:spPr>
      </p:pic>
      <p:pic>
        <p:nvPicPr>
          <p:cNvPr id="18" name="Picture 17">
            <a:extLst>
              <a:ext uri="{FF2B5EF4-FFF2-40B4-BE49-F238E27FC236}">
                <a16:creationId xmlns:a16="http://schemas.microsoft.com/office/drawing/2014/main" id="{4778ECA1-263A-4A9E-A678-9AC8CC3AE121}"/>
              </a:ext>
            </a:extLst>
          </p:cNvPr>
          <p:cNvPicPr>
            <a:picLocks noChangeAspect="1"/>
          </p:cNvPicPr>
          <p:nvPr/>
        </p:nvPicPr>
        <p:blipFill>
          <a:blip r:embed="rId4"/>
          <a:stretch>
            <a:fillRect/>
          </a:stretch>
        </p:blipFill>
        <p:spPr>
          <a:xfrm>
            <a:off x="610393" y="3646424"/>
            <a:ext cx="6646315" cy="2332524"/>
          </a:xfrm>
          <a:prstGeom prst="rect">
            <a:avLst/>
          </a:prstGeom>
        </p:spPr>
      </p:pic>
      <p:sp>
        <p:nvSpPr>
          <p:cNvPr id="12" name="TextBox 11">
            <a:extLst>
              <a:ext uri="{FF2B5EF4-FFF2-40B4-BE49-F238E27FC236}">
                <a16:creationId xmlns:a16="http://schemas.microsoft.com/office/drawing/2014/main" id="{918529D4-93BF-4F6F-A817-E5AFA6A58243}"/>
              </a:ext>
            </a:extLst>
          </p:cNvPr>
          <p:cNvSpPr txBox="1"/>
          <p:nvPr/>
        </p:nvSpPr>
        <p:spPr>
          <a:xfrm>
            <a:off x="10185723" y="2429168"/>
            <a:ext cx="1300484"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LISA arm</a:t>
            </a:r>
            <a:endParaRPr lang="et-EE" sz="2000" b="1" dirty="0">
              <a:solidFill>
                <a:srgbClr val="323232"/>
              </a:solidFill>
              <a:latin typeface="Helvetica"/>
              <a:cs typeface="Arial"/>
            </a:endParaRPr>
          </a:p>
        </p:txBody>
      </p:sp>
      <p:sp>
        <p:nvSpPr>
          <p:cNvPr id="13" name="TextBox 12">
            <a:extLst>
              <a:ext uri="{FF2B5EF4-FFF2-40B4-BE49-F238E27FC236}">
                <a16:creationId xmlns:a16="http://schemas.microsoft.com/office/drawing/2014/main" id="{34692CC2-78A9-4612-82B5-4326B7ADBD83}"/>
              </a:ext>
            </a:extLst>
          </p:cNvPr>
          <p:cNvSpPr txBox="1"/>
          <p:nvPr/>
        </p:nvSpPr>
        <p:spPr>
          <a:xfrm>
            <a:off x="10105271" y="4943587"/>
            <a:ext cx="1721946" cy="400110"/>
          </a:xfrm>
          <a:prstGeom prst="rect">
            <a:avLst/>
          </a:prstGeom>
          <a:noFill/>
        </p:spPr>
        <p:txBody>
          <a:bodyPr wrap="none" lIns="91440" tIns="45720" rIns="91440" bIns="45720" rtlCol="0" anchor="t">
            <a:spAutoFit/>
          </a:bodyPr>
          <a:lstStyle/>
          <a:p>
            <a:pPr algn="l"/>
            <a:r>
              <a:rPr lang="en-US" sz="2000" b="1" dirty="0">
                <a:solidFill>
                  <a:srgbClr val="323232"/>
                </a:solidFill>
                <a:latin typeface="Helvetica"/>
                <a:cs typeface="Arial"/>
              </a:rPr>
              <a:t>Testbed arm</a:t>
            </a:r>
            <a:endParaRPr lang="et-EE" sz="2000" b="1" dirty="0">
              <a:solidFill>
                <a:srgbClr val="323232"/>
              </a:solidFill>
              <a:latin typeface="Helvetica"/>
              <a:cs typeface="Arial"/>
            </a:endParaRPr>
          </a:p>
        </p:txBody>
      </p:sp>
      <p:pic>
        <p:nvPicPr>
          <p:cNvPr id="3" name="Graphic 2">
            <a:extLst>
              <a:ext uri="{FF2B5EF4-FFF2-40B4-BE49-F238E27FC236}">
                <a16:creationId xmlns:a16="http://schemas.microsoft.com/office/drawing/2014/main" id="{0F680E06-78C7-10D1-030D-6F92AF0938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64801" y="2631020"/>
            <a:ext cx="7962265" cy="1228725"/>
          </a:xfrm>
          <a:prstGeom prst="rect">
            <a:avLst/>
          </a:prstGeom>
        </p:spPr>
      </p:pic>
      <p:pic>
        <p:nvPicPr>
          <p:cNvPr id="8" name="Graphic 7">
            <a:extLst>
              <a:ext uri="{FF2B5EF4-FFF2-40B4-BE49-F238E27FC236}">
                <a16:creationId xmlns:a16="http://schemas.microsoft.com/office/drawing/2014/main" id="{A72DC4A7-D5CF-22CC-CBA6-7F1C8BC6D61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32525" y="5141277"/>
            <a:ext cx="8769350" cy="1228725"/>
          </a:xfrm>
          <a:prstGeom prst="rect">
            <a:avLst/>
          </a:prstGeom>
        </p:spPr>
      </p:pic>
      <p:sp>
        <p:nvSpPr>
          <p:cNvPr id="14" name="Rectangle 13">
            <a:extLst>
              <a:ext uri="{FF2B5EF4-FFF2-40B4-BE49-F238E27FC236}">
                <a16:creationId xmlns:a16="http://schemas.microsoft.com/office/drawing/2014/main" id="{AFAAE61E-886A-4F41-B2BE-E06F38EEE67C}"/>
              </a:ext>
            </a:extLst>
          </p:cNvPr>
          <p:cNvSpPr/>
          <p:nvPr/>
        </p:nvSpPr>
        <p:spPr>
          <a:xfrm>
            <a:off x="2461230" y="3962284"/>
            <a:ext cx="879569" cy="389896"/>
          </a:xfrm>
          <a:prstGeom prst="rect">
            <a:avLst/>
          </a:prstGeom>
          <a:noFill/>
          <a:ln w="57150">
            <a:solidFill>
              <a:srgbClr val="D71B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981926500"/>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7A4A-3FF4-D844-2193-477D8DF3F43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52EE184-AF0D-973A-8E65-9586847A42A6}"/>
              </a:ext>
            </a:extLst>
          </p:cNvPr>
          <p:cNvPicPr>
            <a:picLocks noChangeAspect="1"/>
          </p:cNvPicPr>
          <p:nvPr/>
        </p:nvPicPr>
        <p:blipFill>
          <a:blip r:embed="rId3"/>
          <a:srcRect/>
          <a:stretch/>
        </p:blipFill>
        <p:spPr>
          <a:xfrm>
            <a:off x="4223696" y="1719830"/>
            <a:ext cx="6899066" cy="4404299"/>
          </a:xfrm>
          <a:prstGeom prst="rect">
            <a:avLst/>
          </a:prstGeom>
        </p:spPr>
      </p:pic>
      <p:sp>
        <p:nvSpPr>
          <p:cNvPr id="2" name="Title 1">
            <a:extLst>
              <a:ext uri="{FF2B5EF4-FFF2-40B4-BE49-F238E27FC236}">
                <a16:creationId xmlns:a16="http://schemas.microsoft.com/office/drawing/2014/main" id="{39037DCA-1161-1C7E-A435-54E854572B50}"/>
              </a:ext>
            </a:extLst>
          </p:cNvPr>
          <p:cNvSpPr>
            <a:spLocks noGrp="1"/>
          </p:cNvSpPr>
          <p:nvPr>
            <p:ph type="title"/>
          </p:nvPr>
        </p:nvSpPr>
        <p:spPr/>
        <p:txBody>
          <a:bodyPr/>
          <a:lstStyle/>
          <a:p>
            <a:r>
              <a:rPr lang="en-US" dirty="0">
                <a:latin typeface="Helvetica"/>
                <a:cs typeface="Helvetica"/>
              </a:rPr>
              <a:t>Clock Tone Transfer Performance</a:t>
            </a:r>
          </a:p>
        </p:txBody>
      </p:sp>
      <p:sp>
        <p:nvSpPr>
          <p:cNvPr id="4" name="Slide Number Placeholder 3">
            <a:extLst>
              <a:ext uri="{FF2B5EF4-FFF2-40B4-BE49-F238E27FC236}">
                <a16:creationId xmlns:a16="http://schemas.microsoft.com/office/drawing/2014/main" id="{ACDF45F2-2DEF-DAEE-8252-CC9102516A00}"/>
              </a:ext>
            </a:extLst>
          </p:cNvPr>
          <p:cNvSpPr>
            <a:spLocks noGrp="1"/>
          </p:cNvSpPr>
          <p:nvPr>
            <p:ph type="sldNum" sz="quarter" idx="12"/>
          </p:nvPr>
        </p:nvSpPr>
        <p:spPr/>
        <p:txBody>
          <a:bodyPr/>
          <a:lstStyle/>
          <a:p>
            <a:fld id="{9F39E346-B1F3-4075-BD67-234EF0F10AC6}" type="slidenum">
              <a:rPr lang="en-US" noProof="0" smtClean="0"/>
              <a:pPr/>
              <a:t>16</a:t>
            </a:fld>
            <a:endParaRPr lang="en-US" noProof="0" dirty="0"/>
          </a:p>
        </p:txBody>
      </p:sp>
      <p:sp>
        <p:nvSpPr>
          <p:cNvPr id="6" name="Date Placeholder 5">
            <a:extLst>
              <a:ext uri="{FF2B5EF4-FFF2-40B4-BE49-F238E27FC236}">
                <a16:creationId xmlns:a16="http://schemas.microsoft.com/office/drawing/2014/main" id="{C934E1D7-CA3C-8A3F-D655-C976C66AA5D8}"/>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3C625B93-6E97-8D07-A8EE-ACDF86338171}"/>
              </a:ext>
            </a:extLst>
          </p:cNvPr>
          <p:cNvSpPr>
            <a:spLocks noGrp="1"/>
          </p:cNvSpPr>
          <p:nvPr>
            <p:ph type="ftr" sz="quarter" idx="11"/>
          </p:nvPr>
        </p:nvSpPr>
        <p:spPr/>
        <p:txBody>
          <a:bodyPr/>
          <a:lstStyle/>
          <a:p>
            <a:r>
              <a:rPr lang="en-US" dirty="0"/>
              <a:t>16th International LISA Symposium</a:t>
            </a:r>
            <a:endParaRPr lang="et-EE" dirty="0"/>
          </a:p>
        </p:txBody>
      </p:sp>
      <p:sp>
        <p:nvSpPr>
          <p:cNvPr id="14" name="Content Placeholder 2">
            <a:extLst>
              <a:ext uri="{FF2B5EF4-FFF2-40B4-BE49-F238E27FC236}">
                <a16:creationId xmlns:a16="http://schemas.microsoft.com/office/drawing/2014/main" id="{0724150A-DF9C-4831-A5A5-FA94FA399B22}"/>
              </a:ext>
            </a:extLst>
          </p:cNvPr>
          <p:cNvSpPr>
            <a:spLocks noGrp="1"/>
          </p:cNvSpPr>
          <p:nvPr>
            <p:ph idx="1"/>
          </p:nvPr>
        </p:nvSpPr>
        <p:spPr>
          <a:xfrm>
            <a:off x="224443" y="1161756"/>
            <a:ext cx="11493424" cy="4652022"/>
          </a:xfrm>
        </p:spPr>
        <p:txBody>
          <a:bodyPr/>
          <a:lstStyle/>
          <a:p>
            <a:pPr marL="0" indent="0">
              <a:buNone/>
            </a:pPr>
            <a:endParaRPr lang="en-US" dirty="0"/>
          </a:p>
          <a:p>
            <a:endParaRPr lang="et-EE" dirty="0"/>
          </a:p>
        </p:txBody>
      </p:sp>
      <p:pic>
        <p:nvPicPr>
          <p:cNvPr id="5" name="Picture 4">
            <a:extLst>
              <a:ext uri="{FF2B5EF4-FFF2-40B4-BE49-F238E27FC236}">
                <a16:creationId xmlns:a16="http://schemas.microsoft.com/office/drawing/2014/main" id="{428E6B2A-ECF9-45BE-87EE-C951D54B7C64}"/>
              </a:ext>
            </a:extLst>
          </p:cNvPr>
          <p:cNvPicPr>
            <a:picLocks noChangeAspect="1"/>
          </p:cNvPicPr>
          <p:nvPr/>
        </p:nvPicPr>
        <p:blipFill>
          <a:blip r:embed="rId4"/>
          <a:stretch>
            <a:fillRect/>
          </a:stretch>
        </p:blipFill>
        <p:spPr>
          <a:xfrm>
            <a:off x="393773" y="5009392"/>
            <a:ext cx="4882120" cy="792948"/>
          </a:xfrm>
          <a:prstGeom prst="rect">
            <a:avLst/>
          </a:prstGeom>
        </p:spPr>
      </p:pic>
      <p:sp>
        <p:nvSpPr>
          <p:cNvPr id="9" name="Rectangle 8">
            <a:extLst>
              <a:ext uri="{FF2B5EF4-FFF2-40B4-BE49-F238E27FC236}">
                <a16:creationId xmlns:a16="http://schemas.microsoft.com/office/drawing/2014/main" id="{A5904FEA-78BF-4C7B-AE51-E86E1F7B5BA5}"/>
              </a:ext>
            </a:extLst>
          </p:cNvPr>
          <p:cNvSpPr/>
          <p:nvPr/>
        </p:nvSpPr>
        <p:spPr>
          <a:xfrm>
            <a:off x="3058831" y="5402284"/>
            <a:ext cx="352764" cy="389896"/>
          </a:xfrm>
          <a:prstGeom prst="rect">
            <a:avLst/>
          </a:prstGeom>
          <a:noFill/>
          <a:ln w="57150">
            <a:solidFill>
              <a:srgbClr val="D71B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Content Placeholder 2">
            <a:extLst>
              <a:ext uri="{FF2B5EF4-FFF2-40B4-BE49-F238E27FC236}">
                <a16:creationId xmlns:a16="http://schemas.microsoft.com/office/drawing/2014/main" id="{C4646A4D-B256-BFDC-4BDE-1D221726CDF4}"/>
              </a:ext>
            </a:extLst>
          </p:cNvPr>
          <p:cNvSpPr txBox="1">
            <a:spLocks/>
          </p:cNvSpPr>
          <p:nvPr/>
        </p:nvSpPr>
        <p:spPr>
          <a:xfrm>
            <a:off x="318955" y="1011724"/>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800"/>
              </a:spcAft>
              <a:buNone/>
            </a:pPr>
            <a:r>
              <a:rPr lang="en-US" dirty="0">
                <a:latin typeface="Helvetica"/>
                <a:cs typeface="Helvetica"/>
              </a:rPr>
              <a:t>Modulator noise and the intrinsic noise of the delay line board are too loud if MHz modulation is used.</a:t>
            </a:r>
          </a:p>
          <a:p>
            <a:pPr marL="0" indent="0">
              <a:buNone/>
            </a:pPr>
            <a:endParaRPr lang="en-US" dirty="0"/>
          </a:p>
        </p:txBody>
      </p:sp>
    </p:spTree>
    <p:extLst>
      <p:ext uri="{BB962C8B-B14F-4D97-AF65-F5344CB8AC3E}">
        <p14:creationId xmlns:p14="http://schemas.microsoft.com/office/powerpoint/2010/main" val="1172276438"/>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2FB72-79F9-C5A2-078B-DA25C039D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C7D7C-2538-E540-69B8-70027746BA1B}"/>
              </a:ext>
            </a:extLst>
          </p:cNvPr>
          <p:cNvSpPr>
            <a:spLocks noGrp="1"/>
          </p:cNvSpPr>
          <p:nvPr>
            <p:ph type="title"/>
          </p:nvPr>
        </p:nvSpPr>
        <p:spPr/>
        <p:txBody>
          <a:bodyPr/>
          <a:lstStyle/>
          <a:p>
            <a:r>
              <a:rPr lang="en-US" dirty="0">
                <a:latin typeface="Helvetica"/>
                <a:cs typeface="Helvetica"/>
              </a:rPr>
              <a:t>GHz Modulation -- Solution 1</a:t>
            </a:r>
          </a:p>
        </p:txBody>
      </p:sp>
      <p:sp>
        <p:nvSpPr>
          <p:cNvPr id="4" name="Slide Number Placeholder 3">
            <a:extLst>
              <a:ext uri="{FF2B5EF4-FFF2-40B4-BE49-F238E27FC236}">
                <a16:creationId xmlns:a16="http://schemas.microsoft.com/office/drawing/2014/main" id="{015552FC-F12A-D723-10AB-CC7B32EF9519}"/>
              </a:ext>
            </a:extLst>
          </p:cNvPr>
          <p:cNvSpPr>
            <a:spLocks noGrp="1"/>
          </p:cNvSpPr>
          <p:nvPr>
            <p:ph type="sldNum" sz="quarter" idx="12"/>
          </p:nvPr>
        </p:nvSpPr>
        <p:spPr/>
        <p:txBody>
          <a:bodyPr/>
          <a:lstStyle/>
          <a:p>
            <a:fld id="{9F39E346-B1F3-4075-BD67-234EF0F10AC6}" type="slidenum">
              <a:rPr lang="en-US" noProof="0" smtClean="0"/>
              <a:pPr/>
              <a:t>17</a:t>
            </a:fld>
            <a:endParaRPr lang="en-US" noProof="0" dirty="0"/>
          </a:p>
        </p:txBody>
      </p:sp>
      <p:sp>
        <p:nvSpPr>
          <p:cNvPr id="6" name="Date Placeholder 5">
            <a:extLst>
              <a:ext uri="{FF2B5EF4-FFF2-40B4-BE49-F238E27FC236}">
                <a16:creationId xmlns:a16="http://schemas.microsoft.com/office/drawing/2014/main" id="{286731BC-6F47-D752-E86E-AD04270BF1BD}"/>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32AFE1EE-CB7C-6EC3-2E1F-84BCA9E5B6BF}"/>
              </a:ext>
            </a:extLst>
          </p:cNvPr>
          <p:cNvSpPr>
            <a:spLocks noGrp="1"/>
          </p:cNvSpPr>
          <p:nvPr>
            <p:ph type="ftr" sz="quarter" idx="11"/>
          </p:nvPr>
        </p:nvSpPr>
        <p:spPr/>
        <p:txBody>
          <a:bodyPr/>
          <a:lstStyle/>
          <a:p>
            <a:r>
              <a:rPr lang="en-US" dirty="0"/>
              <a:t>16th International LISA Symposium</a:t>
            </a:r>
            <a:endParaRPr lang="et-EE" dirty="0"/>
          </a:p>
        </p:txBody>
      </p:sp>
      <p:pic>
        <p:nvPicPr>
          <p:cNvPr id="10" name="Picture 9">
            <a:extLst>
              <a:ext uri="{FF2B5EF4-FFF2-40B4-BE49-F238E27FC236}">
                <a16:creationId xmlns:a16="http://schemas.microsoft.com/office/drawing/2014/main" id="{B658DED9-9263-095C-C798-4F85085E9C2F}"/>
              </a:ext>
            </a:extLst>
          </p:cNvPr>
          <p:cNvPicPr>
            <a:picLocks noChangeAspect="1"/>
          </p:cNvPicPr>
          <p:nvPr/>
        </p:nvPicPr>
        <p:blipFill>
          <a:blip r:embed="rId3"/>
          <a:stretch>
            <a:fillRect/>
          </a:stretch>
        </p:blipFill>
        <p:spPr>
          <a:xfrm>
            <a:off x="786809" y="1953252"/>
            <a:ext cx="10370289" cy="3737604"/>
          </a:xfrm>
          <a:prstGeom prst="rect">
            <a:avLst/>
          </a:prstGeom>
        </p:spPr>
      </p:pic>
      <p:sp>
        <p:nvSpPr>
          <p:cNvPr id="17" name="TextBox 16">
            <a:extLst>
              <a:ext uri="{FF2B5EF4-FFF2-40B4-BE49-F238E27FC236}">
                <a16:creationId xmlns:a16="http://schemas.microsoft.com/office/drawing/2014/main" id="{EE8CEE53-5ED7-6B2F-8011-5B32E1A1F189}"/>
              </a:ext>
            </a:extLst>
          </p:cNvPr>
          <p:cNvSpPr txBox="1"/>
          <p:nvPr/>
        </p:nvSpPr>
        <p:spPr>
          <a:xfrm>
            <a:off x="2576373" y="5720701"/>
            <a:ext cx="4898982" cy="338554"/>
          </a:xfrm>
          <a:prstGeom prst="rect">
            <a:avLst/>
          </a:prstGeom>
          <a:noFill/>
        </p:spPr>
        <p:txBody>
          <a:bodyPr wrap="square" lIns="91440" tIns="45720" rIns="91440" bIns="45720" rtlCol="0" anchor="t">
            <a:spAutoFit/>
          </a:bodyPr>
          <a:lstStyle/>
          <a:p>
            <a:pPr>
              <a:spcAft>
                <a:spcPts val="800"/>
              </a:spcAft>
            </a:pPr>
            <a:r>
              <a:rPr lang="en-US" sz="1600" dirty="0">
                <a:solidFill>
                  <a:srgbClr val="323232"/>
                </a:solidFill>
                <a:latin typeface="Helvetica"/>
                <a:cs typeface="Arial"/>
              </a:rPr>
              <a:t>Where to derive the modulating tone from?</a:t>
            </a:r>
            <a:endParaRPr lang="en-US" dirty="0"/>
          </a:p>
        </p:txBody>
      </p:sp>
      <p:cxnSp>
        <p:nvCxnSpPr>
          <p:cNvPr id="19" name="Straight Arrow Connector 18">
            <a:extLst>
              <a:ext uri="{FF2B5EF4-FFF2-40B4-BE49-F238E27FC236}">
                <a16:creationId xmlns:a16="http://schemas.microsoft.com/office/drawing/2014/main" id="{8060283C-DDA5-5E32-F920-1011850521E6}"/>
              </a:ext>
            </a:extLst>
          </p:cNvPr>
          <p:cNvCxnSpPr>
            <a:cxnSpLocks/>
          </p:cNvCxnSpPr>
          <p:nvPr/>
        </p:nvCxnSpPr>
        <p:spPr>
          <a:xfrm flipH="1" flipV="1">
            <a:off x="2967643" y="5018567"/>
            <a:ext cx="992978" cy="733061"/>
          </a:xfrm>
          <a:prstGeom prst="straightConnector1">
            <a:avLst/>
          </a:prstGeom>
          <a:ln w="28575">
            <a:solidFill>
              <a:srgbClr val="2D1364"/>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FBF5A435-10B4-4E5F-9468-9C5778A4A09E}"/>
              </a:ext>
            </a:extLst>
          </p:cNvPr>
          <p:cNvSpPr txBox="1">
            <a:spLocks/>
          </p:cNvSpPr>
          <p:nvPr/>
        </p:nvSpPr>
        <p:spPr>
          <a:xfrm>
            <a:off x="326043" y="1110956"/>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800"/>
              </a:spcAft>
              <a:buNone/>
            </a:pPr>
            <a:endParaRPr lang="en-US" dirty="0">
              <a:latin typeface="Helvetica"/>
              <a:cs typeface="Helvetica"/>
            </a:endParaRPr>
          </a:p>
          <a:p>
            <a:pPr marL="0" indent="0">
              <a:buNone/>
            </a:pPr>
            <a:endParaRPr lang="en-US" dirty="0"/>
          </a:p>
        </p:txBody>
      </p:sp>
      <p:sp>
        <p:nvSpPr>
          <p:cNvPr id="12" name="Content Placeholder 2">
            <a:extLst>
              <a:ext uri="{FF2B5EF4-FFF2-40B4-BE49-F238E27FC236}">
                <a16:creationId xmlns:a16="http://schemas.microsoft.com/office/drawing/2014/main" id="{5C96A231-FB4F-46F6-8B18-B3DE8BF1187C}"/>
              </a:ext>
            </a:extLst>
          </p:cNvPr>
          <p:cNvSpPr txBox="1">
            <a:spLocks/>
          </p:cNvSpPr>
          <p:nvPr/>
        </p:nvSpPr>
        <p:spPr>
          <a:xfrm>
            <a:off x="478443" y="1263356"/>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15" name="Content Placeholder 2">
            <a:extLst>
              <a:ext uri="{FF2B5EF4-FFF2-40B4-BE49-F238E27FC236}">
                <a16:creationId xmlns:a16="http://schemas.microsoft.com/office/drawing/2014/main" id="{DD9E1CBC-ADBB-41D5-9A2A-956DD91BEF28}"/>
              </a:ext>
            </a:extLst>
          </p:cNvPr>
          <p:cNvSpPr txBox="1">
            <a:spLocks/>
          </p:cNvSpPr>
          <p:nvPr/>
        </p:nvSpPr>
        <p:spPr>
          <a:xfrm>
            <a:off x="321733" y="1002267"/>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800"/>
              </a:spcAft>
              <a:buNone/>
            </a:pPr>
            <a:r>
              <a:rPr lang="en-US" dirty="0">
                <a:latin typeface="Helvetica"/>
                <a:cs typeface="Helvetica"/>
              </a:rPr>
              <a:t>Heterodyned sideband beat notes add a new timing jitter to the mix.</a:t>
            </a:r>
          </a:p>
          <a:p>
            <a:pPr marL="0" indent="0">
              <a:buNone/>
            </a:pPr>
            <a:endParaRPr lang="en-US" dirty="0"/>
          </a:p>
        </p:txBody>
      </p:sp>
    </p:spTree>
    <p:extLst>
      <p:ext uri="{BB962C8B-B14F-4D97-AF65-F5344CB8AC3E}">
        <p14:creationId xmlns:p14="http://schemas.microsoft.com/office/powerpoint/2010/main" val="2814163482"/>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2FB72-79F9-C5A2-078B-DA25C039D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C7D7C-2538-E540-69B8-70027746BA1B}"/>
              </a:ext>
            </a:extLst>
          </p:cNvPr>
          <p:cNvSpPr>
            <a:spLocks noGrp="1"/>
          </p:cNvSpPr>
          <p:nvPr>
            <p:ph type="title"/>
          </p:nvPr>
        </p:nvSpPr>
        <p:spPr/>
        <p:txBody>
          <a:bodyPr/>
          <a:lstStyle/>
          <a:p>
            <a:r>
              <a:rPr lang="en-US" dirty="0">
                <a:latin typeface="Helvetica"/>
                <a:cs typeface="Helvetica"/>
              </a:rPr>
              <a:t>GHz Modulation -- Solution 2</a:t>
            </a:r>
          </a:p>
        </p:txBody>
      </p:sp>
      <p:sp>
        <p:nvSpPr>
          <p:cNvPr id="4" name="Slide Number Placeholder 3">
            <a:extLst>
              <a:ext uri="{FF2B5EF4-FFF2-40B4-BE49-F238E27FC236}">
                <a16:creationId xmlns:a16="http://schemas.microsoft.com/office/drawing/2014/main" id="{015552FC-F12A-D723-10AB-CC7B32EF9519}"/>
              </a:ext>
            </a:extLst>
          </p:cNvPr>
          <p:cNvSpPr>
            <a:spLocks noGrp="1"/>
          </p:cNvSpPr>
          <p:nvPr>
            <p:ph type="sldNum" sz="quarter" idx="12"/>
          </p:nvPr>
        </p:nvSpPr>
        <p:spPr/>
        <p:txBody>
          <a:bodyPr/>
          <a:lstStyle/>
          <a:p>
            <a:fld id="{9F39E346-B1F3-4075-BD67-234EF0F10AC6}" type="slidenum">
              <a:rPr lang="en-US" noProof="0" smtClean="0"/>
              <a:pPr/>
              <a:t>18</a:t>
            </a:fld>
            <a:endParaRPr lang="en-US" noProof="0" dirty="0"/>
          </a:p>
        </p:txBody>
      </p:sp>
      <p:sp>
        <p:nvSpPr>
          <p:cNvPr id="6" name="Date Placeholder 5">
            <a:extLst>
              <a:ext uri="{FF2B5EF4-FFF2-40B4-BE49-F238E27FC236}">
                <a16:creationId xmlns:a16="http://schemas.microsoft.com/office/drawing/2014/main" id="{286731BC-6F47-D752-E86E-AD04270BF1BD}"/>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32AFE1EE-CB7C-6EC3-2E1F-84BCA9E5B6BF}"/>
              </a:ext>
            </a:extLst>
          </p:cNvPr>
          <p:cNvSpPr>
            <a:spLocks noGrp="1"/>
          </p:cNvSpPr>
          <p:nvPr>
            <p:ph type="ftr" sz="quarter" idx="11"/>
          </p:nvPr>
        </p:nvSpPr>
        <p:spPr/>
        <p:txBody>
          <a:bodyPr/>
          <a:lstStyle/>
          <a:p>
            <a:r>
              <a:rPr lang="en-US" dirty="0"/>
              <a:t>16th International LISA Symposium</a:t>
            </a:r>
            <a:endParaRPr lang="et-EE" dirty="0"/>
          </a:p>
        </p:txBody>
      </p:sp>
      <p:sp>
        <p:nvSpPr>
          <p:cNvPr id="14" name="Content Placeholder 2">
            <a:extLst>
              <a:ext uri="{FF2B5EF4-FFF2-40B4-BE49-F238E27FC236}">
                <a16:creationId xmlns:a16="http://schemas.microsoft.com/office/drawing/2014/main" id="{04E75D5C-766F-2115-BA72-1FC1E7AAFD9B}"/>
              </a:ext>
            </a:extLst>
          </p:cNvPr>
          <p:cNvSpPr>
            <a:spLocks noGrp="1"/>
          </p:cNvSpPr>
          <p:nvPr>
            <p:ph idx="1"/>
          </p:nvPr>
        </p:nvSpPr>
        <p:spPr>
          <a:xfrm>
            <a:off x="224443" y="1161756"/>
            <a:ext cx="11493424" cy="4652022"/>
          </a:xfrm>
        </p:spPr>
        <p:txBody>
          <a:bodyPr/>
          <a:lstStyle/>
          <a:p>
            <a:pPr marL="0" indent="0">
              <a:buNone/>
            </a:pPr>
            <a:endParaRPr lang="en-US" dirty="0"/>
          </a:p>
          <a:p>
            <a:endParaRPr lang="et-EE" dirty="0"/>
          </a:p>
        </p:txBody>
      </p:sp>
      <p:pic>
        <p:nvPicPr>
          <p:cNvPr id="10" name="Picture 9">
            <a:extLst>
              <a:ext uri="{FF2B5EF4-FFF2-40B4-BE49-F238E27FC236}">
                <a16:creationId xmlns:a16="http://schemas.microsoft.com/office/drawing/2014/main" id="{B658DED9-9263-095C-C798-4F85085E9C2F}"/>
              </a:ext>
            </a:extLst>
          </p:cNvPr>
          <p:cNvPicPr>
            <a:picLocks noChangeAspect="1"/>
          </p:cNvPicPr>
          <p:nvPr/>
        </p:nvPicPr>
        <p:blipFill>
          <a:blip r:embed="rId3"/>
          <a:srcRect/>
          <a:stretch/>
        </p:blipFill>
        <p:spPr>
          <a:xfrm>
            <a:off x="794794" y="1953252"/>
            <a:ext cx="10352721" cy="3737604"/>
          </a:xfrm>
          <a:prstGeom prst="rect">
            <a:avLst/>
          </a:prstGeom>
        </p:spPr>
      </p:pic>
      <p:sp>
        <p:nvSpPr>
          <p:cNvPr id="11" name="Content Placeholder 2">
            <a:extLst>
              <a:ext uri="{FF2B5EF4-FFF2-40B4-BE49-F238E27FC236}">
                <a16:creationId xmlns:a16="http://schemas.microsoft.com/office/drawing/2014/main" id="{FBF5A435-10B4-4E5F-9468-9C5778A4A09E}"/>
              </a:ext>
            </a:extLst>
          </p:cNvPr>
          <p:cNvSpPr txBox="1">
            <a:spLocks/>
          </p:cNvSpPr>
          <p:nvPr/>
        </p:nvSpPr>
        <p:spPr>
          <a:xfrm>
            <a:off x="326043" y="1110956"/>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800"/>
              </a:spcAft>
              <a:buNone/>
            </a:pPr>
            <a:endParaRPr lang="en-US" dirty="0">
              <a:latin typeface="Helvetica"/>
              <a:cs typeface="Helvetica"/>
            </a:endParaRPr>
          </a:p>
          <a:p>
            <a:pPr marL="0" indent="0">
              <a:buNone/>
            </a:pPr>
            <a:endParaRPr lang="en-US" dirty="0"/>
          </a:p>
        </p:txBody>
      </p:sp>
      <p:sp>
        <p:nvSpPr>
          <p:cNvPr id="12" name="Content Placeholder 2">
            <a:extLst>
              <a:ext uri="{FF2B5EF4-FFF2-40B4-BE49-F238E27FC236}">
                <a16:creationId xmlns:a16="http://schemas.microsoft.com/office/drawing/2014/main" id="{5C96A231-FB4F-46F6-8B18-B3DE8BF1187C}"/>
              </a:ext>
            </a:extLst>
          </p:cNvPr>
          <p:cNvSpPr txBox="1">
            <a:spLocks/>
          </p:cNvSpPr>
          <p:nvPr/>
        </p:nvSpPr>
        <p:spPr>
          <a:xfrm>
            <a:off x="478443" y="1263356"/>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15" name="Content Placeholder 2">
            <a:extLst>
              <a:ext uri="{FF2B5EF4-FFF2-40B4-BE49-F238E27FC236}">
                <a16:creationId xmlns:a16="http://schemas.microsoft.com/office/drawing/2014/main" id="{DD9E1CBC-ADBB-41D5-9A2A-956DD91BEF28}"/>
              </a:ext>
            </a:extLst>
          </p:cNvPr>
          <p:cNvSpPr txBox="1">
            <a:spLocks/>
          </p:cNvSpPr>
          <p:nvPr/>
        </p:nvSpPr>
        <p:spPr>
          <a:xfrm>
            <a:off x="321733" y="1002267"/>
            <a:ext cx="11391824" cy="4702822"/>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32323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32323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32323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800"/>
              </a:spcAft>
              <a:buNone/>
            </a:pPr>
            <a:r>
              <a:rPr lang="en-US" dirty="0">
                <a:latin typeface="Helvetica"/>
                <a:cs typeface="Helvetica"/>
              </a:rPr>
              <a:t>Mixing of a GHz signal in the ADC – effectively increasing the bandwidth of the input of the electronics.</a:t>
            </a:r>
            <a:endParaRPr lang="en-US" dirty="0"/>
          </a:p>
        </p:txBody>
      </p:sp>
    </p:spTree>
    <p:extLst>
      <p:ext uri="{BB962C8B-B14F-4D97-AF65-F5344CB8AC3E}">
        <p14:creationId xmlns:p14="http://schemas.microsoft.com/office/powerpoint/2010/main" val="4074567691"/>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D086-B300-C6CE-6AA2-D79CB0669198}"/>
              </a:ext>
            </a:extLst>
          </p:cNvPr>
          <p:cNvSpPr>
            <a:spLocks noGrp="1"/>
          </p:cNvSpPr>
          <p:nvPr>
            <p:ph type="title"/>
          </p:nvPr>
        </p:nvSpPr>
        <p:spPr/>
        <p:txBody>
          <a:bodyPr/>
          <a:lstStyle/>
          <a:p>
            <a:r>
              <a:rPr lang="en-US" dirty="0"/>
              <a:t>Conclusions and Next Steps</a:t>
            </a:r>
            <a:endParaRPr lang="et-EE" dirty="0"/>
          </a:p>
        </p:txBody>
      </p:sp>
      <p:sp>
        <p:nvSpPr>
          <p:cNvPr id="4" name="Date Placeholder 3">
            <a:extLst>
              <a:ext uri="{FF2B5EF4-FFF2-40B4-BE49-F238E27FC236}">
                <a16:creationId xmlns:a16="http://schemas.microsoft.com/office/drawing/2014/main" id="{956532AB-325A-90E5-4BE9-718B609752E0}"/>
              </a:ext>
            </a:extLst>
          </p:cNvPr>
          <p:cNvSpPr>
            <a:spLocks noGrp="1"/>
          </p:cNvSpPr>
          <p:nvPr>
            <p:ph type="dt" sz="half" idx="10"/>
          </p:nvPr>
        </p:nvSpPr>
        <p:spPr/>
        <p:txBody>
          <a:bodyPr/>
          <a:lstStyle/>
          <a:p>
            <a:r>
              <a:rPr lang="LID4096"/>
              <a:t>23.06.2026</a:t>
            </a:r>
            <a:endParaRPr lang="et-EE" dirty="0"/>
          </a:p>
        </p:txBody>
      </p:sp>
      <p:sp>
        <p:nvSpPr>
          <p:cNvPr id="5" name="Footer Placeholder 4">
            <a:extLst>
              <a:ext uri="{FF2B5EF4-FFF2-40B4-BE49-F238E27FC236}">
                <a16:creationId xmlns:a16="http://schemas.microsoft.com/office/drawing/2014/main" id="{D161BBB6-CA89-C5E9-9576-AD8EAC07586D}"/>
              </a:ext>
            </a:extLst>
          </p:cNvPr>
          <p:cNvSpPr>
            <a:spLocks noGrp="1"/>
          </p:cNvSpPr>
          <p:nvPr>
            <p:ph type="ftr" sz="quarter" idx="11"/>
          </p:nvPr>
        </p:nvSpPr>
        <p:spPr/>
        <p:txBody>
          <a:bodyPr/>
          <a:lstStyle/>
          <a:p>
            <a:r>
              <a:rPr lang="en-US" dirty="0"/>
              <a:t>16th International LISA Symposium</a:t>
            </a:r>
            <a:endParaRPr lang="et-EE" dirty="0"/>
          </a:p>
        </p:txBody>
      </p:sp>
      <p:sp>
        <p:nvSpPr>
          <p:cNvPr id="6" name="Slide Number Placeholder 5">
            <a:extLst>
              <a:ext uri="{FF2B5EF4-FFF2-40B4-BE49-F238E27FC236}">
                <a16:creationId xmlns:a16="http://schemas.microsoft.com/office/drawing/2014/main" id="{3B833FAC-8990-085F-615C-1EA8DE63C6BA}"/>
              </a:ext>
            </a:extLst>
          </p:cNvPr>
          <p:cNvSpPr>
            <a:spLocks noGrp="1"/>
          </p:cNvSpPr>
          <p:nvPr>
            <p:ph type="sldNum" sz="quarter" idx="12"/>
          </p:nvPr>
        </p:nvSpPr>
        <p:spPr/>
        <p:txBody>
          <a:bodyPr/>
          <a:lstStyle/>
          <a:p>
            <a:fld id="{9F39E346-B1F3-4075-BD67-234EF0F10AC6}" type="slidenum">
              <a:rPr lang="et-EE" smtClean="0"/>
              <a:pPr/>
              <a:t>19</a:t>
            </a:fld>
            <a:endParaRPr lang="et-EE" dirty="0"/>
          </a:p>
        </p:txBody>
      </p:sp>
      <p:pic>
        <p:nvPicPr>
          <p:cNvPr id="8" name="Picture 7">
            <a:extLst>
              <a:ext uri="{FF2B5EF4-FFF2-40B4-BE49-F238E27FC236}">
                <a16:creationId xmlns:a16="http://schemas.microsoft.com/office/drawing/2014/main" id="{C21CB066-6031-0BD7-0BF7-10395700BC99}"/>
              </a:ext>
            </a:extLst>
          </p:cNvPr>
          <p:cNvPicPr>
            <a:picLocks noChangeAspect="1"/>
          </p:cNvPicPr>
          <p:nvPr/>
        </p:nvPicPr>
        <p:blipFill>
          <a:blip r:embed="rId3"/>
          <a:srcRect/>
          <a:stretch/>
        </p:blipFill>
        <p:spPr>
          <a:xfrm>
            <a:off x="6540940" y="1837781"/>
            <a:ext cx="5762820" cy="4793055"/>
          </a:xfrm>
          <a:prstGeom prst="rect">
            <a:avLst/>
          </a:prstGeom>
        </p:spPr>
      </p:pic>
      <p:sp>
        <p:nvSpPr>
          <p:cNvPr id="3" name="Content Placeholder 2">
            <a:extLst>
              <a:ext uri="{FF2B5EF4-FFF2-40B4-BE49-F238E27FC236}">
                <a16:creationId xmlns:a16="http://schemas.microsoft.com/office/drawing/2014/main" id="{27B071C9-EDE0-96B1-134E-664698E9C6B9}"/>
              </a:ext>
            </a:extLst>
          </p:cNvPr>
          <p:cNvSpPr>
            <a:spLocks noGrp="1"/>
          </p:cNvSpPr>
          <p:nvPr>
            <p:ph idx="1"/>
          </p:nvPr>
        </p:nvSpPr>
        <p:spPr>
          <a:xfrm>
            <a:off x="322765" y="1252452"/>
            <a:ext cx="11432355" cy="4396648"/>
          </a:xfrm>
        </p:spPr>
        <p:txBody>
          <a:bodyPr vert="horz" lIns="91440" tIns="45720" rIns="91440" bIns="45720" rtlCol="0" anchor="t">
            <a:normAutofit fontScale="92500" lnSpcReduction="10000"/>
          </a:bodyPr>
          <a:lstStyle/>
          <a:p>
            <a:pPr marL="0" indent="0">
              <a:buNone/>
            </a:pPr>
            <a:r>
              <a:rPr lang="en-US" dirty="0">
                <a:latin typeface="Helvetica"/>
                <a:cs typeface="Arial"/>
              </a:rPr>
              <a:t>✓ Delay line — working, below requirement</a:t>
            </a:r>
          </a:p>
          <a:p>
            <a:pPr marL="0" indent="0">
              <a:buNone/>
            </a:pPr>
            <a:r>
              <a:rPr lang="en-US" dirty="0">
                <a:latin typeface="Helvetica"/>
                <a:cs typeface="Arial"/>
              </a:rPr>
              <a:t>✓ PLL lock demonstrated with free running lasers</a:t>
            </a:r>
          </a:p>
          <a:p>
            <a:pPr marL="0" indent="0">
              <a:buNone/>
            </a:pPr>
            <a:r>
              <a:rPr lang="en-US" dirty="0">
                <a:latin typeface="Helvetica"/>
                <a:cs typeface="Arial"/>
              </a:rPr>
              <a:t>○ Assembling the optical layout and cavities</a:t>
            </a:r>
          </a:p>
          <a:p>
            <a:pPr marL="0" indent="0">
              <a:buNone/>
            </a:pPr>
            <a:r>
              <a:rPr lang="en-US" dirty="0">
                <a:latin typeface="Helvetica"/>
                <a:cs typeface="Arial"/>
              </a:rPr>
              <a:t>○ GHz sideband chain — under investigation</a:t>
            </a:r>
          </a:p>
          <a:p>
            <a:pPr marL="0" indent="0">
              <a:buNone/>
            </a:pPr>
            <a:r>
              <a:rPr lang="en-US" dirty="0">
                <a:latin typeface="Helvetica"/>
                <a:cs typeface="Arial"/>
              </a:rPr>
              <a:t>○ Delay board clock noise removal</a:t>
            </a:r>
          </a:p>
          <a:p>
            <a:pPr marL="0" indent="0">
              <a:buNone/>
            </a:pPr>
            <a:r>
              <a:rPr lang="en-US" dirty="0">
                <a:latin typeface="Helvetica"/>
                <a:cs typeface="Arial"/>
              </a:rPr>
              <a:t>○ Ranging — in development</a:t>
            </a:r>
          </a:p>
          <a:p>
            <a:pPr marL="0" indent="0">
              <a:buNone/>
            </a:pPr>
            <a:r>
              <a:rPr lang="en-US" dirty="0">
                <a:latin typeface="Helvetica"/>
                <a:cs typeface="Arial"/>
              </a:rPr>
              <a:t>○ Full TDI and clock noise removal</a:t>
            </a:r>
          </a:p>
          <a:p>
            <a:pPr marL="0" indent="0">
              <a:buNone/>
            </a:pPr>
            <a:endParaRPr lang="en-US" dirty="0">
              <a:latin typeface="Helvetica"/>
              <a:cs typeface="Arial"/>
            </a:endParaRPr>
          </a:p>
          <a:p>
            <a:pPr marL="0" indent="0">
              <a:buNone/>
            </a:pPr>
            <a:endParaRPr lang="en-US" dirty="0">
              <a:latin typeface="Helvetica"/>
              <a:cs typeface="Arial"/>
            </a:endParaRPr>
          </a:p>
          <a:p>
            <a:pPr marL="0" indent="0">
              <a:buNone/>
            </a:pPr>
            <a:r>
              <a:rPr lang="en-US" dirty="0">
                <a:latin typeface="Helvetica"/>
                <a:cs typeface="Arial"/>
              </a:rPr>
              <a:t>Thank you!</a:t>
            </a:r>
            <a:endParaRPr lang="et-EE" dirty="0"/>
          </a:p>
        </p:txBody>
      </p:sp>
    </p:spTree>
    <p:extLst>
      <p:ext uri="{BB962C8B-B14F-4D97-AF65-F5344CB8AC3E}">
        <p14:creationId xmlns:p14="http://schemas.microsoft.com/office/powerpoint/2010/main" val="913923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8B29D3-61A0-11BF-0E79-F5A9A88669E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2A8D76C-7AD9-4CF6-AAF8-FC86A7BE3837}"/>
              </a:ext>
            </a:extLst>
          </p:cNvPr>
          <p:cNvPicPr>
            <a:picLocks noChangeAspect="1"/>
          </p:cNvPicPr>
          <p:nvPr/>
        </p:nvPicPr>
        <p:blipFill>
          <a:blip r:embed="rId3"/>
          <a:stretch>
            <a:fillRect/>
          </a:stretch>
        </p:blipFill>
        <p:spPr>
          <a:xfrm>
            <a:off x="5602547" y="1993227"/>
            <a:ext cx="6265394" cy="4721277"/>
          </a:xfrm>
          <a:prstGeom prst="rect">
            <a:avLst/>
          </a:prstGeom>
        </p:spPr>
      </p:pic>
      <p:sp>
        <p:nvSpPr>
          <p:cNvPr id="2" name="Title 1">
            <a:extLst>
              <a:ext uri="{FF2B5EF4-FFF2-40B4-BE49-F238E27FC236}">
                <a16:creationId xmlns:a16="http://schemas.microsoft.com/office/drawing/2014/main" id="{311B45B0-E716-5B13-C8A6-61CB8E5EF1F3}"/>
              </a:ext>
            </a:extLst>
          </p:cNvPr>
          <p:cNvSpPr>
            <a:spLocks noGrp="1"/>
          </p:cNvSpPr>
          <p:nvPr>
            <p:ph type="title"/>
          </p:nvPr>
        </p:nvSpPr>
        <p:spPr/>
        <p:txBody>
          <a:bodyPr/>
          <a:lstStyle/>
          <a:p>
            <a:r>
              <a:rPr lang="en-US">
                <a:latin typeface="Helvetica"/>
                <a:cs typeface="Arial"/>
              </a:rPr>
              <a:t>Modulation Noise Characterization</a:t>
            </a:r>
            <a:endParaRPr lang="et-EE" dirty="0"/>
          </a:p>
        </p:txBody>
      </p:sp>
      <p:sp>
        <p:nvSpPr>
          <p:cNvPr id="4" name="Slide Number Placeholder 3">
            <a:extLst>
              <a:ext uri="{FF2B5EF4-FFF2-40B4-BE49-F238E27FC236}">
                <a16:creationId xmlns:a16="http://schemas.microsoft.com/office/drawing/2014/main" id="{D6009217-8DE7-2E62-D338-9927CAB79362}"/>
              </a:ext>
            </a:extLst>
          </p:cNvPr>
          <p:cNvSpPr>
            <a:spLocks noGrp="1"/>
          </p:cNvSpPr>
          <p:nvPr>
            <p:ph type="sldNum" sz="quarter" idx="12"/>
          </p:nvPr>
        </p:nvSpPr>
        <p:spPr/>
        <p:txBody>
          <a:bodyPr/>
          <a:lstStyle/>
          <a:p>
            <a:fld id="{9F39E346-B1F3-4075-BD67-234EF0F10AC6}" type="slidenum">
              <a:rPr lang="et-EE" smtClean="0"/>
              <a:pPr/>
              <a:t>20</a:t>
            </a:fld>
            <a:endParaRPr lang="et-EE" dirty="0"/>
          </a:p>
        </p:txBody>
      </p:sp>
      <p:sp>
        <p:nvSpPr>
          <p:cNvPr id="12" name="Date Placeholder 11">
            <a:extLst>
              <a:ext uri="{FF2B5EF4-FFF2-40B4-BE49-F238E27FC236}">
                <a16:creationId xmlns:a16="http://schemas.microsoft.com/office/drawing/2014/main" id="{7826941B-A5AA-80E4-DA25-D7824FECADF8}"/>
              </a:ext>
            </a:extLst>
          </p:cNvPr>
          <p:cNvSpPr>
            <a:spLocks noGrp="1"/>
          </p:cNvSpPr>
          <p:nvPr>
            <p:ph type="dt" sz="half" idx="10"/>
          </p:nvPr>
        </p:nvSpPr>
        <p:spPr/>
        <p:txBody>
          <a:bodyPr/>
          <a:lstStyle/>
          <a:p>
            <a:r>
              <a:rPr lang="LID4096"/>
              <a:t>23.06.2026</a:t>
            </a:r>
            <a:endParaRPr lang="et-EE" dirty="0"/>
          </a:p>
        </p:txBody>
      </p:sp>
      <p:sp>
        <p:nvSpPr>
          <p:cNvPr id="13" name="Footer Placeholder 12">
            <a:extLst>
              <a:ext uri="{FF2B5EF4-FFF2-40B4-BE49-F238E27FC236}">
                <a16:creationId xmlns:a16="http://schemas.microsoft.com/office/drawing/2014/main" id="{B91872D0-6525-8475-B34F-E953A18BAEE8}"/>
              </a:ext>
            </a:extLst>
          </p:cNvPr>
          <p:cNvSpPr>
            <a:spLocks noGrp="1"/>
          </p:cNvSpPr>
          <p:nvPr>
            <p:ph type="ftr" sz="quarter" idx="11"/>
          </p:nvPr>
        </p:nvSpPr>
        <p:spPr/>
        <p:txBody>
          <a:bodyPr/>
          <a:lstStyle/>
          <a:p>
            <a:r>
              <a:rPr lang="en-US" dirty="0"/>
              <a:t>16th International LISA Symposium</a:t>
            </a:r>
            <a:endParaRPr lang="et-EE" dirty="0"/>
          </a:p>
        </p:txBody>
      </p:sp>
      <p:pic>
        <p:nvPicPr>
          <p:cNvPr id="3" name="Picture 2">
            <a:extLst>
              <a:ext uri="{FF2B5EF4-FFF2-40B4-BE49-F238E27FC236}">
                <a16:creationId xmlns:a16="http://schemas.microsoft.com/office/drawing/2014/main" id="{C2885FD6-0492-85D3-963B-554E76E4CB5D}"/>
              </a:ext>
            </a:extLst>
          </p:cNvPr>
          <p:cNvPicPr>
            <a:picLocks noChangeAspect="1"/>
          </p:cNvPicPr>
          <p:nvPr/>
        </p:nvPicPr>
        <p:blipFill>
          <a:blip r:embed="rId4"/>
          <a:stretch>
            <a:fillRect/>
          </a:stretch>
        </p:blipFill>
        <p:spPr>
          <a:xfrm>
            <a:off x="-179398" y="1673103"/>
            <a:ext cx="6889505" cy="2546797"/>
          </a:xfrm>
          <a:prstGeom prst="rect">
            <a:avLst/>
          </a:prstGeom>
        </p:spPr>
      </p:pic>
      <p:sp>
        <p:nvSpPr>
          <p:cNvPr id="6" name="Content Placeholder 2">
            <a:extLst>
              <a:ext uri="{FF2B5EF4-FFF2-40B4-BE49-F238E27FC236}">
                <a16:creationId xmlns:a16="http://schemas.microsoft.com/office/drawing/2014/main" id="{8767BAE2-7B60-4C07-1F4C-87C6320DBAB4}"/>
              </a:ext>
            </a:extLst>
          </p:cNvPr>
          <p:cNvSpPr>
            <a:spLocks noGrp="1"/>
          </p:cNvSpPr>
          <p:nvPr>
            <p:ph idx="1"/>
          </p:nvPr>
        </p:nvSpPr>
        <p:spPr>
          <a:xfrm>
            <a:off x="326043" y="1110956"/>
            <a:ext cx="11391824" cy="4702822"/>
          </a:xfrm>
        </p:spPr>
        <p:txBody>
          <a:bodyPr vert="horz" lIns="91440" tIns="45720" rIns="91440" bIns="45720" rtlCol="0" anchor="t">
            <a:normAutofit/>
          </a:bodyPr>
          <a:lstStyle/>
          <a:p>
            <a:pPr marL="0" indent="0">
              <a:buNone/>
            </a:pPr>
            <a:endParaRPr lang="en-US" dirty="0">
              <a:latin typeface="Helvetica"/>
              <a:cs typeface="Arial"/>
            </a:endParaRPr>
          </a:p>
          <a:p>
            <a:endParaRPr lang="et-EE" dirty="0"/>
          </a:p>
        </p:txBody>
      </p:sp>
    </p:spTree>
    <p:extLst>
      <p:ext uri="{BB962C8B-B14F-4D97-AF65-F5344CB8AC3E}">
        <p14:creationId xmlns:p14="http://schemas.microsoft.com/office/powerpoint/2010/main" val="3344876952"/>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a:latin typeface="Helvetica"/>
                <a:cs typeface="Arial"/>
              </a:rPr>
              <a:t>What to do with the clock noise?</a:t>
            </a:r>
            <a:endParaRPr lang="en-US" noProof="0" dirty="0"/>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21</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sp>
        <p:nvSpPr>
          <p:cNvPr id="12" name="Content Placeholder 2">
            <a:extLst>
              <a:ext uri="{FF2B5EF4-FFF2-40B4-BE49-F238E27FC236}">
                <a16:creationId xmlns:a16="http://schemas.microsoft.com/office/drawing/2014/main" id="{DE3F93BE-1157-43BA-825F-D9ADC37F2A22}"/>
              </a:ext>
            </a:extLst>
          </p:cNvPr>
          <p:cNvSpPr>
            <a:spLocks noGrp="1"/>
          </p:cNvSpPr>
          <p:nvPr>
            <p:ph idx="1"/>
          </p:nvPr>
        </p:nvSpPr>
        <p:spPr>
          <a:xfrm>
            <a:off x="224443" y="1161756"/>
            <a:ext cx="4703157" cy="4652022"/>
          </a:xfrm>
        </p:spPr>
        <p:txBody>
          <a:bodyPr/>
          <a:lstStyle/>
          <a:p>
            <a:endParaRPr lang="en-US" dirty="0"/>
          </a:p>
          <a:p>
            <a:endParaRPr lang="et-EE" dirty="0"/>
          </a:p>
        </p:txBody>
      </p:sp>
      <p:pic>
        <p:nvPicPr>
          <p:cNvPr id="3" name="Picture 2">
            <a:extLst>
              <a:ext uri="{FF2B5EF4-FFF2-40B4-BE49-F238E27FC236}">
                <a16:creationId xmlns:a16="http://schemas.microsoft.com/office/drawing/2014/main" id="{1D97E33F-819A-7080-723E-3BA7208FD2D5}"/>
              </a:ext>
            </a:extLst>
          </p:cNvPr>
          <p:cNvPicPr>
            <a:picLocks noChangeAspect="1"/>
          </p:cNvPicPr>
          <p:nvPr/>
        </p:nvPicPr>
        <p:blipFill>
          <a:blip r:embed="rId3"/>
          <a:srcRect l="49496" t="12787" b="121"/>
          <a:stretch>
            <a:fillRect/>
          </a:stretch>
        </p:blipFill>
        <p:spPr>
          <a:xfrm>
            <a:off x="5475640" y="1798872"/>
            <a:ext cx="6157460" cy="4437786"/>
          </a:xfrm>
          <a:prstGeom prst="rect">
            <a:avLst/>
          </a:prstGeom>
        </p:spPr>
      </p:pic>
      <p:sp>
        <p:nvSpPr>
          <p:cNvPr id="10" name="TextBox 9">
            <a:extLst>
              <a:ext uri="{FF2B5EF4-FFF2-40B4-BE49-F238E27FC236}">
                <a16:creationId xmlns:a16="http://schemas.microsoft.com/office/drawing/2014/main" id="{8BBB8E01-32C5-421F-9CC9-8D61E8DD1CF9}"/>
              </a:ext>
            </a:extLst>
          </p:cNvPr>
          <p:cNvSpPr txBox="1"/>
          <p:nvPr/>
        </p:nvSpPr>
        <p:spPr>
          <a:xfrm>
            <a:off x="346696" y="1837702"/>
            <a:ext cx="5633288" cy="1021883"/>
          </a:xfrm>
          <a:prstGeom prst="rect">
            <a:avLst/>
          </a:prstGeom>
          <a:noFill/>
        </p:spPr>
        <p:txBody>
          <a:bodyPr wrap="square" lIns="91440" tIns="45720" rIns="91440" bIns="45720" rtlCol="0" anchor="t">
            <a:spAutoFit/>
          </a:bodyPr>
          <a:lstStyle/>
          <a:p>
            <a:pPr>
              <a:lnSpc>
                <a:spcPct val="150000"/>
              </a:lnSpc>
            </a:pPr>
            <a:r>
              <a:rPr lang="en-US" sz="1400" dirty="0">
                <a:solidFill>
                  <a:srgbClr val="323232"/>
                </a:solidFill>
                <a:latin typeface="Arial"/>
                <a:cs typeface="Arial"/>
              </a:rPr>
              <a:t>We are working on another layer of post processing remove this noise</a:t>
            </a:r>
          </a:p>
          <a:p>
            <a:pPr>
              <a:lnSpc>
                <a:spcPct val="150000"/>
              </a:lnSpc>
            </a:pPr>
            <a:r>
              <a:rPr lang="en-US" sz="1400" dirty="0">
                <a:solidFill>
                  <a:srgbClr val="323232"/>
                </a:solidFill>
                <a:latin typeface="Arial"/>
                <a:cs typeface="Arial"/>
              </a:rPr>
              <a:t>Can be done after TDI and LISA-like clock noise removal</a:t>
            </a:r>
            <a:endParaRPr lang="en-US" sz="1400" dirty="0">
              <a:solidFill>
                <a:srgbClr val="323232"/>
              </a:solidFill>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109A804B-2067-5686-7250-48BD80C57AEF}"/>
              </a:ext>
            </a:extLst>
          </p:cNvPr>
          <p:cNvSpPr txBox="1">
            <a:spLocks/>
          </p:cNvSpPr>
          <p:nvPr/>
        </p:nvSpPr>
        <p:spPr>
          <a:xfrm>
            <a:off x="331592" y="988653"/>
            <a:ext cx="11301513" cy="506358"/>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66798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66798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66798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66798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66798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646464"/>
                </a:solidFill>
                <a:latin typeface="Helvetica"/>
                <a:cs typeface="Arial"/>
              </a:rPr>
              <a:t>Tests of Delay Line Board Clock Phase Noise</a:t>
            </a:r>
            <a:endParaRPr lang="en-US" sz="2000" dirty="0">
              <a:solidFill>
                <a:srgbClr val="646464"/>
              </a:solidFill>
            </a:endParaRPr>
          </a:p>
        </p:txBody>
      </p:sp>
      <p:sp>
        <p:nvSpPr>
          <p:cNvPr id="11" name="TextBox 10">
            <a:extLst>
              <a:ext uri="{FF2B5EF4-FFF2-40B4-BE49-F238E27FC236}">
                <a16:creationId xmlns:a16="http://schemas.microsoft.com/office/drawing/2014/main" id="{21BA968D-CE33-4647-937E-7DBFC682141A}"/>
              </a:ext>
            </a:extLst>
          </p:cNvPr>
          <p:cNvSpPr txBox="1"/>
          <p:nvPr/>
        </p:nvSpPr>
        <p:spPr>
          <a:xfrm>
            <a:off x="1552696" y="3487767"/>
            <a:ext cx="3221287" cy="307777"/>
          </a:xfrm>
          <a:prstGeom prst="rect">
            <a:avLst/>
          </a:prstGeom>
          <a:noFill/>
        </p:spPr>
        <p:txBody>
          <a:bodyPr wrap="square" rtlCol="0">
            <a:spAutoFit/>
          </a:bodyPr>
          <a:lstStyle/>
          <a:p>
            <a:pPr algn="l"/>
            <a:r>
              <a:rPr lang="en-US" sz="1400" dirty="0">
                <a:solidFill>
                  <a:srgbClr val="667982"/>
                </a:solidFill>
                <a:highlight>
                  <a:srgbClr val="FF0000"/>
                </a:highlight>
                <a:latin typeface="Arial" panose="020B0604020202020204" pitchFamily="34" charset="0"/>
                <a:cs typeface="Arial" panose="020B0604020202020204" pitchFamily="34" charset="0"/>
              </a:rPr>
              <a:t>Only if the residuals are added  </a:t>
            </a:r>
            <a:endParaRPr lang="LID4096" sz="1400" dirty="0">
              <a:solidFill>
                <a:srgbClr val="667982"/>
              </a:solidFill>
              <a:highlight>
                <a:srgbClr val="FF0000"/>
              </a:highlight>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150341F-1B44-4284-992E-1C343FA9FD51}"/>
              </a:ext>
            </a:extLst>
          </p:cNvPr>
          <p:cNvSpPr txBox="1"/>
          <p:nvPr/>
        </p:nvSpPr>
        <p:spPr>
          <a:xfrm>
            <a:off x="1706313" y="4240344"/>
            <a:ext cx="3221287" cy="523220"/>
          </a:xfrm>
          <a:prstGeom prst="rect">
            <a:avLst/>
          </a:prstGeom>
          <a:noFill/>
        </p:spPr>
        <p:txBody>
          <a:bodyPr wrap="square" rtlCol="0">
            <a:spAutoFit/>
          </a:bodyPr>
          <a:lstStyle/>
          <a:p>
            <a:pPr algn="l"/>
            <a:r>
              <a:rPr lang="en-US" sz="1400" dirty="0">
                <a:solidFill>
                  <a:srgbClr val="667982"/>
                </a:solidFill>
                <a:highlight>
                  <a:srgbClr val="FF0000"/>
                </a:highlight>
                <a:latin typeface="Arial" panose="020B0604020202020204" pitchFamily="34" charset="0"/>
                <a:cs typeface="Arial" panose="020B0604020202020204" pitchFamily="34" charset="0"/>
              </a:rPr>
              <a:t>And </a:t>
            </a:r>
            <a:r>
              <a:rPr lang="en-US" sz="1400" dirty="0" err="1">
                <a:solidFill>
                  <a:srgbClr val="667982"/>
                </a:solidFill>
                <a:highlight>
                  <a:srgbClr val="FF0000"/>
                </a:highlight>
                <a:latin typeface="Arial" panose="020B0604020202020204" pitchFamily="34" charset="0"/>
                <a:cs typeface="Arial" panose="020B0604020202020204" pitchFamily="34" charset="0"/>
              </a:rPr>
              <a:t>rhen</a:t>
            </a:r>
            <a:r>
              <a:rPr lang="en-US" sz="1400" dirty="0">
                <a:solidFill>
                  <a:srgbClr val="667982"/>
                </a:solidFill>
                <a:highlight>
                  <a:srgbClr val="FF0000"/>
                </a:highlight>
                <a:latin typeface="Arial" panose="020B0604020202020204" pitchFamily="34" charset="0"/>
                <a:cs typeface="Arial" panose="020B0604020202020204" pitchFamily="34" charset="0"/>
              </a:rPr>
              <a:t> other noises should also be added</a:t>
            </a:r>
            <a:endParaRPr lang="LID4096" sz="1400" dirty="0">
              <a:solidFill>
                <a:srgbClr val="667982"/>
              </a:solidFill>
              <a:highlight>
                <a:srgbClr val="FF00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0452895"/>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5826CC-5C4C-6BC9-4A21-0606D90A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91450-D693-CD5E-6007-4E033147C0BF}"/>
              </a:ext>
            </a:extLst>
          </p:cNvPr>
          <p:cNvSpPr>
            <a:spLocks noGrp="1"/>
          </p:cNvSpPr>
          <p:nvPr>
            <p:ph type="title"/>
          </p:nvPr>
        </p:nvSpPr>
        <p:spPr/>
        <p:txBody>
          <a:bodyPr/>
          <a:lstStyle/>
          <a:p>
            <a:r>
              <a:rPr lang="en-US">
                <a:latin typeface="Helvetica"/>
                <a:cs typeface="Helvetica"/>
              </a:rPr>
              <a:t>Experiments so Far</a:t>
            </a:r>
            <a:endParaRPr lang="et-EE" b="0">
              <a:latin typeface="Helvetica"/>
              <a:cs typeface="Helvetica"/>
            </a:endParaRPr>
          </a:p>
        </p:txBody>
      </p:sp>
      <p:sp>
        <p:nvSpPr>
          <p:cNvPr id="4" name="Slide Number Placeholder 3">
            <a:extLst>
              <a:ext uri="{FF2B5EF4-FFF2-40B4-BE49-F238E27FC236}">
                <a16:creationId xmlns:a16="http://schemas.microsoft.com/office/drawing/2014/main" id="{9AE38460-C627-4D22-AEC7-03F0D8080A8D}"/>
              </a:ext>
            </a:extLst>
          </p:cNvPr>
          <p:cNvSpPr>
            <a:spLocks noGrp="1"/>
          </p:cNvSpPr>
          <p:nvPr>
            <p:ph type="sldNum" sz="quarter" idx="12"/>
          </p:nvPr>
        </p:nvSpPr>
        <p:spPr/>
        <p:txBody>
          <a:bodyPr/>
          <a:lstStyle/>
          <a:p>
            <a:fld id="{9F39E346-B1F3-4075-BD67-234EF0F10AC6}" type="slidenum">
              <a:rPr lang="en-US" noProof="0" smtClean="0"/>
              <a:pPr/>
              <a:t>22</a:t>
            </a:fld>
            <a:endParaRPr lang="en-US" noProof="0" dirty="0"/>
          </a:p>
        </p:txBody>
      </p:sp>
      <p:sp>
        <p:nvSpPr>
          <p:cNvPr id="6" name="Date Placeholder 5">
            <a:extLst>
              <a:ext uri="{FF2B5EF4-FFF2-40B4-BE49-F238E27FC236}">
                <a16:creationId xmlns:a16="http://schemas.microsoft.com/office/drawing/2014/main" id="{95858DAF-61BF-BFA0-1DA9-12720B979865}"/>
              </a:ext>
            </a:extLst>
          </p:cNvPr>
          <p:cNvSpPr>
            <a:spLocks noGrp="1"/>
          </p:cNvSpPr>
          <p:nvPr>
            <p:ph type="dt" sz="half" idx="10"/>
          </p:nvPr>
        </p:nvSpPr>
        <p:spPr/>
        <p:txBody>
          <a:bodyPr/>
          <a:lstStyle/>
          <a:p>
            <a:r>
              <a:rPr lang="LID4096"/>
              <a:t>23.06.2026</a:t>
            </a:r>
            <a:endParaRPr lang="et-EE" dirty="0"/>
          </a:p>
        </p:txBody>
      </p:sp>
      <p:sp>
        <p:nvSpPr>
          <p:cNvPr id="7" name="Footer Placeholder 6">
            <a:extLst>
              <a:ext uri="{FF2B5EF4-FFF2-40B4-BE49-F238E27FC236}">
                <a16:creationId xmlns:a16="http://schemas.microsoft.com/office/drawing/2014/main" id="{BA23E14E-4446-C8D3-113A-0782DAAE6897}"/>
              </a:ext>
            </a:extLst>
          </p:cNvPr>
          <p:cNvSpPr>
            <a:spLocks noGrp="1"/>
          </p:cNvSpPr>
          <p:nvPr>
            <p:ph type="ftr" sz="quarter" idx="11"/>
          </p:nvPr>
        </p:nvSpPr>
        <p:spPr/>
        <p:txBody>
          <a:bodyPr/>
          <a:lstStyle/>
          <a:p>
            <a:r>
              <a:rPr lang="en-US" dirty="0"/>
              <a:t>16th International LISA Symposium</a:t>
            </a:r>
            <a:endParaRPr lang="et-EE" dirty="0"/>
          </a:p>
        </p:txBody>
      </p:sp>
      <p:sp>
        <p:nvSpPr>
          <p:cNvPr id="12" name="Content Placeholder 2">
            <a:extLst>
              <a:ext uri="{FF2B5EF4-FFF2-40B4-BE49-F238E27FC236}">
                <a16:creationId xmlns:a16="http://schemas.microsoft.com/office/drawing/2014/main" id="{DE3F93BE-1157-43BA-825F-D9ADC37F2A22}"/>
              </a:ext>
            </a:extLst>
          </p:cNvPr>
          <p:cNvSpPr>
            <a:spLocks noGrp="1"/>
          </p:cNvSpPr>
          <p:nvPr>
            <p:ph idx="1"/>
          </p:nvPr>
        </p:nvSpPr>
        <p:spPr>
          <a:xfrm>
            <a:off x="224443" y="1161756"/>
            <a:ext cx="4703157" cy="4652022"/>
          </a:xfrm>
        </p:spPr>
        <p:txBody>
          <a:bodyPr/>
          <a:lstStyle/>
          <a:p>
            <a:endParaRPr lang="en-US" dirty="0"/>
          </a:p>
          <a:p>
            <a:endParaRPr lang="et-EE" dirty="0"/>
          </a:p>
        </p:txBody>
      </p:sp>
      <p:pic>
        <p:nvPicPr>
          <p:cNvPr id="8" name="Picture 7">
            <a:extLst>
              <a:ext uri="{FF2B5EF4-FFF2-40B4-BE49-F238E27FC236}">
                <a16:creationId xmlns:a16="http://schemas.microsoft.com/office/drawing/2014/main" id="{80C7F36F-0BE6-44B0-8935-8FDE8D19AA0F}"/>
              </a:ext>
            </a:extLst>
          </p:cNvPr>
          <p:cNvPicPr>
            <a:picLocks noChangeAspect="1"/>
          </p:cNvPicPr>
          <p:nvPr/>
        </p:nvPicPr>
        <p:blipFill>
          <a:blip r:embed="rId3"/>
          <a:stretch>
            <a:fillRect/>
          </a:stretch>
        </p:blipFill>
        <p:spPr>
          <a:xfrm>
            <a:off x="5298287" y="1715125"/>
            <a:ext cx="6320242" cy="4351202"/>
          </a:xfrm>
          <a:prstGeom prst="rect">
            <a:avLst/>
          </a:prstGeom>
        </p:spPr>
      </p:pic>
      <p:sp>
        <p:nvSpPr>
          <p:cNvPr id="13" name="TextBox 12">
            <a:extLst>
              <a:ext uri="{FF2B5EF4-FFF2-40B4-BE49-F238E27FC236}">
                <a16:creationId xmlns:a16="http://schemas.microsoft.com/office/drawing/2014/main" id="{1785AE95-5F85-497E-9EA5-E874146C9CE8}"/>
              </a:ext>
            </a:extLst>
          </p:cNvPr>
          <p:cNvSpPr txBox="1"/>
          <p:nvPr/>
        </p:nvSpPr>
        <p:spPr>
          <a:xfrm>
            <a:off x="341076" y="1874558"/>
            <a:ext cx="4816791" cy="1021883"/>
          </a:xfrm>
          <a:prstGeom prst="rect">
            <a:avLst/>
          </a:prstGeom>
          <a:noFill/>
        </p:spPr>
        <p:txBody>
          <a:bodyPr wrap="square" lIns="91440" tIns="45720" rIns="91440" bIns="45720" rtlCol="0" anchor="t">
            <a:spAutoFit/>
          </a:bodyPr>
          <a:lstStyle/>
          <a:p>
            <a:pPr>
              <a:lnSpc>
                <a:spcPct val="150000"/>
              </a:lnSpc>
            </a:pPr>
            <a:r>
              <a:rPr lang="en-US" sz="1400" dirty="0">
                <a:solidFill>
                  <a:srgbClr val="667982"/>
                </a:solidFill>
                <a:latin typeface="Arial"/>
                <a:cs typeface="Arial"/>
              </a:rPr>
              <a:t>A new baseline measurement with an optical signal and free running delay line board clock reveals a potential </a:t>
            </a:r>
            <a:r>
              <a:rPr lang="en-US" sz="1400">
                <a:solidFill>
                  <a:srgbClr val="667982"/>
                </a:solidFill>
                <a:latin typeface="Arial"/>
                <a:cs typeface="Arial"/>
              </a:rPr>
              <a:t>problem.</a:t>
            </a:r>
            <a:endParaRPr lang="LID4096" sz="1400">
              <a:solidFill>
                <a:srgbClr val="667982"/>
              </a:solidFill>
              <a:latin typeface="Arial"/>
              <a:cs typeface="Arial"/>
            </a:endParaRPr>
          </a:p>
        </p:txBody>
      </p:sp>
      <p:sp>
        <p:nvSpPr>
          <p:cNvPr id="5" name="Content Placeholder 2">
            <a:extLst>
              <a:ext uri="{FF2B5EF4-FFF2-40B4-BE49-F238E27FC236}">
                <a16:creationId xmlns:a16="http://schemas.microsoft.com/office/drawing/2014/main" id="{2E04BD2C-BD48-E6EE-2A47-EE6F96E04CF8}"/>
              </a:ext>
            </a:extLst>
          </p:cNvPr>
          <p:cNvSpPr txBox="1">
            <a:spLocks/>
          </p:cNvSpPr>
          <p:nvPr/>
        </p:nvSpPr>
        <p:spPr>
          <a:xfrm>
            <a:off x="331592" y="988653"/>
            <a:ext cx="11301513" cy="506358"/>
          </a:xfrm>
          <a:prstGeom prst="rect">
            <a:avLst/>
          </a:prstGeom>
        </p:spPr>
        <p:txBody>
          <a:bodyPr vert="horz" lIns="91440" tIns="45720" rIns="91440" bIns="45720" rtlCol="0" anchor="t">
            <a:normAutofit/>
          </a:bodyPr>
          <a:lstStyle>
            <a:lvl1pPr marL="91440" indent="-228600" algn="l" defTabSz="914400" rtl="0" eaLnBrk="1" latinLnBrk="0" hangingPunct="1">
              <a:lnSpc>
                <a:spcPct val="100000"/>
              </a:lnSpc>
              <a:spcBef>
                <a:spcPts val="1000"/>
              </a:spcBef>
              <a:buFont typeface="Arial" panose="020B0604020202020204" pitchFamily="34" charset="0"/>
              <a:buChar char="•"/>
              <a:defRPr sz="2400" b="0" kern="1200">
                <a:solidFill>
                  <a:srgbClr val="667982"/>
                </a:solidFill>
                <a:latin typeface="Helvetica" pitchFamily="2"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b="0" kern="1200">
                <a:solidFill>
                  <a:srgbClr val="667982"/>
                </a:solidFill>
                <a:latin typeface="Helvetica" pitchFamily="2"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b="0" kern="1200">
                <a:solidFill>
                  <a:srgbClr val="667982"/>
                </a:solidFill>
                <a:latin typeface="Helvetica" pitchFamily="2"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b="0" kern="1200">
                <a:solidFill>
                  <a:srgbClr val="667982"/>
                </a:solidFill>
                <a:latin typeface="Helvetica" pitchFamily="2"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kern="1200">
                <a:solidFill>
                  <a:srgbClr val="667982"/>
                </a:solidFill>
                <a:latin typeface="Helvetica"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latin typeface="Helvetica"/>
                <a:cs typeface="Arial"/>
              </a:rPr>
              <a:t>Tests of Delay Line Board Clock Phase Noise</a:t>
            </a:r>
            <a:endParaRPr lang="en-US" sz="2000"/>
          </a:p>
        </p:txBody>
      </p:sp>
      <p:pic>
        <p:nvPicPr>
          <p:cNvPr id="14" name="Graphic 13">
            <a:extLst>
              <a:ext uri="{FF2B5EF4-FFF2-40B4-BE49-F238E27FC236}">
                <a16:creationId xmlns:a16="http://schemas.microsoft.com/office/drawing/2014/main" id="{0EB02806-D553-45C1-8ED3-7D6D1D2A8D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1773" y="3736507"/>
            <a:ext cx="4766625" cy="1375487"/>
          </a:xfrm>
          <a:prstGeom prst="rect">
            <a:avLst/>
          </a:prstGeom>
        </p:spPr>
      </p:pic>
    </p:spTree>
    <p:extLst>
      <p:ext uri="{BB962C8B-B14F-4D97-AF65-F5344CB8AC3E}">
        <p14:creationId xmlns:p14="http://schemas.microsoft.com/office/powerpoint/2010/main" val="1736699342"/>
      </p:ext>
    </p:extLst>
  </p:cSld>
  <p:clrMapOvr>
    <a:masterClrMapping/>
  </p:clrMapOvr>
  <mc:AlternateContent xmlns:mc="http://schemas.openxmlformats.org/markup-compatibility/2006" xmlns:p14="http://schemas.microsoft.com/office/powerpoint/2010/main">
    <mc:Choice Requires="p14">
      <p:transition spd="slow" p14:dur="2000" advTm="113047"/>
    </mc:Choice>
    <mc:Fallback xmlns="">
      <p:transition spd="slow" advTm="113047"/>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8B29D3-61A0-11BF-0E79-F5A9A8866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B45B0-E716-5B13-C8A6-61CB8E5EF1F3}"/>
              </a:ext>
            </a:extLst>
          </p:cNvPr>
          <p:cNvSpPr>
            <a:spLocks noGrp="1"/>
          </p:cNvSpPr>
          <p:nvPr>
            <p:ph type="title"/>
          </p:nvPr>
        </p:nvSpPr>
        <p:spPr/>
        <p:txBody>
          <a:bodyPr/>
          <a:lstStyle/>
          <a:p>
            <a:r>
              <a:rPr lang="en-US">
                <a:latin typeface="Helvetica"/>
                <a:cs typeface="Arial"/>
              </a:rPr>
              <a:t>Experiments so Far</a:t>
            </a:r>
            <a:endParaRPr lang="et-EE" dirty="0"/>
          </a:p>
        </p:txBody>
      </p:sp>
      <p:sp>
        <p:nvSpPr>
          <p:cNvPr id="4" name="Slide Number Placeholder 3">
            <a:extLst>
              <a:ext uri="{FF2B5EF4-FFF2-40B4-BE49-F238E27FC236}">
                <a16:creationId xmlns:a16="http://schemas.microsoft.com/office/drawing/2014/main" id="{D6009217-8DE7-2E62-D338-9927CAB79362}"/>
              </a:ext>
            </a:extLst>
          </p:cNvPr>
          <p:cNvSpPr>
            <a:spLocks noGrp="1"/>
          </p:cNvSpPr>
          <p:nvPr>
            <p:ph type="sldNum" sz="quarter" idx="12"/>
          </p:nvPr>
        </p:nvSpPr>
        <p:spPr/>
        <p:txBody>
          <a:bodyPr/>
          <a:lstStyle/>
          <a:p>
            <a:fld id="{9F39E346-B1F3-4075-BD67-234EF0F10AC6}" type="slidenum">
              <a:rPr lang="et-EE" smtClean="0"/>
              <a:pPr/>
              <a:t>23</a:t>
            </a:fld>
            <a:endParaRPr lang="et-EE" dirty="0"/>
          </a:p>
        </p:txBody>
      </p:sp>
      <p:pic>
        <p:nvPicPr>
          <p:cNvPr id="8" name="Picture 7" descr="A close-up of a graph&#10;&#10;AI-generated content may be incorrect.">
            <a:extLst>
              <a:ext uri="{FF2B5EF4-FFF2-40B4-BE49-F238E27FC236}">
                <a16:creationId xmlns:a16="http://schemas.microsoft.com/office/drawing/2014/main" id="{9F8BC057-3266-6B4F-E196-6B8F3690442B}"/>
              </a:ext>
            </a:extLst>
          </p:cNvPr>
          <p:cNvPicPr>
            <a:picLocks noChangeAspect="1"/>
          </p:cNvPicPr>
          <p:nvPr/>
        </p:nvPicPr>
        <p:blipFill>
          <a:blip r:embed="rId3"/>
          <a:stretch>
            <a:fillRect/>
          </a:stretch>
        </p:blipFill>
        <p:spPr>
          <a:xfrm>
            <a:off x="228701" y="1923296"/>
            <a:ext cx="11404392" cy="3803309"/>
          </a:xfrm>
          <a:prstGeom prst="rect">
            <a:avLst/>
          </a:prstGeom>
        </p:spPr>
      </p:pic>
      <p:sp>
        <p:nvSpPr>
          <p:cNvPr id="11" name="TextBox 10">
            <a:extLst>
              <a:ext uri="{FF2B5EF4-FFF2-40B4-BE49-F238E27FC236}">
                <a16:creationId xmlns:a16="http://schemas.microsoft.com/office/drawing/2014/main" id="{50CA1F94-AB10-2E1A-8631-A94B04E05942}"/>
              </a:ext>
            </a:extLst>
          </p:cNvPr>
          <p:cNvSpPr txBox="1"/>
          <p:nvPr/>
        </p:nvSpPr>
        <p:spPr>
          <a:xfrm>
            <a:off x="6096000" y="5725117"/>
            <a:ext cx="5537093" cy="307777"/>
          </a:xfrm>
          <a:prstGeom prst="rect">
            <a:avLst/>
          </a:prstGeom>
          <a:noFill/>
        </p:spPr>
        <p:txBody>
          <a:bodyPr wrap="none" rtlCol="0">
            <a:spAutoFit/>
          </a:bodyPr>
          <a:lstStyle/>
          <a:p>
            <a:r>
              <a:rPr lang="en-US" sz="1400" dirty="0">
                <a:solidFill>
                  <a:srgbClr val="323232"/>
                </a:solidFill>
                <a:latin typeface="Arial" panose="020B0604020202020204" pitchFamily="34" charset="0"/>
                <a:cs typeface="Arial" panose="020B0604020202020204" pitchFamily="34" charset="0"/>
              </a:rPr>
              <a:t>R. Ferguson </a:t>
            </a:r>
            <a:r>
              <a:rPr lang="en-US" sz="1400" i="1" dirty="0">
                <a:solidFill>
                  <a:srgbClr val="323232"/>
                </a:solidFill>
                <a:latin typeface="Arial" panose="020B0604020202020204" pitchFamily="34" charset="0"/>
                <a:cs typeface="Arial" panose="020B0604020202020204" pitchFamily="34" charset="0"/>
              </a:rPr>
              <a:t>et al</a:t>
            </a:r>
            <a:r>
              <a:rPr lang="en-US" sz="1400" dirty="0">
                <a:solidFill>
                  <a:srgbClr val="323232"/>
                </a:solidFill>
                <a:latin typeface="Arial" panose="020B0604020202020204" pitchFamily="34" charset="0"/>
                <a:cs typeface="Arial" panose="020B0604020202020204" pitchFamily="34" charset="0"/>
              </a:rPr>
              <a:t>., </a:t>
            </a:r>
            <a:r>
              <a:rPr lang="en-US" sz="1400" i="1" dirty="0">
                <a:solidFill>
                  <a:srgbClr val="323232"/>
                </a:solidFill>
                <a:latin typeface="Arial" panose="020B0604020202020204" pitchFamily="34" charset="0"/>
                <a:cs typeface="Arial" panose="020B0604020202020204" pitchFamily="34" charset="0"/>
              </a:rPr>
              <a:t>Applying TDI to Hardware-Simulated Data</a:t>
            </a:r>
            <a:r>
              <a:rPr lang="en-US" sz="1400" dirty="0">
                <a:solidFill>
                  <a:srgbClr val="323232"/>
                </a:solidFill>
                <a:latin typeface="Arial" panose="020B0604020202020204" pitchFamily="34" charset="0"/>
                <a:cs typeface="Arial" panose="020B0604020202020204" pitchFamily="34" charset="0"/>
              </a:rPr>
              <a:t>, 2025</a:t>
            </a:r>
            <a:endParaRPr lang="et-EE" sz="1400" dirty="0">
              <a:solidFill>
                <a:srgbClr val="323232"/>
              </a:solidFill>
              <a:latin typeface="Arial" panose="020B0604020202020204" pitchFamily="34" charset="0"/>
              <a:cs typeface="Arial" panose="020B0604020202020204" pitchFamily="34" charset="0"/>
            </a:endParaRPr>
          </a:p>
        </p:txBody>
      </p:sp>
      <p:sp>
        <p:nvSpPr>
          <p:cNvPr id="12" name="Date Placeholder 11">
            <a:extLst>
              <a:ext uri="{FF2B5EF4-FFF2-40B4-BE49-F238E27FC236}">
                <a16:creationId xmlns:a16="http://schemas.microsoft.com/office/drawing/2014/main" id="{7826941B-A5AA-80E4-DA25-D7824FECADF8}"/>
              </a:ext>
            </a:extLst>
          </p:cNvPr>
          <p:cNvSpPr>
            <a:spLocks noGrp="1"/>
          </p:cNvSpPr>
          <p:nvPr>
            <p:ph type="dt" sz="half" idx="10"/>
          </p:nvPr>
        </p:nvSpPr>
        <p:spPr/>
        <p:txBody>
          <a:bodyPr/>
          <a:lstStyle/>
          <a:p>
            <a:r>
              <a:rPr lang="LID4096"/>
              <a:t>23.06.2026</a:t>
            </a:r>
            <a:endParaRPr lang="et-EE" dirty="0"/>
          </a:p>
        </p:txBody>
      </p:sp>
      <p:sp>
        <p:nvSpPr>
          <p:cNvPr id="13" name="Footer Placeholder 12">
            <a:extLst>
              <a:ext uri="{FF2B5EF4-FFF2-40B4-BE49-F238E27FC236}">
                <a16:creationId xmlns:a16="http://schemas.microsoft.com/office/drawing/2014/main" id="{B91872D0-6525-8475-B34F-E953A18BAEE8}"/>
              </a:ext>
            </a:extLst>
          </p:cNvPr>
          <p:cNvSpPr>
            <a:spLocks noGrp="1"/>
          </p:cNvSpPr>
          <p:nvPr>
            <p:ph type="ftr" sz="quarter" idx="11"/>
          </p:nvPr>
        </p:nvSpPr>
        <p:spPr/>
        <p:txBody>
          <a:bodyPr/>
          <a:lstStyle/>
          <a:p>
            <a:r>
              <a:rPr lang="en-US" dirty="0"/>
              <a:t>16th International LISA Symposium</a:t>
            </a:r>
            <a:endParaRPr lang="et-EE" dirty="0"/>
          </a:p>
        </p:txBody>
      </p:sp>
      <p:pic>
        <p:nvPicPr>
          <p:cNvPr id="16" name="Picture 15">
            <a:extLst>
              <a:ext uri="{FF2B5EF4-FFF2-40B4-BE49-F238E27FC236}">
                <a16:creationId xmlns:a16="http://schemas.microsoft.com/office/drawing/2014/main" id="{A3D99B80-29FF-503F-B919-DE4CC7398B4B}"/>
              </a:ext>
            </a:extLst>
          </p:cNvPr>
          <p:cNvPicPr>
            <a:picLocks noChangeAspect="1"/>
          </p:cNvPicPr>
          <p:nvPr/>
        </p:nvPicPr>
        <p:blipFill>
          <a:blip r:embed="rId4"/>
          <a:stretch>
            <a:fillRect/>
          </a:stretch>
        </p:blipFill>
        <p:spPr>
          <a:xfrm>
            <a:off x="6209799" y="1495087"/>
            <a:ext cx="5423294" cy="590476"/>
          </a:xfrm>
          <a:prstGeom prst="rect">
            <a:avLst/>
          </a:prstGeom>
        </p:spPr>
      </p:pic>
      <p:sp>
        <p:nvSpPr>
          <p:cNvPr id="5" name="Content Placeholder 2">
            <a:extLst>
              <a:ext uri="{FF2B5EF4-FFF2-40B4-BE49-F238E27FC236}">
                <a16:creationId xmlns:a16="http://schemas.microsoft.com/office/drawing/2014/main" id="{54D0D5E0-D2B3-DC6F-A458-233C944EA817}"/>
              </a:ext>
            </a:extLst>
          </p:cNvPr>
          <p:cNvSpPr>
            <a:spLocks noGrp="1"/>
          </p:cNvSpPr>
          <p:nvPr>
            <p:ph idx="1"/>
          </p:nvPr>
        </p:nvSpPr>
        <p:spPr>
          <a:xfrm>
            <a:off x="331592" y="988653"/>
            <a:ext cx="11301513" cy="506358"/>
          </a:xfrm>
        </p:spPr>
        <p:txBody>
          <a:bodyPr vert="horz" lIns="91440" tIns="45720" rIns="91440" bIns="45720" rtlCol="0" anchor="t">
            <a:normAutofit/>
          </a:bodyPr>
          <a:lstStyle/>
          <a:p>
            <a:pPr marL="0" indent="0">
              <a:buNone/>
            </a:pPr>
            <a:r>
              <a:rPr lang="en-US" sz="2000">
                <a:latin typeface="Helvetica"/>
                <a:cs typeface="Arial"/>
              </a:rPr>
              <a:t>Fully electronic tests of TDI.</a:t>
            </a:r>
            <a:endParaRPr lang="en-US" sz="2000" noProof="0"/>
          </a:p>
        </p:txBody>
      </p:sp>
    </p:spTree>
    <p:extLst>
      <p:ext uri="{BB962C8B-B14F-4D97-AF65-F5344CB8AC3E}">
        <p14:creationId xmlns:p14="http://schemas.microsoft.com/office/powerpoint/2010/main" val="4022390619"/>
      </p:ext>
    </p:extLst>
  </p:cSld>
  <p:clrMapOvr>
    <a:masterClrMapping/>
  </p:clrMapOvr>
  <mc:AlternateContent xmlns:mc="http://schemas.openxmlformats.org/markup-compatibility/2006" xmlns:p14="http://schemas.microsoft.com/office/powerpoint/2010/main">
    <mc:Choice Requires="p14">
      <p:transition spd="slow" p14:dur="2000" advTm="66238"/>
    </mc:Choice>
    <mc:Fallback xmlns="">
      <p:transition spd="slow" advTm="66238"/>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E692BC-5D04-12E0-7F65-0227E5C29CB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8E3B6D2-33FF-4BE7-3563-45DB85285476}"/>
              </a:ext>
            </a:extLst>
          </p:cNvPr>
          <p:cNvGrpSpPr/>
          <p:nvPr/>
        </p:nvGrpSpPr>
        <p:grpSpPr>
          <a:xfrm>
            <a:off x="2143062" y="1715801"/>
            <a:ext cx="7376596" cy="4460219"/>
            <a:chOff x="1742532" y="1024639"/>
            <a:chExt cx="8199828" cy="4909255"/>
          </a:xfrm>
        </p:grpSpPr>
        <p:pic>
          <p:nvPicPr>
            <p:cNvPr id="5" name="Picture 4">
              <a:extLst>
                <a:ext uri="{FF2B5EF4-FFF2-40B4-BE49-F238E27FC236}">
                  <a16:creationId xmlns:a16="http://schemas.microsoft.com/office/drawing/2014/main" id="{8FD17766-9253-4EE2-98ED-07E6BFB11759}"/>
                </a:ext>
              </a:extLst>
            </p:cNvPr>
            <p:cNvPicPr>
              <a:picLocks noChangeAspect="1"/>
            </p:cNvPicPr>
            <p:nvPr/>
          </p:nvPicPr>
          <p:blipFill>
            <a:blip r:embed="rId3"/>
            <a:stretch>
              <a:fillRect/>
            </a:stretch>
          </p:blipFill>
          <p:spPr>
            <a:xfrm>
              <a:off x="1742532" y="1024639"/>
              <a:ext cx="8199828" cy="4909255"/>
            </a:xfrm>
            <a:prstGeom prst="rect">
              <a:avLst/>
            </a:prstGeom>
          </p:spPr>
        </p:pic>
        <p:sp>
          <p:nvSpPr>
            <p:cNvPr id="6" name="TextBox 5">
              <a:extLst>
                <a:ext uri="{FF2B5EF4-FFF2-40B4-BE49-F238E27FC236}">
                  <a16:creationId xmlns:a16="http://schemas.microsoft.com/office/drawing/2014/main" id="{EDA59605-C185-40C8-8260-0EDE25A81F68}"/>
                </a:ext>
              </a:extLst>
            </p:cNvPr>
            <p:cNvSpPr txBox="1"/>
            <p:nvPr/>
          </p:nvSpPr>
          <p:spPr>
            <a:xfrm>
              <a:off x="5332672" y="3378200"/>
              <a:ext cx="2209414" cy="575896"/>
            </a:xfrm>
            <a:prstGeom prst="rect">
              <a:avLst/>
            </a:prstGeom>
            <a:solidFill>
              <a:schemeClr val="tx1"/>
            </a:solidFill>
            <a:ln>
              <a:solidFill>
                <a:schemeClr val="bg1"/>
              </a:solidFill>
              <a:prstDash val="dash"/>
            </a:ln>
          </p:spPr>
          <p:txBody>
            <a:bodyPr wrap="square" rtlCol="0">
              <a:spAutoFit/>
            </a:bodyPr>
            <a:lstStyle/>
            <a:p>
              <a:pPr algn="l"/>
              <a:r>
                <a:rPr lang="et-EE" sz="1400" dirty="0">
                  <a:solidFill>
                    <a:schemeClr val="bg1"/>
                  </a:solidFill>
                  <a:highlight>
                    <a:srgbClr val="D8DFE3"/>
                  </a:highlight>
                  <a:latin typeface="Courier New" panose="02070309020205020404" pitchFamily="49" charset="0"/>
                  <a:cs typeface="Courier New" panose="02070309020205020404" pitchFamily="49" charset="0"/>
                </a:rPr>
                <a:t>Strain amplitude 4.35×10</a:t>
              </a:r>
              <a:r>
                <a:rPr lang="et-EE" sz="1400" baseline="30000" dirty="0">
                  <a:solidFill>
                    <a:schemeClr val="bg1"/>
                  </a:solidFill>
                  <a:highlight>
                    <a:srgbClr val="D8DFE3"/>
                  </a:highlight>
                  <a:latin typeface="Courier New" panose="02070309020205020404" pitchFamily="49" charset="0"/>
                  <a:cs typeface="Courier New" panose="02070309020205020404" pitchFamily="49" charset="0"/>
                </a:rPr>
                <a:t>−20</a:t>
              </a:r>
              <a:endParaRPr lang="LID4096" sz="1400" dirty="0">
                <a:solidFill>
                  <a:schemeClr val="bg1"/>
                </a:solidFill>
                <a:highlight>
                  <a:srgbClr val="D8DFE3"/>
                </a:highlight>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B7D864D7-4659-44D5-93C7-DADE89854019}"/>
                </a:ext>
              </a:extLst>
            </p:cNvPr>
            <p:cNvSpPr txBox="1"/>
            <p:nvPr/>
          </p:nvSpPr>
          <p:spPr>
            <a:xfrm>
              <a:off x="4046688" y="2681182"/>
              <a:ext cx="1069906" cy="338763"/>
            </a:xfrm>
            <a:prstGeom prst="rect">
              <a:avLst/>
            </a:prstGeom>
            <a:solidFill>
              <a:schemeClr val="tx1"/>
            </a:solidFill>
            <a:ln>
              <a:solidFill>
                <a:schemeClr val="bg1"/>
              </a:solidFill>
              <a:prstDash val="dash"/>
            </a:ln>
          </p:spPr>
          <p:txBody>
            <a:bodyPr wrap="square" rtlCol="0">
              <a:spAutoFit/>
            </a:bodyPr>
            <a:lstStyle/>
            <a:p>
              <a:pPr algn="l"/>
              <a:r>
                <a:rPr lang="en-US" sz="1400" dirty="0">
                  <a:solidFill>
                    <a:schemeClr val="bg1"/>
                  </a:solidFill>
                  <a:highlight>
                    <a:srgbClr val="D8DFE3"/>
                  </a:highlight>
                  <a:latin typeface="Courier New" panose="02070309020205020404" pitchFamily="49" charset="0"/>
                  <a:cs typeface="Courier New" panose="02070309020205020404" pitchFamily="49" charset="0"/>
                </a:rPr>
                <a:t>TDI 1.0</a:t>
              </a:r>
              <a:endParaRPr lang="LID4096" sz="1400" dirty="0">
                <a:solidFill>
                  <a:schemeClr val="bg1"/>
                </a:solidFill>
                <a:highlight>
                  <a:srgbClr val="D8DFE3"/>
                </a:highlight>
                <a:latin typeface="Courier New" panose="02070309020205020404" pitchFamily="49" charset="0"/>
                <a:cs typeface="Courier New" panose="02070309020205020404" pitchFamily="49" charset="0"/>
              </a:endParaRPr>
            </a:p>
          </p:txBody>
        </p:sp>
        <p:sp>
          <p:nvSpPr>
            <p:cNvPr id="3" name="Rectangle 2">
              <a:extLst>
                <a:ext uri="{FF2B5EF4-FFF2-40B4-BE49-F238E27FC236}">
                  <a16:creationId xmlns:a16="http://schemas.microsoft.com/office/drawing/2014/main" id="{A7027607-EC24-4EE7-885B-340442F6FB63}"/>
                </a:ext>
              </a:extLst>
            </p:cNvPr>
            <p:cNvSpPr/>
            <p:nvPr/>
          </p:nvSpPr>
          <p:spPr>
            <a:xfrm>
              <a:off x="4046688" y="3936097"/>
              <a:ext cx="1085031" cy="348122"/>
            </a:xfrm>
            <a:prstGeom prst="rect">
              <a:avLst/>
            </a:prstGeom>
            <a:solidFill>
              <a:schemeClr val="tx1"/>
            </a:solidFill>
            <a:ln w="952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highlight>
                    <a:srgbClr val="D8DFE3"/>
                  </a:highlight>
                  <a:latin typeface="Courier New" panose="02070309020205020404" pitchFamily="49" charset="0"/>
                  <a:cs typeface="Courier New" panose="02070309020205020404" pitchFamily="49" charset="0"/>
                </a:rPr>
                <a:t>TDI 2.0</a:t>
              </a:r>
              <a:endParaRPr lang="LID4096" sz="1400" dirty="0">
                <a:solidFill>
                  <a:schemeClr val="bg1"/>
                </a:solidFill>
                <a:highlight>
                  <a:srgbClr val="D8DFE3"/>
                </a:highlight>
                <a:latin typeface="Courier New" panose="02070309020205020404" pitchFamily="49" charset="0"/>
                <a:cs typeface="Courier New" panose="02070309020205020404" pitchFamily="49" charset="0"/>
              </a:endParaRPr>
            </a:p>
          </p:txBody>
        </p:sp>
      </p:grpSp>
      <p:sp>
        <p:nvSpPr>
          <p:cNvPr id="2" name="Title 1">
            <a:extLst>
              <a:ext uri="{FF2B5EF4-FFF2-40B4-BE49-F238E27FC236}">
                <a16:creationId xmlns:a16="http://schemas.microsoft.com/office/drawing/2014/main" id="{A1E2004A-8C3A-8DA8-42F2-B8BAC8661CF0}"/>
              </a:ext>
            </a:extLst>
          </p:cNvPr>
          <p:cNvSpPr>
            <a:spLocks noGrp="1"/>
          </p:cNvSpPr>
          <p:nvPr>
            <p:ph type="title"/>
          </p:nvPr>
        </p:nvSpPr>
        <p:spPr/>
        <p:txBody>
          <a:bodyPr>
            <a:normAutofit/>
          </a:bodyPr>
          <a:lstStyle/>
          <a:p>
            <a:r>
              <a:rPr lang="en-US" noProof="0" dirty="0"/>
              <a:t>Predecessor Testbed</a:t>
            </a:r>
          </a:p>
        </p:txBody>
      </p:sp>
      <p:sp>
        <p:nvSpPr>
          <p:cNvPr id="4" name="Slide Number Placeholder 3">
            <a:extLst>
              <a:ext uri="{FF2B5EF4-FFF2-40B4-BE49-F238E27FC236}">
                <a16:creationId xmlns:a16="http://schemas.microsoft.com/office/drawing/2014/main" id="{33D03556-D078-1238-23F2-77D595FE2839}"/>
              </a:ext>
            </a:extLst>
          </p:cNvPr>
          <p:cNvSpPr>
            <a:spLocks noGrp="1"/>
          </p:cNvSpPr>
          <p:nvPr>
            <p:ph type="sldNum" sz="quarter" idx="12"/>
          </p:nvPr>
        </p:nvSpPr>
        <p:spPr/>
        <p:txBody>
          <a:bodyPr/>
          <a:lstStyle/>
          <a:p>
            <a:fld id="{9F39E346-B1F3-4075-BD67-234EF0F10AC6}" type="slidenum">
              <a:rPr lang="en-US" noProof="0" smtClean="0"/>
              <a:pPr/>
              <a:t>24</a:t>
            </a:fld>
            <a:endParaRPr lang="en-US" noProof="0" dirty="0"/>
          </a:p>
        </p:txBody>
      </p:sp>
      <p:sp>
        <p:nvSpPr>
          <p:cNvPr id="10" name="Content Placeholder 2">
            <a:extLst>
              <a:ext uri="{FF2B5EF4-FFF2-40B4-BE49-F238E27FC236}">
                <a16:creationId xmlns:a16="http://schemas.microsoft.com/office/drawing/2014/main" id="{9A34A598-540E-5734-16C9-2C47F725D56A}"/>
              </a:ext>
            </a:extLst>
          </p:cNvPr>
          <p:cNvSpPr>
            <a:spLocks noGrp="1"/>
          </p:cNvSpPr>
          <p:nvPr>
            <p:ph idx="1"/>
          </p:nvPr>
        </p:nvSpPr>
        <p:spPr>
          <a:xfrm>
            <a:off x="348620" y="1231301"/>
            <a:ext cx="11301513" cy="506358"/>
          </a:xfrm>
        </p:spPr>
        <p:txBody>
          <a:bodyPr>
            <a:normAutofit/>
          </a:bodyPr>
          <a:lstStyle/>
          <a:p>
            <a:pPr marL="0" indent="0">
              <a:buNone/>
            </a:pPr>
            <a:r>
              <a:rPr lang="en-US" sz="1800" noProof="0" dirty="0"/>
              <a:t>Results from University of Florida Laser Interferometry Simulator</a:t>
            </a:r>
          </a:p>
        </p:txBody>
      </p:sp>
      <p:sp>
        <p:nvSpPr>
          <p:cNvPr id="11" name="Date Placeholder 10">
            <a:extLst>
              <a:ext uri="{FF2B5EF4-FFF2-40B4-BE49-F238E27FC236}">
                <a16:creationId xmlns:a16="http://schemas.microsoft.com/office/drawing/2014/main" id="{6A23D580-B774-F957-40F9-5D9F9AA338E7}"/>
              </a:ext>
            </a:extLst>
          </p:cNvPr>
          <p:cNvSpPr>
            <a:spLocks noGrp="1"/>
          </p:cNvSpPr>
          <p:nvPr>
            <p:ph type="dt" sz="half" idx="10"/>
          </p:nvPr>
        </p:nvSpPr>
        <p:spPr/>
        <p:txBody>
          <a:bodyPr/>
          <a:lstStyle/>
          <a:p>
            <a:r>
              <a:rPr lang="LID4096"/>
              <a:t>23.06.2026</a:t>
            </a:r>
            <a:endParaRPr lang="et-EE" dirty="0"/>
          </a:p>
        </p:txBody>
      </p:sp>
      <p:sp>
        <p:nvSpPr>
          <p:cNvPr id="12" name="Footer Placeholder 11">
            <a:extLst>
              <a:ext uri="{FF2B5EF4-FFF2-40B4-BE49-F238E27FC236}">
                <a16:creationId xmlns:a16="http://schemas.microsoft.com/office/drawing/2014/main" id="{B06F9ECD-4246-B8E3-DDAC-75294EBD17DA}"/>
              </a:ext>
            </a:extLst>
          </p:cNvPr>
          <p:cNvSpPr>
            <a:spLocks noGrp="1"/>
          </p:cNvSpPr>
          <p:nvPr>
            <p:ph type="ftr" sz="quarter" idx="11"/>
          </p:nvPr>
        </p:nvSpPr>
        <p:spPr/>
        <p:txBody>
          <a:bodyPr/>
          <a:lstStyle/>
          <a:p>
            <a:r>
              <a:rPr lang="en-US" dirty="0"/>
              <a:t>16th International LISA Symposium</a:t>
            </a:r>
            <a:endParaRPr lang="et-EE" dirty="0"/>
          </a:p>
        </p:txBody>
      </p:sp>
      <p:sp>
        <p:nvSpPr>
          <p:cNvPr id="14" name="TextBox 13">
            <a:extLst>
              <a:ext uri="{FF2B5EF4-FFF2-40B4-BE49-F238E27FC236}">
                <a16:creationId xmlns:a16="http://schemas.microsoft.com/office/drawing/2014/main" id="{D5C9A108-DB7E-46DC-94D7-46A20921A60C}"/>
              </a:ext>
            </a:extLst>
          </p:cNvPr>
          <p:cNvSpPr txBox="1"/>
          <p:nvPr/>
        </p:nvSpPr>
        <p:spPr>
          <a:xfrm>
            <a:off x="8799041" y="6415801"/>
            <a:ext cx="1723485" cy="246221"/>
          </a:xfrm>
          <a:prstGeom prst="rect">
            <a:avLst/>
          </a:prstGeom>
          <a:noFill/>
        </p:spPr>
        <p:txBody>
          <a:bodyPr wrap="square">
            <a:spAutoFit/>
          </a:bodyPr>
          <a:lstStyle/>
          <a:p>
            <a:r>
              <a:rPr lang="en-US" sz="1000" noProof="0" dirty="0">
                <a:solidFill>
                  <a:srgbClr val="667982"/>
                </a:solidFill>
                <a:highlight>
                  <a:srgbClr val="D8DFE3"/>
                </a:highlight>
                <a:latin typeface="Helvetica" pitchFamily="2" charset="0"/>
                <a:cs typeface="Arial" panose="020B0604020202020204" pitchFamily="34" charset="0"/>
              </a:rPr>
              <a:t>Credit: </a:t>
            </a:r>
            <a:r>
              <a:rPr lang="en-US" sz="1000" dirty="0" err="1">
                <a:solidFill>
                  <a:srgbClr val="667982"/>
                </a:solidFill>
                <a:highlight>
                  <a:srgbClr val="D8DFE3"/>
                </a:highlight>
                <a:latin typeface="Helvetica" pitchFamily="2" charset="0"/>
                <a:cs typeface="Arial" panose="020B0604020202020204" pitchFamily="34" charset="0"/>
              </a:rPr>
              <a:t>Mitryk</a:t>
            </a:r>
            <a:r>
              <a:rPr lang="en-US" sz="1000" noProof="0" dirty="0">
                <a:solidFill>
                  <a:srgbClr val="667982"/>
                </a:solidFill>
                <a:highlight>
                  <a:srgbClr val="D8DFE3"/>
                </a:highlight>
                <a:latin typeface="Helvetica" pitchFamily="2" charset="0"/>
                <a:cs typeface="Arial" panose="020B0604020202020204" pitchFamily="34" charset="0"/>
              </a:rPr>
              <a:t>, 2012</a:t>
            </a:r>
          </a:p>
        </p:txBody>
      </p:sp>
    </p:spTree>
    <p:extLst>
      <p:ext uri="{BB962C8B-B14F-4D97-AF65-F5344CB8AC3E}">
        <p14:creationId xmlns:p14="http://schemas.microsoft.com/office/powerpoint/2010/main" val="1428808930"/>
      </p:ext>
    </p:extLst>
  </p:cSld>
  <p:clrMapOvr>
    <a:masterClrMapping/>
  </p:clrMapOvr>
  <mc:AlternateContent xmlns:mc="http://schemas.openxmlformats.org/markup-compatibility/2006" xmlns:p14="http://schemas.microsoft.com/office/powerpoint/2010/main">
    <mc:Choice Requires="p14">
      <p:transition spd="slow" p14:dur="2000" advTm="96214"/>
    </mc:Choice>
    <mc:Fallback xmlns="">
      <p:transition spd="slow" advTm="96214"/>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79F2B7-3E97-987C-1F8F-BFFDB77472C5}"/>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CB0E40C1-D0F4-5B81-7D0B-7B7EA7C1B50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flipV="1">
            <a:off x="347080" y="1258658"/>
            <a:ext cx="6512410" cy="4898608"/>
          </a:xfrm>
        </p:spPr>
      </p:pic>
      <p:sp>
        <p:nvSpPr>
          <p:cNvPr id="2" name="Title 1">
            <a:extLst>
              <a:ext uri="{FF2B5EF4-FFF2-40B4-BE49-F238E27FC236}">
                <a16:creationId xmlns:a16="http://schemas.microsoft.com/office/drawing/2014/main" id="{8FD3DE69-A0A5-0E67-45B2-66D4B04D1A8B}"/>
              </a:ext>
            </a:extLst>
          </p:cNvPr>
          <p:cNvSpPr>
            <a:spLocks noGrp="1"/>
          </p:cNvSpPr>
          <p:nvPr>
            <p:ph type="title"/>
          </p:nvPr>
        </p:nvSpPr>
        <p:spPr/>
        <p:txBody>
          <a:bodyPr/>
          <a:lstStyle/>
          <a:p>
            <a:r>
              <a:rPr lang="en-US" noProof="0" dirty="0"/>
              <a:t>LISA Laser Frequency Noise</a:t>
            </a:r>
          </a:p>
        </p:txBody>
      </p:sp>
      <p:sp>
        <p:nvSpPr>
          <p:cNvPr id="11" name="TextBox 10">
            <a:extLst>
              <a:ext uri="{FF2B5EF4-FFF2-40B4-BE49-F238E27FC236}">
                <a16:creationId xmlns:a16="http://schemas.microsoft.com/office/drawing/2014/main" id="{03606E55-529A-F087-D786-76F77DA97E66}"/>
              </a:ext>
            </a:extLst>
          </p:cNvPr>
          <p:cNvSpPr txBox="1"/>
          <p:nvPr/>
        </p:nvSpPr>
        <p:spPr>
          <a:xfrm>
            <a:off x="2105900" y="6415801"/>
            <a:ext cx="1723485" cy="246221"/>
          </a:xfrm>
          <a:prstGeom prst="rect">
            <a:avLst/>
          </a:prstGeom>
          <a:noFill/>
        </p:spPr>
        <p:txBody>
          <a:bodyPr wrap="square">
            <a:spAutoFit/>
          </a:bodyPr>
          <a:lstStyle/>
          <a:p>
            <a:r>
              <a:rPr lang="en-US" sz="1000" noProof="0" dirty="0">
                <a:solidFill>
                  <a:srgbClr val="667982"/>
                </a:solidFill>
                <a:highlight>
                  <a:srgbClr val="D8DFE3"/>
                </a:highlight>
                <a:latin typeface="Helvetica" pitchFamily="2" charset="0"/>
                <a:cs typeface="Arial" panose="020B0604020202020204" pitchFamily="34" charset="0"/>
              </a:rPr>
              <a:t>Credit: </a:t>
            </a:r>
            <a:r>
              <a:rPr lang="en-US" sz="1000" dirty="0" err="1">
                <a:solidFill>
                  <a:srgbClr val="667982"/>
                </a:solidFill>
                <a:highlight>
                  <a:srgbClr val="D8DFE3"/>
                </a:highlight>
                <a:latin typeface="Helvetica" pitchFamily="2" charset="0"/>
                <a:cs typeface="Arial" panose="020B0604020202020204" pitchFamily="34" charset="0"/>
              </a:rPr>
              <a:t>Jennrich</a:t>
            </a:r>
            <a:r>
              <a:rPr lang="en-US" sz="1000" noProof="0" dirty="0">
                <a:solidFill>
                  <a:srgbClr val="667982"/>
                </a:solidFill>
                <a:highlight>
                  <a:srgbClr val="D8DFE3"/>
                </a:highlight>
                <a:latin typeface="Helvetica" pitchFamily="2" charset="0"/>
                <a:cs typeface="Arial" panose="020B0604020202020204" pitchFamily="34" charset="0"/>
              </a:rPr>
              <a:t>, 2010</a:t>
            </a:r>
          </a:p>
        </p:txBody>
      </p:sp>
      <p:grpSp>
        <p:nvGrpSpPr>
          <p:cNvPr id="10" name="Group 9">
            <a:extLst>
              <a:ext uri="{FF2B5EF4-FFF2-40B4-BE49-F238E27FC236}">
                <a16:creationId xmlns:a16="http://schemas.microsoft.com/office/drawing/2014/main" id="{9BA6C6D6-1744-4E3A-909A-BC6A784BE97C}"/>
              </a:ext>
            </a:extLst>
          </p:cNvPr>
          <p:cNvGrpSpPr/>
          <p:nvPr/>
        </p:nvGrpSpPr>
        <p:grpSpPr>
          <a:xfrm>
            <a:off x="1109306" y="2845853"/>
            <a:ext cx="4901366" cy="2588881"/>
            <a:chOff x="1109306" y="3170775"/>
            <a:chExt cx="4901366" cy="2588881"/>
          </a:xfrm>
        </p:grpSpPr>
        <p:sp>
          <p:nvSpPr>
            <p:cNvPr id="3" name="Rectangle 2">
              <a:extLst>
                <a:ext uri="{FF2B5EF4-FFF2-40B4-BE49-F238E27FC236}">
                  <a16:creationId xmlns:a16="http://schemas.microsoft.com/office/drawing/2014/main" id="{097C700B-BEFD-1DB1-391D-B8D45AE3D918}"/>
                </a:ext>
              </a:extLst>
            </p:cNvPr>
            <p:cNvSpPr>
              <a:spLocks/>
            </p:cNvSpPr>
            <p:nvPr/>
          </p:nvSpPr>
          <p:spPr>
            <a:xfrm>
              <a:off x="5654412" y="3170775"/>
              <a:ext cx="356260" cy="22363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841B7AD5-5349-2E93-AE64-46FC4946C53D}"/>
                </a:ext>
              </a:extLst>
            </p:cNvPr>
            <p:cNvSpPr>
              <a:spLocks/>
            </p:cNvSpPr>
            <p:nvPr/>
          </p:nvSpPr>
          <p:spPr>
            <a:xfrm>
              <a:off x="1109306" y="3170775"/>
              <a:ext cx="356260" cy="30190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B6E60CCF-DE7E-D947-714E-958A9480DFC4}"/>
                </a:ext>
              </a:extLst>
            </p:cNvPr>
            <p:cNvSpPr>
              <a:spLocks/>
            </p:cNvSpPr>
            <p:nvPr/>
          </p:nvSpPr>
          <p:spPr>
            <a:xfrm>
              <a:off x="4321593" y="5467180"/>
              <a:ext cx="293153" cy="29247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2" name="TextBox 11">
            <a:extLst>
              <a:ext uri="{FF2B5EF4-FFF2-40B4-BE49-F238E27FC236}">
                <a16:creationId xmlns:a16="http://schemas.microsoft.com/office/drawing/2014/main" id="{E33240BA-3E4B-997D-7CDB-1A43F3CDA916}"/>
              </a:ext>
            </a:extLst>
          </p:cNvPr>
          <p:cNvSpPr txBox="1"/>
          <p:nvPr/>
        </p:nvSpPr>
        <p:spPr>
          <a:xfrm>
            <a:off x="2060103" y="2762588"/>
            <a:ext cx="3054928" cy="707886"/>
          </a:xfrm>
          <a:prstGeom prst="rect">
            <a:avLst/>
          </a:prstGeom>
          <a:noFill/>
        </p:spPr>
        <p:txBody>
          <a:bodyPr wrap="square" rtlCol="0">
            <a:spAutoFit/>
          </a:bodyPr>
          <a:lstStyle/>
          <a:p>
            <a:pPr algn="l"/>
            <a:r>
              <a:rPr lang="en-US" sz="2000" dirty="0">
                <a:solidFill>
                  <a:srgbClr val="667982"/>
                </a:solidFill>
                <a:highlight>
                  <a:srgbClr val="D8DFE3"/>
                </a:highlight>
                <a:latin typeface="Helvetica" pitchFamily="2" charset="0"/>
                <a:cs typeface="Arial" panose="020B0604020202020204" pitchFamily="34" charset="0"/>
              </a:rPr>
              <a:t>Unequal arm lengths and laser frequency noise</a:t>
            </a:r>
            <a:endParaRPr lang="et-EE" sz="2000" dirty="0">
              <a:solidFill>
                <a:srgbClr val="667982"/>
              </a:solidFill>
              <a:highlight>
                <a:srgbClr val="D8DFE3"/>
              </a:highlight>
              <a:latin typeface="Helvetica" pitchFamily="2" charset="0"/>
              <a:cs typeface="Arial" panose="020B0604020202020204" pitchFamily="34" charset="0"/>
            </a:endParaRPr>
          </a:p>
        </p:txBody>
      </p:sp>
      <p:sp>
        <p:nvSpPr>
          <p:cNvPr id="14" name="Slide Number Placeholder 3">
            <a:extLst>
              <a:ext uri="{FF2B5EF4-FFF2-40B4-BE49-F238E27FC236}">
                <a16:creationId xmlns:a16="http://schemas.microsoft.com/office/drawing/2014/main" id="{0CE284B1-7819-615D-87C3-38688B8CA8D6}"/>
              </a:ext>
            </a:extLst>
          </p:cNvPr>
          <p:cNvSpPr>
            <a:spLocks noGrp="1"/>
          </p:cNvSpPr>
          <p:nvPr>
            <p:ph type="sldNum" sz="quarter" idx="12"/>
          </p:nvPr>
        </p:nvSpPr>
        <p:spPr>
          <a:xfrm>
            <a:off x="9250679" y="6356350"/>
            <a:ext cx="2743200" cy="365125"/>
          </a:xfrm>
        </p:spPr>
        <p:txBody>
          <a:bodyPr/>
          <a:lstStyle/>
          <a:p>
            <a:fld id="{9F39E346-B1F3-4075-BD67-234EF0F10AC6}" type="slidenum">
              <a:rPr lang="en-US" noProof="0" smtClean="0"/>
              <a:pPr/>
              <a:t>25</a:t>
            </a:fld>
            <a:endParaRPr lang="en-US" noProof="0" dirty="0"/>
          </a:p>
        </p:txBody>
      </p:sp>
      <p:sp>
        <p:nvSpPr>
          <p:cNvPr id="13" name="Date Placeholder 12">
            <a:extLst>
              <a:ext uri="{FF2B5EF4-FFF2-40B4-BE49-F238E27FC236}">
                <a16:creationId xmlns:a16="http://schemas.microsoft.com/office/drawing/2014/main" id="{3646E73C-1B4C-5552-291E-25D5CB8A1F7E}"/>
              </a:ext>
            </a:extLst>
          </p:cNvPr>
          <p:cNvSpPr>
            <a:spLocks noGrp="1"/>
          </p:cNvSpPr>
          <p:nvPr>
            <p:ph type="dt" sz="half" idx="10"/>
          </p:nvPr>
        </p:nvSpPr>
        <p:spPr/>
        <p:txBody>
          <a:bodyPr/>
          <a:lstStyle/>
          <a:p>
            <a:r>
              <a:rPr lang="LID4096"/>
              <a:t>23.06.2026</a:t>
            </a:r>
            <a:endParaRPr lang="et-EE" dirty="0"/>
          </a:p>
        </p:txBody>
      </p:sp>
      <p:sp>
        <p:nvSpPr>
          <p:cNvPr id="15" name="Footer Placeholder 14">
            <a:extLst>
              <a:ext uri="{FF2B5EF4-FFF2-40B4-BE49-F238E27FC236}">
                <a16:creationId xmlns:a16="http://schemas.microsoft.com/office/drawing/2014/main" id="{2FA399B7-D03B-DDC6-E5AE-3C022DEB4322}"/>
              </a:ext>
            </a:extLst>
          </p:cNvPr>
          <p:cNvSpPr>
            <a:spLocks noGrp="1"/>
          </p:cNvSpPr>
          <p:nvPr>
            <p:ph type="ftr" sz="quarter" idx="11"/>
          </p:nvPr>
        </p:nvSpPr>
        <p:spPr/>
        <p:txBody>
          <a:bodyPr/>
          <a:lstStyle/>
          <a:p>
            <a:r>
              <a:rPr lang="en-US" dirty="0">
                <a:solidFill>
                  <a:srgbClr val="A8B7BF"/>
                </a:solidFill>
              </a:rPr>
              <a:t>16th International LISA Symposium</a:t>
            </a:r>
            <a:endParaRPr lang="et-EE" dirty="0">
              <a:solidFill>
                <a:srgbClr val="A8B7BF"/>
              </a:solidFill>
            </a:endParaRPr>
          </a:p>
        </p:txBody>
      </p:sp>
      <p:sp>
        <p:nvSpPr>
          <p:cNvPr id="16" name="TextBox 15">
            <a:extLst>
              <a:ext uri="{FF2B5EF4-FFF2-40B4-BE49-F238E27FC236}">
                <a16:creationId xmlns:a16="http://schemas.microsoft.com/office/drawing/2014/main" id="{2A62B713-251E-ABF2-4A4F-69D4082805E7}"/>
              </a:ext>
            </a:extLst>
          </p:cNvPr>
          <p:cNvSpPr txBox="1"/>
          <p:nvPr/>
        </p:nvSpPr>
        <p:spPr>
          <a:xfrm>
            <a:off x="7322211" y="1885857"/>
            <a:ext cx="4344284" cy="369332"/>
          </a:xfrm>
          <a:prstGeom prst="rect">
            <a:avLst/>
          </a:prstGeom>
          <a:noFill/>
        </p:spPr>
        <p:txBody>
          <a:bodyPr wrap="square" rtlCol="0">
            <a:spAutoFit/>
          </a:bodyPr>
          <a:lstStyle/>
          <a:p>
            <a:pPr algn="l"/>
            <a:r>
              <a:rPr lang="en-US" dirty="0">
                <a:solidFill>
                  <a:srgbClr val="667982"/>
                </a:solidFill>
                <a:latin typeface="Helvetica" pitchFamily="2" charset="0"/>
                <a:cs typeface="Arial" panose="020B0604020202020204" pitchFamily="34" charset="0"/>
              </a:rPr>
              <a:t>As per LISA requirements</a:t>
            </a:r>
            <a:endParaRPr lang="et-EE" dirty="0">
              <a:solidFill>
                <a:srgbClr val="667982"/>
              </a:solidFill>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903FEEFB-EC0E-E8C0-919D-DE237E09D8DE}"/>
              </a:ext>
            </a:extLst>
          </p:cNvPr>
          <p:cNvSpPr txBox="1"/>
          <p:nvPr/>
        </p:nvSpPr>
        <p:spPr>
          <a:xfrm>
            <a:off x="6754283" y="3242380"/>
            <a:ext cx="4901239" cy="369332"/>
          </a:xfrm>
          <a:prstGeom prst="rect">
            <a:avLst/>
          </a:prstGeom>
          <a:noFill/>
        </p:spPr>
        <p:txBody>
          <a:bodyPr wrap="square" rtlCol="0">
            <a:spAutoFit/>
          </a:bodyPr>
          <a:lstStyle/>
          <a:p>
            <a:pPr algn="l"/>
            <a:r>
              <a:rPr lang="en-US" dirty="0">
                <a:solidFill>
                  <a:srgbClr val="667982"/>
                </a:solidFill>
                <a:latin typeface="Helvetica" pitchFamily="2" charset="0"/>
                <a:cs typeface="Arial" panose="020B0604020202020204" pitchFamily="34" charset="0"/>
              </a:rPr>
              <a:t>Hence for the arm length uncertainty we get</a:t>
            </a:r>
            <a:endParaRPr lang="et-EE" dirty="0">
              <a:solidFill>
                <a:srgbClr val="667982"/>
              </a:solidFill>
              <a:latin typeface="Helvetica" pitchFamily="2" charset="0"/>
              <a:cs typeface="Arial" panose="020B0604020202020204" pitchFamily="34" charset="0"/>
            </a:endParaRPr>
          </a:p>
        </p:txBody>
      </p:sp>
      <p:pic>
        <p:nvPicPr>
          <p:cNvPr id="8" name="Picture 7" descr="A math equation with numbers and symbols&#10;&#10;AI-generated content may be incorrect.">
            <a:extLst>
              <a:ext uri="{FF2B5EF4-FFF2-40B4-BE49-F238E27FC236}">
                <a16:creationId xmlns:a16="http://schemas.microsoft.com/office/drawing/2014/main" id="{94BBD61C-6E53-E254-18F0-BCCD64F3FD46}"/>
              </a:ext>
            </a:extLst>
          </p:cNvPr>
          <p:cNvPicPr>
            <a:picLocks noChangeAspect="1"/>
          </p:cNvPicPr>
          <p:nvPr/>
        </p:nvPicPr>
        <p:blipFill>
          <a:blip r:embed="rId4"/>
          <a:srcRect t="13493"/>
          <a:stretch>
            <a:fillRect/>
          </a:stretch>
        </p:blipFill>
        <p:spPr>
          <a:xfrm>
            <a:off x="7894780" y="2274807"/>
            <a:ext cx="1599573" cy="785578"/>
          </a:xfrm>
          <a:prstGeom prst="rect">
            <a:avLst/>
          </a:prstGeom>
        </p:spPr>
      </p:pic>
      <p:pic>
        <p:nvPicPr>
          <p:cNvPr id="18" name="Picture 17" descr="A number and symbol on a white background&#10;&#10;AI-generated content may be incorrect.">
            <a:extLst>
              <a:ext uri="{FF2B5EF4-FFF2-40B4-BE49-F238E27FC236}">
                <a16:creationId xmlns:a16="http://schemas.microsoft.com/office/drawing/2014/main" id="{264369EB-260B-9576-918B-C747397A9113}"/>
              </a:ext>
            </a:extLst>
          </p:cNvPr>
          <p:cNvPicPr>
            <a:picLocks noChangeAspect="1"/>
          </p:cNvPicPr>
          <p:nvPr/>
        </p:nvPicPr>
        <p:blipFill>
          <a:blip r:embed="rId5"/>
          <a:srcRect t="13764" b="10197"/>
          <a:stretch>
            <a:fillRect/>
          </a:stretch>
        </p:blipFill>
        <p:spPr>
          <a:xfrm>
            <a:off x="6307736" y="3606371"/>
            <a:ext cx="5458706" cy="769461"/>
          </a:xfrm>
          <a:prstGeom prst="rect">
            <a:avLst/>
          </a:prstGeom>
        </p:spPr>
      </p:pic>
      <p:sp>
        <p:nvSpPr>
          <p:cNvPr id="19" name="TextBox 18">
            <a:extLst>
              <a:ext uri="{FF2B5EF4-FFF2-40B4-BE49-F238E27FC236}">
                <a16:creationId xmlns:a16="http://schemas.microsoft.com/office/drawing/2014/main" id="{5D9E715E-D4BA-544B-C067-81032BCE9141}"/>
              </a:ext>
            </a:extLst>
          </p:cNvPr>
          <p:cNvSpPr txBox="1"/>
          <p:nvPr/>
        </p:nvSpPr>
        <p:spPr>
          <a:xfrm>
            <a:off x="6307736" y="4739823"/>
            <a:ext cx="5670441" cy="369332"/>
          </a:xfrm>
          <a:prstGeom prst="rect">
            <a:avLst/>
          </a:prstGeom>
          <a:noFill/>
        </p:spPr>
        <p:txBody>
          <a:bodyPr wrap="square" rtlCol="0">
            <a:spAutoFit/>
          </a:bodyPr>
          <a:lstStyle/>
          <a:p>
            <a:pPr algn="l"/>
            <a:r>
              <a:rPr lang="en-US" dirty="0">
                <a:solidFill>
                  <a:srgbClr val="667982"/>
                </a:solidFill>
                <a:latin typeface="Helvetica" pitchFamily="2" charset="0"/>
                <a:cs typeface="Arial" panose="020B0604020202020204" pitchFamily="34" charset="0"/>
              </a:rPr>
              <a:t>But to be sensitive enough to detect GWs, we need</a:t>
            </a:r>
            <a:endParaRPr lang="et-EE" dirty="0">
              <a:solidFill>
                <a:srgbClr val="667982"/>
              </a:solidFill>
              <a:latin typeface="Helvetica" pitchFamily="2" charset="0"/>
              <a:cs typeface="Arial" panose="020B0604020202020204" pitchFamily="34" charset="0"/>
            </a:endParaRPr>
          </a:p>
        </p:txBody>
      </p:sp>
      <p:pic>
        <p:nvPicPr>
          <p:cNvPr id="22" name="Picture 21" descr="A close up of a number&#10;&#10;AI-generated content may be incorrect.">
            <a:extLst>
              <a:ext uri="{FF2B5EF4-FFF2-40B4-BE49-F238E27FC236}">
                <a16:creationId xmlns:a16="http://schemas.microsoft.com/office/drawing/2014/main" id="{368CF62F-964C-8805-483C-CC5F8CA76C5A}"/>
              </a:ext>
            </a:extLst>
          </p:cNvPr>
          <p:cNvPicPr>
            <a:picLocks noChangeAspect="1"/>
          </p:cNvPicPr>
          <p:nvPr/>
        </p:nvPicPr>
        <p:blipFill>
          <a:blip r:embed="rId6"/>
          <a:stretch>
            <a:fillRect/>
          </a:stretch>
        </p:blipFill>
        <p:spPr>
          <a:xfrm>
            <a:off x="6970410" y="5102834"/>
            <a:ext cx="3993226" cy="510584"/>
          </a:xfrm>
          <a:prstGeom prst="rect">
            <a:avLst/>
          </a:prstGeom>
        </p:spPr>
      </p:pic>
    </p:spTree>
    <p:extLst>
      <p:ext uri="{BB962C8B-B14F-4D97-AF65-F5344CB8AC3E}">
        <p14:creationId xmlns:p14="http://schemas.microsoft.com/office/powerpoint/2010/main" val="3359804855"/>
      </p:ext>
    </p:extLst>
  </p:cSld>
  <p:clrMapOvr>
    <a:masterClrMapping/>
  </p:clrMapOvr>
  <mc:AlternateContent xmlns:mc="http://schemas.openxmlformats.org/markup-compatibility/2006" xmlns:p14="http://schemas.microsoft.com/office/powerpoint/2010/main">
    <mc:Choice Requires="p14">
      <p:transition spd="slow" p14:dur="2000" advTm="2617"/>
    </mc:Choice>
    <mc:Fallback xmlns="">
      <p:transition spd="slow" advTm="2617"/>
    </mc:Fallback>
  </mc:AlternateContent>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1400" dirty="0" smtClean="0">
            <a:solidFill>
              <a:srgbClr val="66798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B1DC66D-E5F2-47AE-95B4-0173315A923C}">
  <we:reference id="wa200010001" version="1.0.0.1" store="en-US" storeType="OMEX"/>
  <we:alternateReferences>
    <we:reference id="wa200010001" version="1.0.0.1" store="en-US" storeType="OMEX"/>
  </we:alternateReferences>
  <we:properties>
    <we:property name="claude.fileId" value="&quot;bd6d9704-7f75-4984-a044-2c5291c8eb3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 2013 - 2022</Template>
  <TotalTime>73</TotalTime>
  <Words>1165</Words>
  <Application>Microsoft Macintosh PowerPoint</Application>
  <PresentationFormat>Widescreen</PresentationFormat>
  <Paragraphs>214</Paragraphs>
  <Slides>25</Slides>
  <Notes>25</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Courier New</vt:lpstr>
      <vt:lpstr>Helvetica</vt:lpstr>
      <vt:lpstr>Office Theme</vt:lpstr>
      <vt:lpstr>Testbed for Validating Second-Generation TDI and Clock Noise Correction for LISA</vt:lpstr>
      <vt:lpstr>LISA Science Interferometer</vt:lpstr>
      <vt:lpstr>LISA Science Interferometer</vt:lpstr>
      <vt:lpstr>Replicating the LISA Arm in the Lab</vt:lpstr>
      <vt:lpstr>Replicating the LISA Arm in the Lab</vt:lpstr>
      <vt:lpstr>Replicating the LISA Arm in the Lab</vt:lpstr>
      <vt:lpstr>Replicating the LISA Arm in the Lab</vt:lpstr>
      <vt:lpstr>Full Testbed</vt:lpstr>
      <vt:lpstr>Full Testbed</vt:lpstr>
      <vt:lpstr>Cavity Locking</vt:lpstr>
      <vt:lpstr>Delay Line</vt:lpstr>
      <vt:lpstr>PLL Lock of Far Spacecraft</vt:lpstr>
      <vt:lpstr>PLL Lock of Far Spacecraft</vt:lpstr>
      <vt:lpstr>Clock Noise in LISA</vt:lpstr>
      <vt:lpstr>Replicating the LISA Arm in the Lab</vt:lpstr>
      <vt:lpstr>Clock Tone Transfer Performance</vt:lpstr>
      <vt:lpstr>GHz Modulation -- Solution 1</vt:lpstr>
      <vt:lpstr>GHz Modulation -- Solution 2</vt:lpstr>
      <vt:lpstr>Conclusions and Next Steps</vt:lpstr>
      <vt:lpstr>Modulation Noise Characterization</vt:lpstr>
      <vt:lpstr>What to do with the clock noise?</vt:lpstr>
      <vt:lpstr>Experiments so Far</vt:lpstr>
      <vt:lpstr>Experiments so Far</vt:lpstr>
      <vt:lpstr>Predecessor Testbed</vt:lpstr>
      <vt:lpstr>LISA Laser Frequency Noise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a Terramechanics-based Wheel-terrain Contact Model into a Multi-body Simulation Environment</dc:title>
  <dc:creator>Karin Kruuse</dc:creator>
  <cp:lastModifiedBy>user</cp:lastModifiedBy>
  <cp:revision>728</cp:revision>
  <dcterms:created xsi:type="dcterms:W3CDTF">2023-08-26T08:59:13Z</dcterms:created>
  <dcterms:modified xsi:type="dcterms:W3CDTF">2026-06-17T15:08:48Z</dcterms:modified>
</cp:coreProperties>
</file>