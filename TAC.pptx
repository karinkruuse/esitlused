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323" r:id="rId3"/>
    <p:sldId id="317" r:id="rId4"/>
    <p:sldId id="275" r:id="rId5"/>
    <p:sldId id="273" r:id="rId6"/>
    <p:sldId id="297" r:id="rId7"/>
    <p:sldId id="318" r:id="rId8"/>
    <p:sldId id="272" r:id="rId9"/>
    <p:sldId id="284" r:id="rId10"/>
    <p:sldId id="286" r:id="rId11"/>
    <p:sldId id="319" r:id="rId12"/>
    <p:sldId id="259" r:id="rId13"/>
    <p:sldId id="261" r:id="rId14"/>
    <p:sldId id="262" r:id="rId15"/>
    <p:sldId id="320" r:id="rId16"/>
    <p:sldId id="264" r:id="rId17"/>
    <p:sldId id="267" r:id="rId18"/>
    <p:sldId id="300" r:id="rId19"/>
    <p:sldId id="265" r:id="rId20"/>
    <p:sldId id="266" r:id="rId21"/>
    <p:sldId id="292" r:id="rId22"/>
    <p:sldId id="321" r:id="rId23"/>
    <p:sldId id="268" r:id="rId24"/>
    <p:sldId id="299" r:id="rId25"/>
    <p:sldId id="303" r:id="rId26"/>
    <p:sldId id="298" r:id="rId27"/>
    <p:sldId id="269" r:id="rId28"/>
    <p:sldId id="276" r:id="rId29"/>
    <p:sldId id="270" r:id="rId30"/>
    <p:sldId id="326" r:id="rId31"/>
    <p:sldId id="324" r:id="rId32"/>
    <p:sldId id="325" r:id="rId33"/>
    <p:sldId id="327" r:id="rId34"/>
    <p:sldId id="332" r:id="rId35"/>
    <p:sldId id="280" r:id="rId36"/>
    <p:sldId id="322" r:id="rId37"/>
    <p:sldId id="305" r:id="rId38"/>
    <p:sldId id="306" r:id="rId39"/>
    <p:sldId id="330" r:id="rId40"/>
    <p:sldId id="331" r:id="rId41"/>
    <p:sldId id="328" r:id="rId42"/>
    <p:sldId id="271" r:id="rId43"/>
    <p:sldId id="310" r:id="rId44"/>
    <p:sldId id="302" r:id="rId45"/>
    <p:sldId id="304" r:id="rId46"/>
    <p:sldId id="329" r:id="rId4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5D5D5"/>
    <a:srgbClr val="9A9A9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AF682B-40F1-46FA-9DC7-5778D5D2A95C}" v="3" dt="2026-08-27T09:36:45.4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50" autoAdjust="0"/>
    <p:restoredTop sz="75677" autoAdjust="0"/>
  </p:normalViewPr>
  <p:slideViewPr>
    <p:cSldViewPr snapToGrid="0" snapToObjects="1">
      <p:cViewPr varScale="1">
        <p:scale>
          <a:sx n="83" d="100"/>
          <a:sy n="83" d="100"/>
        </p:scale>
        <p:origin x="2024" y="60"/>
      </p:cViewPr>
      <p:guideLst/>
    </p:cSldViewPr>
  </p:slideViewPr>
  <p:outlineViewPr>
    <p:cViewPr>
      <p:scale>
        <a:sx n="33" d="100"/>
        <a:sy n="33" d="100"/>
      </p:scale>
      <p:origin x="0" y="-175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7196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Do I have a defined topic</a:t>
            </a:r>
          </a:p>
          <a:p>
            <a:r>
              <a:rPr lang="en-GB" sz="1200" b="0" i="0" u="none" strike="noStrike" kern="1200" dirty="0">
                <a:solidFill>
                  <a:schemeClr val="tx1"/>
                </a:solidFill>
                <a:effectLst/>
                <a:latin typeface="+mn-lt"/>
                <a:ea typeface="+mn-ea"/>
                <a:cs typeface="+mn-cs"/>
              </a:rPr>
              <a:t>And do I understand that topic, and the physics</a:t>
            </a:r>
          </a:p>
          <a:p>
            <a:r>
              <a:rPr lang="en-GB" sz="1200" b="0" i="0" u="none" strike="noStrike" kern="1200" dirty="0">
                <a:solidFill>
                  <a:schemeClr val="tx1"/>
                </a:solidFill>
                <a:effectLst/>
                <a:latin typeface="+mn-lt"/>
                <a:ea typeface="+mn-ea"/>
                <a:cs typeface="+mn-cs"/>
              </a:rPr>
              <a:t>The TAC decides if that’s a good topic for a thesis</a:t>
            </a:r>
          </a:p>
          <a:p>
            <a:r>
              <a:rPr lang="en-GB" sz="1200" b="0" i="0" u="none" strike="noStrike" kern="1200" dirty="0">
                <a:solidFill>
                  <a:schemeClr val="tx1"/>
                </a:solidFill>
                <a:effectLst/>
                <a:latin typeface="+mn-lt"/>
                <a:ea typeface="+mn-ea"/>
                <a:cs typeface="+mn-cs"/>
              </a:rPr>
              <a:t>	is it worth a degree</a:t>
            </a:r>
          </a:p>
          <a:p>
            <a:r>
              <a:rPr lang="en-GB" sz="1200" b="0" i="0" u="none" strike="noStrike" kern="1200" dirty="0">
                <a:solidFill>
                  <a:schemeClr val="tx1"/>
                </a:solidFill>
                <a:effectLst/>
                <a:latin typeface="+mn-lt"/>
                <a:ea typeface="+mn-ea"/>
                <a:cs typeface="+mn-cs"/>
              </a:rPr>
              <a:t>	is it realistic</a:t>
            </a:r>
          </a:p>
          <a:p>
            <a:r>
              <a:rPr lang="en-GB" sz="1200" b="0" i="0" u="none" strike="noStrike" kern="1200" dirty="0">
                <a:solidFill>
                  <a:schemeClr val="tx1"/>
                </a:solidFill>
                <a:effectLst/>
                <a:latin typeface="+mn-lt"/>
                <a:ea typeface="+mn-ea"/>
                <a:cs typeface="+mn-cs"/>
              </a:rPr>
              <a:t>For ambitious goals, what could be a minimum reasonable level</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TAC2 –status and results, are there changes, what about publications</a:t>
            </a:r>
          </a:p>
          <a:p>
            <a:r>
              <a:rPr lang="en-GB" sz="1200" b="0" i="0" u="none" strike="noStrike" kern="1200" dirty="0">
                <a:solidFill>
                  <a:schemeClr val="tx1"/>
                </a:solidFill>
                <a:effectLst/>
                <a:latin typeface="+mn-lt"/>
                <a:ea typeface="+mn-ea"/>
                <a:cs typeface="+mn-cs"/>
              </a:rPr>
              <a:t>TAC3 – so what is the realistic goal now</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keep the context short, since you all know LISA well. I just want to establish two things before I get to my work: what makes LISA's measurement hard, and why the fix for it lives in post-processing — because that post-processing is exactly what my thesis is built to test.</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42358516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LISA we want to put a gravitational-wave detector in space for two reasons: there's no seismic noise or Newtonian noise, and the arms can be made long enough — millions of </a:t>
            </a:r>
            <a:r>
              <a:rPr lang="en-US" dirty="0" err="1"/>
              <a:t>kilometres</a:t>
            </a:r>
            <a:r>
              <a:rPr lang="en-US" dirty="0"/>
              <a:t> — to be sensitive in the millihertz band. That's the regime LISA targets, and it's inaccessible from the ground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10955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those long arms are the constellation itself: LISA is three spacecraft, 2.5 million </a:t>
            </a:r>
            <a:r>
              <a:rPr lang="en-US" dirty="0" err="1"/>
              <a:t>kilometres</a:t>
            </a:r>
            <a:r>
              <a:rPr lang="en-US" dirty="0"/>
              <a:t> apart.</a:t>
            </a:r>
            <a:br>
              <a:rPr lang="en-US" dirty="0"/>
            </a:br>
            <a:r>
              <a:rPr lang="en-US" dirty="0"/>
              <a:t>To measure the distance change along one arm — between the two opposing test masses — LISA actually splits it between three separate interferometers. We call this split interferometry: one arm, several interferometers.</a:t>
            </a:r>
          </a:p>
          <a:p>
            <a:r>
              <a:rPr lang="en-US" dirty="0"/>
              <a:t>The interferometer we care about for this experiment is the spacecraft-to-spacecraft interferometer — the long-arm link — that’s what Time delay interferometry is most concerned with.</a:t>
            </a:r>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7022026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Delta L is first the arm length </a:t>
            </a:r>
            <a:r>
              <a:rPr lang="en-GB" sz="1200" b="0" i="0" u="none" strike="noStrike" kern="1200" dirty="0" err="1">
                <a:solidFill>
                  <a:schemeClr val="tx1"/>
                </a:solidFill>
                <a:effectLst/>
                <a:latin typeface="+mn-lt"/>
                <a:ea typeface="+mn-ea"/>
                <a:cs typeface="+mn-cs"/>
              </a:rPr>
              <a:t>differneces</a:t>
            </a: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and then its taken to be the ranging error</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basically we see that for the given amount of laser noise that we will have, the difference between the arm lengths should be 1 m. And we put a pin in that.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207995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30166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Let's zoom into a single link — two lasers, one on each spacecraft. Each beam is measured locally and, after the arm delay, at the far spacecraft, where it beats against the local laser on the photodiode — we get a heterodyne measurement. </a:t>
            </a:r>
          </a:p>
          <a:p>
            <a:pPr rtl="0"/>
            <a:r>
              <a:rPr lang="en-US" dirty="0"/>
              <a:t>The green spacecraft is PLL-locked to keep that beat note in the phasemeter band, 5 to 25 MHz, as the Doppler shifts it around. We get a similar </a:t>
            </a:r>
            <a:r>
              <a:rPr lang="en-US" dirty="0" err="1"/>
              <a:t>beatnote</a:t>
            </a:r>
            <a:r>
              <a:rPr lang="en-US" dirty="0"/>
              <a:t> here on the red spacecraft as well.</a:t>
            </a:r>
          </a:p>
          <a:p>
            <a:pPr rtl="0"/>
            <a:endParaRPr lang="en-US" dirty="0"/>
          </a:p>
          <a:p>
            <a:pPr rtl="0"/>
            <a:r>
              <a:rPr lang="en-US" dirty="0"/>
              <a:t>From the photodiode, the signal goes into the phasemeter: it's sampled by an ADC — driven by the onboard ultra-stable oscillator, the USO — and then IQ-demodulated to give the phase fluctuations. </a:t>
            </a:r>
          </a:p>
          <a:p>
            <a:pPr rtl="0"/>
            <a:r>
              <a:rPr lang="en-US" dirty="0"/>
              <a:t>We label this readout </a:t>
            </a:r>
            <a:r>
              <a:rPr lang="en-US" dirty="0" err="1"/>
              <a:t>isi</a:t>
            </a:r>
            <a:r>
              <a:rPr lang="en-US" dirty="0"/>
              <a:t>₁₂: the inter-spacecraft interferometer on spacecraft 1, facing spacecraft 2.</a:t>
            </a:r>
          </a:p>
          <a:p>
            <a:pPr rtl="0"/>
            <a:endParaRPr lang="en-US" dirty="0"/>
          </a:p>
          <a:p>
            <a:pPr rtl="0"/>
            <a:r>
              <a:rPr lang="en-US" dirty="0"/>
              <a:t>Two noise terms in this readout matter for the rest of the talk. The first is the laser frequency noise, p — the red laser is cavity-locked, which </a:t>
            </a:r>
            <a:r>
              <a:rPr lang="en-US" dirty="0" err="1"/>
              <a:t>prestabilises</a:t>
            </a:r>
            <a:r>
              <a:rPr lang="en-US" dirty="0"/>
              <a:t> it to the requirement level I showed earlier, but it still sits orders of magnitude above the signal. The second is the clock noise, q — the USO's timing jitter gets imprinted when the ADC samples, so the phase error scales with the </a:t>
            </a:r>
            <a:r>
              <a:rPr lang="en-US" dirty="0" err="1"/>
              <a:t>beatnote</a:t>
            </a:r>
            <a:r>
              <a:rPr lang="en-US" dirty="0"/>
              <a:t> frequency, and it's referenced to each satellite's own proper time.</a:t>
            </a:r>
          </a:p>
          <a:p>
            <a:pPr rtl="0"/>
            <a:endParaRPr lang="en-US" dirty="0"/>
          </a:p>
          <a:p>
            <a:pPr rtl="0"/>
            <a:r>
              <a:rPr lang="en-US" dirty="0"/>
              <a:t>And it's this coupling — how p and q enter the readout — that TDI and the clock-noise removal are built on. So that exact coupling is what we replicate in the lab — and the open question is whether anything else couples in that the current models miss.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87459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TDI cancels the laser noise in post-processing. We recorded the </a:t>
            </a:r>
            <a:r>
              <a:rPr lang="en-US" dirty="0" err="1"/>
              <a:t>beatnote</a:t>
            </a:r>
            <a:r>
              <a:rPr lang="en-US" dirty="0"/>
              <a:t> phases separately, then time-shift and combine them to synthesize equal arms, so the laser noise lines up and subtracts. But the arms move during the light's round trip — first-generation assumes they're fixed and leaves a residual, so we use second-generation, which nests the delays to stay matched while the arm changes. </a:t>
            </a:r>
          </a:p>
          <a:p>
            <a:pPr rtl="0"/>
            <a:r>
              <a:rPr lang="en-US" dirty="0"/>
              <a:t>Now, if you know the light-travel delays with infinite accuracy, then in theory you can subtract out all of the laser frequency noise between the lasers. But we of course do </a:t>
            </a:r>
            <a:r>
              <a:rPr lang="en-US" dirty="0" err="1"/>
              <a:t>no</a:t>
            </a:r>
            <a:r>
              <a:rPr lang="en-US" dirty="0"/>
              <a:t> know the delays with such accuracies. But what is “guaranteed” by requirements, is the knowledge to about 3 ns – again this is the same 1 m from a separate ranging measurement, which I will not get into here.</a:t>
            </a:r>
          </a:p>
          <a:p>
            <a:pPr rtl="0"/>
            <a:endParaRPr lang="en-GB" dirty="0">
              <a:ea typeface="Calibri" panose="020F0502020204030204"/>
              <a:cs typeface="Calibri" panose="020F0502020204030204"/>
            </a:endParaRPr>
          </a:p>
          <a:p>
            <a:pPr rtl="0"/>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813247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budget. Red is the pre-stabilised laser noise, 30 hertz per root-hertz. Second-generation TDI has to bring that down below the single-link floor — the purple curve, which is our benchmark. Blue is the residual after TDI-2: comfortably below the floor, limited by metre-level ranging. So TDI has to suppress laser noise by about eight orders, and second-generation reaches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8975480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0745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Blah blah about the digital delay line.</a:t>
            </a:r>
          </a:p>
          <a:p>
            <a:r>
              <a:rPr lang="en-US" dirty="0">
                <a:ea typeface="Calibri"/>
                <a:cs typeface="Calibri"/>
              </a:rPr>
              <a:t>ADC </a:t>
            </a:r>
            <a:r>
              <a:rPr lang="en-US" dirty="0" err="1">
                <a:ea typeface="Calibri"/>
                <a:cs typeface="Calibri"/>
              </a:rPr>
              <a:t>nyquist</a:t>
            </a:r>
            <a:r>
              <a:rPr lang="en-US" dirty="0">
                <a:ea typeface="Calibri"/>
                <a:cs typeface="Calibri"/>
              </a:rPr>
              <a:t> limit</a:t>
            </a:r>
          </a:p>
          <a:p>
            <a:r>
              <a:rPr lang="en-US">
                <a:ea typeface="Calibri"/>
                <a:cs typeface="Calibri"/>
              </a:rPr>
              <a:t>Mixing on the electronics</a:t>
            </a:r>
          </a:p>
          <a:p>
            <a:r>
              <a:rPr lang="en-US" dirty="0">
                <a:ea typeface="Calibri"/>
                <a:cs typeface="Calibri"/>
              </a:rPr>
              <a:t>Delay line can inject the GW signal and Doppler </a:t>
            </a:r>
            <a:r>
              <a:rPr lang="en-US" dirty="0" err="1">
                <a:ea typeface="Calibri"/>
                <a:cs typeface="Calibri"/>
              </a:rPr>
              <a:t>shi</a:t>
            </a:r>
            <a:r>
              <a:rPr lang="en-US" dirty="0">
                <a:ea typeface="Calibri" panose="020F0502020204030204"/>
                <a:cs typeface="Calibri" panose="020F0502020204030204"/>
              </a:rPr>
              <a:t>ft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Laser noise still actually has TDI structure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full testbed we're building toward — three spacecraft, one cavity-locked laser and an independent clock each, connected by six delay lines.</a:t>
            </a:r>
          </a:p>
          <a:p>
            <a:endParaRPr lang="en-US" dirty="0"/>
          </a:p>
          <a:p>
            <a:r>
              <a:rPr lang="en-US"/>
              <a:t>What we deliberately leave out is anything that doesn't affect the post-processing: there are no test masses or test-mass interferometers here. We reproduce the inter-spacecraft measurement, and that's what TDI and clock removal act on.</a:t>
            </a:r>
          </a:p>
          <a:p>
            <a:r>
              <a:rPr lang="en-US"/>
              <a:t>Working out which parts of LISA are relevant to reproduce, and how faithfully, is the subject of a paper we're currently drafting. And it's this configuration that lets us run TDI and clock-noise removal together, on real optical signals."</a:t>
            </a:r>
          </a:p>
          <a:p>
            <a:endParaRPr lang="en-US" dirty="0">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8491757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delay line itself was built by my colleague Reid Ferguson, programmed in VHDL on the </a:t>
            </a:r>
            <a:r>
              <a:rPr lang="en-US" dirty="0" err="1"/>
              <a:t>RFSoC</a:t>
            </a:r>
            <a:r>
              <a:rPr lang="en-US" dirty="0"/>
              <a:t> board. It's what makes the testbed work: it applies the time-varying delays between the arms, adds the Doppler shifts, and injects the gravitational-wave signal. And here's the baseline noise measurement — it sits below the single-link floor, so the delay line isn't what limits us.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The TDI 2 measurement</a:t>
            </a:r>
          </a:p>
          <a:p>
            <a:r>
              <a:rPr lang="en-GB" sz="1200" b="0" i="0" u="none" strike="noStrike" kern="1200" dirty="0">
                <a:solidFill>
                  <a:schemeClr val="tx1"/>
                </a:solidFill>
                <a:effectLst/>
                <a:latin typeface="+mn-lt"/>
                <a:ea typeface="+mn-ea"/>
                <a:cs typeface="+mn-cs"/>
              </a:rPr>
              <a:t>The injected noise level is low, so the level of noise removed might be better with more noise</a:t>
            </a:r>
          </a:p>
          <a:p>
            <a:r>
              <a:rPr lang="en-GB" sz="1200" b="0" i="0" u="none" strike="noStrike" kern="1200" dirty="0">
                <a:solidFill>
                  <a:schemeClr val="tx1"/>
                </a:solidFill>
                <a:effectLst/>
                <a:latin typeface="+mn-lt"/>
                <a:ea typeface="+mn-ea"/>
                <a:cs typeface="+mn-cs"/>
              </a:rPr>
              <a:t>Calculate the order of magnitude of noise removed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3417614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Why don’t the peaks come to 0?</a:t>
            </a:r>
          </a:p>
          <a:p>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spc="-50" dirty="0">
                <a:solidFill>
                  <a:srgbClr val="252525"/>
                </a:solidFill>
                <a:latin typeface="Helvetica Neue" pitchFamily="34" charset="0"/>
                <a:ea typeface="Helvetica Neue" pitchFamily="34" charset="-122"/>
                <a:cs typeface="Helvetica Neue" pitchFamily="34" charset="-120"/>
              </a:rPr>
              <a:t>Photodetector readings are dominated by free-running laser frequency noise.</a:t>
            </a:r>
            <a:endParaRPr lang="en-US" sz="1200" spc="-50" dirty="0"/>
          </a:p>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A1A1A"/>
                </a:solidFill>
                <a:latin typeface="Helvetica Neue" pitchFamily="34" charset="0"/>
                <a:ea typeface="Helvetica Neue" pitchFamily="34" charset="-122"/>
                <a:cs typeface="Helvetica Neue" pitchFamily="34" charset="-120"/>
              </a:rPr>
              <a:t>We can recover a LISA-like one-way laser-noise transfer function.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This will likely limit the measurement time.</a:t>
            </a:r>
          </a:p>
          <a:p>
            <a:r>
              <a:rPr lang="en-GB" sz="1200" b="0" i="0" u="none" strike="noStrike" kern="1200" dirty="0">
                <a:solidFill>
                  <a:schemeClr val="tx1"/>
                </a:solidFill>
                <a:effectLst/>
                <a:latin typeface="+mn-lt"/>
                <a:ea typeface="+mn-ea"/>
                <a:cs typeface="+mn-cs"/>
              </a:rPr>
              <a:t>How long should a measurement run for?</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reason I’m bringing this up is that this limits our measurement time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064396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Do I have a defined topic</a:t>
            </a:r>
          </a:p>
          <a:p>
            <a:r>
              <a:rPr lang="en-GB" sz="1200" b="0" i="0" u="none" strike="noStrike" kern="1200" dirty="0">
                <a:solidFill>
                  <a:schemeClr val="tx1"/>
                </a:solidFill>
                <a:effectLst/>
                <a:latin typeface="+mn-lt"/>
                <a:ea typeface="+mn-ea"/>
                <a:cs typeface="+mn-cs"/>
              </a:rPr>
              <a:t>And do I understand that topic, and the physics</a:t>
            </a:r>
          </a:p>
          <a:p>
            <a:r>
              <a:rPr lang="en-GB" sz="1200" b="0" i="0" u="none" strike="noStrike" kern="1200" dirty="0">
                <a:solidFill>
                  <a:schemeClr val="tx1"/>
                </a:solidFill>
                <a:effectLst/>
                <a:latin typeface="+mn-lt"/>
                <a:ea typeface="+mn-ea"/>
                <a:cs typeface="+mn-cs"/>
              </a:rPr>
              <a:t>The TAC decides if that’s a good topic for a thesis</a:t>
            </a:r>
          </a:p>
          <a:p>
            <a:r>
              <a:rPr lang="en-GB" sz="1200" b="0" i="0" u="none" strike="noStrike" kern="1200" dirty="0">
                <a:solidFill>
                  <a:schemeClr val="tx1"/>
                </a:solidFill>
                <a:effectLst/>
                <a:latin typeface="+mn-lt"/>
                <a:ea typeface="+mn-ea"/>
                <a:cs typeface="+mn-cs"/>
              </a:rPr>
              <a:t>	is it worth a degree</a:t>
            </a:r>
          </a:p>
          <a:p>
            <a:r>
              <a:rPr lang="en-GB" sz="1200" b="0" i="0" u="none" strike="noStrike" kern="1200" dirty="0">
                <a:solidFill>
                  <a:schemeClr val="tx1"/>
                </a:solidFill>
                <a:effectLst/>
                <a:latin typeface="+mn-lt"/>
                <a:ea typeface="+mn-ea"/>
                <a:cs typeface="+mn-cs"/>
              </a:rPr>
              <a:t>	is it realistic</a:t>
            </a:r>
          </a:p>
          <a:p>
            <a:r>
              <a:rPr lang="en-GB" sz="1200" b="0" i="0" u="none" strike="noStrike" kern="1200" dirty="0">
                <a:solidFill>
                  <a:schemeClr val="tx1"/>
                </a:solidFill>
                <a:effectLst/>
                <a:latin typeface="+mn-lt"/>
                <a:ea typeface="+mn-ea"/>
                <a:cs typeface="+mn-cs"/>
              </a:rPr>
              <a:t>For ambitious goals, what could be a minimum reasonable level</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TAC2 –status and results, are there changes, what about publications</a:t>
            </a:r>
          </a:p>
          <a:p>
            <a:r>
              <a:rPr lang="en-GB" sz="1200" b="0" i="0" u="none" strike="noStrike" kern="1200" dirty="0">
                <a:solidFill>
                  <a:schemeClr val="tx1"/>
                </a:solidFill>
                <a:effectLst/>
                <a:latin typeface="+mn-lt"/>
                <a:ea typeface="+mn-ea"/>
                <a:cs typeface="+mn-cs"/>
              </a:rPr>
              <a:t>TAC3 – so what is the realistic goal now</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2991728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This has to very nicely nail down the problem. </a:t>
            </a:r>
            <a:r>
              <a:rPr lang="en-GB" sz="1200" b="0" i="0" u="none" strike="noStrike" kern="1200" dirty="0" err="1">
                <a:solidFill>
                  <a:schemeClr val="tx1"/>
                </a:solidFill>
                <a:effectLst/>
                <a:latin typeface="+mn-lt"/>
                <a:ea typeface="+mn-ea"/>
                <a:cs typeface="+mn-cs"/>
              </a:rPr>
              <a:t>Probbaly</a:t>
            </a:r>
            <a:r>
              <a:rPr lang="en-GB" sz="1200" b="0" i="0" u="none" strike="noStrike" kern="1200" dirty="0">
                <a:solidFill>
                  <a:schemeClr val="tx1"/>
                </a:solidFill>
                <a:effectLst/>
                <a:latin typeface="+mn-lt"/>
                <a:ea typeface="+mn-ea"/>
                <a:cs typeface="+mn-cs"/>
              </a:rPr>
              <a:t> add more stuff to this slide that I can point at</a:t>
            </a:r>
          </a:p>
          <a:p>
            <a:r>
              <a:rPr lang="en-GB" sz="1200" b="0" i="0" u="none" strike="noStrike" kern="1200" dirty="0">
                <a:solidFill>
                  <a:schemeClr val="tx1"/>
                </a:solidFill>
                <a:effectLst/>
                <a:latin typeface="+mn-lt"/>
                <a:ea typeface="+mn-ea"/>
                <a:cs typeface="+mn-cs"/>
              </a:rPr>
              <a:t>Add the spectrum picture?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N_12 should couple with nu1</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733505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what is the </a:t>
            </a:r>
            <a:r>
              <a:rPr lang="en-GB" sz="1200" b="0" i="0" u="none" strike="noStrike" kern="1200" dirty="0" err="1">
                <a:solidFill>
                  <a:schemeClr val="tx1"/>
                </a:solidFill>
                <a:effectLst/>
                <a:latin typeface="+mn-lt"/>
                <a:ea typeface="+mn-ea"/>
                <a:cs typeface="+mn-cs"/>
              </a:rPr>
              <a:t>fdm</a:t>
            </a:r>
            <a:r>
              <a:rPr lang="en-GB" sz="1200" b="0" i="0" u="none" strike="noStrike" kern="1200" dirty="0">
                <a:solidFill>
                  <a:schemeClr val="tx1"/>
                </a:solidFill>
                <a:effectLst/>
                <a:latin typeface="+mn-lt"/>
                <a:ea typeface="+mn-ea"/>
                <a:cs typeface="+mn-cs"/>
              </a:rPr>
              <a:t> critical thing in the testbed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94079596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err="1">
                <a:solidFill>
                  <a:schemeClr val="tx1"/>
                </a:solidFill>
                <a:effectLst/>
                <a:latin typeface="+mn-lt"/>
                <a:ea typeface="+mn-ea"/>
                <a:cs typeface="+mn-cs"/>
              </a:rPr>
              <a:t>Teka</a:t>
            </a:r>
            <a:r>
              <a:rPr lang="en-GB" sz="1200" b="0" i="0" u="none" strike="noStrike" kern="1200" dirty="0">
                <a:solidFill>
                  <a:schemeClr val="tx1"/>
                </a:solidFill>
                <a:effectLst/>
                <a:latin typeface="+mn-lt"/>
                <a:ea typeface="+mn-ea"/>
                <a:cs typeface="+mn-cs"/>
              </a:rPr>
              <a:t> the noise floor from here? Also does this match 2 baseline noise floor?</a:t>
            </a:r>
          </a:p>
          <a:p>
            <a:r>
              <a:rPr lang="en-GB" sz="1200" b="0" i="0" u="none" strike="noStrike" kern="1200" dirty="0">
                <a:solidFill>
                  <a:schemeClr val="tx1"/>
                </a:solidFill>
                <a:effectLst/>
                <a:latin typeface="+mn-lt"/>
                <a:ea typeface="+mn-ea"/>
                <a:cs typeface="+mn-cs"/>
              </a:rPr>
              <a:t>How was that applied here? What EXACTLY can we learn from this? Like if it was baseline limited, where would the green line be instead</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How can I tell if its from timing or phase? – repeat with a higher frequency?</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But like </a:t>
            </a:r>
            <a:r>
              <a:rPr lang="en-GB" sz="1200" b="0" i="0" u="none" strike="noStrike" kern="1200" dirty="0" err="1">
                <a:solidFill>
                  <a:schemeClr val="tx1"/>
                </a:solidFill>
                <a:effectLst/>
                <a:latin typeface="+mn-lt"/>
                <a:ea typeface="+mn-ea"/>
                <a:cs typeface="+mn-cs"/>
              </a:rPr>
              <a:t>unneccesary</a:t>
            </a:r>
            <a:r>
              <a:rPr lang="en-GB" sz="1200" b="0" i="0" u="none" strike="noStrike" kern="1200" dirty="0">
                <a:solidFill>
                  <a:schemeClr val="tx1"/>
                </a:solidFill>
                <a:effectLst/>
                <a:latin typeface="+mn-lt"/>
                <a:ea typeface="+mn-ea"/>
                <a:cs typeface="+mn-cs"/>
              </a:rPr>
              <a:t> to characterize here </a:t>
            </a:r>
            <a:r>
              <a:rPr lang="en-GB" sz="1200" b="0" i="0" u="none" strike="noStrike" kern="1200" dirty="0" err="1">
                <a:solidFill>
                  <a:schemeClr val="tx1"/>
                </a:solidFill>
                <a:effectLst/>
                <a:latin typeface="+mn-lt"/>
                <a:ea typeface="+mn-ea"/>
                <a:cs typeface="+mn-cs"/>
              </a:rPr>
              <a:t>bc</a:t>
            </a:r>
            <a:r>
              <a:rPr lang="en-GB" sz="1200" b="0" i="0" u="none" strike="noStrike" kern="1200" dirty="0">
                <a:solidFill>
                  <a:schemeClr val="tx1"/>
                </a:solidFill>
                <a:effectLst/>
                <a:latin typeface="+mn-lt"/>
                <a:ea typeface="+mn-ea"/>
                <a:cs typeface="+mn-cs"/>
              </a:rPr>
              <a:t> we move to optics anyways</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We should be seeing the PM1 noise lobes</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basically why is the noise level so high? Repeat with other modulating frequencies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5824954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 the requirement lines?</a:t>
            </a:r>
            <a:br>
              <a:rPr lang="en-US" dirty="0"/>
            </a:br>
            <a:r>
              <a:rPr lang="en-US" dirty="0"/>
              <a:t>This </a:t>
            </a:r>
            <a:r>
              <a:rPr lang="en-US" dirty="0" err="1"/>
              <a:t>iis</a:t>
            </a:r>
            <a:r>
              <a:rPr lang="en-US" dirty="0"/>
              <a:t> in line  with other’s measurements</a:t>
            </a:r>
          </a:p>
          <a:p>
            <a:endParaRPr lang="en-US" dirty="0"/>
          </a:p>
          <a:p>
            <a:r>
              <a:rPr lang="en-US" dirty="0"/>
              <a:t>This is the similar thing in optics. Is this from timing jitters or direct phase noise? </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964357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Some solutions that we first came up with? Do I need to list them?</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Modulating the ref laser is one bucket of solutions the other bucket is to relax the Nyquist limit. BUT WE DEF NEED TO INCREASE THE modulation, just the question is how do we get it into the delay lines.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2205842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Modulating the ref laser is one bucket of solutions the other bucket is to relax the Nyquist limit. BUT WE DEF NEED TO INCREASE THE modulation, just the question is how do we get it into the delay lines.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7079272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9538885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7453672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ea typeface="Calibri"/>
                <a:cs typeface="Calibri"/>
              </a:rPr>
              <a:t>Modulate the reference laser to get </a:t>
            </a:r>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0892041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How do I nicely illustrate this solution? Why isn’t the modulation noise limiting here</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If the green line is on the red line, then that means that the modulation frequency * modulation noise &lt; baseline phase noise</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This might not be the case for GHz or higher frequencies in general. Though we can just repeat the measurement with a higher frequency.</a:t>
            </a: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BUT THIS SHOULDN’T BE THE PHASEMETER CLOCK</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27880141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4575281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4215034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42547064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40552687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0573043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GB" sz="1200" b="0" i="0" u="none" strike="noStrike" kern="1200" dirty="0" err="1">
                <a:solidFill>
                  <a:schemeClr val="tx1"/>
                </a:solidFill>
                <a:effectLst/>
                <a:latin typeface="+mn-lt"/>
                <a:ea typeface="+mn-ea"/>
                <a:cs typeface="+mn-cs"/>
              </a:rPr>
              <a:t>Theres</a:t>
            </a:r>
            <a:r>
              <a:rPr lang="en-GB" sz="1200" b="0" i="0" u="none" strike="noStrike" kern="1200" dirty="0">
                <a:solidFill>
                  <a:schemeClr val="tx1"/>
                </a:solidFill>
                <a:effectLst/>
                <a:latin typeface="+mn-lt"/>
                <a:ea typeface="+mn-ea"/>
                <a:cs typeface="+mn-cs"/>
              </a:rPr>
              <a:t> a paper and id like to test we get good results</a:t>
            </a:r>
          </a:p>
          <a:p>
            <a:pPr marL="228600" indent="-228600">
              <a:buAutoNum type="arabicParenR"/>
            </a:pPr>
            <a:r>
              <a:rPr lang="en-GB" sz="1200" b="0" i="0" u="none" strike="noStrike" kern="1200" dirty="0">
                <a:solidFill>
                  <a:schemeClr val="tx1"/>
                </a:solidFill>
                <a:effectLst/>
                <a:latin typeface="+mn-lt"/>
                <a:ea typeface="+mn-ea"/>
                <a:cs typeface="+mn-cs"/>
              </a:rPr>
              <a:t>The delay line is designed for </a:t>
            </a:r>
            <a:r>
              <a:rPr lang="en-GB" sz="1200" b="0" i="0" u="none" strike="noStrike" kern="1200" dirty="0" err="1">
                <a:solidFill>
                  <a:schemeClr val="tx1"/>
                </a:solidFill>
                <a:effectLst/>
                <a:latin typeface="+mn-lt"/>
                <a:ea typeface="+mn-ea"/>
                <a:cs typeface="+mn-cs"/>
              </a:rPr>
              <a:t>mHz</a:t>
            </a:r>
            <a:r>
              <a:rPr lang="en-GB" sz="1200" b="0" i="0" u="none" strike="noStrike" kern="1200" dirty="0">
                <a:solidFill>
                  <a:schemeClr val="tx1"/>
                </a:solidFill>
                <a:effectLst/>
                <a:latin typeface="+mn-lt"/>
                <a:ea typeface="+mn-ea"/>
                <a:cs typeface="+mn-cs"/>
              </a:rPr>
              <a:t> noise to be preserved exactly. But ranging happened at kHz. So we need to make sure that that is </a:t>
            </a:r>
            <a:r>
              <a:rPr lang="en-GB" sz="1200" b="0" i="0" u="none" strike="noStrike" kern="1200" dirty="0" err="1">
                <a:solidFill>
                  <a:schemeClr val="tx1"/>
                </a:solidFill>
                <a:effectLst/>
                <a:latin typeface="+mn-lt"/>
                <a:ea typeface="+mn-ea"/>
                <a:cs typeface="+mn-cs"/>
              </a:rPr>
              <a:t>presered</a:t>
            </a:r>
            <a:r>
              <a:rPr lang="en-GB" sz="1200" b="0" i="0" u="none" strike="noStrike" kern="1200" dirty="0">
                <a:solidFill>
                  <a:schemeClr val="tx1"/>
                </a:solidFill>
                <a:effectLst/>
                <a:latin typeface="+mn-lt"/>
                <a:ea typeface="+mn-ea"/>
                <a:cs typeface="+mn-cs"/>
              </a:rPr>
              <a:t> properly as well.</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2413483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To wrap up — what we're building is an integrated optical testbed for validating LISA's post-processing, both TDI and clock-noise removal, on real hardware.</a:t>
            </a:r>
          </a:p>
          <a:p>
            <a:pPr rtl="0"/>
            <a:r>
              <a:rPr lang="en-US" dirty="0"/>
              <a:t>Where we stand: TDI-2 with signal recovery is demonstrated on the electronic testbed, and the optics now lock through the delay line, so the two sides are starting to come together.</a:t>
            </a:r>
          </a:p>
          <a:p>
            <a:pPr rtl="0"/>
            <a:r>
              <a:rPr lang="en-US" dirty="0"/>
              <a:t>The immediate next steps are to pin down what's limiting the multi-board floor, and then to bring in real laser and clock noise instead of injected signals.</a:t>
            </a:r>
          </a:p>
          <a:p>
            <a:pPr rtl="0"/>
            <a:r>
              <a:rPr lang="en-US" dirty="0"/>
              <a:t>The goal that follows from that is the full three-arm measurement — TDI with clock-noise removal, aiming for LISA-level performance. That's the core of what this work is building toward.</a:t>
            </a:r>
          </a:p>
          <a:p>
            <a:pPr rtl="0"/>
            <a:r>
              <a:rPr lang="en-US" dirty="0"/>
              <a:t>And beyond that, there are some nice additions if time allows — testing TDI without the clock-synchronization algorithm, and adding PRN ranging, though that one needs real modification to the delay board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do like a whole board diagram, and as u go though it, mention places where clock noise can couple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5164735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507456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50729105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USB-LSB line is lower than the other two, the measurement likely isn’t modulation noise limited, and by that I mean that </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0880685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p:bg>
      <p:bgRef idx="1001">
        <a:schemeClr val="bg1"/>
      </p:bgRef>
    </p:bg>
    <p:spTree>
      <p:nvGrpSpPr>
        <p:cNvPr id="1" name=""/>
        <p:cNvGrpSpPr/>
        <p:nvPr/>
      </p:nvGrpSpPr>
      <p:grpSpPr>
        <a:xfrm>
          <a:off x="0" y="0"/>
          <a:ext cx="0" cy="0"/>
          <a:chOff x="0" y="0"/>
          <a:chExt cx="0" cy="0"/>
        </a:xfrm>
      </p:grpSpPr>
      <p:sp>
        <p:nvSpPr>
          <p:cNvPr id="8" name="Text 1">
            <a:extLst>
              <a:ext uri="{FF2B5EF4-FFF2-40B4-BE49-F238E27FC236}">
                <a16:creationId xmlns:a16="http://schemas.microsoft.com/office/drawing/2014/main" id="{E45398B3-E451-4F75-9BEE-FBF0A4A3856E}"/>
              </a:ext>
            </a:extLst>
          </p:cNvPr>
          <p:cNvSpPr/>
          <p:nvPr userDrawn="1"/>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17" name="Text Placeholder 16">
            <a:extLst>
              <a:ext uri="{FF2B5EF4-FFF2-40B4-BE49-F238E27FC236}">
                <a16:creationId xmlns:a16="http://schemas.microsoft.com/office/drawing/2014/main" id="{E1F8B7DA-3D18-4F5C-BB05-86D57BFCD5D3}"/>
              </a:ext>
            </a:extLst>
          </p:cNvPr>
          <p:cNvSpPr>
            <a:spLocks noGrp="1"/>
          </p:cNvSpPr>
          <p:nvPr>
            <p:ph type="body" sz="quarter" idx="11" hasCustomPrompt="1"/>
          </p:nvPr>
        </p:nvSpPr>
        <p:spPr>
          <a:xfrm>
            <a:off x="649648" y="543041"/>
            <a:ext cx="8131175" cy="287800"/>
          </a:xfrm>
          <a:prstGeom prst="rect">
            <a:avLst/>
          </a:prstGeom>
        </p:spPr>
        <p:txBody>
          <a:bodyPr/>
          <a:lstStyle>
            <a:lvl1pPr marL="0" indent="0">
              <a:buNone/>
              <a:defRPr sz="1200" b="1" spc="200" baseline="0">
                <a:solidFill>
                  <a:srgbClr val="9A9A9A"/>
                </a:solidFill>
                <a:latin typeface="Helvetica Neue"/>
              </a:defRPr>
            </a:lvl1pPr>
          </a:lstStyle>
          <a:p>
            <a:pPr lvl="0"/>
            <a:r>
              <a:rPr lang="en-US" dirty="0"/>
              <a:t>THE LISA MEASUREMENT</a:t>
            </a:r>
          </a:p>
        </p:txBody>
      </p:sp>
      <p:sp>
        <p:nvSpPr>
          <p:cNvPr id="20" name="Title 19">
            <a:extLst>
              <a:ext uri="{FF2B5EF4-FFF2-40B4-BE49-F238E27FC236}">
                <a16:creationId xmlns:a16="http://schemas.microsoft.com/office/drawing/2014/main" id="{1320EFB6-AE15-4BB3-90C2-C661301ABCEA}"/>
              </a:ext>
            </a:extLst>
          </p:cNvPr>
          <p:cNvSpPr>
            <a:spLocks noGrp="1"/>
          </p:cNvSpPr>
          <p:nvPr>
            <p:ph type="title"/>
          </p:nvPr>
        </p:nvSpPr>
        <p:spPr>
          <a:xfrm>
            <a:off x="649648" y="796303"/>
            <a:ext cx="15773400" cy="548772"/>
          </a:xfrm>
          <a:prstGeom prst="rect">
            <a:avLst/>
          </a:prstGeom>
        </p:spPr>
        <p:txBody>
          <a:bodyPr/>
          <a:lstStyle>
            <a:lvl1pPr algn="l">
              <a:defRPr sz="3200" b="1" spc="-100" baseline="0">
                <a:latin typeface="Helvetica Neue"/>
              </a:defRPr>
            </a:lvl1pPr>
          </a:lstStyle>
          <a:p>
            <a:r>
              <a:rPr lang="en-US" dirty="0"/>
              <a:t>Click to edit Master title style</a:t>
            </a:r>
            <a:endParaRPr lang="LID4096" dirty="0"/>
          </a:p>
        </p:txBody>
      </p:sp>
      <p:sp>
        <p:nvSpPr>
          <p:cNvPr id="3" name="Text Placeholder 2">
            <a:extLst>
              <a:ext uri="{FF2B5EF4-FFF2-40B4-BE49-F238E27FC236}">
                <a16:creationId xmlns:a16="http://schemas.microsoft.com/office/drawing/2014/main" id="{CA6238F1-D659-4A57-8E10-7FCE715E2DC8}"/>
              </a:ext>
            </a:extLst>
          </p:cNvPr>
          <p:cNvSpPr>
            <a:spLocks noGrp="1"/>
          </p:cNvSpPr>
          <p:nvPr>
            <p:ph type="body" sz="quarter" idx="12"/>
          </p:nvPr>
        </p:nvSpPr>
        <p:spPr>
          <a:xfrm>
            <a:off x="649648" y="1758950"/>
            <a:ext cx="7667265" cy="7332663"/>
          </a:xfrm>
          <a:prstGeom prst="rect">
            <a:avLst/>
          </a:prstGeom>
        </p:spPr>
        <p:txBody>
          <a:bodyPr/>
          <a:lstStyle>
            <a:lvl1pPr marL="0" indent="0">
              <a:buNone/>
              <a:defRPr spc="-100" baseline="0">
                <a:latin typeface="Helvetica Neue"/>
                <a:ea typeface="Helvetica Neue"/>
              </a:defRPr>
            </a:lvl1pPr>
            <a:lvl2pPr marL="457200" indent="0">
              <a:buNone/>
              <a:defRPr spc="-100" baseline="0">
                <a:latin typeface="Helvetica Neue"/>
                <a:ea typeface="Helvetica Neue"/>
              </a:defRPr>
            </a:lvl2pPr>
            <a:lvl3pPr marL="914400" indent="0">
              <a:buNone/>
              <a:defRPr spc="-100" baseline="0">
                <a:latin typeface="Helvetica Neue"/>
                <a:ea typeface="Helvetica Neue"/>
              </a:defRPr>
            </a:lvl3pPr>
            <a:lvl4pPr marL="1371600" indent="0">
              <a:buNone/>
              <a:defRPr spc="-100" baseline="0">
                <a:latin typeface="Helvetica Neue"/>
                <a:ea typeface="Helvetica Neue"/>
              </a:defRPr>
            </a:lvl4pPr>
            <a:lvl5pPr marL="1828800" indent="0">
              <a:buNone/>
              <a:defRPr spc="-100" baseline="0">
                <a:latin typeface="Helvetica Neue"/>
                <a:ea typeface="Helvetica Neu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LID4096" dirty="0"/>
          </a:p>
        </p:txBody>
      </p:sp>
      <p:sp>
        <p:nvSpPr>
          <p:cNvPr id="10" name="Shape 4">
            <a:extLst>
              <a:ext uri="{FF2B5EF4-FFF2-40B4-BE49-F238E27FC236}">
                <a16:creationId xmlns:a16="http://schemas.microsoft.com/office/drawing/2014/main" id="{5A7181A4-A503-4E15-A6C3-606DBCAA1B98}"/>
              </a:ext>
            </a:extLst>
          </p:cNvPr>
          <p:cNvSpPr/>
          <p:nvPr userDrawn="1"/>
        </p:nvSpPr>
        <p:spPr>
          <a:xfrm>
            <a:off x="649648" y="9505950"/>
            <a:ext cx="16920000" cy="9525"/>
          </a:xfrm>
          <a:prstGeom prst="rect">
            <a:avLst/>
          </a:prstGeom>
          <a:solidFill>
            <a:srgbClr val="ECECEC"/>
          </a:solid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DEFAULT">
    <p:bg>
      <p:bgRef idx="1001">
        <a:schemeClr val="bg1"/>
      </p:bgRef>
    </p:bg>
    <p:spTree>
      <p:nvGrpSpPr>
        <p:cNvPr id="1" name=""/>
        <p:cNvGrpSpPr/>
        <p:nvPr/>
      </p:nvGrpSpPr>
      <p:grpSpPr>
        <a:xfrm>
          <a:off x="0" y="0"/>
          <a:ext cx="0" cy="0"/>
          <a:chOff x="0" y="0"/>
          <a:chExt cx="0" cy="0"/>
        </a:xfrm>
      </p:grpSpPr>
      <p:sp>
        <p:nvSpPr>
          <p:cNvPr id="8" name="Text 1">
            <a:extLst>
              <a:ext uri="{FF2B5EF4-FFF2-40B4-BE49-F238E27FC236}">
                <a16:creationId xmlns:a16="http://schemas.microsoft.com/office/drawing/2014/main" id="{E45398B3-E451-4F75-9BEE-FBF0A4A3856E}"/>
              </a:ext>
            </a:extLst>
          </p:cNvPr>
          <p:cNvSpPr/>
          <p:nvPr userDrawn="1"/>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9" name="Shape 4">
            <a:extLst>
              <a:ext uri="{FF2B5EF4-FFF2-40B4-BE49-F238E27FC236}">
                <a16:creationId xmlns:a16="http://schemas.microsoft.com/office/drawing/2014/main" id="{A65D3221-0C71-4F10-A61B-7F1D317A731B}"/>
              </a:ext>
            </a:extLst>
          </p:cNvPr>
          <p:cNvSpPr/>
          <p:nvPr userDrawn="1"/>
        </p:nvSpPr>
        <p:spPr>
          <a:xfrm>
            <a:off x="649648" y="9505950"/>
            <a:ext cx="16920000" cy="9525"/>
          </a:xfrm>
          <a:prstGeom prst="rect">
            <a:avLst/>
          </a:prstGeom>
          <a:solidFill>
            <a:srgbClr val="ECECEC"/>
          </a:solidFill>
          <a:ln/>
        </p:spPr>
      </p:sp>
      <p:sp>
        <p:nvSpPr>
          <p:cNvPr id="17" name="Text Placeholder 16">
            <a:extLst>
              <a:ext uri="{FF2B5EF4-FFF2-40B4-BE49-F238E27FC236}">
                <a16:creationId xmlns:a16="http://schemas.microsoft.com/office/drawing/2014/main" id="{E1F8B7DA-3D18-4F5C-BB05-86D57BFCD5D3}"/>
              </a:ext>
            </a:extLst>
          </p:cNvPr>
          <p:cNvSpPr>
            <a:spLocks noGrp="1"/>
          </p:cNvSpPr>
          <p:nvPr>
            <p:ph type="body" sz="quarter" idx="11" hasCustomPrompt="1"/>
          </p:nvPr>
        </p:nvSpPr>
        <p:spPr>
          <a:xfrm>
            <a:off x="649648" y="543041"/>
            <a:ext cx="8131175" cy="287800"/>
          </a:xfrm>
          <a:prstGeom prst="rect">
            <a:avLst/>
          </a:prstGeom>
        </p:spPr>
        <p:txBody>
          <a:bodyPr/>
          <a:lstStyle>
            <a:lvl1pPr marL="0" indent="0">
              <a:buNone/>
              <a:defRPr sz="1200" b="1" spc="200" baseline="0">
                <a:solidFill>
                  <a:srgbClr val="9A9A9A"/>
                </a:solidFill>
                <a:latin typeface="Helvetica Neue"/>
              </a:defRPr>
            </a:lvl1pPr>
          </a:lstStyle>
          <a:p>
            <a:pPr lvl="0"/>
            <a:r>
              <a:rPr lang="en-US" dirty="0"/>
              <a:t>THE LISA MEASUREMENT</a:t>
            </a:r>
          </a:p>
        </p:txBody>
      </p:sp>
      <p:sp>
        <p:nvSpPr>
          <p:cNvPr id="20" name="Title 19">
            <a:extLst>
              <a:ext uri="{FF2B5EF4-FFF2-40B4-BE49-F238E27FC236}">
                <a16:creationId xmlns:a16="http://schemas.microsoft.com/office/drawing/2014/main" id="{1320EFB6-AE15-4BB3-90C2-C661301ABCEA}"/>
              </a:ext>
            </a:extLst>
          </p:cNvPr>
          <p:cNvSpPr>
            <a:spLocks noGrp="1"/>
          </p:cNvSpPr>
          <p:nvPr>
            <p:ph type="title"/>
          </p:nvPr>
        </p:nvSpPr>
        <p:spPr>
          <a:xfrm>
            <a:off x="649648" y="796303"/>
            <a:ext cx="15773400" cy="548772"/>
          </a:xfrm>
          <a:prstGeom prst="rect">
            <a:avLst/>
          </a:prstGeom>
        </p:spPr>
        <p:txBody>
          <a:bodyPr/>
          <a:lstStyle>
            <a:lvl1pPr algn="l">
              <a:defRPr sz="3200" b="1" spc="-100" baseline="0">
                <a:latin typeface="Helvetica Neue"/>
              </a:defRPr>
            </a:lvl1pPr>
          </a:lstStyle>
          <a:p>
            <a:r>
              <a:rPr lang="en-US" dirty="0"/>
              <a:t>Click to edit Master title style</a:t>
            </a:r>
            <a:endParaRPr lang="LID4096" dirty="0"/>
          </a:p>
        </p:txBody>
      </p:sp>
      <p:sp>
        <p:nvSpPr>
          <p:cNvPr id="3" name="Text Placeholder 2">
            <a:extLst>
              <a:ext uri="{FF2B5EF4-FFF2-40B4-BE49-F238E27FC236}">
                <a16:creationId xmlns:a16="http://schemas.microsoft.com/office/drawing/2014/main" id="{CA6238F1-D659-4A57-8E10-7FCE715E2DC8}"/>
              </a:ext>
            </a:extLst>
          </p:cNvPr>
          <p:cNvSpPr>
            <a:spLocks noGrp="1"/>
          </p:cNvSpPr>
          <p:nvPr>
            <p:ph type="body" sz="quarter" idx="12"/>
          </p:nvPr>
        </p:nvSpPr>
        <p:spPr>
          <a:xfrm>
            <a:off x="649648" y="1758950"/>
            <a:ext cx="7667265" cy="7332663"/>
          </a:xfrm>
          <a:prstGeom prst="rect">
            <a:avLst/>
          </a:prstGeom>
        </p:spPr>
        <p:txBody>
          <a:bodyPr/>
          <a:lstStyle>
            <a:lvl1pPr marL="0" indent="0">
              <a:buNone/>
              <a:defRPr spc="-100" baseline="0">
                <a:latin typeface="Helvetica Neue"/>
                <a:ea typeface="Helvetica Neue"/>
              </a:defRPr>
            </a:lvl1pPr>
            <a:lvl2pPr marL="457200" indent="0">
              <a:buNone/>
              <a:defRPr spc="-100" baseline="0">
                <a:latin typeface="Helvetica Neue"/>
                <a:ea typeface="Helvetica Neue"/>
              </a:defRPr>
            </a:lvl2pPr>
            <a:lvl3pPr marL="914400" indent="0">
              <a:buNone/>
              <a:defRPr spc="-100" baseline="0">
                <a:latin typeface="Helvetica Neue"/>
                <a:ea typeface="Helvetica Neue"/>
              </a:defRPr>
            </a:lvl3pPr>
            <a:lvl4pPr marL="1371600" indent="0">
              <a:buNone/>
              <a:defRPr spc="-100" baseline="0">
                <a:latin typeface="Helvetica Neue"/>
                <a:ea typeface="Helvetica Neue"/>
              </a:defRPr>
            </a:lvl4pPr>
            <a:lvl5pPr marL="1828800" indent="0">
              <a:buNone/>
              <a:defRPr spc="-100" baseline="0">
                <a:latin typeface="Helvetica Neue"/>
                <a:ea typeface="Helvetica Neu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LID4096" dirty="0"/>
          </a:p>
        </p:txBody>
      </p:sp>
      <p:sp>
        <p:nvSpPr>
          <p:cNvPr id="7" name="Shape 4">
            <a:extLst>
              <a:ext uri="{FF2B5EF4-FFF2-40B4-BE49-F238E27FC236}">
                <a16:creationId xmlns:a16="http://schemas.microsoft.com/office/drawing/2014/main" id="{9081D46B-975A-472D-826C-AB9457DCD6D3}"/>
              </a:ext>
            </a:extLst>
          </p:cNvPr>
          <p:cNvSpPr/>
          <p:nvPr userDrawn="1"/>
        </p:nvSpPr>
        <p:spPr>
          <a:xfrm>
            <a:off x="649648" y="1531143"/>
            <a:ext cx="16920000" cy="9525"/>
          </a:xfrm>
          <a:prstGeom prst="rect">
            <a:avLst/>
          </a:prstGeom>
          <a:solidFill>
            <a:srgbClr val="ECECEC"/>
          </a:solidFill>
          <a:ln/>
        </p:spPr>
      </p:sp>
    </p:spTree>
    <p:extLst>
      <p:ext uri="{BB962C8B-B14F-4D97-AF65-F5344CB8AC3E}">
        <p14:creationId xmlns:p14="http://schemas.microsoft.com/office/powerpoint/2010/main" val="2776087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DEFAULT">
    <p:bg>
      <p:bgRef idx="1001">
        <a:schemeClr val="bg1"/>
      </p:bgRef>
    </p:bg>
    <p:spTree>
      <p:nvGrpSpPr>
        <p:cNvPr id="1" name=""/>
        <p:cNvGrpSpPr/>
        <p:nvPr/>
      </p:nvGrpSpPr>
      <p:grpSpPr>
        <a:xfrm>
          <a:off x="0" y="0"/>
          <a:ext cx="0" cy="0"/>
          <a:chOff x="0" y="0"/>
          <a:chExt cx="0" cy="0"/>
        </a:xfrm>
      </p:grpSpPr>
      <p:sp>
        <p:nvSpPr>
          <p:cNvPr id="8" name="Text 1">
            <a:extLst>
              <a:ext uri="{FF2B5EF4-FFF2-40B4-BE49-F238E27FC236}">
                <a16:creationId xmlns:a16="http://schemas.microsoft.com/office/drawing/2014/main" id="{E45398B3-E451-4F75-9BEE-FBF0A4A3856E}"/>
              </a:ext>
            </a:extLst>
          </p:cNvPr>
          <p:cNvSpPr/>
          <p:nvPr userDrawn="1"/>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9" name="Shape 4">
            <a:extLst>
              <a:ext uri="{FF2B5EF4-FFF2-40B4-BE49-F238E27FC236}">
                <a16:creationId xmlns:a16="http://schemas.microsoft.com/office/drawing/2014/main" id="{A65D3221-0C71-4F10-A61B-7F1D317A731B}"/>
              </a:ext>
            </a:extLst>
          </p:cNvPr>
          <p:cNvSpPr/>
          <p:nvPr userDrawn="1"/>
        </p:nvSpPr>
        <p:spPr>
          <a:xfrm>
            <a:off x="649648" y="9505950"/>
            <a:ext cx="16920000" cy="9525"/>
          </a:xfrm>
          <a:prstGeom prst="rect">
            <a:avLst/>
          </a:prstGeom>
          <a:solidFill>
            <a:srgbClr val="ECECEC"/>
          </a:solidFill>
          <a:ln/>
        </p:spPr>
      </p:sp>
      <p:sp>
        <p:nvSpPr>
          <p:cNvPr id="20" name="Title 19">
            <a:extLst>
              <a:ext uri="{FF2B5EF4-FFF2-40B4-BE49-F238E27FC236}">
                <a16:creationId xmlns:a16="http://schemas.microsoft.com/office/drawing/2014/main" id="{1320EFB6-AE15-4BB3-90C2-C661301ABCEA}"/>
              </a:ext>
            </a:extLst>
          </p:cNvPr>
          <p:cNvSpPr>
            <a:spLocks noGrp="1"/>
          </p:cNvSpPr>
          <p:nvPr>
            <p:ph type="title" hasCustomPrompt="1"/>
          </p:nvPr>
        </p:nvSpPr>
        <p:spPr>
          <a:xfrm>
            <a:off x="649648" y="796302"/>
            <a:ext cx="15773400" cy="1808001"/>
          </a:xfrm>
          <a:prstGeom prst="rect">
            <a:avLst/>
          </a:prstGeom>
        </p:spPr>
        <p:txBody>
          <a:bodyPr/>
          <a:lstStyle>
            <a:lvl1pPr algn="l">
              <a:defRPr sz="5400" b="1" spc="-100" baseline="0">
                <a:latin typeface="Helvetica Neue"/>
              </a:defRPr>
            </a:lvl1pPr>
          </a:lstStyle>
          <a:p>
            <a:r>
              <a:rPr lang="en-US" dirty="0"/>
              <a:t>Big Title</a:t>
            </a:r>
            <a:endParaRPr lang="LID4096" dirty="0"/>
          </a:p>
        </p:txBody>
      </p:sp>
    </p:spTree>
    <p:extLst>
      <p:ext uri="{BB962C8B-B14F-4D97-AF65-F5344CB8AC3E}">
        <p14:creationId xmlns:p14="http://schemas.microsoft.com/office/powerpoint/2010/main" val="3576161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81501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0" r:id="rId4"/>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20.png"/><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jp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4.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8.svg"/></Relationships>
</file>

<file path=ppt/slides/_rels/slide24.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2.svg"/><Relationship Id="rId5" Type="http://schemas.openxmlformats.org/officeDocument/2006/relationships/image" Target="../media/image41.sv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62.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66.sv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66800" y="914400"/>
            <a:ext cx="17769840" cy="238125"/>
          </a:xfrm>
          <a:prstGeom prst="rect">
            <a:avLst/>
          </a:prstGeom>
          <a:noFill/>
          <a:ln/>
        </p:spPr>
        <p:txBody>
          <a:bodyPr wrap="square" lIns="25400" tIns="25400" rIns="25400" bIns="25400" rtlCol="0" anchor="t">
            <a:normAutofit lnSpcReduction="10000"/>
          </a:bodyPr>
          <a:lstStyle/>
          <a:p>
            <a:pPr marL="0" indent="0" algn="l">
              <a:buNone/>
            </a:pPr>
            <a:r>
              <a:rPr lang="en-US" sz="1275" b="1" kern="0" spc="281" dirty="0">
                <a:solidFill>
                  <a:srgbClr val="9A9A9A"/>
                </a:solidFill>
                <a:latin typeface="Helvetica Neue" pitchFamily="34" charset="0"/>
                <a:ea typeface="Helvetica Neue" pitchFamily="34" charset="-122"/>
                <a:cs typeface="Helvetica Neue" pitchFamily="34" charset="-120"/>
              </a:rPr>
              <a:t>THESIS ADVISORY COMMITEE MEETING· 27 AUGUST 2026</a:t>
            </a:r>
            <a:endParaRPr lang="en-US" sz="1275" dirty="0"/>
          </a:p>
        </p:txBody>
      </p:sp>
      <p:sp>
        <p:nvSpPr>
          <p:cNvPr id="3" name="Text 1"/>
          <p:cNvSpPr/>
          <p:nvPr/>
        </p:nvSpPr>
        <p:spPr>
          <a:xfrm>
            <a:off x="1066800" y="3805237"/>
            <a:ext cx="14519910" cy="1276350"/>
          </a:xfrm>
          <a:prstGeom prst="rect">
            <a:avLst/>
          </a:prstGeom>
          <a:noFill/>
          <a:ln/>
        </p:spPr>
        <p:txBody>
          <a:bodyPr wrap="square" lIns="25400" tIns="25400" rIns="25400" bIns="25400" rtlCol="0" anchor="t">
            <a:noAutofit/>
          </a:bodyPr>
          <a:lstStyle/>
          <a:p>
            <a:pPr marL="0" indent="0" algn="l">
              <a:lnSpc>
                <a:spcPct val="106000"/>
              </a:lnSpc>
              <a:buNone/>
            </a:pPr>
            <a:r>
              <a:rPr lang="en-US" sz="4800" b="1" kern="0" spc="-93" dirty="0">
                <a:solidFill>
                  <a:srgbClr val="141414"/>
                </a:solidFill>
                <a:latin typeface="Helvetica Neue" pitchFamily="34" charset="0"/>
                <a:ea typeface="Helvetica Neue" pitchFamily="34" charset="-122"/>
                <a:cs typeface="Helvetica Neue" pitchFamily="34" charset="-120"/>
              </a:rPr>
              <a:t>Testbed for Validating Second-Generation TDI and Clock-Noise Correction for LISA</a:t>
            </a:r>
            <a:endParaRPr lang="en-US" sz="4800" dirty="0"/>
          </a:p>
        </p:txBody>
      </p:sp>
      <p:sp>
        <p:nvSpPr>
          <p:cNvPr id="4" name="Text 2"/>
          <p:cNvSpPr/>
          <p:nvPr/>
        </p:nvSpPr>
        <p:spPr>
          <a:xfrm>
            <a:off x="1066800" y="5367338"/>
            <a:ext cx="15506700" cy="409575"/>
          </a:xfrm>
          <a:prstGeom prst="rect">
            <a:avLst/>
          </a:prstGeom>
          <a:noFill/>
          <a:ln/>
        </p:spPr>
        <p:txBody>
          <a:bodyPr wrap="square" lIns="25400" tIns="25400" rIns="25400" bIns="25400" rtlCol="0" anchor="t">
            <a:noAutofit/>
          </a:bodyPr>
          <a:lstStyle/>
          <a:p>
            <a:pPr marL="0" indent="0" algn="l">
              <a:lnSpc>
                <a:spcPct val="150000"/>
              </a:lnSpc>
              <a:buNone/>
            </a:pPr>
            <a:r>
              <a:rPr lang="en-US" sz="2400" b="1" dirty="0">
                <a:solidFill>
                  <a:srgbClr val="141414"/>
                </a:solidFill>
                <a:latin typeface="Helvetica Neue" pitchFamily="34" charset="0"/>
                <a:ea typeface="Helvetica Neue" pitchFamily="34" charset="-122"/>
                <a:cs typeface="Helvetica Neue" pitchFamily="34" charset="-120"/>
              </a:rPr>
              <a:t>Karin </a:t>
            </a:r>
            <a:r>
              <a:rPr lang="en-US" sz="2400" b="1" dirty="0" err="1">
                <a:solidFill>
                  <a:srgbClr val="141414"/>
                </a:solidFill>
                <a:latin typeface="Helvetica Neue" pitchFamily="34" charset="0"/>
                <a:ea typeface="Helvetica Neue" pitchFamily="34" charset="-122"/>
                <a:cs typeface="Helvetica Neue" pitchFamily="34" charset="-120"/>
              </a:rPr>
              <a:t>Kruuse</a:t>
            </a:r>
            <a:endParaRPr lang="en-US" sz="2400" dirty="0"/>
          </a:p>
        </p:txBody>
      </p:sp>
      <p:sp>
        <p:nvSpPr>
          <p:cNvPr id="5" name="Text 3"/>
          <p:cNvSpPr/>
          <p:nvPr/>
        </p:nvSpPr>
        <p:spPr>
          <a:xfrm>
            <a:off x="1066800" y="5964913"/>
            <a:ext cx="15506700" cy="266700"/>
          </a:xfrm>
          <a:prstGeom prst="rect">
            <a:avLst/>
          </a:prstGeom>
          <a:noFill/>
          <a:ln/>
        </p:spPr>
        <p:txBody>
          <a:bodyPr wrap="square" lIns="25400" tIns="25400" rIns="25400" bIns="25400" rtlCol="0" anchor="t">
            <a:normAutofit lnSpcReduction="10000"/>
          </a:bodyPr>
          <a:lstStyle/>
          <a:p>
            <a:pPr marL="0" indent="0" algn="l">
              <a:buNone/>
            </a:pPr>
            <a:r>
              <a:rPr lang="en-US" sz="1500" dirty="0">
                <a:solidFill>
                  <a:srgbClr val="8A8A8A"/>
                </a:solidFill>
                <a:latin typeface="Helvetica Neue" pitchFamily="34" charset="0"/>
                <a:ea typeface="Helvetica Neue" pitchFamily="34" charset="-122"/>
                <a:cs typeface="Helvetica Neue" pitchFamily="34" charset="-120"/>
              </a:rPr>
              <a:t>Max Planck Institute for Gravitational Physics (AEI) · Leibniz Universität Hannover</a:t>
            </a:r>
            <a:endParaRPr lang="en-US" sz="1500" dirty="0"/>
          </a:p>
        </p:txBody>
      </p:sp>
      <p:sp>
        <p:nvSpPr>
          <p:cNvPr id="6" name="Shape 4"/>
          <p:cNvSpPr/>
          <p:nvPr/>
        </p:nvSpPr>
        <p:spPr>
          <a:xfrm>
            <a:off x="1066800" y="8734425"/>
            <a:ext cx="16154400" cy="9525"/>
          </a:xfrm>
          <a:prstGeom prst="rect">
            <a:avLst/>
          </a:prstGeom>
          <a:solidFill>
            <a:srgbClr val="ECECEC"/>
          </a:solidFill>
          <a:ln/>
        </p:spPr>
        <p:txBody>
          <a:bodyPr/>
          <a:lstStyle/>
          <a:p>
            <a:endParaRPr lang="en-US"/>
          </a:p>
        </p:txBody>
      </p:sp>
      <p:pic>
        <p:nvPicPr>
          <p:cNvPr id="7" name="Image 0" descr="preencoded.png"/>
          <p:cNvPicPr>
            <a:picLocks noChangeAspect="1"/>
          </p:cNvPicPr>
          <p:nvPr/>
        </p:nvPicPr>
        <p:blipFill>
          <a:blip r:embed="rId3"/>
          <a:srcRect t="-3" b="-3"/>
          <a:stretch/>
        </p:blipFill>
        <p:spPr>
          <a:xfrm>
            <a:off x="1066800" y="9048750"/>
            <a:ext cx="2370534" cy="533400"/>
          </a:xfrm>
          <a:prstGeom prst="rect">
            <a:avLst/>
          </a:prstGeom>
        </p:spPr>
      </p:pic>
      <p:pic>
        <p:nvPicPr>
          <p:cNvPr id="8" name="Image 1" descr="preencoded.png"/>
          <p:cNvPicPr>
            <a:picLocks noChangeAspect="1"/>
          </p:cNvPicPr>
          <p:nvPr/>
        </p:nvPicPr>
        <p:blipFill>
          <a:blip r:embed="rId4"/>
          <a:srcRect t="-3" b="-3"/>
          <a:stretch/>
        </p:blipFill>
        <p:spPr>
          <a:xfrm>
            <a:off x="3856434" y="9029700"/>
            <a:ext cx="1979116" cy="571500"/>
          </a:xfrm>
          <a:prstGeom prst="rect">
            <a:avLst/>
          </a:prstGeom>
        </p:spPr>
      </p:pic>
      <p:sp>
        <p:nvSpPr>
          <p:cNvPr id="19" name="CustomFooter">
            <a:extLst>
              <a:ext uri="{FF2B5EF4-FFF2-40B4-BE49-F238E27FC236}">
                <a16:creationId xmlns:a16="http://schemas.microsoft.com/office/drawing/2014/main" id="{27367100-DF0E-4AFD-B280-31EF4FDC8755}"/>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01 / 42</a:t>
            </a:r>
            <a:endParaRPr lang="LID4096" sz="1000" spc="100">
              <a:solidFill>
                <a:srgbClr val="A6A6A6"/>
              </a:solidFill>
              <a:latin typeface="Helvetica Neue45 Light"/>
            </a:endParaRPr>
          </a:p>
        </p:txBody>
      </p:sp>
      <p:sp>
        <p:nvSpPr>
          <p:cNvPr id="20" name="TACMeeting">
            <a:extLst>
              <a:ext uri="{FF2B5EF4-FFF2-40B4-BE49-F238E27FC236}">
                <a16:creationId xmlns:a16="http://schemas.microsoft.com/office/drawing/2014/main" id="{AFE7FBAF-FB56-4195-AA47-FABB955F4F4D}"/>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p:txBody>
          <a:bodyPr/>
          <a:lstStyle/>
          <a:p>
            <a:r>
              <a:rPr lang="en-US" dirty="0"/>
              <a:t>Outline of the Talk</a:t>
            </a:r>
            <a:endParaRPr lang="LID4096" dirty="0"/>
          </a:p>
        </p:txBody>
      </p:sp>
      <p:sp>
        <p:nvSpPr>
          <p:cNvPr id="2" name="Text Placeholder 1">
            <a:extLst>
              <a:ext uri="{FF2B5EF4-FFF2-40B4-BE49-F238E27FC236}">
                <a16:creationId xmlns:a16="http://schemas.microsoft.com/office/drawing/2014/main" id="{47AE8194-17E0-4A3D-A9FA-CABE156C2538}"/>
              </a:ext>
            </a:extLst>
          </p:cNvPr>
          <p:cNvSpPr>
            <a:spLocks noGrp="1"/>
          </p:cNvSpPr>
          <p:nvPr>
            <p:ph type="body" sz="quarter" idx="12"/>
          </p:nvPr>
        </p:nvSpPr>
        <p:spPr>
          <a:xfrm>
            <a:off x="647700" y="1765300"/>
            <a:ext cx="10160000" cy="7327900"/>
          </a:xfrm>
        </p:spPr>
        <p:txBody>
          <a:bodyPr lIns="91440" tIns="45720" rIns="91440" bIns="45720" anchor="ctr"/>
          <a:lstStyle/>
          <a:p>
            <a:pPr>
              <a:spcBef>
                <a:spcPts val="600"/>
              </a:spcBef>
              <a:spcAft>
                <a:spcPts val="600"/>
              </a:spcAft>
            </a:pPr>
            <a:r>
              <a:rPr lang="en-US" sz="2800" b="1" dirty="0">
                <a:solidFill>
                  <a:srgbClr val="7F7F7F"/>
                </a:solidFill>
              </a:rPr>
              <a:t>Context</a:t>
            </a:r>
          </a:p>
          <a:p>
            <a:pPr algn="l">
              <a:lnSpc>
                <a:spcPct val="100000"/>
              </a:lnSpc>
              <a:spcBef>
                <a:spcPts val="600"/>
              </a:spcBef>
              <a:spcAft>
                <a:spcPts val="600"/>
              </a:spcAft>
              <a:buNone/>
            </a:pPr>
            <a:r>
              <a:rPr lang="en-US" sz="2800" b="1" dirty="0">
                <a:solidFill>
                  <a:srgbClr val="7F7F7F"/>
                </a:solidFill>
              </a:rPr>
              <a:t>Overview of the LISA Measurement System</a:t>
            </a:r>
            <a:endParaRPr lang="en-US" dirty="0"/>
          </a:p>
          <a:p>
            <a:pPr algn="l">
              <a:lnSpc>
                <a:spcPct val="100000"/>
              </a:lnSpc>
              <a:spcBef>
                <a:spcPts val="600"/>
              </a:spcBef>
              <a:spcAft>
                <a:spcPts val="600"/>
              </a:spcAft>
              <a:buNone/>
            </a:pPr>
            <a:r>
              <a:rPr lang="en-US" sz="2800" b="1" dirty="0">
                <a:solidFill>
                  <a:srgbClr val="7F7F7F"/>
                </a:solidFill>
              </a:rPr>
              <a:t>Testbed Concept</a:t>
            </a:r>
          </a:p>
          <a:p>
            <a:pPr algn="l">
              <a:lnSpc>
                <a:spcPct val="100000"/>
              </a:lnSpc>
              <a:spcBef>
                <a:spcPts val="600"/>
              </a:spcBef>
              <a:spcAft>
                <a:spcPts val="600"/>
              </a:spcAft>
              <a:buNone/>
            </a:pPr>
            <a:r>
              <a:rPr lang="en-US" sz="2800" b="1" dirty="0">
                <a:solidFill>
                  <a:srgbClr val="7F7F7F"/>
                </a:solidFill>
              </a:rPr>
              <a:t>TDI and Laser Frequency Noise: Status</a:t>
            </a:r>
          </a:p>
          <a:p>
            <a:pPr algn="l">
              <a:lnSpc>
                <a:spcPct val="100000"/>
              </a:lnSpc>
              <a:spcBef>
                <a:spcPts val="600"/>
              </a:spcBef>
              <a:spcAft>
                <a:spcPts val="600"/>
              </a:spcAft>
              <a:buNone/>
            </a:pPr>
            <a:r>
              <a:rPr lang="en-US" sz="2800" b="1" dirty="0">
                <a:solidFill>
                  <a:srgbClr val="7F7F7F"/>
                </a:solidFill>
              </a:rPr>
              <a:t>Clock Noise: Status</a:t>
            </a:r>
          </a:p>
          <a:p>
            <a:pPr algn="l">
              <a:lnSpc>
                <a:spcPct val="100000"/>
              </a:lnSpc>
              <a:spcBef>
                <a:spcPts val="600"/>
              </a:spcBef>
              <a:spcAft>
                <a:spcPts val="600"/>
              </a:spcAft>
              <a:buNone/>
            </a:pPr>
            <a:r>
              <a:rPr lang="en-US" sz="2800" b="1" dirty="0">
                <a:solidFill>
                  <a:srgbClr val="7F7F7F"/>
                </a:solidFill>
              </a:rPr>
              <a:t>Next Steps</a:t>
            </a:r>
          </a:p>
          <a:p>
            <a:pPr>
              <a:spcBef>
                <a:spcPts val="600"/>
              </a:spcBef>
              <a:spcAft>
                <a:spcPts val="600"/>
              </a:spcAft>
            </a:pPr>
            <a:r>
              <a:rPr lang="en-US" sz="2800" b="1" dirty="0">
                <a:solidFill>
                  <a:srgbClr val="7F7F7F"/>
                </a:solidFill>
              </a:rPr>
              <a:t>Conclusions</a:t>
            </a:r>
          </a:p>
          <a:p>
            <a:pPr algn="l">
              <a:lnSpc>
                <a:spcPct val="100000"/>
              </a:lnSpc>
              <a:spcBef>
                <a:spcPts val="900"/>
              </a:spcBef>
              <a:spcAft>
                <a:spcPts val="900"/>
              </a:spcAft>
              <a:buNone/>
            </a:pPr>
            <a:endParaRPr lang="en-US" sz="3200" dirty="0"/>
          </a:p>
        </p:txBody>
      </p:sp>
      <p:sp>
        <p:nvSpPr>
          <p:cNvPr id="14" name="CustomFooter">
            <a:extLst>
              <a:ext uri="{FF2B5EF4-FFF2-40B4-BE49-F238E27FC236}">
                <a16:creationId xmlns:a16="http://schemas.microsoft.com/office/drawing/2014/main" id="{2FA72348-83A0-4062-ACD1-11827556A457}"/>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02 / 42</a:t>
            </a:r>
            <a:endParaRPr lang="LID4096" sz="1000" spc="100">
              <a:solidFill>
                <a:srgbClr val="A6A6A6"/>
              </a:solidFill>
              <a:latin typeface="Helvetica Neue45 Light"/>
            </a:endParaRPr>
          </a:p>
        </p:txBody>
      </p:sp>
      <p:sp>
        <p:nvSpPr>
          <p:cNvPr id="16" name="TACMeeting">
            <a:extLst>
              <a:ext uri="{FF2B5EF4-FFF2-40B4-BE49-F238E27FC236}">
                <a16:creationId xmlns:a16="http://schemas.microsoft.com/office/drawing/2014/main" id="{C30B9BE4-2A9A-4B5A-81E0-4593FCAB198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560079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a:xfrm>
            <a:off x="647700" y="1270000"/>
            <a:ext cx="15773400" cy="7874000"/>
          </a:xfrm>
        </p:spPr>
        <p:txBody>
          <a:bodyPr anchor="ctr"/>
          <a:lstStyle/>
          <a:p>
            <a:pPr algn="l">
              <a:lnSpc>
                <a:spcPct val="100000"/>
              </a:lnSpc>
              <a:spcBef>
                <a:spcPts val="1400"/>
              </a:spcBef>
              <a:spcAft>
                <a:spcPts val="1400"/>
              </a:spcAft>
              <a:buNone/>
            </a:pPr>
            <a:r>
              <a:rPr lang="en-US" sz="5400" b="1" dirty="0"/>
              <a:t>Context</a:t>
            </a:r>
          </a:p>
          <a:p>
            <a:pPr algn="l">
              <a:lnSpc>
                <a:spcPct val="100000"/>
              </a:lnSpc>
              <a:spcBef>
                <a:spcPts val="600"/>
              </a:spcBef>
              <a:spcAft>
                <a:spcPts val="600"/>
              </a:spcAft>
              <a:buNone/>
            </a:pPr>
            <a:r>
              <a:rPr lang="en-US" sz="2800" dirty="0">
                <a:solidFill>
                  <a:srgbClr val="7F7F7F"/>
                </a:solidFill>
              </a:rPr>
              <a:t>Overview of the LISA Measurement System</a:t>
            </a:r>
          </a:p>
          <a:p>
            <a:pPr algn="l">
              <a:lnSpc>
                <a:spcPct val="100000"/>
              </a:lnSpc>
              <a:spcBef>
                <a:spcPts val="600"/>
              </a:spcBef>
              <a:spcAft>
                <a:spcPts val="600"/>
              </a:spcAft>
              <a:buNone/>
            </a:pPr>
            <a:r>
              <a:rPr lang="en-US" sz="2800" dirty="0">
                <a:solidFill>
                  <a:srgbClr val="7F7F7F"/>
                </a:solidFill>
              </a:rPr>
              <a:t>Testbed Concept</a:t>
            </a:r>
          </a:p>
          <a:p>
            <a:pPr algn="l">
              <a:lnSpc>
                <a:spcPct val="100000"/>
              </a:lnSpc>
              <a:spcBef>
                <a:spcPts val="600"/>
              </a:spcBef>
              <a:spcAft>
                <a:spcPts val="600"/>
              </a:spcAft>
              <a:buNone/>
            </a:pPr>
            <a:r>
              <a:rPr lang="en-US" sz="2800" dirty="0">
                <a:solidFill>
                  <a:srgbClr val="7F7F7F"/>
                </a:solidFill>
              </a:rPr>
              <a:t>TDI and Laser Frequency Noise: Status</a:t>
            </a:r>
          </a:p>
          <a:p>
            <a:pPr algn="l">
              <a:lnSpc>
                <a:spcPct val="100000"/>
              </a:lnSpc>
              <a:spcBef>
                <a:spcPts val="600"/>
              </a:spcBef>
              <a:spcAft>
                <a:spcPts val="600"/>
              </a:spcAft>
              <a:buNone/>
            </a:pPr>
            <a:r>
              <a:rPr lang="en-US" sz="2800" dirty="0">
                <a:solidFill>
                  <a:srgbClr val="7F7F7F"/>
                </a:solidFill>
              </a:rPr>
              <a:t>Clock Noise: Status</a:t>
            </a:r>
          </a:p>
          <a:p>
            <a:pPr algn="l">
              <a:lnSpc>
                <a:spcPct val="100000"/>
              </a:lnSpc>
              <a:spcBef>
                <a:spcPts val="600"/>
              </a:spcBef>
              <a:spcAft>
                <a:spcPts val="600"/>
              </a:spcAft>
              <a:buNone/>
            </a:pPr>
            <a:r>
              <a:rPr lang="en-US" sz="2800" dirty="0">
                <a:solidFill>
                  <a:srgbClr val="7F7F7F"/>
                </a:solidFill>
              </a:rPr>
              <a:t>Next Steps</a:t>
            </a:r>
          </a:p>
          <a:p>
            <a:pPr algn="l">
              <a:lnSpc>
                <a:spcPct val="100000"/>
              </a:lnSpc>
              <a:spcBef>
                <a:spcPts val="600"/>
              </a:spcBef>
              <a:spcAft>
                <a:spcPts val="600"/>
              </a:spcAft>
              <a:buNone/>
            </a:pPr>
            <a:r>
              <a:rPr lang="en-US" sz="2800" dirty="0">
                <a:solidFill>
                  <a:srgbClr val="7F7F7F"/>
                </a:solidFill>
              </a:rPr>
              <a:t>Conclusions</a:t>
            </a:r>
          </a:p>
        </p:txBody>
      </p:sp>
      <p:sp>
        <p:nvSpPr>
          <p:cNvPr id="13" name="CustomFooter">
            <a:extLst>
              <a:ext uri="{FF2B5EF4-FFF2-40B4-BE49-F238E27FC236}">
                <a16:creationId xmlns:a16="http://schemas.microsoft.com/office/drawing/2014/main" id="{A5315464-5210-48B4-9704-FCFCCCD7D1A9}"/>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03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D7E71D01-C343-4302-AC73-1B4CBA3368C1}"/>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35986279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pic>
        <p:nvPicPr>
          <p:cNvPr id="14" name="Picture 13" descr="A screenshot of a computer game&#10;&#10;AI-generated content may be incorrect.">
            <a:extLst>
              <a:ext uri="{FF2B5EF4-FFF2-40B4-BE49-F238E27FC236}">
                <a16:creationId xmlns:a16="http://schemas.microsoft.com/office/drawing/2014/main" id="{4DF7630E-E572-48B3-B013-44850214E4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3" name="CustomFooter">
            <a:extLst>
              <a:ext uri="{FF2B5EF4-FFF2-40B4-BE49-F238E27FC236}">
                <a16:creationId xmlns:a16="http://schemas.microsoft.com/office/drawing/2014/main" id="{EB7C1E51-2AE1-401D-9CE4-79DEBE6075CA}"/>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04 / 42</a:t>
            </a:r>
            <a:endParaRPr lang="LID4096" sz="1000" spc="100">
              <a:solidFill>
                <a:srgbClr val="A6A6A6"/>
              </a:solidFill>
              <a:latin typeface="Helvetica Neue45 Light"/>
            </a:endParaRPr>
          </a:p>
        </p:txBody>
      </p:sp>
      <p:sp>
        <p:nvSpPr>
          <p:cNvPr id="15" name="TACMeeting">
            <a:extLst>
              <a:ext uri="{FF2B5EF4-FFF2-40B4-BE49-F238E27FC236}">
                <a16:creationId xmlns:a16="http://schemas.microsoft.com/office/drawing/2014/main" id="{44DE6E30-037B-4448-A8A4-275C6FE58160}"/>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082765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6" name="Text Placeholder 15">
            <a:extLst>
              <a:ext uri="{FF2B5EF4-FFF2-40B4-BE49-F238E27FC236}">
                <a16:creationId xmlns:a16="http://schemas.microsoft.com/office/drawing/2014/main" id="{F7BC1141-6B9C-45C8-8E6E-08526BA21499}"/>
              </a:ext>
            </a:extLst>
          </p:cNvPr>
          <p:cNvSpPr>
            <a:spLocks noGrp="1"/>
          </p:cNvSpPr>
          <p:nvPr>
            <p:ph type="body" sz="quarter" idx="11"/>
          </p:nvPr>
        </p:nvSpPr>
        <p:spPr/>
        <p:txBody>
          <a:bodyPr/>
          <a:lstStyle/>
          <a:p>
            <a:r>
              <a:rPr lang="en-US" dirty="0"/>
              <a:t>CONTEXT</a:t>
            </a:r>
            <a:endParaRPr lang="LID4096" dirty="0"/>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p:txBody>
          <a:bodyPr/>
          <a:lstStyle/>
          <a:p>
            <a:r>
              <a:rPr lang="en-US" dirty="0"/>
              <a:t>LISA Constellation</a:t>
            </a:r>
            <a:endParaRPr lang="LID4096" dirty="0"/>
          </a:p>
        </p:txBody>
      </p:sp>
      <p:pic>
        <p:nvPicPr>
          <p:cNvPr id="14" name="Picture 13">
            <a:extLst>
              <a:ext uri="{FF2B5EF4-FFF2-40B4-BE49-F238E27FC236}">
                <a16:creationId xmlns:a16="http://schemas.microsoft.com/office/drawing/2014/main" id="{6D09A0CD-1D1C-45C6-B634-57E69EB046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68" y="7639448"/>
            <a:ext cx="4835857" cy="2647552"/>
          </a:xfrm>
          <a:prstGeom prst="rect">
            <a:avLst/>
          </a:prstGeom>
        </p:spPr>
      </p:pic>
      <p:sp>
        <p:nvSpPr>
          <p:cNvPr id="17" name="TextBox 16">
            <a:extLst>
              <a:ext uri="{FF2B5EF4-FFF2-40B4-BE49-F238E27FC236}">
                <a16:creationId xmlns:a16="http://schemas.microsoft.com/office/drawing/2014/main" id="{55D00D52-229B-440B-8FA3-399D31AE07F6}"/>
              </a:ext>
            </a:extLst>
          </p:cNvPr>
          <p:cNvSpPr txBox="1"/>
          <p:nvPr/>
        </p:nvSpPr>
        <p:spPr>
          <a:xfrm>
            <a:off x="4900725" y="9590070"/>
            <a:ext cx="2598892" cy="276999"/>
          </a:xfrm>
          <a:prstGeom prst="rect">
            <a:avLst/>
          </a:prstGeom>
          <a:noFill/>
        </p:spPr>
        <p:txBody>
          <a:bodyPr wrap="square">
            <a:spAutoFit/>
          </a:bodyPr>
          <a:lstStyle/>
          <a:p>
            <a:r>
              <a:rPr lang="en-US" sz="1200" noProof="0" dirty="0">
                <a:solidFill>
                  <a:srgbClr val="9A9A9A"/>
                </a:solidFill>
                <a:latin typeface="Helvetica Neue"/>
              </a:rPr>
              <a:t>Amaro-Seoane et al., 2017</a:t>
            </a:r>
          </a:p>
        </p:txBody>
      </p:sp>
      <p:pic>
        <p:nvPicPr>
          <p:cNvPr id="18" name="Content Placeholder 8">
            <a:extLst>
              <a:ext uri="{FF2B5EF4-FFF2-40B4-BE49-F238E27FC236}">
                <a16:creationId xmlns:a16="http://schemas.microsoft.com/office/drawing/2014/main" id="{4AF66918-0C98-47AE-B9D1-B9BEDBB9E0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8780823" y="2310048"/>
            <a:ext cx="7216895" cy="5428518"/>
          </a:xfrm>
          <a:prstGeom prst="rect">
            <a:avLst/>
          </a:prstGeom>
          <a:solidFill>
            <a:schemeClr val="tx1"/>
          </a:solidFill>
        </p:spPr>
      </p:pic>
      <p:pic>
        <p:nvPicPr>
          <p:cNvPr id="19" name="Picture 18">
            <a:extLst>
              <a:ext uri="{FF2B5EF4-FFF2-40B4-BE49-F238E27FC236}">
                <a16:creationId xmlns:a16="http://schemas.microsoft.com/office/drawing/2014/main" id="{27DEAE3B-720D-449E-8745-A7EED3DBBA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64393" y="3883611"/>
            <a:ext cx="6595393" cy="2519778"/>
          </a:xfrm>
          <a:prstGeom prst="rect">
            <a:avLst/>
          </a:prstGeom>
        </p:spPr>
      </p:pic>
      <p:grpSp>
        <p:nvGrpSpPr>
          <p:cNvPr id="9" name="Group 8">
            <a:extLst>
              <a:ext uri="{FF2B5EF4-FFF2-40B4-BE49-F238E27FC236}">
                <a16:creationId xmlns:a16="http://schemas.microsoft.com/office/drawing/2014/main" id="{703D8D87-EACC-45E4-8788-24131F2C5CAE}"/>
              </a:ext>
            </a:extLst>
          </p:cNvPr>
          <p:cNvGrpSpPr/>
          <p:nvPr/>
        </p:nvGrpSpPr>
        <p:grpSpPr>
          <a:xfrm>
            <a:off x="9520821" y="4036031"/>
            <a:ext cx="5567650" cy="2943463"/>
            <a:chOff x="10661588" y="4034010"/>
            <a:chExt cx="4477515" cy="2381459"/>
          </a:xfrm>
          <a:solidFill>
            <a:schemeClr val="bg1"/>
          </a:solidFill>
        </p:grpSpPr>
        <p:sp>
          <p:nvSpPr>
            <p:cNvPr id="20" name="Rectangle 19">
              <a:extLst>
                <a:ext uri="{FF2B5EF4-FFF2-40B4-BE49-F238E27FC236}">
                  <a16:creationId xmlns:a16="http://schemas.microsoft.com/office/drawing/2014/main" id="{085FC485-BB0F-4B39-A7CC-4A4B9FFB3A07}"/>
                </a:ext>
              </a:extLst>
            </p:cNvPr>
            <p:cNvSpPr>
              <a:spLocks/>
            </p:cNvSpPr>
            <p:nvPr/>
          </p:nvSpPr>
          <p:spPr>
            <a:xfrm>
              <a:off x="14821605" y="4034010"/>
              <a:ext cx="317498" cy="200967"/>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80F32572-8CEF-4A1A-9ECF-472065982BA1}"/>
                </a:ext>
              </a:extLst>
            </p:cNvPr>
            <p:cNvSpPr>
              <a:spLocks/>
            </p:cNvSpPr>
            <p:nvPr/>
          </p:nvSpPr>
          <p:spPr>
            <a:xfrm>
              <a:off x="10661588" y="4034010"/>
              <a:ext cx="317498" cy="27130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Rectangle 21">
              <a:extLst>
                <a:ext uri="{FF2B5EF4-FFF2-40B4-BE49-F238E27FC236}">
                  <a16:creationId xmlns:a16="http://schemas.microsoft.com/office/drawing/2014/main" id="{7E8F4C07-A7DF-41E9-A62F-2707352F2DC9}"/>
                </a:ext>
              </a:extLst>
            </p:cNvPr>
            <p:cNvSpPr>
              <a:spLocks/>
            </p:cNvSpPr>
            <p:nvPr/>
          </p:nvSpPr>
          <p:spPr>
            <a:xfrm>
              <a:off x="13575610" y="6152637"/>
              <a:ext cx="261257" cy="26283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3" name="TextBox 22">
            <a:extLst>
              <a:ext uri="{FF2B5EF4-FFF2-40B4-BE49-F238E27FC236}">
                <a16:creationId xmlns:a16="http://schemas.microsoft.com/office/drawing/2014/main" id="{CFEB2681-6141-4C6D-ADB3-CE70A7A960B6}"/>
              </a:ext>
            </a:extLst>
          </p:cNvPr>
          <p:cNvSpPr txBox="1"/>
          <p:nvPr/>
        </p:nvSpPr>
        <p:spPr>
          <a:xfrm>
            <a:off x="13786234" y="7232740"/>
            <a:ext cx="1723485" cy="276999"/>
          </a:xfrm>
          <a:prstGeom prst="rect">
            <a:avLst/>
          </a:prstGeom>
          <a:noFill/>
        </p:spPr>
        <p:txBody>
          <a:bodyPr wrap="square">
            <a:spAutoFit/>
          </a:bodyPr>
          <a:lstStyle/>
          <a:p>
            <a:r>
              <a:rPr lang="en-US" sz="1200" noProof="0" dirty="0">
                <a:solidFill>
                  <a:srgbClr val="9A9A9A"/>
                </a:solidFill>
                <a:latin typeface="Helvetica Neue"/>
                <a:cs typeface="Arial" panose="020B0604020202020204" pitchFamily="34" charset="0"/>
              </a:rPr>
              <a:t>Jennrich, 2010</a:t>
            </a:r>
          </a:p>
        </p:txBody>
      </p:sp>
      <p:sp>
        <p:nvSpPr>
          <p:cNvPr id="24" name="CustomFooter">
            <a:extLst>
              <a:ext uri="{FF2B5EF4-FFF2-40B4-BE49-F238E27FC236}">
                <a16:creationId xmlns:a16="http://schemas.microsoft.com/office/drawing/2014/main" id="{47737AFD-470F-4BA2-B837-2CDD365C33C4}"/>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05 / 42</a:t>
            </a:r>
            <a:endParaRPr lang="LID4096" sz="1000" spc="100">
              <a:solidFill>
                <a:srgbClr val="A6A6A6"/>
              </a:solidFill>
              <a:latin typeface="Helvetica Neue45 Light"/>
            </a:endParaRPr>
          </a:p>
        </p:txBody>
      </p:sp>
      <p:sp>
        <p:nvSpPr>
          <p:cNvPr id="25" name="TACMeeting">
            <a:extLst>
              <a:ext uri="{FF2B5EF4-FFF2-40B4-BE49-F238E27FC236}">
                <a16:creationId xmlns:a16="http://schemas.microsoft.com/office/drawing/2014/main" id="{E4372CDD-B625-494F-8D12-8BF0FEEDD01F}"/>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990101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6" name="Text Placeholder 15">
            <a:extLst>
              <a:ext uri="{FF2B5EF4-FFF2-40B4-BE49-F238E27FC236}">
                <a16:creationId xmlns:a16="http://schemas.microsoft.com/office/drawing/2014/main" id="{F7BC1141-6B9C-45C8-8E6E-08526BA21499}"/>
              </a:ext>
            </a:extLst>
          </p:cNvPr>
          <p:cNvSpPr>
            <a:spLocks noGrp="1"/>
          </p:cNvSpPr>
          <p:nvPr>
            <p:ph type="body" sz="quarter" idx="11"/>
          </p:nvPr>
        </p:nvSpPr>
        <p:spPr/>
        <p:txBody>
          <a:bodyPr/>
          <a:lstStyle/>
          <a:p>
            <a:r>
              <a:rPr lang="en-US" dirty="0"/>
              <a:t>CONTEXT</a:t>
            </a:r>
            <a:endParaRPr lang="LID4096" dirty="0"/>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p:txBody>
          <a:bodyPr/>
          <a:lstStyle/>
          <a:p>
            <a:r>
              <a:rPr lang="en-US" dirty="0"/>
              <a:t>Laser Frequency Noise</a:t>
            </a:r>
            <a:endParaRPr lang="LID4096" dirty="0"/>
          </a:p>
        </p:txBody>
      </p:sp>
      <p:grpSp>
        <p:nvGrpSpPr>
          <p:cNvPr id="9" name="Group 8">
            <a:extLst>
              <a:ext uri="{FF2B5EF4-FFF2-40B4-BE49-F238E27FC236}">
                <a16:creationId xmlns:a16="http://schemas.microsoft.com/office/drawing/2014/main" id="{703D8D87-EACC-45E4-8788-24131F2C5CAE}"/>
              </a:ext>
            </a:extLst>
          </p:cNvPr>
          <p:cNvGrpSpPr/>
          <p:nvPr/>
        </p:nvGrpSpPr>
        <p:grpSpPr>
          <a:xfrm>
            <a:off x="10661588" y="4034010"/>
            <a:ext cx="4477515" cy="2381459"/>
            <a:chOff x="10661588" y="4034010"/>
            <a:chExt cx="4477515" cy="2381459"/>
          </a:xfrm>
        </p:grpSpPr>
        <p:sp>
          <p:nvSpPr>
            <p:cNvPr id="20" name="Rectangle 19">
              <a:extLst>
                <a:ext uri="{FF2B5EF4-FFF2-40B4-BE49-F238E27FC236}">
                  <a16:creationId xmlns:a16="http://schemas.microsoft.com/office/drawing/2014/main" id="{085FC485-BB0F-4B39-A7CC-4A4B9FFB3A07}"/>
                </a:ext>
              </a:extLst>
            </p:cNvPr>
            <p:cNvSpPr>
              <a:spLocks/>
            </p:cNvSpPr>
            <p:nvPr/>
          </p:nvSpPr>
          <p:spPr>
            <a:xfrm>
              <a:off x="14821605" y="4034010"/>
              <a:ext cx="317498" cy="2009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80F32572-8CEF-4A1A-9ECF-472065982BA1}"/>
                </a:ext>
              </a:extLst>
            </p:cNvPr>
            <p:cNvSpPr>
              <a:spLocks/>
            </p:cNvSpPr>
            <p:nvPr/>
          </p:nvSpPr>
          <p:spPr>
            <a:xfrm>
              <a:off x="10661588" y="4034010"/>
              <a:ext cx="317498" cy="2713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Rectangle 21">
              <a:extLst>
                <a:ext uri="{FF2B5EF4-FFF2-40B4-BE49-F238E27FC236}">
                  <a16:creationId xmlns:a16="http://schemas.microsoft.com/office/drawing/2014/main" id="{7E8F4C07-A7DF-41E9-A62F-2707352F2DC9}"/>
                </a:ext>
              </a:extLst>
            </p:cNvPr>
            <p:cNvSpPr>
              <a:spLocks/>
            </p:cNvSpPr>
            <p:nvPr/>
          </p:nvSpPr>
          <p:spPr>
            <a:xfrm>
              <a:off x="13575610" y="6152637"/>
              <a:ext cx="261257" cy="2628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pic>
        <p:nvPicPr>
          <p:cNvPr id="23" name="Content Placeholder 8">
            <a:extLst>
              <a:ext uri="{FF2B5EF4-FFF2-40B4-BE49-F238E27FC236}">
                <a16:creationId xmlns:a16="http://schemas.microsoft.com/office/drawing/2014/main" id="{F5D5F26F-6647-4037-A36F-1613AC61DC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1048698" y="2668880"/>
            <a:ext cx="7217233" cy="5428773"/>
          </a:xfrm>
          <a:prstGeom prst="rect">
            <a:avLst/>
          </a:prstGeom>
        </p:spPr>
      </p:pic>
      <p:sp>
        <p:nvSpPr>
          <p:cNvPr id="26" name="TextBox 25">
            <a:extLst>
              <a:ext uri="{FF2B5EF4-FFF2-40B4-BE49-F238E27FC236}">
                <a16:creationId xmlns:a16="http://schemas.microsoft.com/office/drawing/2014/main" id="{33C88C2A-B3B4-4CAC-8412-5EE06A7B2E43}"/>
              </a:ext>
            </a:extLst>
          </p:cNvPr>
          <p:cNvSpPr txBox="1"/>
          <p:nvPr/>
        </p:nvSpPr>
        <p:spPr>
          <a:xfrm>
            <a:off x="9389889" y="2960530"/>
            <a:ext cx="5590465" cy="400110"/>
          </a:xfrm>
          <a:prstGeom prst="rect">
            <a:avLst/>
          </a:prstGeom>
          <a:noFill/>
        </p:spPr>
        <p:txBody>
          <a:bodyPr wrap="square" rtlCol="0">
            <a:spAutoFit/>
          </a:bodyPr>
          <a:lstStyle/>
          <a:p>
            <a:pPr algn="l"/>
            <a:r>
              <a:rPr lang="en-US" sz="2000" dirty="0">
                <a:latin typeface="Helvetica Neue"/>
                <a:cs typeface="Arial" panose="020B0604020202020204" pitchFamily="34" charset="0"/>
              </a:rPr>
              <a:t>As per LISA laser frequency noise requirements</a:t>
            </a:r>
            <a:endParaRPr lang="et-EE" sz="2000" dirty="0">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66D954CE-1456-4F93-A6DE-3DEE473320E8}"/>
              </a:ext>
            </a:extLst>
          </p:cNvPr>
          <p:cNvSpPr txBox="1"/>
          <p:nvPr/>
        </p:nvSpPr>
        <p:spPr>
          <a:xfrm>
            <a:off x="8552329" y="4657107"/>
            <a:ext cx="6808055" cy="400110"/>
          </a:xfrm>
          <a:prstGeom prst="rect">
            <a:avLst/>
          </a:prstGeom>
          <a:noFill/>
        </p:spPr>
        <p:txBody>
          <a:bodyPr wrap="square" rtlCol="0">
            <a:spAutoFit/>
          </a:bodyPr>
          <a:lstStyle/>
          <a:p>
            <a:pPr algn="l"/>
            <a:r>
              <a:rPr lang="en-US" sz="2000" dirty="0">
                <a:latin typeface="Helvetica Neue"/>
                <a:cs typeface="Arial" panose="020B0604020202020204" pitchFamily="34" charset="0"/>
              </a:rPr>
              <a:t>Hence for the corresponding arm length uncertainty we get</a:t>
            </a:r>
            <a:endParaRPr lang="et-EE" sz="2000"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FF7EE7B7-6F80-470A-BB13-BC240756EFE3}"/>
              </a:ext>
            </a:extLst>
          </p:cNvPr>
          <p:cNvSpPr txBox="1"/>
          <p:nvPr/>
        </p:nvSpPr>
        <p:spPr>
          <a:xfrm>
            <a:off x="9073832" y="6587256"/>
            <a:ext cx="6065271" cy="707886"/>
          </a:xfrm>
          <a:prstGeom prst="rect">
            <a:avLst/>
          </a:prstGeom>
          <a:noFill/>
        </p:spPr>
        <p:txBody>
          <a:bodyPr wrap="square" rtlCol="0">
            <a:spAutoFit/>
          </a:bodyPr>
          <a:lstStyle/>
          <a:p>
            <a:pPr algn="l"/>
            <a:r>
              <a:rPr lang="en-US" sz="2000" dirty="0">
                <a:latin typeface="Helvetica Neue"/>
                <a:cs typeface="Arial" panose="020B0604020202020204" pitchFamily="34" charset="0"/>
              </a:rPr>
              <a:t>But to be sensitive enough to detect GWs, the needed relative arm length uncertainty gives us</a:t>
            </a:r>
            <a:endParaRPr lang="et-EE" sz="2000" dirty="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B0357CDC-A79F-47EC-9AD2-66A1BB2AB88B}"/>
              </a:ext>
            </a:extLst>
          </p:cNvPr>
          <p:cNvSpPr txBox="1"/>
          <p:nvPr/>
        </p:nvSpPr>
        <p:spPr>
          <a:xfrm>
            <a:off x="2443714" y="7579609"/>
            <a:ext cx="1723485" cy="276999"/>
          </a:xfrm>
          <a:prstGeom prst="rect">
            <a:avLst/>
          </a:prstGeom>
          <a:noFill/>
        </p:spPr>
        <p:txBody>
          <a:bodyPr wrap="square">
            <a:spAutoFit/>
          </a:bodyPr>
          <a:lstStyle/>
          <a:p>
            <a:r>
              <a:rPr lang="en-US" sz="1200" noProof="0" dirty="0">
                <a:solidFill>
                  <a:srgbClr val="9A9A9A"/>
                </a:solidFill>
                <a:latin typeface="Helvetica Neue"/>
                <a:cs typeface="Arial" panose="020B0604020202020204" pitchFamily="34" charset="0"/>
              </a:rPr>
              <a:t>Jennrich, 2010</a:t>
            </a:r>
          </a:p>
        </p:txBody>
      </p:sp>
      <p:pic>
        <p:nvPicPr>
          <p:cNvPr id="4" name="Graphic 3">
            <a:extLst>
              <a:ext uri="{FF2B5EF4-FFF2-40B4-BE49-F238E27FC236}">
                <a16:creationId xmlns:a16="http://schemas.microsoft.com/office/drawing/2014/main" id="{810D9357-07E1-4059-A285-FDB898235A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79086" y="3355749"/>
            <a:ext cx="1717602" cy="709444"/>
          </a:xfrm>
          <a:prstGeom prst="rect">
            <a:avLst/>
          </a:prstGeom>
        </p:spPr>
      </p:pic>
      <p:pic>
        <p:nvPicPr>
          <p:cNvPr id="6" name="Graphic 5">
            <a:extLst>
              <a:ext uri="{FF2B5EF4-FFF2-40B4-BE49-F238E27FC236}">
                <a16:creationId xmlns:a16="http://schemas.microsoft.com/office/drawing/2014/main" id="{754A386A-BDBB-41E3-BC23-AEE1D9CE555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006844" y="5205140"/>
            <a:ext cx="6065271" cy="720251"/>
          </a:xfrm>
          <a:prstGeom prst="rect">
            <a:avLst/>
          </a:prstGeom>
        </p:spPr>
      </p:pic>
      <p:pic>
        <p:nvPicPr>
          <p:cNvPr id="10" name="Graphic 9">
            <a:extLst>
              <a:ext uri="{FF2B5EF4-FFF2-40B4-BE49-F238E27FC236}">
                <a16:creationId xmlns:a16="http://schemas.microsoft.com/office/drawing/2014/main" id="{7E720EFF-3DAB-4BFB-87B7-62BD79A0925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88860" y="7337009"/>
            <a:ext cx="4531941" cy="340428"/>
          </a:xfrm>
          <a:prstGeom prst="rect">
            <a:avLst/>
          </a:prstGeom>
        </p:spPr>
      </p:pic>
      <p:grpSp>
        <p:nvGrpSpPr>
          <p:cNvPr id="33" name="Group 32">
            <a:extLst>
              <a:ext uri="{FF2B5EF4-FFF2-40B4-BE49-F238E27FC236}">
                <a16:creationId xmlns:a16="http://schemas.microsoft.com/office/drawing/2014/main" id="{495EEA29-C5B7-487A-B202-8664FCE2ADB4}"/>
              </a:ext>
            </a:extLst>
          </p:cNvPr>
          <p:cNvGrpSpPr/>
          <p:nvPr/>
        </p:nvGrpSpPr>
        <p:grpSpPr>
          <a:xfrm>
            <a:off x="1744400" y="4411399"/>
            <a:ext cx="5586167" cy="2925609"/>
            <a:chOff x="10661588" y="4034010"/>
            <a:chExt cx="4477515" cy="2381459"/>
          </a:xfrm>
          <a:solidFill>
            <a:schemeClr val="bg1"/>
          </a:solidFill>
        </p:grpSpPr>
        <p:sp>
          <p:nvSpPr>
            <p:cNvPr id="34" name="Rectangle 33">
              <a:extLst>
                <a:ext uri="{FF2B5EF4-FFF2-40B4-BE49-F238E27FC236}">
                  <a16:creationId xmlns:a16="http://schemas.microsoft.com/office/drawing/2014/main" id="{328DE8F8-8EE1-4DB0-8FC9-31D8498A23A7}"/>
                </a:ext>
              </a:extLst>
            </p:cNvPr>
            <p:cNvSpPr>
              <a:spLocks/>
            </p:cNvSpPr>
            <p:nvPr/>
          </p:nvSpPr>
          <p:spPr>
            <a:xfrm>
              <a:off x="14821605" y="4034010"/>
              <a:ext cx="317498" cy="200967"/>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8ED24ABB-3E0A-4DCC-BAF4-62C6B4D301D2}"/>
                </a:ext>
              </a:extLst>
            </p:cNvPr>
            <p:cNvSpPr>
              <a:spLocks/>
            </p:cNvSpPr>
            <p:nvPr/>
          </p:nvSpPr>
          <p:spPr>
            <a:xfrm>
              <a:off x="10661588" y="4034010"/>
              <a:ext cx="317498" cy="271305"/>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6" name="Rectangle 35">
              <a:extLst>
                <a:ext uri="{FF2B5EF4-FFF2-40B4-BE49-F238E27FC236}">
                  <a16:creationId xmlns:a16="http://schemas.microsoft.com/office/drawing/2014/main" id="{FA34FE8E-09A6-4549-AB62-42EFFCC60189}"/>
                </a:ext>
              </a:extLst>
            </p:cNvPr>
            <p:cNvSpPr>
              <a:spLocks/>
            </p:cNvSpPr>
            <p:nvPr/>
          </p:nvSpPr>
          <p:spPr>
            <a:xfrm>
              <a:off x="13575610" y="6152637"/>
              <a:ext cx="261257" cy="26283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pic>
        <p:nvPicPr>
          <p:cNvPr id="12" name="Graphic 11">
            <a:extLst>
              <a:ext uri="{FF2B5EF4-FFF2-40B4-BE49-F238E27FC236}">
                <a16:creationId xmlns:a16="http://schemas.microsoft.com/office/drawing/2014/main" id="{72026F24-973F-4396-8884-453BD1DA011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83398" y="2479596"/>
            <a:ext cx="3579090" cy="419893"/>
          </a:xfrm>
          <a:prstGeom prst="rect">
            <a:avLst/>
          </a:prstGeom>
        </p:spPr>
      </p:pic>
      <p:sp>
        <p:nvSpPr>
          <p:cNvPr id="24" name="CustomFooter">
            <a:extLst>
              <a:ext uri="{FF2B5EF4-FFF2-40B4-BE49-F238E27FC236}">
                <a16:creationId xmlns:a16="http://schemas.microsoft.com/office/drawing/2014/main" id="{605F334B-0952-4BD1-BA32-C8753E670CF2}"/>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06 / 42</a:t>
            </a:r>
            <a:endParaRPr lang="LID4096" sz="1000" spc="100">
              <a:solidFill>
                <a:srgbClr val="A6A6A6"/>
              </a:solidFill>
              <a:latin typeface="Helvetica Neue45 Light"/>
            </a:endParaRPr>
          </a:p>
        </p:txBody>
      </p:sp>
      <p:sp>
        <p:nvSpPr>
          <p:cNvPr id="25" name="TACMeeting">
            <a:extLst>
              <a:ext uri="{FF2B5EF4-FFF2-40B4-BE49-F238E27FC236}">
                <a16:creationId xmlns:a16="http://schemas.microsoft.com/office/drawing/2014/main" id="{85EDFAB3-4A33-4C54-815B-925B564398E3}"/>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832931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a:xfrm>
            <a:off x="647700" y="1270000"/>
            <a:ext cx="15773400" cy="7874000"/>
          </a:xfrm>
        </p:spPr>
        <p:txBody>
          <a:bodyPr anchor="ctr"/>
          <a:lstStyle/>
          <a:p>
            <a:pPr algn="l">
              <a:lnSpc>
                <a:spcPct val="100000"/>
              </a:lnSpc>
              <a:spcBef>
                <a:spcPts val="600"/>
              </a:spcBef>
              <a:spcAft>
                <a:spcPts val="600"/>
              </a:spcAft>
              <a:buNone/>
            </a:pPr>
            <a:r>
              <a:rPr lang="en-US" sz="2800" dirty="0">
                <a:solidFill>
                  <a:srgbClr val="7F7F7F"/>
                </a:solidFill>
              </a:rPr>
              <a:t>Context</a:t>
            </a:r>
          </a:p>
          <a:p>
            <a:pPr algn="l">
              <a:lnSpc>
                <a:spcPct val="100000"/>
              </a:lnSpc>
              <a:spcBef>
                <a:spcPts val="1400"/>
              </a:spcBef>
              <a:spcAft>
                <a:spcPts val="1400"/>
              </a:spcAft>
              <a:buNone/>
            </a:pPr>
            <a:r>
              <a:rPr lang="en-US" sz="5400" b="1" dirty="0"/>
              <a:t>Overview of the LISA </a:t>
            </a:r>
            <a:r>
              <a:rPr lang="en-US" dirty="0"/>
              <a:t>Measurement System</a:t>
            </a:r>
            <a:endParaRPr lang="en-US" sz="5400" b="1" dirty="0"/>
          </a:p>
          <a:p>
            <a:pPr algn="l">
              <a:lnSpc>
                <a:spcPct val="100000"/>
              </a:lnSpc>
              <a:spcBef>
                <a:spcPts val="600"/>
              </a:spcBef>
              <a:spcAft>
                <a:spcPts val="600"/>
              </a:spcAft>
              <a:buNone/>
            </a:pPr>
            <a:r>
              <a:rPr lang="en-US" sz="2800" dirty="0">
                <a:solidFill>
                  <a:srgbClr val="7F7F7F"/>
                </a:solidFill>
              </a:rPr>
              <a:t>Testbed Concept</a:t>
            </a:r>
          </a:p>
          <a:p>
            <a:pPr algn="l">
              <a:lnSpc>
                <a:spcPct val="100000"/>
              </a:lnSpc>
              <a:spcBef>
                <a:spcPts val="600"/>
              </a:spcBef>
              <a:spcAft>
                <a:spcPts val="600"/>
              </a:spcAft>
              <a:buNone/>
            </a:pPr>
            <a:r>
              <a:rPr lang="en-US" sz="2800" dirty="0">
                <a:solidFill>
                  <a:srgbClr val="7F7F7F"/>
                </a:solidFill>
              </a:rPr>
              <a:t>TDI and Laser Noise: Status</a:t>
            </a:r>
          </a:p>
          <a:p>
            <a:pPr algn="l">
              <a:lnSpc>
                <a:spcPct val="100000"/>
              </a:lnSpc>
              <a:spcBef>
                <a:spcPts val="600"/>
              </a:spcBef>
              <a:spcAft>
                <a:spcPts val="600"/>
              </a:spcAft>
              <a:buNone/>
            </a:pPr>
            <a:r>
              <a:rPr lang="en-US" sz="2800" dirty="0">
                <a:solidFill>
                  <a:srgbClr val="7F7F7F"/>
                </a:solidFill>
              </a:rPr>
              <a:t>Clock Noise: Status</a:t>
            </a:r>
          </a:p>
          <a:p>
            <a:pPr algn="l">
              <a:lnSpc>
                <a:spcPct val="100000"/>
              </a:lnSpc>
              <a:spcBef>
                <a:spcPts val="600"/>
              </a:spcBef>
              <a:spcAft>
                <a:spcPts val="600"/>
              </a:spcAft>
              <a:buNone/>
            </a:pPr>
            <a:r>
              <a:rPr lang="en-US" sz="2800" dirty="0">
                <a:solidFill>
                  <a:srgbClr val="7F7F7F"/>
                </a:solidFill>
              </a:rPr>
              <a:t>Next Steps</a:t>
            </a:r>
          </a:p>
          <a:p>
            <a:pPr algn="l">
              <a:lnSpc>
                <a:spcPct val="100000"/>
              </a:lnSpc>
              <a:spcBef>
                <a:spcPts val="600"/>
              </a:spcBef>
              <a:spcAft>
                <a:spcPts val="600"/>
              </a:spcAft>
              <a:buNone/>
            </a:pPr>
            <a:r>
              <a:rPr lang="en-US" sz="2800" dirty="0">
                <a:solidFill>
                  <a:srgbClr val="7F7F7F"/>
                </a:solidFill>
              </a:rPr>
              <a:t>Conclusions</a:t>
            </a:r>
          </a:p>
        </p:txBody>
      </p:sp>
      <p:sp>
        <p:nvSpPr>
          <p:cNvPr id="13" name="CustomFooter">
            <a:extLst>
              <a:ext uri="{FF2B5EF4-FFF2-40B4-BE49-F238E27FC236}">
                <a16:creationId xmlns:a16="http://schemas.microsoft.com/office/drawing/2014/main" id="{8256FC1F-CB13-4FF3-BEC4-F5DCBE1E57DF}"/>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07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E5B9B1FD-F156-4D30-AD3D-C6319E163733}"/>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82101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56" name="Text Placeholder 55">
            <a:extLst>
              <a:ext uri="{FF2B5EF4-FFF2-40B4-BE49-F238E27FC236}">
                <a16:creationId xmlns:a16="http://schemas.microsoft.com/office/drawing/2014/main" id="{C0F9676C-1385-4B7A-A1A9-953695B2F26E}"/>
              </a:ext>
            </a:extLst>
          </p:cNvPr>
          <p:cNvSpPr>
            <a:spLocks noGrp="1"/>
          </p:cNvSpPr>
          <p:nvPr>
            <p:ph type="body" sz="quarter" idx="11"/>
          </p:nvPr>
        </p:nvSpPr>
        <p:spPr/>
        <p:txBody>
          <a:bodyPr/>
          <a:lstStyle/>
          <a:p>
            <a:pPr algn="l">
              <a:lnSpc>
                <a:spcPct val="100000"/>
              </a:lnSpc>
              <a:spcBef>
                <a:spcPts val="600"/>
              </a:spcBef>
              <a:spcAft>
                <a:spcPts val="600"/>
              </a:spcAft>
              <a:buNone/>
            </a:pPr>
            <a:r>
              <a:rPr lang="en-US" sz="1200" b="1" dirty="0">
                <a:solidFill>
                  <a:srgbClr val="7F7F7F"/>
                </a:solidFill>
              </a:rPr>
              <a:t>OVERVIEW OF THE LISA MEASUREMENT SYSTEM</a:t>
            </a:r>
            <a:endParaRPr lang="en-US" dirty="0"/>
          </a:p>
        </p:txBody>
      </p:sp>
      <p:sp>
        <p:nvSpPr>
          <p:cNvPr id="55" name="Title 54">
            <a:extLst>
              <a:ext uri="{FF2B5EF4-FFF2-40B4-BE49-F238E27FC236}">
                <a16:creationId xmlns:a16="http://schemas.microsoft.com/office/drawing/2014/main" id="{CB431737-C402-4561-86A9-B0EC645527A9}"/>
              </a:ext>
            </a:extLst>
          </p:cNvPr>
          <p:cNvSpPr>
            <a:spLocks noGrp="1"/>
          </p:cNvSpPr>
          <p:nvPr>
            <p:ph type="title"/>
          </p:nvPr>
        </p:nvSpPr>
        <p:spPr/>
        <p:txBody>
          <a:bodyPr/>
          <a:lstStyle/>
          <a:p>
            <a:r>
              <a:rPr lang="en-US" dirty="0"/>
              <a:t>LISA Science Interferometer</a:t>
            </a:r>
            <a:endParaRPr lang="LID4096" dirty="0"/>
          </a:p>
        </p:txBody>
      </p:sp>
      <p:pic>
        <p:nvPicPr>
          <p:cNvPr id="10" name="Picture 9">
            <a:extLst>
              <a:ext uri="{FF2B5EF4-FFF2-40B4-BE49-F238E27FC236}">
                <a16:creationId xmlns:a16="http://schemas.microsoft.com/office/drawing/2014/main" id="{C6764436-82B8-4743-B16F-F48B00BEC8D9}"/>
              </a:ext>
            </a:extLst>
          </p:cNvPr>
          <p:cNvPicPr>
            <a:picLocks noChangeAspect="1"/>
          </p:cNvPicPr>
          <p:nvPr/>
        </p:nvPicPr>
        <p:blipFill>
          <a:blip r:embed="rId3"/>
          <a:srcRect/>
          <a:stretch/>
        </p:blipFill>
        <p:spPr>
          <a:xfrm>
            <a:off x="1575400" y="2116625"/>
            <a:ext cx="15137200" cy="4391703"/>
          </a:xfrm>
          <a:prstGeom prst="rect">
            <a:avLst/>
          </a:prstGeom>
        </p:spPr>
      </p:pic>
      <p:pic>
        <p:nvPicPr>
          <p:cNvPr id="14" name="Graphic 13">
            <a:extLst>
              <a:ext uri="{FF2B5EF4-FFF2-40B4-BE49-F238E27FC236}">
                <a16:creationId xmlns:a16="http://schemas.microsoft.com/office/drawing/2014/main" id="{6EA4E410-8517-41FF-A2DD-8A5583C331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0237" y="7553156"/>
            <a:ext cx="9147526" cy="1276399"/>
          </a:xfrm>
          <a:prstGeom prst="rect">
            <a:avLst/>
          </a:prstGeom>
        </p:spPr>
      </p:pic>
      <p:sp>
        <p:nvSpPr>
          <p:cNvPr id="19" name="TextBox 18">
            <a:extLst>
              <a:ext uri="{FF2B5EF4-FFF2-40B4-BE49-F238E27FC236}">
                <a16:creationId xmlns:a16="http://schemas.microsoft.com/office/drawing/2014/main" id="{6DD42D23-D2BF-44AE-B879-6E32C6EBAFB7}"/>
              </a:ext>
            </a:extLst>
          </p:cNvPr>
          <p:cNvSpPr txBox="1"/>
          <p:nvPr/>
        </p:nvSpPr>
        <p:spPr>
          <a:xfrm>
            <a:off x="3570671" y="6830687"/>
            <a:ext cx="11146659" cy="400110"/>
          </a:xfrm>
          <a:prstGeom prst="rect">
            <a:avLst/>
          </a:prstGeom>
          <a:noFill/>
        </p:spPr>
        <p:txBody>
          <a:bodyPr wrap="square" rtlCol="0">
            <a:spAutoFit/>
          </a:bodyPr>
          <a:lstStyle/>
          <a:p>
            <a:pPr algn="l"/>
            <a:r>
              <a:rPr lang="en-US" sz="2000" dirty="0">
                <a:latin typeface="Helvetica Neue"/>
                <a:cs typeface="Arial" panose="020B0604020202020204" pitchFamily="34" charset="0"/>
              </a:rPr>
              <a:t>Demodulated phase readout on spacecraft 1 inter-spacecraft interferometer facing spacecraft 2</a:t>
            </a:r>
            <a:endParaRPr lang="et-EE" sz="2000" dirty="0">
              <a:latin typeface="Arial" panose="020B0604020202020204" pitchFamily="34" charset="0"/>
              <a:cs typeface="Arial" panose="020B0604020202020204" pitchFamily="34" charset="0"/>
            </a:endParaRPr>
          </a:p>
        </p:txBody>
      </p:sp>
      <p:sp>
        <p:nvSpPr>
          <p:cNvPr id="15" name="CustomFooter">
            <a:extLst>
              <a:ext uri="{FF2B5EF4-FFF2-40B4-BE49-F238E27FC236}">
                <a16:creationId xmlns:a16="http://schemas.microsoft.com/office/drawing/2014/main" id="{1F647E79-1937-4C02-A49A-CBB42596D470}"/>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08 / 42</a:t>
            </a:r>
            <a:endParaRPr lang="LID4096" sz="1000" spc="100">
              <a:solidFill>
                <a:srgbClr val="A6A6A6"/>
              </a:solidFill>
              <a:latin typeface="Helvetica Neue45 Light"/>
            </a:endParaRPr>
          </a:p>
        </p:txBody>
      </p:sp>
      <p:sp>
        <p:nvSpPr>
          <p:cNvPr id="16" name="TACMeeting">
            <a:extLst>
              <a:ext uri="{FF2B5EF4-FFF2-40B4-BE49-F238E27FC236}">
                <a16:creationId xmlns:a16="http://schemas.microsoft.com/office/drawing/2014/main" id="{052327A3-D8C1-4377-88CC-A448DCBCED42}"/>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749293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A diagram of a letter v&#10;&#10;AI-generated content may be incorrect.">
            <a:extLst>
              <a:ext uri="{FF2B5EF4-FFF2-40B4-BE49-F238E27FC236}">
                <a16:creationId xmlns:a16="http://schemas.microsoft.com/office/drawing/2014/main" id="{C093562B-1CF1-40B2-A9BA-D65BBBAF4919}"/>
              </a:ext>
            </a:extLst>
          </p:cNvPr>
          <p:cNvPicPr>
            <a:picLocks noChangeAspect="1"/>
          </p:cNvPicPr>
          <p:nvPr/>
        </p:nvPicPr>
        <p:blipFill>
          <a:blip r:embed="rId3"/>
          <a:stretch>
            <a:fillRect/>
          </a:stretch>
        </p:blipFill>
        <p:spPr>
          <a:xfrm>
            <a:off x="9144000" y="3922764"/>
            <a:ext cx="4872216" cy="3892193"/>
          </a:xfrm>
          <a:prstGeom prst="rect">
            <a:avLst/>
          </a:prstGeom>
        </p:spPr>
      </p:pic>
      <p:pic>
        <p:nvPicPr>
          <p:cNvPr id="15" name="Content Placeholder 12" descr="A diagram of a diagram of a diagram&#10;&#10;AI-generated content may be incorrect.">
            <a:extLst>
              <a:ext uri="{FF2B5EF4-FFF2-40B4-BE49-F238E27FC236}">
                <a16:creationId xmlns:a16="http://schemas.microsoft.com/office/drawing/2014/main" id="{B494FCD9-14BA-4233-9EFA-1379986DFCFE}"/>
              </a:ext>
            </a:extLst>
          </p:cNvPr>
          <p:cNvPicPr>
            <a:picLocks noChangeAspect="1"/>
          </p:cNvPicPr>
          <p:nvPr/>
        </p:nvPicPr>
        <p:blipFill>
          <a:blip r:embed="rId4"/>
          <a:stretch>
            <a:fillRect/>
          </a:stretch>
        </p:blipFill>
        <p:spPr>
          <a:xfrm>
            <a:off x="3534655" y="4017606"/>
            <a:ext cx="4547484" cy="3466327"/>
          </a:xfrm>
          <a:prstGeom prst="rect">
            <a:avLst/>
          </a:prstGeom>
        </p:spPr>
      </p:pic>
      <p:sp>
        <p:nvSpPr>
          <p:cNvPr id="10" name="Text Placeholder 55">
            <a:extLst>
              <a:ext uri="{FF2B5EF4-FFF2-40B4-BE49-F238E27FC236}">
                <a16:creationId xmlns:a16="http://schemas.microsoft.com/office/drawing/2014/main" id="{02B4DAF9-CC3B-46F9-9BBB-07C6FC52F8EC}"/>
              </a:ext>
            </a:extLst>
          </p:cNvPr>
          <p:cNvSpPr>
            <a:spLocks noGrp="1"/>
          </p:cNvSpPr>
          <p:nvPr>
            <p:ph type="body" sz="quarter" idx="11"/>
          </p:nvPr>
        </p:nvSpPr>
        <p:spPr/>
        <p:txBody>
          <a:bodyPr/>
          <a:lstStyle/>
          <a:p>
            <a:r>
              <a:rPr lang="en-US" sz="1200" b="1" dirty="0">
                <a:solidFill>
                  <a:srgbClr val="7F7F7F"/>
                </a:solidFill>
              </a:rPr>
              <a:t>OVERVIEW OF THE LISA MEASUREMENT SYSTEM</a:t>
            </a:r>
            <a:endParaRPr lang="en-US" dirty="0"/>
          </a:p>
        </p:txBody>
      </p:sp>
      <p:sp>
        <p:nvSpPr>
          <p:cNvPr id="11" name="Title 54">
            <a:extLst>
              <a:ext uri="{FF2B5EF4-FFF2-40B4-BE49-F238E27FC236}">
                <a16:creationId xmlns:a16="http://schemas.microsoft.com/office/drawing/2014/main" id="{282E2051-15A4-429F-856D-68170DDD20DE}"/>
              </a:ext>
            </a:extLst>
          </p:cNvPr>
          <p:cNvSpPr>
            <a:spLocks noGrp="1"/>
          </p:cNvSpPr>
          <p:nvPr>
            <p:ph type="title"/>
          </p:nvPr>
        </p:nvSpPr>
        <p:spPr/>
        <p:txBody>
          <a:bodyPr/>
          <a:lstStyle/>
          <a:p>
            <a:r>
              <a:rPr lang="en-US" dirty="0"/>
              <a:t>TDI and Laser Frequency Noise</a:t>
            </a:r>
            <a:endParaRPr lang="LID4096" dirty="0"/>
          </a:p>
        </p:txBody>
      </p:sp>
      <p:sp>
        <p:nvSpPr>
          <p:cNvPr id="16" name="Text 5">
            <a:extLst>
              <a:ext uri="{FF2B5EF4-FFF2-40B4-BE49-F238E27FC236}">
                <a16:creationId xmlns:a16="http://schemas.microsoft.com/office/drawing/2014/main" id="{BA78CA51-B26B-49F4-86C7-728292B08D97}"/>
              </a:ext>
            </a:extLst>
          </p:cNvPr>
          <p:cNvSpPr/>
          <p:nvPr/>
        </p:nvSpPr>
        <p:spPr>
          <a:xfrm>
            <a:off x="14736420" y="8942983"/>
            <a:ext cx="3373256" cy="503551"/>
          </a:xfrm>
          <a:prstGeom prst="rect">
            <a:avLst/>
          </a:prstGeom>
          <a:noFill/>
          <a:ln/>
        </p:spPr>
        <p:txBody>
          <a:bodyPr wrap="square" lIns="25400" tIns="25400" rIns="25400" bIns="25400" rtlCol="0" anchor="t">
            <a:noAutofit/>
          </a:bodyPr>
          <a:lstStyle/>
          <a:p>
            <a:pPr marL="0" indent="0" algn="l">
              <a:buNone/>
            </a:pPr>
            <a:r>
              <a:rPr lang="en-US" sz="1600" dirty="0">
                <a:solidFill>
                  <a:srgbClr val="A0A0A0"/>
                </a:solidFill>
                <a:latin typeface="Helvetica Neue" pitchFamily="34" charset="0"/>
                <a:ea typeface="Helvetica Neue" pitchFamily="34" charset="-122"/>
                <a:cs typeface="Helvetica Neue" pitchFamily="34" charset="-120"/>
              </a:rPr>
              <a:t>Credit: O. Hartwig</a:t>
            </a:r>
            <a:endParaRPr lang="en-US" sz="1600" dirty="0"/>
          </a:p>
        </p:txBody>
      </p:sp>
      <p:sp>
        <p:nvSpPr>
          <p:cNvPr id="17" name="CustomFooter">
            <a:extLst>
              <a:ext uri="{FF2B5EF4-FFF2-40B4-BE49-F238E27FC236}">
                <a16:creationId xmlns:a16="http://schemas.microsoft.com/office/drawing/2014/main" id="{6AEEE2B0-03B0-4C17-AAA1-F72E8A21FF0E}"/>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09 / 42</a:t>
            </a:r>
            <a:endParaRPr lang="LID4096" sz="1000" spc="100">
              <a:solidFill>
                <a:srgbClr val="A6A6A6"/>
              </a:solidFill>
              <a:latin typeface="Helvetica Neue45 Light"/>
            </a:endParaRPr>
          </a:p>
        </p:txBody>
      </p:sp>
      <p:sp>
        <p:nvSpPr>
          <p:cNvPr id="18" name="TACMeeting">
            <a:extLst>
              <a:ext uri="{FF2B5EF4-FFF2-40B4-BE49-F238E27FC236}">
                <a16:creationId xmlns:a16="http://schemas.microsoft.com/office/drawing/2014/main" id="{3E7EEF46-57ED-41FD-9BD6-FD1CE2AF06DC}"/>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
        <p:nvSpPr>
          <p:cNvPr id="19" name="Text 5">
            <a:extLst>
              <a:ext uri="{FF2B5EF4-FFF2-40B4-BE49-F238E27FC236}">
                <a16:creationId xmlns:a16="http://schemas.microsoft.com/office/drawing/2014/main" id="{B9C3D642-ACA2-4158-8D75-00CB6A651C49}"/>
              </a:ext>
            </a:extLst>
          </p:cNvPr>
          <p:cNvSpPr/>
          <p:nvPr/>
        </p:nvSpPr>
        <p:spPr>
          <a:xfrm>
            <a:off x="4853472" y="8023369"/>
            <a:ext cx="3373256" cy="503551"/>
          </a:xfrm>
          <a:prstGeom prst="rect">
            <a:avLst/>
          </a:prstGeom>
          <a:noFill/>
          <a:ln/>
        </p:spPr>
        <p:txBody>
          <a:bodyPr wrap="square" lIns="25400" tIns="25400" rIns="25400" bIns="25400" rtlCol="0" anchor="t">
            <a:noAutofit/>
          </a:bodyPr>
          <a:lstStyle/>
          <a:p>
            <a:pPr marL="0" indent="0" algn="l">
              <a:buNone/>
            </a:pPr>
            <a:r>
              <a:rPr lang="en-US" dirty="0">
                <a:latin typeface="Helvetica Neue"/>
              </a:rPr>
              <a:t>0</a:t>
            </a:r>
            <a:r>
              <a:rPr lang="en-US" baseline="30000" dirty="0">
                <a:latin typeface="Helvetica Neue"/>
              </a:rPr>
              <a:t>th</a:t>
            </a:r>
            <a:r>
              <a:rPr lang="en-US" dirty="0">
                <a:latin typeface="Helvetica Neue"/>
              </a:rPr>
              <a:t> generation TDI</a:t>
            </a:r>
          </a:p>
        </p:txBody>
      </p:sp>
      <p:sp>
        <p:nvSpPr>
          <p:cNvPr id="20" name="Text 5">
            <a:extLst>
              <a:ext uri="{FF2B5EF4-FFF2-40B4-BE49-F238E27FC236}">
                <a16:creationId xmlns:a16="http://schemas.microsoft.com/office/drawing/2014/main" id="{64BBCF2F-3C32-4ABE-AF6B-86C26914FF02}"/>
              </a:ext>
            </a:extLst>
          </p:cNvPr>
          <p:cNvSpPr/>
          <p:nvPr/>
        </p:nvSpPr>
        <p:spPr>
          <a:xfrm>
            <a:off x="10642960" y="8175769"/>
            <a:ext cx="3373256" cy="503551"/>
          </a:xfrm>
          <a:prstGeom prst="rect">
            <a:avLst/>
          </a:prstGeom>
          <a:noFill/>
          <a:ln/>
        </p:spPr>
        <p:txBody>
          <a:bodyPr wrap="square" lIns="25400" tIns="25400" rIns="25400" bIns="25400" rtlCol="0" anchor="t">
            <a:noAutofit/>
          </a:bodyPr>
          <a:lstStyle/>
          <a:p>
            <a:pPr marL="0" indent="0" algn="l">
              <a:buNone/>
            </a:pPr>
            <a:r>
              <a:rPr lang="en-US" dirty="0">
                <a:latin typeface="Helvetica Neue"/>
              </a:rPr>
              <a:t>2</a:t>
            </a:r>
            <a:r>
              <a:rPr lang="en-US" baseline="30000" dirty="0">
                <a:latin typeface="Helvetica Neue"/>
              </a:rPr>
              <a:t>nd</a:t>
            </a:r>
            <a:r>
              <a:rPr lang="en-US" dirty="0">
                <a:latin typeface="Helvetica Neue"/>
              </a:rPr>
              <a:t> generation TDI</a:t>
            </a:r>
          </a:p>
        </p:txBody>
      </p:sp>
      <p:sp>
        <p:nvSpPr>
          <p:cNvPr id="21" name="Text Placeholder 13">
            <a:extLst>
              <a:ext uri="{FF2B5EF4-FFF2-40B4-BE49-F238E27FC236}">
                <a16:creationId xmlns:a16="http://schemas.microsoft.com/office/drawing/2014/main" id="{8209ECCF-18EE-469A-9A6B-61EFC6F3607D}"/>
              </a:ext>
            </a:extLst>
          </p:cNvPr>
          <p:cNvSpPr>
            <a:spLocks noGrp="1"/>
          </p:cNvSpPr>
          <p:nvPr>
            <p:ph type="body" sz="quarter" idx="12"/>
          </p:nvPr>
        </p:nvSpPr>
        <p:spPr>
          <a:xfrm>
            <a:off x="649647" y="1758950"/>
            <a:ext cx="15876459" cy="7332663"/>
          </a:xfrm>
        </p:spPr>
        <p:txBody>
          <a:bodyPr/>
          <a:lstStyle/>
          <a:p>
            <a:r>
              <a:rPr lang="en-US" dirty="0"/>
              <a:t>TDI synthesizes equal arm interferometers in post-processing</a:t>
            </a:r>
          </a:p>
          <a:p>
            <a:endParaRPr lang="LID4096" dirty="0"/>
          </a:p>
        </p:txBody>
      </p:sp>
    </p:spTree>
    <p:extLst>
      <p:ext uri="{BB962C8B-B14F-4D97-AF65-F5344CB8AC3E}">
        <p14:creationId xmlns:p14="http://schemas.microsoft.com/office/powerpoint/2010/main" val="169923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55">
            <a:extLst>
              <a:ext uri="{FF2B5EF4-FFF2-40B4-BE49-F238E27FC236}">
                <a16:creationId xmlns:a16="http://schemas.microsoft.com/office/drawing/2014/main" id="{00B5E6E5-5418-4438-A788-1D92F33EA1D3}"/>
              </a:ext>
            </a:extLst>
          </p:cNvPr>
          <p:cNvSpPr>
            <a:spLocks noGrp="1"/>
          </p:cNvSpPr>
          <p:nvPr>
            <p:ph type="body" sz="quarter" idx="11"/>
          </p:nvPr>
        </p:nvSpPr>
        <p:spPr/>
        <p:txBody>
          <a:bodyPr/>
          <a:lstStyle/>
          <a:p>
            <a:pPr algn="l">
              <a:lnSpc>
                <a:spcPct val="100000"/>
              </a:lnSpc>
              <a:spcBef>
                <a:spcPts val="600"/>
              </a:spcBef>
              <a:spcAft>
                <a:spcPts val="600"/>
              </a:spcAft>
              <a:buNone/>
            </a:pPr>
            <a:r>
              <a:rPr lang="en-US" sz="1200" b="1" dirty="0">
                <a:solidFill>
                  <a:srgbClr val="7F7F7F"/>
                </a:solidFill>
              </a:rPr>
              <a:t>OVERVIEW OF THE LISA MEASUREMENT SYSTEM</a:t>
            </a:r>
            <a:endParaRPr lang="en-US" dirty="0"/>
          </a:p>
        </p:txBody>
      </p:sp>
      <p:sp>
        <p:nvSpPr>
          <p:cNvPr id="11" name="Title 54">
            <a:extLst>
              <a:ext uri="{FF2B5EF4-FFF2-40B4-BE49-F238E27FC236}">
                <a16:creationId xmlns:a16="http://schemas.microsoft.com/office/drawing/2014/main" id="{8A2E058D-54EB-46EC-9490-B32767868F7F}"/>
              </a:ext>
            </a:extLst>
          </p:cNvPr>
          <p:cNvSpPr>
            <a:spLocks noGrp="1"/>
          </p:cNvSpPr>
          <p:nvPr>
            <p:ph type="title"/>
          </p:nvPr>
        </p:nvSpPr>
        <p:spPr/>
        <p:txBody>
          <a:bodyPr/>
          <a:lstStyle/>
          <a:p>
            <a:r>
              <a:rPr lang="en-US" dirty="0"/>
              <a:t>Expected Laser Noise Reduction</a:t>
            </a:r>
            <a:endParaRPr lang="LID4096" dirty="0"/>
          </a:p>
        </p:txBody>
      </p:sp>
      <p:sp>
        <p:nvSpPr>
          <p:cNvPr id="14" name="Text Placeholder 13">
            <a:extLst>
              <a:ext uri="{FF2B5EF4-FFF2-40B4-BE49-F238E27FC236}">
                <a16:creationId xmlns:a16="http://schemas.microsoft.com/office/drawing/2014/main" id="{AA3D3725-6116-4F36-8EC7-6CE976D37293}"/>
              </a:ext>
            </a:extLst>
          </p:cNvPr>
          <p:cNvSpPr>
            <a:spLocks noGrp="1"/>
          </p:cNvSpPr>
          <p:nvPr>
            <p:ph type="body" sz="quarter" idx="12"/>
          </p:nvPr>
        </p:nvSpPr>
        <p:spPr>
          <a:xfrm>
            <a:off x="649647" y="1758950"/>
            <a:ext cx="15876459" cy="7332663"/>
          </a:xfrm>
        </p:spPr>
        <p:txBody>
          <a:bodyPr/>
          <a:lstStyle/>
          <a:p>
            <a:r>
              <a:rPr lang="en-US" dirty="0"/>
              <a:t>TDI needs to suppress laser frequency noise by about 8 orders of magnitude to bring it below other, limiting noises.</a:t>
            </a:r>
          </a:p>
          <a:p>
            <a:endParaRPr lang="en-US" sz="800" dirty="0"/>
          </a:p>
          <a:p>
            <a:r>
              <a:rPr lang="en-US" dirty="0"/>
              <a:t>For LISA, 2</a:t>
            </a:r>
            <a:r>
              <a:rPr lang="en-US" baseline="30000" dirty="0"/>
              <a:t>nd</a:t>
            </a:r>
            <a:r>
              <a:rPr lang="en-US" dirty="0"/>
              <a:t> generation TDI combinations should be able to achieve this.</a:t>
            </a:r>
          </a:p>
          <a:p>
            <a:endParaRPr lang="LID4096" dirty="0"/>
          </a:p>
        </p:txBody>
      </p:sp>
      <p:pic>
        <p:nvPicPr>
          <p:cNvPr id="13" name="Picture 12">
            <a:extLst>
              <a:ext uri="{FF2B5EF4-FFF2-40B4-BE49-F238E27FC236}">
                <a16:creationId xmlns:a16="http://schemas.microsoft.com/office/drawing/2014/main" id="{4C2E8B8D-E1F6-4003-8693-029B8CD1BC96}"/>
              </a:ext>
            </a:extLst>
          </p:cNvPr>
          <p:cNvPicPr>
            <a:picLocks noChangeAspect="1"/>
          </p:cNvPicPr>
          <p:nvPr/>
        </p:nvPicPr>
        <p:blipFill>
          <a:blip r:embed="rId3"/>
          <a:stretch>
            <a:fillRect/>
          </a:stretch>
        </p:blipFill>
        <p:spPr>
          <a:xfrm>
            <a:off x="6062165" y="3470863"/>
            <a:ext cx="10935780" cy="5832416"/>
          </a:xfrm>
          <a:prstGeom prst="rect">
            <a:avLst/>
          </a:prstGeom>
        </p:spPr>
      </p:pic>
      <p:sp>
        <p:nvSpPr>
          <p:cNvPr id="16" name="CustomFooter">
            <a:extLst>
              <a:ext uri="{FF2B5EF4-FFF2-40B4-BE49-F238E27FC236}">
                <a16:creationId xmlns:a16="http://schemas.microsoft.com/office/drawing/2014/main" id="{224834EF-1C24-4BF6-8535-B9E69994832C}"/>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10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2E52DC65-F4D1-4E8A-9E16-2569D40BCED8}"/>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196542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a:xfrm>
            <a:off x="647700" y="1270000"/>
            <a:ext cx="15773400" cy="7874000"/>
          </a:xfrm>
        </p:spPr>
        <p:txBody>
          <a:bodyPr anchor="ctr"/>
          <a:lstStyle/>
          <a:p>
            <a:pPr algn="l">
              <a:lnSpc>
                <a:spcPct val="100000"/>
              </a:lnSpc>
              <a:spcBef>
                <a:spcPts val="600"/>
              </a:spcBef>
              <a:spcAft>
                <a:spcPts val="600"/>
              </a:spcAft>
              <a:buNone/>
            </a:pPr>
            <a:r>
              <a:rPr lang="en-US" sz="2800" dirty="0">
                <a:solidFill>
                  <a:srgbClr val="7F7F7F"/>
                </a:solidFill>
              </a:rPr>
              <a:t>Context</a:t>
            </a:r>
          </a:p>
          <a:p>
            <a:pPr algn="l">
              <a:lnSpc>
                <a:spcPct val="100000"/>
              </a:lnSpc>
              <a:spcBef>
                <a:spcPts val="600"/>
              </a:spcBef>
              <a:spcAft>
                <a:spcPts val="600"/>
              </a:spcAft>
              <a:buNone/>
            </a:pPr>
            <a:r>
              <a:rPr lang="en-US" sz="2800" dirty="0">
                <a:solidFill>
                  <a:srgbClr val="7F7F7F"/>
                </a:solidFill>
              </a:rPr>
              <a:t>Overview of the LISA Measurement System</a:t>
            </a:r>
          </a:p>
          <a:p>
            <a:pPr algn="l">
              <a:lnSpc>
                <a:spcPct val="100000"/>
              </a:lnSpc>
              <a:spcBef>
                <a:spcPts val="1400"/>
              </a:spcBef>
              <a:spcAft>
                <a:spcPts val="1400"/>
              </a:spcAft>
              <a:buNone/>
            </a:pPr>
            <a:r>
              <a:rPr lang="en-US" sz="5400" b="1" dirty="0"/>
              <a:t>Testbed Concept</a:t>
            </a:r>
          </a:p>
          <a:p>
            <a:pPr algn="l">
              <a:lnSpc>
                <a:spcPct val="100000"/>
              </a:lnSpc>
              <a:spcBef>
                <a:spcPts val="600"/>
              </a:spcBef>
              <a:spcAft>
                <a:spcPts val="600"/>
              </a:spcAft>
              <a:buNone/>
            </a:pPr>
            <a:r>
              <a:rPr lang="en-US" sz="2800" dirty="0">
                <a:solidFill>
                  <a:srgbClr val="7F7F7F"/>
                </a:solidFill>
              </a:rPr>
              <a:t>TDI and Laser Frequency Noise: Status</a:t>
            </a:r>
          </a:p>
          <a:p>
            <a:pPr algn="l">
              <a:lnSpc>
                <a:spcPct val="100000"/>
              </a:lnSpc>
              <a:spcBef>
                <a:spcPts val="600"/>
              </a:spcBef>
              <a:spcAft>
                <a:spcPts val="600"/>
              </a:spcAft>
              <a:buNone/>
            </a:pPr>
            <a:r>
              <a:rPr lang="en-US" sz="2800" dirty="0">
                <a:solidFill>
                  <a:srgbClr val="7F7F7F"/>
                </a:solidFill>
              </a:rPr>
              <a:t>Clock Noise: Status</a:t>
            </a:r>
          </a:p>
          <a:p>
            <a:pPr algn="l">
              <a:lnSpc>
                <a:spcPct val="100000"/>
              </a:lnSpc>
              <a:spcBef>
                <a:spcPts val="600"/>
              </a:spcBef>
              <a:spcAft>
                <a:spcPts val="600"/>
              </a:spcAft>
              <a:buNone/>
            </a:pPr>
            <a:r>
              <a:rPr lang="en-US" sz="2800" dirty="0">
                <a:solidFill>
                  <a:srgbClr val="7F7F7F"/>
                </a:solidFill>
              </a:rPr>
              <a:t>Next Steps</a:t>
            </a:r>
          </a:p>
          <a:p>
            <a:pPr algn="l">
              <a:lnSpc>
                <a:spcPct val="100000"/>
              </a:lnSpc>
              <a:spcBef>
                <a:spcPts val="600"/>
              </a:spcBef>
              <a:spcAft>
                <a:spcPts val="600"/>
              </a:spcAft>
              <a:buNone/>
            </a:pPr>
            <a:r>
              <a:rPr lang="en-US" sz="2800" dirty="0">
                <a:solidFill>
                  <a:srgbClr val="7F7F7F"/>
                </a:solidFill>
              </a:rPr>
              <a:t>Conclusions</a:t>
            </a:r>
          </a:p>
        </p:txBody>
      </p:sp>
      <p:sp>
        <p:nvSpPr>
          <p:cNvPr id="13" name="CustomFooter">
            <a:extLst>
              <a:ext uri="{FF2B5EF4-FFF2-40B4-BE49-F238E27FC236}">
                <a16:creationId xmlns:a16="http://schemas.microsoft.com/office/drawing/2014/main" id="{703CCEED-0B06-4834-A863-0005CA3805CC}"/>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11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AB2A1760-E5F5-40B7-85B8-3D165426218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6135786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867A6D6E-95D5-453E-9E39-38E85747E68A}"/>
              </a:ext>
            </a:extLst>
          </p:cNvPr>
          <p:cNvSpPr>
            <a:spLocks noGrp="1"/>
          </p:cNvSpPr>
          <p:nvPr>
            <p:ph type="title"/>
          </p:nvPr>
        </p:nvSpPr>
        <p:spPr/>
        <p:txBody>
          <a:bodyPr/>
          <a:lstStyle/>
          <a:p>
            <a:r>
              <a:rPr lang="en-US" dirty="0"/>
              <a:t>Testbed One Arm Link</a:t>
            </a:r>
            <a:endParaRPr lang="LID4096" dirty="0"/>
          </a:p>
        </p:txBody>
      </p:sp>
      <p:sp>
        <p:nvSpPr>
          <p:cNvPr id="20" name="Text Placeholder 55">
            <a:extLst>
              <a:ext uri="{FF2B5EF4-FFF2-40B4-BE49-F238E27FC236}">
                <a16:creationId xmlns:a16="http://schemas.microsoft.com/office/drawing/2014/main" id="{7610E492-4306-4A47-9627-4E29E1116B59}"/>
              </a:ext>
            </a:extLst>
          </p:cNvPr>
          <p:cNvSpPr>
            <a:spLocks noGrp="1"/>
          </p:cNvSpPr>
          <p:nvPr>
            <p:ph type="body" sz="quarter" idx="11"/>
          </p:nvPr>
        </p:nvSpPr>
        <p:spPr>
          <a:xfrm>
            <a:off x="649288" y="542925"/>
            <a:ext cx="8131175" cy="287338"/>
          </a:xfrm>
        </p:spPr>
        <p:txBody>
          <a:bodyPr/>
          <a:lstStyle/>
          <a:p>
            <a:r>
              <a:rPr lang="en-US" dirty="0"/>
              <a:t>TESTBED CONCEPT</a:t>
            </a:r>
          </a:p>
        </p:txBody>
      </p:sp>
      <p:pic>
        <p:nvPicPr>
          <p:cNvPr id="3" name="Picture 2">
            <a:extLst>
              <a:ext uri="{FF2B5EF4-FFF2-40B4-BE49-F238E27FC236}">
                <a16:creationId xmlns:a16="http://schemas.microsoft.com/office/drawing/2014/main" id="{36A4D601-A60A-433C-A304-81CA9D164C66}"/>
              </a:ext>
            </a:extLst>
          </p:cNvPr>
          <p:cNvPicPr>
            <a:picLocks noChangeAspect="1"/>
          </p:cNvPicPr>
          <p:nvPr/>
        </p:nvPicPr>
        <p:blipFill>
          <a:blip r:embed="rId3"/>
          <a:srcRect/>
          <a:stretch/>
        </p:blipFill>
        <p:spPr>
          <a:xfrm>
            <a:off x="1903151" y="1950754"/>
            <a:ext cx="14481698" cy="4893656"/>
          </a:xfrm>
          <a:prstGeom prst="rect">
            <a:avLst/>
          </a:prstGeom>
        </p:spPr>
      </p:pic>
      <p:pic>
        <p:nvPicPr>
          <p:cNvPr id="13" name="Graphic 12">
            <a:extLst>
              <a:ext uri="{FF2B5EF4-FFF2-40B4-BE49-F238E27FC236}">
                <a16:creationId xmlns:a16="http://schemas.microsoft.com/office/drawing/2014/main" id="{B8925015-7BBC-41C6-B88E-0F13186640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1124" y="7181137"/>
            <a:ext cx="10763876" cy="1009113"/>
          </a:xfrm>
          <a:prstGeom prst="rect">
            <a:avLst/>
          </a:prstGeom>
        </p:spPr>
      </p:pic>
      <p:sp>
        <p:nvSpPr>
          <p:cNvPr id="14" name="CustomFooter">
            <a:extLst>
              <a:ext uri="{FF2B5EF4-FFF2-40B4-BE49-F238E27FC236}">
                <a16:creationId xmlns:a16="http://schemas.microsoft.com/office/drawing/2014/main" id="{9E85633F-541A-4AFD-9E31-C6BBADF3B54B}"/>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12 / 42</a:t>
            </a:r>
            <a:endParaRPr lang="LID4096" sz="1000" spc="100">
              <a:solidFill>
                <a:srgbClr val="A6A6A6"/>
              </a:solidFill>
              <a:latin typeface="Helvetica Neue45 Light"/>
            </a:endParaRPr>
          </a:p>
        </p:txBody>
      </p:sp>
      <p:sp>
        <p:nvSpPr>
          <p:cNvPr id="16" name="TACMeeting">
            <a:extLst>
              <a:ext uri="{FF2B5EF4-FFF2-40B4-BE49-F238E27FC236}">
                <a16:creationId xmlns:a16="http://schemas.microsoft.com/office/drawing/2014/main" id="{32F0A7AC-6A7A-4AE7-9373-E040E5E14A22}"/>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8" name="Text 2"/>
          <p:cNvSpPr/>
          <p:nvPr/>
        </p:nvSpPr>
        <p:spPr>
          <a:xfrm>
            <a:off x="14996071" y="3597081"/>
            <a:ext cx="3218557"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1414"/>
                </a:solidFill>
                <a:latin typeface="Helvetica Neue" pitchFamily="34" charset="0"/>
                <a:ea typeface="Helvetica Neue" pitchFamily="34" charset="-122"/>
                <a:cs typeface="Helvetica Neue" pitchFamily="34" charset="-120"/>
              </a:rPr>
              <a:t>LISA arm</a:t>
            </a:r>
            <a:endParaRPr lang="en-US" sz="1800" dirty="0"/>
          </a:p>
        </p:txBody>
      </p:sp>
      <p:sp>
        <p:nvSpPr>
          <p:cNvPr id="9" name="Text 3"/>
          <p:cNvSpPr/>
          <p:nvPr/>
        </p:nvSpPr>
        <p:spPr>
          <a:xfrm>
            <a:off x="14996071" y="3892356"/>
            <a:ext cx="3218557" cy="20955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9A9A9A"/>
                </a:solidFill>
                <a:latin typeface="Helvetica Neue" pitchFamily="34" charset="0"/>
                <a:ea typeface="Helvetica Neue" pitchFamily="34" charset="-122"/>
                <a:cs typeface="Helvetica Neue" pitchFamily="34" charset="-120"/>
              </a:rPr>
              <a:t>In-flight link</a:t>
            </a:r>
            <a:endParaRPr lang="en-US" sz="1200" dirty="0"/>
          </a:p>
        </p:txBody>
      </p:sp>
      <p:sp>
        <p:nvSpPr>
          <p:cNvPr id="10" name="Text 4"/>
          <p:cNvSpPr/>
          <p:nvPr/>
        </p:nvSpPr>
        <p:spPr>
          <a:xfrm>
            <a:off x="14996071" y="7464160"/>
            <a:ext cx="3218557"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1414"/>
                </a:solidFill>
                <a:latin typeface="Helvetica Neue" pitchFamily="34" charset="0"/>
                <a:ea typeface="Helvetica Neue" pitchFamily="34" charset="-122"/>
                <a:cs typeface="Helvetica Neue" pitchFamily="34" charset="-120"/>
              </a:rPr>
              <a:t>Testbed arm</a:t>
            </a:r>
            <a:endParaRPr lang="en-US" sz="1800" dirty="0"/>
          </a:p>
        </p:txBody>
      </p:sp>
      <p:sp>
        <p:nvSpPr>
          <p:cNvPr id="11" name="Text 5"/>
          <p:cNvSpPr/>
          <p:nvPr/>
        </p:nvSpPr>
        <p:spPr>
          <a:xfrm>
            <a:off x="14996071" y="7759435"/>
            <a:ext cx="3218557" cy="20955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9A9A9A"/>
                </a:solidFill>
                <a:latin typeface="Helvetica Neue" pitchFamily="34" charset="0"/>
                <a:ea typeface="Helvetica Neue" pitchFamily="34" charset="-122"/>
                <a:cs typeface="Helvetica Neue" pitchFamily="34" charset="-120"/>
              </a:rPr>
              <a:t>Benchtop analogue</a:t>
            </a:r>
            <a:endParaRPr lang="en-US" sz="1200" dirty="0"/>
          </a:p>
        </p:txBody>
      </p:sp>
      <p:pic>
        <p:nvPicPr>
          <p:cNvPr id="16" name="Graphic 15">
            <a:extLst>
              <a:ext uri="{FF2B5EF4-FFF2-40B4-BE49-F238E27FC236}">
                <a16:creationId xmlns:a16="http://schemas.microsoft.com/office/drawing/2014/main" id="{6AAAFCDA-ED6E-97A8-8D44-47E59DAA28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29736" y="4255311"/>
            <a:ext cx="7443864" cy="1337221"/>
          </a:xfrm>
          <a:prstGeom prst="rect">
            <a:avLst/>
          </a:prstGeom>
        </p:spPr>
      </p:pic>
      <p:pic>
        <p:nvPicPr>
          <p:cNvPr id="18" name="Graphic 17">
            <a:extLst>
              <a:ext uri="{FF2B5EF4-FFF2-40B4-BE49-F238E27FC236}">
                <a16:creationId xmlns:a16="http://schemas.microsoft.com/office/drawing/2014/main" id="{0272B11E-E04F-0371-E640-35FD155FC3C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10783" y="8429922"/>
            <a:ext cx="9362817" cy="1141807"/>
          </a:xfrm>
          <a:prstGeom prst="rect">
            <a:avLst/>
          </a:prstGeom>
        </p:spPr>
      </p:pic>
      <p:sp>
        <p:nvSpPr>
          <p:cNvPr id="7" name="Text Placeholder 6">
            <a:extLst>
              <a:ext uri="{FF2B5EF4-FFF2-40B4-BE49-F238E27FC236}">
                <a16:creationId xmlns:a16="http://schemas.microsoft.com/office/drawing/2014/main" id="{07C61CCD-DC64-446C-AAF2-F5412599F61A}"/>
              </a:ext>
            </a:extLst>
          </p:cNvPr>
          <p:cNvSpPr>
            <a:spLocks noGrp="1"/>
          </p:cNvSpPr>
          <p:nvPr>
            <p:ph type="body" sz="quarter" idx="11"/>
          </p:nvPr>
        </p:nvSpPr>
        <p:spPr/>
        <p:txBody>
          <a:bodyPr/>
          <a:lstStyle/>
          <a:p>
            <a:r>
              <a:rPr lang="en-US" dirty="0"/>
              <a:t>TESTBED CONCEPT</a:t>
            </a:r>
          </a:p>
          <a:p>
            <a:endParaRPr lang="LID4096" dirty="0"/>
          </a:p>
        </p:txBody>
      </p:sp>
      <p:sp>
        <p:nvSpPr>
          <p:cNvPr id="5" name="Title 4">
            <a:extLst>
              <a:ext uri="{FF2B5EF4-FFF2-40B4-BE49-F238E27FC236}">
                <a16:creationId xmlns:a16="http://schemas.microsoft.com/office/drawing/2014/main" id="{5DF0CFA2-EE7F-481E-B9D3-9A2E822D11EC}"/>
              </a:ext>
            </a:extLst>
          </p:cNvPr>
          <p:cNvSpPr>
            <a:spLocks noGrp="1"/>
          </p:cNvSpPr>
          <p:nvPr>
            <p:ph type="title"/>
          </p:nvPr>
        </p:nvSpPr>
        <p:spPr/>
        <p:txBody>
          <a:bodyPr/>
          <a:lstStyle/>
          <a:p>
            <a:r>
              <a:rPr lang="en-US" dirty="0"/>
              <a:t>Comparison of the Readouts</a:t>
            </a:r>
            <a:endParaRPr lang="LID4096" dirty="0"/>
          </a:p>
        </p:txBody>
      </p:sp>
      <p:pic>
        <p:nvPicPr>
          <p:cNvPr id="17" name="Picture 16">
            <a:extLst>
              <a:ext uri="{FF2B5EF4-FFF2-40B4-BE49-F238E27FC236}">
                <a16:creationId xmlns:a16="http://schemas.microsoft.com/office/drawing/2014/main" id="{84D93E6C-04BA-4781-831E-B89ADDB385F3}"/>
              </a:ext>
            </a:extLst>
          </p:cNvPr>
          <p:cNvPicPr>
            <a:picLocks noChangeAspect="1"/>
          </p:cNvPicPr>
          <p:nvPr/>
        </p:nvPicPr>
        <p:blipFill>
          <a:blip r:embed="rId5"/>
          <a:stretch>
            <a:fillRect/>
          </a:stretch>
        </p:blipFill>
        <p:spPr>
          <a:xfrm>
            <a:off x="403759" y="5399896"/>
            <a:ext cx="10798557" cy="3649048"/>
          </a:xfrm>
          <a:prstGeom prst="rect">
            <a:avLst/>
          </a:prstGeom>
        </p:spPr>
      </p:pic>
      <p:pic>
        <p:nvPicPr>
          <p:cNvPr id="21" name="Picture 20">
            <a:extLst>
              <a:ext uri="{FF2B5EF4-FFF2-40B4-BE49-F238E27FC236}">
                <a16:creationId xmlns:a16="http://schemas.microsoft.com/office/drawing/2014/main" id="{3A0299F9-F345-4753-B0A9-BDF3DF99EFD4}"/>
              </a:ext>
            </a:extLst>
          </p:cNvPr>
          <p:cNvPicPr>
            <a:picLocks noChangeAspect="1"/>
          </p:cNvPicPr>
          <p:nvPr/>
        </p:nvPicPr>
        <p:blipFill>
          <a:blip r:embed="rId6"/>
          <a:srcRect/>
          <a:stretch/>
        </p:blipFill>
        <p:spPr>
          <a:xfrm>
            <a:off x="403759" y="1889941"/>
            <a:ext cx="10522937" cy="3052982"/>
          </a:xfrm>
          <a:prstGeom prst="rect">
            <a:avLst/>
          </a:prstGeom>
        </p:spPr>
      </p:pic>
      <p:sp>
        <p:nvSpPr>
          <p:cNvPr id="22" name="CustomFooter">
            <a:extLst>
              <a:ext uri="{FF2B5EF4-FFF2-40B4-BE49-F238E27FC236}">
                <a16:creationId xmlns:a16="http://schemas.microsoft.com/office/drawing/2014/main" id="{815B302A-AD4B-4EBE-B6EE-341C0EB19175}"/>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13 / 42</a:t>
            </a:r>
            <a:endParaRPr lang="LID4096" sz="1000" spc="100">
              <a:solidFill>
                <a:srgbClr val="A6A6A6"/>
              </a:solidFill>
              <a:latin typeface="Helvetica Neue45 Light"/>
            </a:endParaRPr>
          </a:p>
        </p:txBody>
      </p:sp>
      <p:sp>
        <p:nvSpPr>
          <p:cNvPr id="23" name="TACMeeting">
            <a:extLst>
              <a:ext uri="{FF2B5EF4-FFF2-40B4-BE49-F238E27FC236}">
                <a16:creationId xmlns:a16="http://schemas.microsoft.com/office/drawing/2014/main" id="{9AF8EC11-2186-428B-B975-9970577C8AD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4" name="Image 0" descr="preencoded.png"/>
          <p:cNvPicPr>
            <a:picLocks noChangeAspect="1"/>
          </p:cNvPicPr>
          <p:nvPr/>
        </p:nvPicPr>
        <p:blipFill>
          <a:blip r:embed="rId3"/>
          <a:srcRect l="-2293" r="-2293"/>
          <a:stretch/>
        </p:blipFill>
        <p:spPr>
          <a:xfrm>
            <a:off x="3828602" y="627569"/>
            <a:ext cx="11357154" cy="9031861"/>
          </a:xfrm>
          <a:prstGeom prst="rect">
            <a:avLst/>
          </a:prstGeom>
        </p:spPr>
      </p:pic>
      <p:sp>
        <p:nvSpPr>
          <p:cNvPr id="6" name="Text 3"/>
          <p:cNvSpPr/>
          <p:nvPr/>
        </p:nvSpPr>
        <p:spPr>
          <a:xfrm>
            <a:off x="-3290480" y="2517962"/>
            <a:ext cx="3161913" cy="333375"/>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1875" b="1" dirty="0">
                <a:solidFill>
                  <a:srgbClr val="1A1A1A"/>
                </a:solidFill>
                <a:latin typeface="Helvetica Neue" pitchFamily="34" charset="0"/>
                <a:ea typeface="Helvetica Neue" pitchFamily="34" charset="-122"/>
                <a:cs typeface="Helvetica Neue" pitchFamily="34" charset="-120"/>
              </a:rPr>
              <a:t>One laser per spacecraft</a:t>
            </a:r>
            <a:endParaRPr lang="en-US" sz="1875" dirty="0"/>
          </a:p>
        </p:txBody>
      </p:sp>
      <p:sp>
        <p:nvSpPr>
          <p:cNvPr id="7" name="Text 4"/>
          <p:cNvSpPr/>
          <p:nvPr/>
        </p:nvSpPr>
        <p:spPr>
          <a:xfrm>
            <a:off x="-3290480" y="2841812"/>
            <a:ext cx="3161913" cy="25717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350" dirty="0">
                <a:solidFill>
                  <a:srgbClr val="8A8A8A"/>
                </a:solidFill>
                <a:latin typeface="Helvetica Neue" pitchFamily="34" charset="0"/>
                <a:ea typeface="Helvetica Neue" pitchFamily="34" charset="-122"/>
                <a:cs typeface="Helvetica Neue" pitchFamily="34" charset="-120"/>
              </a:rPr>
              <a:t>An independent source on each satellite</a:t>
            </a:r>
            <a:endParaRPr lang="en-US" sz="1350" dirty="0"/>
          </a:p>
        </p:txBody>
      </p:sp>
      <p:sp>
        <p:nvSpPr>
          <p:cNvPr id="9" name="Text 6"/>
          <p:cNvSpPr/>
          <p:nvPr/>
        </p:nvSpPr>
        <p:spPr>
          <a:xfrm>
            <a:off x="-3290480" y="3346637"/>
            <a:ext cx="3433346" cy="333375"/>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1875" b="1" dirty="0">
                <a:solidFill>
                  <a:srgbClr val="1A1A1A"/>
                </a:solidFill>
                <a:latin typeface="Helvetica Neue" pitchFamily="34" charset="0"/>
                <a:ea typeface="Helvetica Neue" pitchFamily="34" charset="-122"/>
                <a:cs typeface="Helvetica Neue" pitchFamily="34" charset="-120"/>
              </a:rPr>
              <a:t>Cavity-locked primary laser</a:t>
            </a:r>
            <a:endParaRPr lang="en-US" sz="1875" dirty="0"/>
          </a:p>
        </p:txBody>
      </p:sp>
      <p:sp>
        <p:nvSpPr>
          <p:cNvPr id="10" name="Text 7"/>
          <p:cNvSpPr/>
          <p:nvPr/>
        </p:nvSpPr>
        <p:spPr>
          <a:xfrm>
            <a:off x="-3290480" y="3670487"/>
            <a:ext cx="3433346" cy="25717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350" dirty="0">
                <a:solidFill>
                  <a:srgbClr val="8A8A8A"/>
                </a:solidFill>
                <a:latin typeface="Helvetica Neue" pitchFamily="34" charset="0"/>
                <a:ea typeface="Helvetica Neue" pitchFamily="34" charset="-122"/>
                <a:cs typeface="Helvetica Neue" pitchFamily="34" charset="-120"/>
              </a:rPr>
              <a:t>Provides LISA-like laser frequency noise</a:t>
            </a:r>
            <a:endParaRPr lang="en-US" sz="1350" dirty="0"/>
          </a:p>
        </p:txBody>
      </p:sp>
      <p:sp>
        <p:nvSpPr>
          <p:cNvPr id="12" name="Text 9"/>
          <p:cNvSpPr/>
          <p:nvPr/>
        </p:nvSpPr>
        <p:spPr>
          <a:xfrm>
            <a:off x="-3290480" y="4175312"/>
            <a:ext cx="2997056" cy="333375"/>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1875" b="1" dirty="0">
                <a:solidFill>
                  <a:srgbClr val="1A1A1A"/>
                </a:solidFill>
                <a:latin typeface="Helvetica Neue" pitchFamily="34" charset="0"/>
                <a:ea typeface="Helvetica Neue" pitchFamily="34" charset="-122"/>
                <a:cs typeface="Helvetica Neue" pitchFamily="34" charset="-120"/>
              </a:rPr>
              <a:t>Independent clocks</a:t>
            </a:r>
            <a:endParaRPr lang="en-US" sz="1875" dirty="0"/>
          </a:p>
        </p:txBody>
      </p:sp>
      <p:sp>
        <p:nvSpPr>
          <p:cNvPr id="13" name="Text 10"/>
          <p:cNvSpPr/>
          <p:nvPr/>
        </p:nvSpPr>
        <p:spPr>
          <a:xfrm>
            <a:off x="-3290480" y="4499162"/>
            <a:ext cx="2997056" cy="25717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350" dirty="0">
                <a:solidFill>
                  <a:srgbClr val="8A8A8A"/>
                </a:solidFill>
                <a:latin typeface="Helvetica Neue" pitchFamily="34" charset="0"/>
                <a:ea typeface="Helvetica Neue" pitchFamily="34" charset="-122"/>
                <a:cs typeface="Helvetica Neue" pitchFamily="34" charset="-120"/>
              </a:rPr>
              <a:t>Allows to demonstrate clock noise removal</a:t>
            </a:r>
            <a:endParaRPr lang="en-US" sz="1350" dirty="0"/>
          </a:p>
        </p:txBody>
      </p:sp>
      <p:sp>
        <p:nvSpPr>
          <p:cNvPr id="15" name="Text 12"/>
          <p:cNvSpPr/>
          <p:nvPr/>
        </p:nvSpPr>
        <p:spPr>
          <a:xfrm>
            <a:off x="-3290480" y="5003987"/>
            <a:ext cx="2938775" cy="333375"/>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1875" b="1" dirty="0">
                <a:solidFill>
                  <a:srgbClr val="1A1A1A"/>
                </a:solidFill>
                <a:latin typeface="Helvetica Neue" pitchFamily="34" charset="0"/>
                <a:ea typeface="Helvetica Neue" pitchFamily="34" charset="-122"/>
                <a:cs typeface="Helvetica Neue" pitchFamily="34" charset="-120"/>
              </a:rPr>
              <a:t>Six separate delay lines</a:t>
            </a:r>
            <a:endParaRPr lang="en-US" sz="1875" dirty="0"/>
          </a:p>
        </p:txBody>
      </p:sp>
      <p:sp>
        <p:nvSpPr>
          <p:cNvPr id="16" name="Text 13"/>
          <p:cNvSpPr/>
          <p:nvPr/>
        </p:nvSpPr>
        <p:spPr>
          <a:xfrm>
            <a:off x="-3290480" y="5327837"/>
            <a:ext cx="2938775" cy="25717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1350" dirty="0">
                <a:solidFill>
                  <a:srgbClr val="8A8A8A"/>
                </a:solidFill>
                <a:latin typeface="Helvetica Neue" pitchFamily="34" charset="0"/>
                <a:ea typeface="Helvetica Neue" pitchFamily="34" charset="-122"/>
                <a:cs typeface="Helvetica Neue" pitchFamily="34" charset="-120"/>
              </a:rPr>
              <a:t>Two per inter-spacecraft link</a:t>
            </a:r>
            <a:endParaRPr lang="en-US" sz="1350" dirty="0"/>
          </a:p>
        </p:txBody>
      </p:sp>
      <p:sp>
        <p:nvSpPr>
          <p:cNvPr id="17" name="Text Placeholder 16">
            <a:extLst>
              <a:ext uri="{FF2B5EF4-FFF2-40B4-BE49-F238E27FC236}">
                <a16:creationId xmlns:a16="http://schemas.microsoft.com/office/drawing/2014/main" id="{D1445A86-0D97-4D70-88C4-2895FCDF5829}"/>
              </a:ext>
            </a:extLst>
          </p:cNvPr>
          <p:cNvSpPr>
            <a:spLocks noGrp="1"/>
          </p:cNvSpPr>
          <p:nvPr>
            <p:ph type="body" sz="quarter" idx="11"/>
          </p:nvPr>
        </p:nvSpPr>
        <p:spPr/>
        <p:txBody>
          <a:bodyPr/>
          <a:lstStyle/>
          <a:p>
            <a:r>
              <a:rPr lang="en-US" dirty="0"/>
              <a:t>TESTBED CONCEPT</a:t>
            </a:r>
          </a:p>
          <a:p>
            <a:endParaRPr lang="LID4096" dirty="0"/>
          </a:p>
        </p:txBody>
      </p:sp>
      <p:sp>
        <p:nvSpPr>
          <p:cNvPr id="14" name="Title 13">
            <a:extLst>
              <a:ext uri="{FF2B5EF4-FFF2-40B4-BE49-F238E27FC236}">
                <a16:creationId xmlns:a16="http://schemas.microsoft.com/office/drawing/2014/main" id="{81B0A3D6-9D86-47D4-9A06-488D56474B18}"/>
              </a:ext>
            </a:extLst>
          </p:cNvPr>
          <p:cNvSpPr>
            <a:spLocks noGrp="1"/>
          </p:cNvSpPr>
          <p:nvPr>
            <p:ph type="title"/>
          </p:nvPr>
        </p:nvSpPr>
        <p:spPr/>
        <p:txBody>
          <a:bodyPr/>
          <a:lstStyle/>
          <a:p>
            <a:r>
              <a:rPr lang="en-US" dirty="0"/>
              <a:t>The Full Setup</a:t>
            </a:r>
            <a:endParaRPr lang="LID4096" dirty="0"/>
          </a:p>
        </p:txBody>
      </p:sp>
      <p:sp>
        <p:nvSpPr>
          <p:cNvPr id="23" name="CustomFooter">
            <a:extLst>
              <a:ext uri="{FF2B5EF4-FFF2-40B4-BE49-F238E27FC236}">
                <a16:creationId xmlns:a16="http://schemas.microsoft.com/office/drawing/2014/main" id="{2A916FE1-BF8F-4A35-9658-28E0C2D4BEA8}"/>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14 / 42</a:t>
            </a:r>
            <a:endParaRPr lang="LID4096" sz="1000" spc="100">
              <a:solidFill>
                <a:srgbClr val="A6A6A6"/>
              </a:solidFill>
              <a:latin typeface="Helvetica Neue45 Light"/>
            </a:endParaRPr>
          </a:p>
        </p:txBody>
      </p:sp>
      <p:sp>
        <p:nvSpPr>
          <p:cNvPr id="24" name="TACMeeting">
            <a:extLst>
              <a:ext uri="{FF2B5EF4-FFF2-40B4-BE49-F238E27FC236}">
                <a16:creationId xmlns:a16="http://schemas.microsoft.com/office/drawing/2014/main" id="{60F34274-B72D-4AC1-9CF2-F5E8D049659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a:xfrm>
            <a:off x="647700" y="1270000"/>
            <a:ext cx="15773400" cy="7874000"/>
          </a:xfrm>
        </p:spPr>
        <p:txBody>
          <a:bodyPr anchor="ctr"/>
          <a:lstStyle/>
          <a:p>
            <a:pPr algn="l">
              <a:lnSpc>
                <a:spcPct val="100000"/>
              </a:lnSpc>
              <a:spcBef>
                <a:spcPts val="600"/>
              </a:spcBef>
              <a:spcAft>
                <a:spcPts val="600"/>
              </a:spcAft>
              <a:buNone/>
            </a:pPr>
            <a:r>
              <a:rPr lang="en-US" sz="2800" dirty="0">
                <a:solidFill>
                  <a:srgbClr val="7F7F7F"/>
                </a:solidFill>
              </a:rPr>
              <a:t>Context</a:t>
            </a:r>
          </a:p>
          <a:p>
            <a:pPr algn="l">
              <a:lnSpc>
                <a:spcPct val="100000"/>
              </a:lnSpc>
              <a:spcBef>
                <a:spcPts val="600"/>
              </a:spcBef>
              <a:spcAft>
                <a:spcPts val="600"/>
              </a:spcAft>
              <a:buNone/>
            </a:pPr>
            <a:r>
              <a:rPr lang="en-US" sz="2800" dirty="0">
                <a:solidFill>
                  <a:srgbClr val="7F7F7F"/>
                </a:solidFill>
              </a:rPr>
              <a:t>Overview of the LISA Measurement System</a:t>
            </a:r>
          </a:p>
          <a:p>
            <a:pPr algn="l">
              <a:lnSpc>
                <a:spcPct val="100000"/>
              </a:lnSpc>
              <a:spcBef>
                <a:spcPts val="600"/>
              </a:spcBef>
              <a:spcAft>
                <a:spcPts val="600"/>
              </a:spcAft>
              <a:buNone/>
            </a:pPr>
            <a:r>
              <a:rPr lang="en-US" sz="2800" dirty="0">
                <a:solidFill>
                  <a:srgbClr val="7F7F7F"/>
                </a:solidFill>
              </a:rPr>
              <a:t>Testbed Concept</a:t>
            </a:r>
          </a:p>
          <a:p>
            <a:pPr algn="l">
              <a:lnSpc>
                <a:spcPct val="100000"/>
              </a:lnSpc>
              <a:spcBef>
                <a:spcPts val="1400"/>
              </a:spcBef>
              <a:spcAft>
                <a:spcPts val="1400"/>
              </a:spcAft>
              <a:buNone/>
            </a:pPr>
            <a:r>
              <a:rPr lang="en-US" sz="5400" b="1" dirty="0"/>
              <a:t>TDI and Laser Frequency Noise: Status</a:t>
            </a:r>
          </a:p>
          <a:p>
            <a:pPr algn="l">
              <a:lnSpc>
                <a:spcPct val="100000"/>
              </a:lnSpc>
              <a:spcBef>
                <a:spcPts val="600"/>
              </a:spcBef>
              <a:spcAft>
                <a:spcPts val="600"/>
              </a:spcAft>
              <a:buNone/>
            </a:pPr>
            <a:r>
              <a:rPr lang="en-US" sz="2800" dirty="0">
                <a:solidFill>
                  <a:srgbClr val="7F7F7F"/>
                </a:solidFill>
              </a:rPr>
              <a:t>Clock Noise: Status</a:t>
            </a:r>
          </a:p>
          <a:p>
            <a:pPr algn="l">
              <a:lnSpc>
                <a:spcPct val="100000"/>
              </a:lnSpc>
              <a:spcBef>
                <a:spcPts val="600"/>
              </a:spcBef>
              <a:spcAft>
                <a:spcPts val="600"/>
              </a:spcAft>
              <a:buNone/>
            </a:pPr>
            <a:r>
              <a:rPr lang="en-US" sz="2800" dirty="0">
                <a:solidFill>
                  <a:srgbClr val="7F7F7F"/>
                </a:solidFill>
              </a:rPr>
              <a:t>Next Steps</a:t>
            </a:r>
          </a:p>
          <a:p>
            <a:pPr algn="l">
              <a:lnSpc>
                <a:spcPct val="100000"/>
              </a:lnSpc>
              <a:spcBef>
                <a:spcPts val="600"/>
              </a:spcBef>
              <a:spcAft>
                <a:spcPts val="600"/>
              </a:spcAft>
              <a:buNone/>
            </a:pPr>
            <a:r>
              <a:rPr lang="en-US" sz="2800" dirty="0">
                <a:solidFill>
                  <a:srgbClr val="7F7F7F"/>
                </a:solidFill>
              </a:rPr>
              <a:t>Conclusions</a:t>
            </a:r>
          </a:p>
        </p:txBody>
      </p:sp>
      <p:sp>
        <p:nvSpPr>
          <p:cNvPr id="13" name="CustomFooter">
            <a:extLst>
              <a:ext uri="{FF2B5EF4-FFF2-40B4-BE49-F238E27FC236}">
                <a16:creationId xmlns:a16="http://schemas.microsoft.com/office/drawing/2014/main" id="{3D316065-3637-44FC-9FE0-F4448D2546E4}"/>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15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A81FEF11-2DBE-4878-9849-46C1D433C9E8}"/>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4271389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1" name="Text Placeholder 20">
            <a:extLst>
              <a:ext uri="{FF2B5EF4-FFF2-40B4-BE49-F238E27FC236}">
                <a16:creationId xmlns:a16="http://schemas.microsoft.com/office/drawing/2014/main" id="{10950A42-D05C-4360-AA0D-E2D23CE2A41E}"/>
              </a:ext>
            </a:extLst>
          </p:cNvPr>
          <p:cNvSpPr>
            <a:spLocks noGrp="1"/>
          </p:cNvSpPr>
          <p:nvPr>
            <p:ph type="body" sz="quarter" idx="12"/>
          </p:nvPr>
        </p:nvSpPr>
        <p:spPr>
          <a:xfrm>
            <a:off x="649648" y="1758950"/>
            <a:ext cx="8993885" cy="7332663"/>
          </a:xfrm>
        </p:spPr>
        <p:txBody>
          <a:bodyPr/>
          <a:lstStyle/>
          <a:p>
            <a:r>
              <a:rPr lang="en-US" dirty="0"/>
              <a:t>Digitally delays MHz signals and mixes the LISA-like beat notes.</a:t>
            </a:r>
          </a:p>
          <a:p>
            <a:r>
              <a:rPr lang="en-US" dirty="0"/>
              <a:t>Applies Doppler shifts</a:t>
            </a:r>
          </a:p>
          <a:p>
            <a:r>
              <a:rPr lang="en-US" dirty="0"/>
              <a:t>Injects the GW signal</a:t>
            </a:r>
            <a:endParaRPr lang="LID4096" dirty="0"/>
          </a:p>
        </p:txBody>
      </p:sp>
      <p:pic>
        <p:nvPicPr>
          <p:cNvPr id="11" name="Image 1" descr="preencoded.png"/>
          <p:cNvPicPr>
            <a:picLocks noChangeAspect="1"/>
          </p:cNvPicPr>
          <p:nvPr/>
        </p:nvPicPr>
        <p:blipFill>
          <a:blip r:embed="rId3"/>
          <a:srcRect t="-915" b="-915"/>
          <a:stretch/>
        </p:blipFill>
        <p:spPr>
          <a:xfrm>
            <a:off x="2080740" y="4318907"/>
            <a:ext cx="5486400" cy="4320480"/>
          </a:xfrm>
          <a:prstGeom prst="rect">
            <a:avLst/>
          </a:prstGeom>
        </p:spPr>
      </p:pic>
      <p:sp>
        <p:nvSpPr>
          <p:cNvPr id="12" name="Text 8"/>
          <p:cNvSpPr/>
          <p:nvPr/>
        </p:nvSpPr>
        <p:spPr>
          <a:xfrm>
            <a:off x="2259100" y="8538121"/>
            <a:ext cx="6437278" cy="247650"/>
          </a:xfrm>
          <a:prstGeom prst="rect">
            <a:avLst/>
          </a:prstGeom>
          <a:noFill/>
          <a:ln/>
        </p:spPr>
        <p:txBody>
          <a:bodyPr wrap="square" lIns="25400" tIns="25400" rIns="25400" bIns="25400" rtlCol="0" anchor="t">
            <a:noAutofit/>
          </a:bodyPr>
          <a:lstStyle/>
          <a:p>
            <a:pPr marL="0" indent="0" algn="l">
              <a:lnSpc>
                <a:spcPct val="130000"/>
              </a:lnSpc>
              <a:buNone/>
            </a:pPr>
            <a:r>
              <a:rPr lang="en-US" sz="1600" dirty="0">
                <a:solidFill>
                  <a:srgbClr val="8A8A8A"/>
                </a:solidFill>
                <a:latin typeface="Helvetica Neue" pitchFamily="34" charset="0"/>
                <a:ea typeface="Helvetica Neue" pitchFamily="34" charset="-122"/>
                <a:cs typeface="Helvetica Neue" pitchFamily="34" charset="-120"/>
              </a:rPr>
              <a:t>AMD Zynq™ UltraScale+™ RFSoC ZCU208 Evaluation Kit</a:t>
            </a:r>
            <a:endParaRPr lang="en-US" sz="1600" dirty="0"/>
          </a:p>
        </p:txBody>
      </p:sp>
      <p:pic>
        <p:nvPicPr>
          <p:cNvPr id="13" name="Image 2" descr="preencoded.png"/>
          <p:cNvPicPr>
            <a:picLocks noChangeAspect="1"/>
          </p:cNvPicPr>
          <p:nvPr/>
        </p:nvPicPr>
        <p:blipFill rotWithShape="1">
          <a:blip r:embed="rId4"/>
          <a:srcRect t="4502" b="-719"/>
          <a:stretch/>
        </p:blipFill>
        <p:spPr>
          <a:xfrm>
            <a:off x="8530073" y="2796987"/>
            <a:ext cx="9144000" cy="6049653"/>
          </a:xfrm>
          <a:prstGeom prst="rect">
            <a:avLst/>
          </a:prstGeom>
        </p:spPr>
      </p:pic>
      <p:sp>
        <p:nvSpPr>
          <p:cNvPr id="20" name="Text Placeholder 19">
            <a:extLst>
              <a:ext uri="{FF2B5EF4-FFF2-40B4-BE49-F238E27FC236}">
                <a16:creationId xmlns:a16="http://schemas.microsoft.com/office/drawing/2014/main" id="{E6E5C864-4C6E-4F16-8782-1A67861E6529}"/>
              </a:ext>
            </a:extLst>
          </p:cNvPr>
          <p:cNvSpPr>
            <a:spLocks noGrp="1"/>
          </p:cNvSpPr>
          <p:nvPr>
            <p:ph type="body" sz="quarter" idx="11"/>
          </p:nvPr>
        </p:nvSpPr>
        <p:spPr/>
        <p:txBody>
          <a:bodyPr/>
          <a:lstStyle/>
          <a:p>
            <a:r>
              <a:rPr lang="en-US" sz="1200" b="1" dirty="0"/>
              <a:t>TDI AND LASER FREQUENCY NOISE: STATUS</a:t>
            </a:r>
            <a:endParaRPr lang="LID4096" dirty="0"/>
          </a:p>
        </p:txBody>
      </p:sp>
      <p:sp>
        <p:nvSpPr>
          <p:cNvPr id="19" name="Title 18">
            <a:extLst>
              <a:ext uri="{FF2B5EF4-FFF2-40B4-BE49-F238E27FC236}">
                <a16:creationId xmlns:a16="http://schemas.microsoft.com/office/drawing/2014/main" id="{7C3E489C-8D42-4BED-9B5D-167C9621B077}"/>
              </a:ext>
            </a:extLst>
          </p:cNvPr>
          <p:cNvSpPr>
            <a:spLocks noGrp="1"/>
          </p:cNvSpPr>
          <p:nvPr>
            <p:ph type="title"/>
          </p:nvPr>
        </p:nvSpPr>
        <p:spPr/>
        <p:txBody>
          <a:bodyPr/>
          <a:lstStyle/>
          <a:p>
            <a:r>
              <a:rPr lang="en-US" dirty="0"/>
              <a:t>The Delay Line</a:t>
            </a:r>
            <a:endParaRPr lang="LID4096" dirty="0"/>
          </a:p>
        </p:txBody>
      </p:sp>
      <p:sp>
        <p:nvSpPr>
          <p:cNvPr id="15" name="CustomFooter">
            <a:extLst>
              <a:ext uri="{FF2B5EF4-FFF2-40B4-BE49-F238E27FC236}">
                <a16:creationId xmlns:a16="http://schemas.microsoft.com/office/drawing/2014/main" id="{92F970B9-C694-400A-88EF-7B00DBEA4EBF}"/>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16 / 42</a:t>
            </a:r>
            <a:endParaRPr lang="LID4096" sz="1000" spc="100">
              <a:solidFill>
                <a:srgbClr val="A6A6A6"/>
              </a:solidFill>
              <a:latin typeface="Helvetica Neue45 Light"/>
            </a:endParaRPr>
          </a:p>
        </p:txBody>
      </p:sp>
      <p:sp>
        <p:nvSpPr>
          <p:cNvPr id="16" name="TACMeeting">
            <a:extLst>
              <a:ext uri="{FF2B5EF4-FFF2-40B4-BE49-F238E27FC236}">
                <a16:creationId xmlns:a16="http://schemas.microsoft.com/office/drawing/2014/main" id="{851CBDEC-2246-499E-A261-7590A3D669C1}"/>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9" name="Text 5"/>
          <p:cNvSpPr/>
          <p:nvPr/>
        </p:nvSpPr>
        <p:spPr>
          <a:xfrm>
            <a:off x="14736420" y="8942983"/>
            <a:ext cx="3373256" cy="503551"/>
          </a:xfrm>
          <a:prstGeom prst="rect">
            <a:avLst/>
          </a:prstGeom>
          <a:noFill/>
          <a:ln/>
        </p:spPr>
        <p:txBody>
          <a:bodyPr wrap="square" lIns="25400" tIns="25400" rIns="25400" bIns="25400" rtlCol="0" anchor="t">
            <a:noAutofit/>
          </a:bodyPr>
          <a:lstStyle/>
          <a:p>
            <a:pPr marL="0" indent="0" algn="l">
              <a:buNone/>
            </a:pPr>
            <a:r>
              <a:rPr lang="en-US" sz="1600" dirty="0">
                <a:solidFill>
                  <a:srgbClr val="A0A0A0"/>
                </a:solidFill>
                <a:latin typeface="Helvetica Neue" pitchFamily="34" charset="0"/>
                <a:ea typeface="Helvetica Neue" pitchFamily="34" charset="-122"/>
                <a:cs typeface="Helvetica Neue" pitchFamily="34" charset="-120"/>
              </a:rPr>
              <a:t>Credit: R. Ferguson</a:t>
            </a:r>
            <a:endParaRPr lang="en-US" sz="1600" dirty="0"/>
          </a:p>
        </p:txBody>
      </p:sp>
      <p:sp>
        <p:nvSpPr>
          <p:cNvPr id="6" name="Text 4"/>
          <p:cNvSpPr/>
          <p:nvPr/>
        </p:nvSpPr>
        <p:spPr>
          <a:xfrm>
            <a:off x="527300" y="8502038"/>
            <a:ext cx="7262165" cy="771823"/>
          </a:xfrm>
          <a:prstGeom prst="rect">
            <a:avLst/>
          </a:prstGeom>
          <a:noFill/>
          <a:ln/>
        </p:spPr>
        <p:txBody>
          <a:bodyPr wrap="square" lIns="25400" tIns="25400" rIns="25400" bIns="25400" rtlCol="0" anchor="t">
            <a:noAutofit/>
          </a:bodyPr>
          <a:lstStyle/>
          <a:p>
            <a:pPr marL="0" indent="0" algn="l">
              <a:lnSpc>
                <a:spcPct val="145000"/>
              </a:lnSpc>
              <a:buNone/>
            </a:pPr>
            <a:endParaRPr lang="en-US" sz="2000" dirty="0"/>
          </a:p>
        </p:txBody>
      </p:sp>
      <p:sp>
        <p:nvSpPr>
          <p:cNvPr id="5" name="Text Placeholder 4">
            <a:extLst>
              <a:ext uri="{FF2B5EF4-FFF2-40B4-BE49-F238E27FC236}">
                <a16:creationId xmlns:a16="http://schemas.microsoft.com/office/drawing/2014/main" id="{D33C5166-B5FD-4CE9-AE80-6895D5676C4D}"/>
              </a:ext>
            </a:extLst>
          </p:cNvPr>
          <p:cNvSpPr>
            <a:spLocks noGrp="1"/>
          </p:cNvSpPr>
          <p:nvPr>
            <p:ph type="body" sz="quarter" idx="11"/>
          </p:nvPr>
        </p:nvSpPr>
        <p:spPr/>
        <p:txBody>
          <a:bodyPr/>
          <a:lstStyle/>
          <a:p>
            <a:r>
              <a:rPr lang="en-US" sz="1200" b="1" dirty="0"/>
              <a:t>TDI AND LASER FREQUENCY NOISE: STATUS</a:t>
            </a:r>
            <a:endParaRPr lang="LID4096" dirty="0"/>
          </a:p>
        </p:txBody>
      </p:sp>
      <p:sp>
        <p:nvSpPr>
          <p:cNvPr id="4" name="Title 3">
            <a:extLst>
              <a:ext uri="{FF2B5EF4-FFF2-40B4-BE49-F238E27FC236}">
                <a16:creationId xmlns:a16="http://schemas.microsoft.com/office/drawing/2014/main" id="{D26029E6-8B1A-4ACE-BB3A-38F44A1D6B11}"/>
              </a:ext>
            </a:extLst>
          </p:cNvPr>
          <p:cNvSpPr>
            <a:spLocks noGrp="1"/>
          </p:cNvSpPr>
          <p:nvPr>
            <p:ph type="title"/>
          </p:nvPr>
        </p:nvSpPr>
        <p:spPr/>
        <p:txBody>
          <a:bodyPr/>
          <a:lstStyle/>
          <a:p>
            <a:r>
              <a:rPr lang="en-US" dirty="0"/>
              <a:t>Demonstration of TDI 2 with Signal Injection</a:t>
            </a:r>
            <a:endParaRPr lang="LID4096" dirty="0"/>
          </a:p>
        </p:txBody>
      </p:sp>
      <p:pic>
        <p:nvPicPr>
          <p:cNvPr id="12" name="Picture 11">
            <a:extLst>
              <a:ext uri="{FF2B5EF4-FFF2-40B4-BE49-F238E27FC236}">
                <a16:creationId xmlns:a16="http://schemas.microsoft.com/office/drawing/2014/main" id="{B184F6C3-9EB8-44CC-9CE4-67E65FC09985}"/>
              </a:ext>
            </a:extLst>
          </p:cNvPr>
          <p:cNvPicPr>
            <a:picLocks noChangeAspect="1"/>
          </p:cNvPicPr>
          <p:nvPr/>
        </p:nvPicPr>
        <p:blipFill>
          <a:blip r:embed="rId3"/>
          <a:stretch>
            <a:fillRect/>
          </a:stretch>
        </p:blipFill>
        <p:spPr>
          <a:xfrm>
            <a:off x="6127290" y="2151998"/>
            <a:ext cx="10828867" cy="6790985"/>
          </a:xfrm>
          <a:prstGeom prst="rect">
            <a:avLst/>
          </a:prstGeom>
        </p:spPr>
      </p:pic>
      <p:pic>
        <p:nvPicPr>
          <p:cNvPr id="25" name="Picture 24">
            <a:extLst>
              <a:ext uri="{FF2B5EF4-FFF2-40B4-BE49-F238E27FC236}">
                <a16:creationId xmlns:a16="http://schemas.microsoft.com/office/drawing/2014/main" id="{F187F000-BE45-40B8-946C-6A3CCB69C3D2}"/>
              </a:ext>
            </a:extLst>
          </p:cNvPr>
          <p:cNvPicPr>
            <a:picLocks noChangeAspect="1"/>
          </p:cNvPicPr>
          <p:nvPr/>
        </p:nvPicPr>
        <p:blipFill>
          <a:blip r:embed="rId4"/>
          <a:stretch>
            <a:fillRect/>
          </a:stretch>
        </p:blipFill>
        <p:spPr>
          <a:xfrm>
            <a:off x="1858167" y="3321575"/>
            <a:ext cx="3399913" cy="4307902"/>
          </a:xfrm>
          <a:prstGeom prst="rect">
            <a:avLst/>
          </a:prstGeom>
        </p:spPr>
      </p:pic>
      <p:sp>
        <p:nvSpPr>
          <p:cNvPr id="17" name="CustomFooter">
            <a:extLst>
              <a:ext uri="{FF2B5EF4-FFF2-40B4-BE49-F238E27FC236}">
                <a16:creationId xmlns:a16="http://schemas.microsoft.com/office/drawing/2014/main" id="{5FAAB19D-3250-4026-8C94-E9BF4594205A}"/>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17 / 42</a:t>
            </a:r>
            <a:endParaRPr lang="LID4096" sz="1000" spc="100">
              <a:solidFill>
                <a:srgbClr val="A6A6A6"/>
              </a:solidFill>
              <a:latin typeface="Helvetica Neue45 Light"/>
            </a:endParaRPr>
          </a:p>
        </p:txBody>
      </p:sp>
      <p:sp>
        <p:nvSpPr>
          <p:cNvPr id="18" name="TACMeeting">
            <a:extLst>
              <a:ext uri="{FF2B5EF4-FFF2-40B4-BE49-F238E27FC236}">
                <a16:creationId xmlns:a16="http://schemas.microsoft.com/office/drawing/2014/main" id="{CDC43B00-1193-40BB-9BD6-0937800C9BB4}"/>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4"/>
          <p:cNvSpPr/>
          <p:nvPr/>
        </p:nvSpPr>
        <p:spPr>
          <a:xfrm>
            <a:off x="527300" y="8502038"/>
            <a:ext cx="7262165" cy="771823"/>
          </a:xfrm>
          <a:prstGeom prst="rect">
            <a:avLst/>
          </a:prstGeom>
          <a:noFill/>
          <a:ln/>
        </p:spPr>
        <p:txBody>
          <a:bodyPr wrap="square" lIns="25400" tIns="25400" rIns="25400" bIns="25400" rtlCol="0" anchor="t">
            <a:noAutofit/>
          </a:bodyPr>
          <a:lstStyle/>
          <a:p>
            <a:pPr marL="0" indent="0" algn="l">
              <a:lnSpc>
                <a:spcPct val="145000"/>
              </a:lnSpc>
              <a:buNone/>
            </a:pPr>
            <a:endParaRPr lang="en-US" sz="2000" dirty="0"/>
          </a:p>
        </p:txBody>
      </p:sp>
      <p:sp>
        <p:nvSpPr>
          <p:cNvPr id="8" name="Text Placeholder 7">
            <a:extLst>
              <a:ext uri="{FF2B5EF4-FFF2-40B4-BE49-F238E27FC236}">
                <a16:creationId xmlns:a16="http://schemas.microsoft.com/office/drawing/2014/main" id="{BBE8DD73-2A1A-44D3-B2A7-4380287B3D3D}"/>
              </a:ext>
            </a:extLst>
          </p:cNvPr>
          <p:cNvSpPr>
            <a:spLocks noGrp="1"/>
          </p:cNvSpPr>
          <p:nvPr>
            <p:ph type="body" sz="quarter" idx="11"/>
          </p:nvPr>
        </p:nvSpPr>
        <p:spPr/>
        <p:txBody>
          <a:bodyPr/>
          <a:lstStyle/>
          <a:p>
            <a:r>
              <a:rPr lang="en-US" sz="1200" b="1" dirty="0"/>
              <a:t>TDI AND LASER FREQUENCY NOISE: STATUS</a:t>
            </a:r>
            <a:endParaRPr lang="LID4096" dirty="0"/>
          </a:p>
        </p:txBody>
      </p:sp>
      <p:sp>
        <p:nvSpPr>
          <p:cNvPr id="7" name="Title 6">
            <a:extLst>
              <a:ext uri="{FF2B5EF4-FFF2-40B4-BE49-F238E27FC236}">
                <a16:creationId xmlns:a16="http://schemas.microsoft.com/office/drawing/2014/main" id="{D33CC878-F9E7-4DC3-A137-D292C9542A8F}"/>
              </a:ext>
            </a:extLst>
          </p:cNvPr>
          <p:cNvSpPr>
            <a:spLocks noGrp="1"/>
          </p:cNvSpPr>
          <p:nvPr>
            <p:ph type="title"/>
          </p:nvPr>
        </p:nvSpPr>
        <p:spPr/>
        <p:txBody>
          <a:bodyPr/>
          <a:lstStyle/>
          <a:p>
            <a:r>
              <a:rPr lang="en-US" dirty="0"/>
              <a:t>TDI Michelson X with a Multi-board Setup</a:t>
            </a:r>
            <a:endParaRPr lang="LID4096" dirty="0"/>
          </a:p>
        </p:txBody>
      </p:sp>
      <p:pic>
        <p:nvPicPr>
          <p:cNvPr id="9" name="Picture 8">
            <a:extLst>
              <a:ext uri="{FF2B5EF4-FFF2-40B4-BE49-F238E27FC236}">
                <a16:creationId xmlns:a16="http://schemas.microsoft.com/office/drawing/2014/main" id="{F44A4D01-67D5-4DBC-9E40-5E45F4CE6267}"/>
              </a:ext>
            </a:extLst>
          </p:cNvPr>
          <p:cNvPicPr>
            <a:picLocks noChangeAspect="1"/>
          </p:cNvPicPr>
          <p:nvPr/>
        </p:nvPicPr>
        <p:blipFill>
          <a:blip r:embed="rId3"/>
          <a:srcRect/>
          <a:stretch/>
        </p:blipFill>
        <p:spPr>
          <a:xfrm>
            <a:off x="8536348" y="3068488"/>
            <a:ext cx="9364139" cy="5852586"/>
          </a:xfrm>
          <a:prstGeom prst="rect">
            <a:avLst/>
          </a:prstGeom>
        </p:spPr>
      </p:pic>
      <p:sp>
        <p:nvSpPr>
          <p:cNvPr id="3" name="Text Placeholder 2">
            <a:extLst>
              <a:ext uri="{FF2B5EF4-FFF2-40B4-BE49-F238E27FC236}">
                <a16:creationId xmlns:a16="http://schemas.microsoft.com/office/drawing/2014/main" id="{B4664A32-C397-4023-BAF2-06E6C8BDDF1B}"/>
              </a:ext>
            </a:extLst>
          </p:cNvPr>
          <p:cNvSpPr>
            <a:spLocks noGrp="1"/>
          </p:cNvSpPr>
          <p:nvPr>
            <p:ph type="body" sz="quarter" idx="12"/>
          </p:nvPr>
        </p:nvSpPr>
        <p:spPr>
          <a:xfrm>
            <a:off x="649648" y="1758950"/>
            <a:ext cx="13955352" cy="7332663"/>
          </a:xfrm>
        </p:spPr>
        <p:txBody>
          <a:bodyPr/>
          <a:lstStyle/>
          <a:p>
            <a:r>
              <a:rPr lang="en-US" dirty="0"/>
              <a:t>Latest results with higher injected noise levels and three delay line boards</a:t>
            </a:r>
          </a:p>
          <a:p>
            <a:r>
              <a:rPr lang="en-US" dirty="0"/>
              <a:t>Injected noise is reduced by 7 to 8 orders of magnitude</a:t>
            </a:r>
          </a:p>
          <a:p>
            <a:r>
              <a:rPr lang="en-US" dirty="0"/>
              <a:t>Is the floor due to ranging error?</a:t>
            </a:r>
            <a:endParaRPr lang="LID4096" dirty="0"/>
          </a:p>
        </p:txBody>
      </p:sp>
      <p:pic>
        <p:nvPicPr>
          <p:cNvPr id="12" name="Picture 11">
            <a:extLst>
              <a:ext uri="{FF2B5EF4-FFF2-40B4-BE49-F238E27FC236}">
                <a16:creationId xmlns:a16="http://schemas.microsoft.com/office/drawing/2014/main" id="{9B4DC445-53C6-4890-AA1E-859249AEBCD9}"/>
              </a:ext>
            </a:extLst>
          </p:cNvPr>
          <p:cNvPicPr>
            <a:picLocks noChangeAspect="1"/>
          </p:cNvPicPr>
          <p:nvPr/>
        </p:nvPicPr>
        <p:blipFill>
          <a:blip r:embed="rId4"/>
          <a:srcRect/>
          <a:stretch/>
        </p:blipFill>
        <p:spPr>
          <a:xfrm>
            <a:off x="112249" y="2566400"/>
            <a:ext cx="9476251" cy="7720600"/>
          </a:xfrm>
          <a:prstGeom prst="rect">
            <a:avLst/>
          </a:prstGeom>
        </p:spPr>
      </p:pic>
      <p:sp>
        <p:nvSpPr>
          <p:cNvPr id="18" name="CustomFooter">
            <a:extLst>
              <a:ext uri="{FF2B5EF4-FFF2-40B4-BE49-F238E27FC236}">
                <a16:creationId xmlns:a16="http://schemas.microsoft.com/office/drawing/2014/main" id="{449ED537-4012-44FE-BB4B-822ADB9AED03}"/>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18 / 42</a:t>
            </a:r>
            <a:endParaRPr lang="LID4096" sz="1000" spc="100">
              <a:solidFill>
                <a:srgbClr val="A6A6A6"/>
              </a:solidFill>
              <a:latin typeface="Helvetica Neue45 Light"/>
            </a:endParaRPr>
          </a:p>
        </p:txBody>
      </p:sp>
      <p:sp>
        <p:nvSpPr>
          <p:cNvPr id="19" name="TACMeeting">
            <a:extLst>
              <a:ext uri="{FF2B5EF4-FFF2-40B4-BE49-F238E27FC236}">
                <a16:creationId xmlns:a16="http://schemas.microsoft.com/office/drawing/2014/main" id="{C5B2DA98-DE06-47CE-B65A-07ED2328ED8E}"/>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8229543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5A96991-DDD7-46E4-907F-F194FED0092C}"/>
              </a:ext>
            </a:extLst>
          </p:cNvPr>
          <p:cNvSpPr>
            <a:spLocks noGrp="1"/>
          </p:cNvSpPr>
          <p:nvPr>
            <p:ph type="body" sz="quarter" idx="12"/>
          </p:nvPr>
        </p:nvSpPr>
        <p:spPr>
          <a:xfrm>
            <a:off x="649648" y="1758950"/>
            <a:ext cx="9966691" cy="7332663"/>
          </a:xfrm>
        </p:spPr>
        <p:txBody>
          <a:bodyPr/>
          <a:lstStyle/>
          <a:p>
            <a:r>
              <a:rPr lang="en-US" dirty="0"/>
              <a:t>For TDI, the next piece is injecting real laser noise.</a:t>
            </a:r>
            <a:br>
              <a:rPr lang="en-US" dirty="0"/>
            </a:br>
            <a:r>
              <a:rPr lang="en-US" dirty="0"/>
              <a:t>We've already made a start: the far laser locks through the delay line, and the readout behaves as expected</a:t>
            </a:r>
            <a:endParaRPr lang="en-US" sz="3200" spc="-50" dirty="0"/>
          </a:p>
        </p:txBody>
      </p:sp>
      <p:pic>
        <p:nvPicPr>
          <p:cNvPr id="9" name="Image 1" descr="preencoded.png"/>
          <p:cNvPicPr>
            <a:picLocks noChangeAspect="1"/>
          </p:cNvPicPr>
          <p:nvPr/>
        </p:nvPicPr>
        <p:blipFill>
          <a:blip r:embed="rId3"/>
          <a:srcRect t="-2908" b="-2908"/>
          <a:stretch/>
        </p:blipFill>
        <p:spPr>
          <a:xfrm>
            <a:off x="36463" y="5452021"/>
            <a:ext cx="8778180" cy="4011811"/>
          </a:xfrm>
          <a:prstGeom prst="rect">
            <a:avLst/>
          </a:prstGeom>
        </p:spPr>
      </p:pic>
      <p:sp>
        <p:nvSpPr>
          <p:cNvPr id="12" name="Text 6"/>
          <p:cNvSpPr/>
          <p:nvPr/>
        </p:nvSpPr>
        <p:spPr>
          <a:xfrm>
            <a:off x="9503833" y="2988133"/>
            <a:ext cx="8650159" cy="209550"/>
          </a:xfrm>
          <a:prstGeom prst="rect">
            <a:avLst/>
          </a:prstGeom>
          <a:noFill/>
          <a:ln/>
        </p:spPr>
        <p:txBody>
          <a:bodyPr wrap="square" lIns="25400" tIns="25400" rIns="25400" bIns="25400" rtlCol="0" anchor="t">
            <a:noAutofit/>
          </a:bodyPr>
          <a:lstStyle/>
          <a:p>
            <a:pPr marL="0" indent="0" algn="ctr">
              <a:buNone/>
            </a:pPr>
            <a:r>
              <a:rPr lang="en-US" sz="1400" dirty="0">
                <a:solidFill>
                  <a:srgbClr val="A0A0A0"/>
                </a:solidFill>
                <a:latin typeface="Helvetica Neue" pitchFamily="34" charset="0"/>
                <a:ea typeface="Helvetica Neue" pitchFamily="34" charset="-122"/>
                <a:cs typeface="Helvetica Neue" pitchFamily="34" charset="-120"/>
              </a:rPr>
              <a:t>Free-running photodetector noise vs. mixed output</a:t>
            </a:r>
            <a:endParaRPr lang="en-US" sz="1400" dirty="0"/>
          </a:p>
        </p:txBody>
      </p:sp>
      <p:pic>
        <p:nvPicPr>
          <p:cNvPr id="17" name="Picture 16">
            <a:extLst>
              <a:ext uri="{FF2B5EF4-FFF2-40B4-BE49-F238E27FC236}">
                <a16:creationId xmlns:a16="http://schemas.microsoft.com/office/drawing/2014/main" id="{B954DF51-94B2-2ED0-10CE-898C4F430049}"/>
              </a:ext>
            </a:extLst>
          </p:cNvPr>
          <p:cNvPicPr>
            <a:picLocks noChangeAspect="1"/>
          </p:cNvPicPr>
          <p:nvPr/>
        </p:nvPicPr>
        <p:blipFill>
          <a:blip r:embed="rId4"/>
          <a:stretch>
            <a:fillRect/>
          </a:stretch>
        </p:blipFill>
        <p:spPr>
          <a:xfrm>
            <a:off x="8780823" y="3244813"/>
            <a:ext cx="9169132" cy="6212087"/>
          </a:xfrm>
          <a:prstGeom prst="rect">
            <a:avLst/>
          </a:prstGeom>
        </p:spPr>
      </p:pic>
      <p:pic>
        <p:nvPicPr>
          <p:cNvPr id="19" name="Graphic 18">
            <a:extLst>
              <a:ext uri="{FF2B5EF4-FFF2-40B4-BE49-F238E27FC236}">
                <a16:creationId xmlns:a16="http://schemas.microsoft.com/office/drawing/2014/main" id="{497E3155-537D-D3FC-3190-D1318C1BADD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841" y="5681859"/>
            <a:ext cx="2714580" cy="435674"/>
          </a:xfrm>
          <a:prstGeom prst="rect">
            <a:avLst/>
          </a:prstGeom>
        </p:spPr>
      </p:pic>
      <p:pic>
        <p:nvPicPr>
          <p:cNvPr id="24" name="Graphic 23">
            <a:extLst>
              <a:ext uri="{FF2B5EF4-FFF2-40B4-BE49-F238E27FC236}">
                <a16:creationId xmlns:a16="http://schemas.microsoft.com/office/drawing/2014/main" id="{353F65C7-070D-26B6-1080-5949ACE71C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00064" y="8807845"/>
            <a:ext cx="2714579" cy="435673"/>
          </a:xfrm>
          <a:prstGeom prst="rect">
            <a:avLst/>
          </a:prstGeom>
        </p:spPr>
      </p:pic>
      <p:pic>
        <p:nvPicPr>
          <p:cNvPr id="26" name="Graphic 25">
            <a:extLst>
              <a:ext uri="{FF2B5EF4-FFF2-40B4-BE49-F238E27FC236}">
                <a16:creationId xmlns:a16="http://schemas.microsoft.com/office/drawing/2014/main" id="{B402B887-94F3-2117-BDB8-FEF7E7C5A3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3841" y="4464156"/>
            <a:ext cx="12103615" cy="1038594"/>
          </a:xfrm>
          <a:prstGeom prst="rect">
            <a:avLst/>
          </a:prstGeom>
        </p:spPr>
      </p:pic>
      <p:sp>
        <p:nvSpPr>
          <p:cNvPr id="6" name="Text Placeholder 5">
            <a:extLst>
              <a:ext uri="{FF2B5EF4-FFF2-40B4-BE49-F238E27FC236}">
                <a16:creationId xmlns:a16="http://schemas.microsoft.com/office/drawing/2014/main" id="{5F977178-BFDA-4E2F-B718-5E5F1DB77DF4}"/>
              </a:ext>
            </a:extLst>
          </p:cNvPr>
          <p:cNvSpPr>
            <a:spLocks noGrp="1"/>
          </p:cNvSpPr>
          <p:nvPr>
            <p:ph type="body" sz="quarter" idx="11"/>
          </p:nvPr>
        </p:nvSpPr>
        <p:spPr/>
        <p:txBody>
          <a:bodyPr/>
          <a:lstStyle/>
          <a:p>
            <a:r>
              <a:rPr lang="en-US" sz="1200" b="1" dirty="0"/>
              <a:t>TDI AND LASER FREQUENCY NOISE: STATUS</a:t>
            </a:r>
            <a:endParaRPr lang="LID4096" dirty="0"/>
          </a:p>
        </p:txBody>
      </p:sp>
      <p:sp>
        <p:nvSpPr>
          <p:cNvPr id="4" name="Title 3">
            <a:extLst>
              <a:ext uri="{FF2B5EF4-FFF2-40B4-BE49-F238E27FC236}">
                <a16:creationId xmlns:a16="http://schemas.microsoft.com/office/drawing/2014/main" id="{FC692106-9C94-4E4E-98B6-0EF4E136252B}"/>
              </a:ext>
            </a:extLst>
          </p:cNvPr>
          <p:cNvSpPr>
            <a:spLocks noGrp="1"/>
          </p:cNvSpPr>
          <p:nvPr>
            <p:ph type="title"/>
          </p:nvPr>
        </p:nvSpPr>
        <p:spPr/>
        <p:txBody>
          <a:bodyPr/>
          <a:lstStyle/>
          <a:p>
            <a:r>
              <a:rPr lang="en-US" dirty="0"/>
              <a:t>Injecting Laser Noise: PLL Lock of Far Spacecraft</a:t>
            </a:r>
            <a:endParaRPr lang="LID4096" dirty="0"/>
          </a:p>
        </p:txBody>
      </p:sp>
      <p:sp>
        <p:nvSpPr>
          <p:cNvPr id="18" name="CustomFooter">
            <a:extLst>
              <a:ext uri="{FF2B5EF4-FFF2-40B4-BE49-F238E27FC236}">
                <a16:creationId xmlns:a16="http://schemas.microsoft.com/office/drawing/2014/main" id="{7785A614-48E4-46C9-B108-0E22459AAA17}"/>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19 / 42</a:t>
            </a:r>
            <a:endParaRPr lang="LID4096" sz="1000" spc="100">
              <a:solidFill>
                <a:srgbClr val="A6A6A6"/>
              </a:solidFill>
              <a:latin typeface="Helvetica Neue45 Light"/>
            </a:endParaRPr>
          </a:p>
        </p:txBody>
      </p:sp>
      <p:sp>
        <p:nvSpPr>
          <p:cNvPr id="20" name="TACMeeting">
            <a:extLst>
              <a:ext uri="{FF2B5EF4-FFF2-40B4-BE49-F238E27FC236}">
                <a16:creationId xmlns:a16="http://schemas.microsoft.com/office/drawing/2014/main" id="{FE778A86-EEF1-41B1-B7F1-1E3A8DCC832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871C6946-CECF-40E0-A29A-9A2F7E310CF3}"/>
              </a:ext>
            </a:extLst>
          </p:cNvPr>
          <p:cNvSpPr>
            <a:spLocks noGrp="1"/>
          </p:cNvSpPr>
          <p:nvPr>
            <p:ph type="body" sz="quarter" idx="12"/>
          </p:nvPr>
        </p:nvSpPr>
        <p:spPr/>
        <p:txBody>
          <a:bodyPr/>
          <a:lstStyle/>
          <a:p>
            <a:r>
              <a:rPr lang="en-US" dirty="0"/>
              <a:t>We can recover a LISA-like one-way laser noise transfer function.</a:t>
            </a:r>
            <a:endParaRPr lang="LID4096" dirty="0"/>
          </a:p>
        </p:txBody>
      </p:sp>
      <p:pic>
        <p:nvPicPr>
          <p:cNvPr id="7" name="Image 1" descr="preencoded.png"/>
          <p:cNvPicPr>
            <a:picLocks noChangeAspect="1"/>
          </p:cNvPicPr>
          <p:nvPr/>
        </p:nvPicPr>
        <p:blipFill>
          <a:blip r:embed="rId3"/>
          <a:srcRect t="-2908" b="-2908"/>
          <a:stretch/>
        </p:blipFill>
        <p:spPr>
          <a:xfrm>
            <a:off x="36463" y="5452021"/>
            <a:ext cx="8778180" cy="4011811"/>
          </a:xfrm>
          <a:prstGeom prst="rect">
            <a:avLst/>
          </a:prstGeom>
        </p:spPr>
      </p:pic>
      <p:pic>
        <p:nvPicPr>
          <p:cNvPr id="9" name="Image 3" descr="preencoded.png"/>
          <p:cNvPicPr>
            <a:picLocks noChangeAspect="1"/>
          </p:cNvPicPr>
          <p:nvPr/>
        </p:nvPicPr>
        <p:blipFill>
          <a:blip r:embed="rId4"/>
          <a:srcRect t="-80" b="-80"/>
          <a:stretch/>
        </p:blipFill>
        <p:spPr>
          <a:xfrm>
            <a:off x="8595271" y="2571750"/>
            <a:ext cx="9326761" cy="6377880"/>
          </a:xfrm>
          <a:prstGeom prst="rect">
            <a:avLst/>
          </a:prstGeom>
        </p:spPr>
      </p:pic>
      <p:sp>
        <p:nvSpPr>
          <p:cNvPr id="10" name="Text 4"/>
          <p:cNvSpPr/>
          <p:nvPr/>
        </p:nvSpPr>
        <p:spPr>
          <a:xfrm>
            <a:off x="9473156" y="8949630"/>
            <a:ext cx="8851359" cy="209550"/>
          </a:xfrm>
          <a:prstGeom prst="rect">
            <a:avLst/>
          </a:prstGeom>
          <a:noFill/>
          <a:ln/>
        </p:spPr>
        <p:txBody>
          <a:bodyPr wrap="square" lIns="25400" tIns="25400" rIns="25400" bIns="25400" rtlCol="0" anchor="t">
            <a:normAutofit fontScale="92500" lnSpcReduction="10000"/>
          </a:bodyPr>
          <a:lstStyle/>
          <a:p>
            <a:pPr marL="0" indent="0" algn="ctr">
              <a:buNone/>
            </a:pPr>
            <a:r>
              <a:rPr lang="en-US" sz="1200" dirty="0">
                <a:solidFill>
                  <a:srgbClr val="A0A0A0"/>
                </a:solidFill>
                <a:latin typeface="Helvetica Neue" pitchFamily="34" charset="0"/>
                <a:ea typeface="Helvetica Neue" pitchFamily="34" charset="-122"/>
                <a:cs typeface="Helvetica Neue" pitchFamily="34" charset="-120"/>
              </a:rPr>
              <a:t>Recovered one-way laser-noise transfer function</a:t>
            </a:r>
            <a:endParaRPr lang="en-US" sz="1200" dirty="0"/>
          </a:p>
        </p:txBody>
      </p:sp>
      <p:pic>
        <p:nvPicPr>
          <p:cNvPr id="14" name="Graphic 13">
            <a:extLst>
              <a:ext uri="{FF2B5EF4-FFF2-40B4-BE49-F238E27FC236}">
                <a16:creationId xmlns:a16="http://schemas.microsoft.com/office/drawing/2014/main" id="{310F34BD-67DD-85C8-D0FB-764D1FD871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841" y="5681859"/>
            <a:ext cx="2714580" cy="435674"/>
          </a:xfrm>
          <a:prstGeom prst="rect">
            <a:avLst/>
          </a:prstGeom>
        </p:spPr>
      </p:pic>
      <p:pic>
        <p:nvPicPr>
          <p:cNvPr id="15" name="Graphic 14">
            <a:extLst>
              <a:ext uri="{FF2B5EF4-FFF2-40B4-BE49-F238E27FC236}">
                <a16:creationId xmlns:a16="http://schemas.microsoft.com/office/drawing/2014/main" id="{A2D6E5AD-FBB4-A9DF-0EAE-FCE503FB47A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00064" y="8807845"/>
            <a:ext cx="2714579" cy="435673"/>
          </a:xfrm>
          <a:prstGeom prst="rect">
            <a:avLst/>
          </a:prstGeom>
        </p:spPr>
      </p:pic>
      <p:pic>
        <p:nvPicPr>
          <p:cNvPr id="23" name="Graphic 22">
            <a:extLst>
              <a:ext uri="{FF2B5EF4-FFF2-40B4-BE49-F238E27FC236}">
                <a16:creationId xmlns:a16="http://schemas.microsoft.com/office/drawing/2014/main" id="{5274CFEB-4447-4A39-9E5D-FEB77392FDD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836821" y="3747247"/>
            <a:ext cx="5625546" cy="1087732"/>
          </a:xfrm>
          <a:prstGeom prst="rect">
            <a:avLst/>
          </a:prstGeom>
        </p:spPr>
      </p:pic>
      <p:sp>
        <p:nvSpPr>
          <p:cNvPr id="5" name="Text Placeholder 4">
            <a:extLst>
              <a:ext uri="{FF2B5EF4-FFF2-40B4-BE49-F238E27FC236}">
                <a16:creationId xmlns:a16="http://schemas.microsoft.com/office/drawing/2014/main" id="{9550F6AD-D6A4-4162-8100-0FC2892AC596}"/>
              </a:ext>
            </a:extLst>
          </p:cNvPr>
          <p:cNvSpPr>
            <a:spLocks noGrp="1"/>
          </p:cNvSpPr>
          <p:nvPr>
            <p:ph type="body" sz="quarter" idx="11"/>
          </p:nvPr>
        </p:nvSpPr>
        <p:spPr/>
        <p:txBody>
          <a:bodyPr/>
          <a:lstStyle/>
          <a:p>
            <a:r>
              <a:rPr lang="en-US" sz="1200" b="1" dirty="0"/>
              <a:t>TDI AND LASER FREQUENCY NOISE: STATUS</a:t>
            </a:r>
            <a:endParaRPr lang="LID4096" dirty="0"/>
          </a:p>
        </p:txBody>
      </p:sp>
      <p:sp>
        <p:nvSpPr>
          <p:cNvPr id="4" name="Title 3">
            <a:extLst>
              <a:ext uri="{FF2B5EF4-FFF2-40B4-BE49-F238E27FC236}">
                <a16:creationId xmlns:a16="http://schemas.microsoft.com/office/drawing/2014/main" id="{F49CA1E9-8C18-411A-9B2D-44DEA639DA60}"/>
              </a:ext>
            </a:extLst>
          </p:cNvPr>
          <p:cNvSpPr>
            <a:spLocks noGrp="1"/>
          </p:cNvSpPr>
          <p:nvPr>
            <p:ph type="title"/>
          </p:nvPr>
        </p:nvSpPr>
        <p:spPr/>
        <p:txBody>
          <a:bodyPr/>
          <a:lstStyle/>
          <a:p>
            <a:r>
              <a:rPr lang="en-US" dirty="0"/>
              <a:t>Recovering the Transfer Function</a:t>
            </a:r>
            <a:endParaRPr lang="LID4096" dirty="0"/>
          </a:p>
        </p:txBody>
      </p:sp>
      <p:sp>
        <p:nvSpPr>
          <p:cNvPr id="20" name="CustomFooter">
            <a:extLst>
              <a:ext uri="{FF2B5EF4-FFF2-40B4-BE49-F238E27FC236}">
                <a16:creationId xmlns:a16="http://schemas.microsoft.com/office/drawing/2014/main" id="{54188F17-69B0-4175-91A8-B5F3637DEBE3}"/>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20 / 42</a:t>
            </a:r>
            <a:endParaRPr lang="LID4096" sz="1000" spc="100">
              <a:solidFill>
                <a:srgbClr val="A6A6A6"/>
              </a:solidFill>
              <a:latin typeface="Helvetica Neue45 Light"/>
            </a:endParaRPr>
          </a:p>
        </p:txBody>
      </p:sp>
      <p:sp>
        <p:nvSpPr>
          <p:cNvPr id="21" name="TACMeeting">
            <a:extLst>
              <a:ext uri="{FF2B5EF4-FFF2-40B4-BE49-F238E27FC236}">
                <a16:creationId xmlns:a16="http://schemas.microsoft.com/office/drawing/2014/main" id="{FD57F1FE-02AC-4433-A4A8-B3717304CD91}"/>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D32A0880-F320-4DCC-8DB6-046233C780F5}"/>
              </a:ext>
            </a:extLst>
          </p:cNvPr>
          <p:cNvSpPr>
            <a:spLocks noGrp="1"/>
          </p:cNvSpPr>
          <p:nvPr>
            <p:ph type="body" sz="quarter" idx="12"/>
          </p:nvPr>
        </p:nvSpPr>
        <p:spPr>
          <a:xfrm>
            <a:off x="649648" y="1758950"/>
            <a:ext cx="10834596" cy="7332663"/>
          </a:xfrm>
        </p:spPr>
        <p:txBody>
          <a:bodyPr/>
          <a:lstStyle/>
          <a:p>
            <a:r>
              <a:rPr lang="en-US" dirty="0"/>
              <a:t>Primary spacecraft laser should be cavity locked</a:t>
            </a:r>
          </a:p>
          <a:p>
            <a:r>
              <a:rPr lang="en-US" dirty="0"/>
              <a:t>Two lasers will be locked to 25 and 30 cm cavities</a:t>
            </a:r>
          </a:p>
          <a:p>
            <a:r>
              <a:rPr lang="en-US" dirty="0"/>
              <a:t>Beat note needs to be below 60 MHz</a:t>
            </a:r>
          </a:p>
          <a:p>
            <a:r>
              <a:rPr lang="en-US" dirty="0"/>
              <a:t>Cavity drift will limit measurement length</a:t>
            </a:r>
            <a:endParaRPr lang="LID4096" dirty="0"/>
          </a:p>
        </p:txBody>
      </p:sp>
      <p:sp>
        <p:nvSpPr>
          <p:cNvPr id="13" name="Text 10"/>
          <p:cNvSpPr/>
          <p:nvPr/>
        </p:nvSpPr>
        <p:spPr>
          <a:xfrm>
            <a:off x="454123" y="5143500"/>
            <a:ext cx="3084225" cy="209550"/>
          </a:xfrm>
          <a:prstGeom prst="rect">
            <a:avLst/>
          </a:prstGeom>
          <a:noFill/>
          <a:ln/>
        </p:spPr>
        <p:txBody>
          <a:bodyPr wrap="square" lIns="25400" tIns="25400" rIns="25400" bIns="25400" rtlCol="0" anchor="t">
            <a:noAutofit/>
          </a:bodyPr>
          <a:lstStyle/>
          <a:p>
            <a:pPr marL="0" indent="0" algn="l">
              <a:buNone/>
            </a:pPr>
            <a:r>
              <a:rPr lang="en-US" sz="1600" dirty="0">
                <a:solidFill>
                  <a:srgbClr val="9A9A9A"/>
                </a:solidFill>
                <a:latin typeface="Helvetica Neue" pitchFamily="34" charset="0"/>
                <a:ea typeface="Helvetica Neue" pitchFamily="34" charset="-122"/>
                <a:cs typeface="Helvetica Neue" pitchFamily="34" charset="-120"/>
              </a:rPr>
              <a:t>Illustrative cavity resonances</a:t>
            </a:r>
            <a:endParaRPr lang="en-US" sz="1600" dirty="0"/>
          </a:p>
        </p:txBody>
      </p:sp>
      <p:pic>
        <p:nvPicPr>
          <p:cNvPr id="19" name="Picture 18">
            <a:extLst>
              <a:ext uri="{FF2B5EF4-FFF2-40B4-BE49-F238E27FC236}">
                <a16:creationId xmlns:a16="http://schemas.microsoft.com/office/drawing/2014/main" id="{7F14BDC2-31DF-7058-DD00-E15A3B3DA81F}"/>
              </a:ext>
            </a:extLst>
          </p:cNvPr>
          <p:cNvPicPr>
            <a:picLocks noChangeAspect="1"/>
          </p:cNvPicPr>
          <p:nvPr/>
        </p:nvPicPr>
        <p:blipFill>
          <a:blip r:embed="rId3"/>
          <a:stretch>
            <a:fillRect/>
          </a:stretch>
        </p:blipFill>
        <p:spPr>
          <a:xfrm>
            <a:off x="0" y="5372099"/>
            <a:ext cx="12272211" cy="4387315"/>
          </a:xfrm>
          <a:prstGeom prst="rect">
            <a:avLst/>
          </a:prstGeom>
        </p:spPr>
      </p:pic>
      <p:pic>
        <p:nvPicPr>
          <p:cNvPr id="12" name="Image 0" descr="preencoded.png"/>
          <p:cNvPicPr>
            <a:picLocks noChangeAspect="1"/>
          </p:cNvPicPr>
          <p:nvPr/>
        </p:nvPicPr>
        <p:blipFill>
          <a:blip r:embed="rId4"/>
          <a:srcRect l="-26065" r="-26065"/>
          <a:stretch/>
        </p:blipFill>
        <p:spPr>
          <a:xfrm>
            <a:off x="9825792" y="898327"/>
            <a:ext cx="9371012" cy="5676616"/>
          </a:xfrm>
          <a:prstGeom prst="rect">
            <a:avLst/>
          </a:prstGeom>
        </p:spPr>
      </p:pic>
      <p:sp>
        <p:nvSpPr>
          <p:cNvPr id="15" name="Text Placeholder 14">
            <a:extLst>
              <a:ext uri="{FF2B5EF4-FFF2-40B4-BE49-F238E27FC236}">
                <a16:creationId xmlns:a16="http://schemas.microsoft.com/office/drawing/2014/main" id="{4BBB3626-A657-4464-A50F-77996706C45D}"/>
              </a:ext>
            </a:extLst>
          </p:cNvPr>
          <p:cNvSpPr>
            <a:spLocks noGrp="1"/>
          </p:cNvSpPr>
          <p:nvPr>
            <p:ph type="body" sz="quarter" idx="11"/>
          </p:nvPr>
        </p:nvSpPr>
        <p:spPr/>
        <p:txBody>
          <a:bodyPr/>
          <a:lstStyle/>
          <a:p>
            <a:r>
              <a:rPr lang="en-US" sz="1200" b="1" dirty="0"/>
              <a:t>TDI AND LASER FREQUENCY NOISE: STATUS</a:t>
            </a:r>
            <a:endParaRPr lang="LID4096" dirty="0"/>
          </a:p>
        </p:txBody>
      </p:sp>
      <p:sp>
        <p:nvSpPr>
          <p:cNvPr id="14" name="Title 13">
            <a:extLst>
              <a:ext uri="{FF2B5EF4-FFF2-40B4-BE49-F238E27FC236}">
                <a16:creationId xmlns:a16="http://schemas.microsoft.com/office/drawing/2014/main" id="{54D62210-FAC6-46E6-92C1-553D71DEA238}"/>
              </a:ext>
            </a:extLst>
          </p:cNvPr>
          <p:cNvSpPr>
            <a:spLocks noGrp="1"/>
          </p:cNvSpPr>
          <p:nvPr>
            <p:ph type="title"/>
          </p:nvPr>
        </p:nvSpPr>
        <p:spPr/>
        <p:txBody>
          <a:bodyPr/>
          <a:lstStyle/>
          <a:p>
            <a:r>
              <a:rPr lang="en-US" dirty="0"/>
              <a:t>Cavity Locking</a:t>
            </a:r>
            <a:endParaRPr lang="LID4096" dirty="0"/>
          </a:p>
        </p:txBody>
      </p:sp>
      <p:sp>
        <p:nvSpPr>
          <p:cNvPr id="17" name="CustomFooter">
            <a:extLst>
              <a:ext uri="{FF2B5EF4-FFF2-40B4-BE49-F238E27FC236}">
                <a16:creationId xmlns:a16="http://schemas.microsoft.com/office/drawing/2014/main" id="{46E630FE-F5FF-43C0-A250-B920B7444A4D}"/>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21 / 42</a:t>
            </a:r>
            <a:endParaRPr lang="LID4096" sz="1000" spc="100">
              <a:solidFill>
                <a:srgbClr val="A6A6A6"/>
              </a:solidFill>
              <a:latin typeface="Helvetica Neue45 Light"/>
            </a:endParaRPr>
          </a:p>
        </p:txBody>
      </p:sp>
      <p:sp>
        <p:nvSpPr>
          <p:cNvPr id="18" name="TACMeeting">
            <a:extLst>
              <a:ext uri="{FF2B5EF4-FFF2-40B4-BE49-F238E27FC236}">
                <a16:creationId xmlns:a16="http://schemas.microsoft.com/office/drawing/2014/main" id="{4C1955BF-F3A9-44EC-8F02-F0AD883B0BAC}"/>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8058093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4"/>
          <p:cNvSpPr/>
          <p:nvPr/>
        </p:nvSpPr>
        <p:spPr>
          <a:xfrm>
            <a:off x="876300" y="9505950"/>
            <a:ext cx="16535400" cy="9525"/>
          </a:xfrm>
          <a:prstGeom prst="rect">
            <a:avLst/>
          </a:prstGeom>
          <a:solidFill>
            <a:srgbClr val="ECECEC"/>
          </a:solidFill>
          <a:ln/>
        </p:spPr>
        <p:txBody>
          <a:bodyPr/>
          <a:lstStyle/>
          <a:p>
            <a:endParaRPr lang="en-US"/>
          </a:p>
        </p:txBody>
      </p:sp>
      <p:sp>
        <p:nvSpPr>
          <p:cNvPr id="15" name="Title 14">
            <a:extLst>
              <a:ext uri="{FF2B5EF4-FFF2-40B4-BE49-F238E27FC236}">
                <a16:creationId xmlns:a16="http://schemas.microsoft.com/office/drawing/2014/main" id="{F6BEA725-7CFC-4470-8A9A-30613EF7CF53}"/>
              </a:ext>
            </a:extLst>
          </p:cNvPr>
          <p:cNvSpPr>
            <a:spLocks noGrp="1"/>
          </p:cNvSpPr>
          <p:nvPr>
            <p:ph type="title"/>
          </p:nvPr>
        </p:nvSpPr>
        <p:spPr>
          <a:xfrm>
            <a:off x="647700" y="1270000"/>
            <a:ext cx="15773400" cy="7874000"/>
          </a:xfrm>
        </p:spPr>
        <p:txBody>
          <a:bodyPr anchor="ctr"/>
          <a:lstStyle/>
          <a:p>
            <a:pPr algn="l">
              <a:lnSpc>
                <a:spcPct val="100000"/>
              </a:lnSpc>
              <a:spcBef>
                <a:spcPts val="600"/>
              </a:spcBef>
              <a:spcAft>
                <a:spcPts val="600"/>
              </a:spcAft>
              <a:buNone/>
            </a:pPr>
            <a:r>
              <a:rPr lang="en-US" sz="2800" dirty="0">
                <a:solidFill>
                  <a:srgbClr val="7F7F7F"/>
                </a:solidFill>
              </a:rPr>
              <a:t>Context</a:t>
            </a:r>
          </a:p>
          <a:p>
            <a:pPr algn="l">
              <a:lnSpc>
                <a:spcPct val="100000"/>
              </a:lnSpc>
              <a:spcBef>
                <a:spcPts val="600"/>
              </a:spcBef>
              <a:spcAft>
                <a:spcPts val="600"/>
              </a:spcAft>
              <a:buNone/>
            </a:pPr>
            <a:r>
              <a:rPr lang="en-US" sz="2800" dirty="0">
                <a:solidFill>
                  <a:srgbClr val="7F7F7F"/>
                </a:solidFill>
              </a:rPr>
              <a:t>Overview of the LISA Measurement System</a:t>
            </a:r>
          </a:p>
          <a:p>
            <a:pPr algn="l">
              <a:lnSpc>
                <a:spcPct val="100000"/>
              </a:lnSpc>
              <a:spcBef>
                <a:spcPts val="600"/>
              </a:spcBef>
              <a:spcAft>
                <a:spcPts val="600"/>
              </a:spcAft>
              <a:buNone/>
            </a:pPr>
            <a:r>
              <a:rPr lang="en-US" sz="2800" dirty="0">
                <a:solidFill>
                  <a:srgbClr val="7F7F7F"/>
                </a:solidFill>
              </a:rPr>
              <a:t>Testbed Concept</a:t>
            </a:r>
          </a:p>
          <a:p>
            <a:pPr algn="l">
              <a:lnSpc>
                <a:spcPct val="100000"/>
              </a:lnSpc>
              <a:spcBef>
                <a:spcPts val="600"/>
              </a:spcBef>
              <a:spcAft>
                <a:spcPts val="600"/>
              </a:spcAft>
              <a:buNone/>
            </a:pPr>
            <a:r>
              <a:rPr lang="en-US" sz="2800" dirty="0">
                <a:solidFill>
                  <a:srgbClr val="7F7F7F"/>
                </a:solidFill>
              </a:rPr>
              <a:t>TDI and Laser Frequency Noise: Status</a:t>
            </a:r>
          </a:p>
          <a:p>
            <a:pPr algn="l">
              <a:lnSpc>
                <a:spcPct val="100000"/>
              </a:lnSpc>
              <a:spcBef>
                <a:spcPts val="1400"/>
              </a:spcBef>
              <a:spcAft>
                <a:spcPts val="1400"/>
              </a:spcAft>
              <a:buNone/>
            </a:pPr>
            <a:r>
              <a:rPr lang="en-US" dirty="0"/>
              <a:t>C</a:t>
            </a:r>
            <a:r>
              <a:rPr lang="en-US" sz="5400" b="1" dirty="0"/>
              <a:t>lock Noise: Status</a:t>
            </a:r>
          </a:p>
          <a:p>
            <a:pPr algn="l">
              <a:lnSpc>
                <a:spcPct val="100000"/>
              </a:lnSpc>
              <a:spcBef>
                <a:spcPts val="600"/>
              </a:spcBef>
              <a:spcAft>
                <a:spcPts val="600"/>
              </a:spcAft>
              <a:buNone/>
            </a:pPr>
            <a:r>
              <a:rPr lang="en-US" sz="2800" dirty="0">
                <a:solidFill>
                  <a:srgbClr val="7F7F7F"/>
                </a:solidFill>
              </a:rPr>
              <a:t>Next Steps</a:t>
            </a:r>
          </a:p>
          <a:p>
            <a:pPr algn="l">
              <a:lnSpc>
                <a:spcPct val="100000"/>
              </a:lnSpc>
              <a:spcBef>
                <a:spcPts val="600"/>
              </a:spcBef>
              <a:spcAft>
                <a:spcPts val="600"/>
              </a:spcAft>
              <a:buNone/>
            </a:pPr>
            <a:r>
              <a:rPr lang="en-US" sz="2800" dirty="0">
                <a:solidFill>
                  <a:srgbClr val="7F7F7F"/>
                </a:solidFill>
              </a:rPr>
              <a:t>Conclusions</a:t>
            </a:r>
          </a:p>
        </p:txBody>
      </p:sp>
      <p:sp>
        <p:nvSpPr>
          <p:cNvPr id="13" name="CustomFooter">
            <a:extLst>
              <a:ext uri="{FF2B5EF4-FFF2-40B4-BE49-F238E27FC236}">
                <a16:creationId xmlns:a16="http://schemas.microsoft.com/office/drawing/2014/main" id="{0FA3E2AE-1A69-4A8F-8835-AA5D2CCC93EA}"/>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22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28C7C489-8216-451C-86E7-1FFD5C18B6F1}"/>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530371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4" name="Image 0" descr="preencoded.png"/>
          <p:cNvPicPr>
            <a:picLocks noChangeAspect="1"/>
          </p:cNvPicPr>
          <p:nvPr/>
        </p:nvPicPr>
        <p:blipFill>
          <a:blip r:embed="rId3"/>
          <a:srcRect t="-75" b="-75"/>
          <a:stretch/>
        </p:blipFill>
        <p:spPr>
          <a:xfrm>
            <a:off x="2305036" y="2449813"/>
            <a:ext cx="13677929" cy="3824867"/>
          </a:xfrm>
          <a:prstGeom prst="rect">
            <a:avLst/>
          </a:prstGeom>
        </p:spPr>
      </p:pic>
      <p:sp>
        <p:nvSpPr>
          <p:cNvPr id="7" name="Text Placeholder 6">
            <a:extLst>
              <a:ext uri="{FF2B5EF4-FFF2-40B4-BE49-F238E27FC236}">
                <a16:creationId xmlns:a16="http://schemas.microsoft.com/office/drawing/2014/main" id="{EF56E3CF-C96D-44E1-B016-A0006CBC19EF}"/>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a:p>
            <a:endParaRPr lang="LID4096" dirty="0"/>
          </a:p>
        </p:txBody>
      </p:sp>
      <p:sp>
        <p:nvSpPr>
          <p:cNvPr id="5" name="Title 4">
            <a:extLst>
              <a:ext uri="{FF2B5EF4-FFF2-40B4-BE49-F238E27FC236}">
                <a16:creationId xmlns:a16="http://schemas.microsoft.com/office/drawing/2014/main" id="{378866E8-53C5-4797-A4E9-A4D41FF30652}"/>
              </a:ext>
            </a:extLst>
          </p:cNvPr>
          <p:cNvSpPr>
            <a:spLocks noGrp="1"/>
          </p:cNvSpPr>
          <p:nvPr>
            <p:ph type="title"/>
          </p:nvPr>
        </p:nvSpPr>
        <p:spPr/>
        <p:txBody>
          <a:bodyPr/>
          <a:lstStyle/>
          <a:p>
            <a:r>
              <a:rPr lang="en-US" dirty="0"/>
              <a:t>Clock Noise Transfer in LISA</a:t>
            </a:r>
            <a:endParaRPr lang="LID4096" dirty="0"/>
          </a:p>
        </p:txBody>
      </p:sp>
      <p:pic>
        <p:nvPicPr>
          <p:cNvPr id="10" name="Graphic 9">
            <a:extLst>
              <a:ext uri="{FF2B5EF4-FFF2-40B4-BE49-F238E27FC236}">
                <a16:creationId xmlns:a16="http://schemas.microsoft.com/office/drawing/2014/main" id="{EFCF25AA-F589-4AC1-9AEF-38F4ACC91D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42247" y="6470446"/>
            <a:ext cx="7458878" cy="1886153"/>
          </a:xfrm>
          <a:prstGeom prst="rect">
            <a:avLst/>
          </a:prstGeom>
        </p:spPr>
      </p:pic>
      <p:sp>
        <p:nvSpPr>
          <p:cNvPr id="16" name="CustomFooter">
            <a:extLst>
              <a:ext uri="{FF2B5EF4-FFF2-40B4-BE49-F238E27FC236}">
                <a16:creationId xmlns:a16="http://schemas.microsoft.com/office/drawing/2014/main" id="{1CC9E5B8-AFB7-434B-A341-ADC9FFB6A748}"/>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23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C56436E8-FA69-4A85-8A2A-6588D684642D}"/>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9B07FCE-C88C-4522-B66C-ECE1528590CF}"/>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5" name="Title 4">
            <a:extLst>
              <a:ext uri="{FF2B5EF4-FFF2-40B4-BE49-F238E27FC236}">
                <a16:creationId xmlns:a16="http://schemas.microsoft.com/office/drawing/2014/main" id="{228160F0-CE46-4D72-AD9F-458D6A7E7F92}"/>
              </a:ext>
            </a:extLst>
          </p:cNvPr>
          <p:cNvSpPr>
            <a:spLocks noGrp="1"/>
          </p:cNvSpPr>
          <p:nvPr>
            <p:ph type="title"/>
          </p:nvPr>
        </p:nvSpPr>
        <p:spPr/>
        <p:txBody>
          <a:bodyPr/>
          <a:lstStyle/>
          <a:p>
            <a:r>
              <a:rPr lang="en-US" dirty="0"/>
              <a:t>Clock Noise Transfer Fidelity</a:t>
            </a:r>
            <a:endParaRPr lang="LID4096" dirty="0"/>
          </a:p>
        </p:txBody>
      </p:sp>
      <p:sp>
        <p:nvSpPr>
          <p:cNvPr id="12" name="Text Placeholder 11">
            <a:extLst>
              <a:ext uri="{FF2B5EF4-FFF2-40B4-BE49-F238E27FC236}">
                <a16:creationId xmlns:a16="http://schemas.microsoft.com/office/drawing/2014/main" id="{DE73360D-322E-4FAF-8E20-3AE2569D7EA9}"/>
              </a:ext>
            </a:extLst>
          </p:cNvPr>
          <p:cNvSpPr>
            <a:spLocks noGrp="1"/>
          </p:cNvSpPr>
          <p:nvPr>
            <p:ph type="body" sz="quarter" idx="12"/>
          </p:nvPr>
        </p:nvSpPr>
        <p:spPr>
          <a:xfrm>
            <a:off x="649648" y="1758950"/>
            <a:ext cx="16876352" cy="7332663"/>
          </a:xfrm>
        </p:spPr>
        <p:txBody>
          <a:bodyPr/>
          <a:lstStyle/>
          <a:p>
            <a:r>
              <a:rPr lang="en-US" dirty="0"/>
              <a:t>For LISA, the clock noise correction is assumed to be limited by the fidelity of the clock tones.</a:t>
            </a:r>
          </a:p>
          <a:p>
            <a:r>
              <a:rPr lang="en-US" dirty="0"/>
              <a:t>Any unwanted timing jitters on the modulating tone need to be kept low.</a:t>
            </a:r>
          </a:p>
          <a:p>
            <a:endParaRPr lang="LID4096" dirty="0"/>
          </a:p>
          <a:p>
            <a:endParaRPr lang="LID4096" dirty="0"/>
          </a:p>
        </p:txBody>
      </p:sp>
      <p:pic>
        <p:nvPicPr>
          <p:cNvPr id="14" name="Graphic 13">
            <a:extLst>
              <a:ext uri="{FF2B5EF4-FFF2-40B4-BE49-F238E27FC236}">
                <a16:creationId xmlns:a16="http://schemas.microsoft.com/office/drawing/2014/main" id="{81EB72F9-6203-41DA-9DB2-5E08DDC952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53201" y="7366512"/>
            <a:ext cx="10655243" cy="1978189"/>
          </a:xfrm>
          <a:prstGeom prst="rect">
            <a:avLst/>
          </a:prstGeom>
        </p:spPr>
      </p:pic>
      <p:pic>
        <p:nvPicPr>
          <p:cNvPr id="19" name="Image 0" descr="preencoded.png">
            <a:extLst>
              <a:ext uri="{FF2B5EF4-FFF2-40B4-BE49-F238E27FC236}">
                <a16:creationId xmlns:a16="http://schemas.microsoft.com/office/drawing/2014/main" id="{D6225EA8-5A09-4221-A8EC-1A6DB03F91AE}"/>
              </a:ext>
            </a:extLst>
          </p:cNvPr>
          <p:cNvPicPr>
            <a:picLocks noChangeAspect="1"/>
          </p:cNvPicPr>
          <p:nvPr/>
        </p:nvPicPr>
        <p:blipFill rotWithShape="1">
          <a:blip r:embed="rId4"/>
          <a:srcRect t="-75" r="-56" b="-75"/>
          <a:stretch/>
        </p:blipFill>
        <p:spPr>
          <a:xfrm>
            <a:off x="2159039" y="3480857"/>
            <a:ext cx="13685437" cy="3824867"/>
          </a:xfrm>
          <a:prstGeom prst="rect">
            <a:avLst/>
          </a:prstGeom>
        </p:spPr>
      </p:pic>
      <p:sp>
        <p:nvSpPr>
          <p:cNvPr id="16" name="CustomFooter">
            <a:extLst>
              <a:ext uri="{FF2B5EF4-FFF2-40B4-BE49-F238E27FC236}">
                <a16:creationId xmlns:a16="http://schemas.microsoft.com/office/drawing/2014/main" id="{A4F6817F-9CA5-4895-BB50-F3191BB1E442}"/>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24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0CBA5CA9-CD5E-4FF9-A0EC-AFB9240289D7}"/>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7548344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0" descr="preencoded.png"/>
          <p:cNvPicPr>
            <a:picLocks noChangeAspect="1"/>
          </p:cNvPicPr>
          <p:nvPr/>
        </p:nvPicPr>
        <p:blipFill>
          <a:blip r:embed="rId3"/>
          <a:srcRect t="-75" b="-75"/>
          <a:stretch/>
        </p:blipFill>
        <p:spPr>
          <a:xfrm>
            <a:off x="786259" y="1851571"/>
            <a:ext cx="9601200" cy="2684859"/>
          </a:xfrm>
          <a:prstGeom prst="rect">
            <a:avLst/>
          </a:prstGeom>
        </p:spPr>
      </p:pic>
      <p:pic>
        <p:nvPicPr>
          <p:cNvPr id="6" name="Image 2" descr="preencoded.png"/>
          <p:cNvPicPr>
            <a:picLocks noChangeAspect="1"/>
          </p:cNvPicPr>
          <p:nvPr/>
        </p:nvPicPr>
        <p:blipFill>
          <a:blip r:embed="rId4"/>
          <a:srcRect l="-6" r="-6"/>
          <a:stretch/>
        </p:blipFill>
        <p:spPr>
          <a:xfrm>
            <a:off x="914400" y="5472559"/>
            <a:ext cx="9966871" cy="3497461"/>
          </a:xfrm>
          <a:prstGeom prst="rect">
            <a:avLst/>
          </a:prstGeom>
        </p:spPr>
      </p:pic>
      <p:sp>
        <p:nvSpPr>
          <p:cNvPr id="8" name="Text 2"/>
          <p:cNvSpPr/>
          <p:nvPr/>
        </p:nvSpPr>
        <p:spPr>
          <a:xfrm>
            <a:off x="14996071" y="3343275"/>
            <a:ext cx="3218557"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1414"/>
                </a:solidFill>
                <a:latin typeface="Helvetica Neue" pitchFamily="34" charset="0"/>
                <a:ea typeface="Helvetica Neue" pitchFamily="34" charset="-122"/>
                <a:cs typeface="Helvetica Neue" pitchFamily="34" charset="-120"/>
              </a:rPr>
              <a:t>LISA arm</a:t>
            </a:r>
            <a:endParaRPr lang="en-US" sz="1800" dirty="0"/>
          </a:p>
        </p:txBody>
      </p:sp>
      <p:sp>
        <p:nvSpPr>
          <p:cNvPr id="9" name="Text 3"/>
          <p:cNvSpPr/>
          <p:nvPr/>
        </p:nvSpPr>
        <p:spPr>
          <a:xfrm>
            <a:off x="14996071" y="3638550"/>
            <a:ext cx="3218557" cy="20955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9A9A9A"/>
                </a:solidFill>
                <a:latin typeface="Helvetica Neue" pitchFamily="34" charset="0"/>
                <a:ea typeface="Helvetica Neue" pitchFamily="34" charset="-122"/>
                <a:cs typeface="Helvetica Neue" pitchFamily="34" charset="-120"/>
              </a:rPr>
              <a:t>In-flight link</a:t>
            </a:r>
            <a:endParaRPr lang="en-US" sz="1200" dirty="0"/>
          </a:p>
        </p:txBody>
      </p:sp>
      <p:sp>
        <p:nvSpPr>
          <p:cNvPr id="10" name="Text 4"/>
          <p:cNvSpPr/>
          <p:nvPr/>
        </p:nvSpPr>
        <p:spPr>
          <a:xfrm>
            <a:off x="14996071" y="7097911"/>
            <a:ext cx="3218557" cy="314325"/>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141414"/>
                </a:solidFill>
                <a:latin typeface="Helvetica Neue" pitchFamily="34" charset="0"/>
                <a:ea typeface="Helvetica Neue" pitchFamily="34" charset="-122"/>
                <a:cs typeface="Helvetica Neue" pitchFamily="34" charset="-120"/>
              </a:rPr>
              <a:t>Testbed arm</a:t>
            </a:r>
            <a:endParaRPr lang="en-US" sz="1800" dirty="0"/>
          </a:p>
        </p:txBody>
      </p:sp>
      <p:sp>
        <p:nvSpPr>
          <p:cNvPr id="11" name="Text 5"/>
          <p:cNvSpPr/>
          <p:nvPr/>
        </p:nvSpPr>
        <p:spPr>
          <a:xfrm>
            <a:off x="14996071" y="7393186"/>
            <a:ext cx="3218557" cy="20955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9A9A9A"/>
                </a:solidFill>
                <a:latin typeface="Helvetica Neue" pitchFamily="34" charset="0"/>
                <a:ea typeface="Helvetica Neue" pitchFamily="34" charset="-122"/>
                <a:cs typeface="Helvetica Neue" pitchFamily="34" charset="-120"/>
              </a:rPr>
              <a:t>Benchtop analogue</a:t>
            </a:r>
            <a:endParaRPr lang="en-US" sz="1200" dirty="0"/>
          </a:p>
        </p:txBody>
      </p:sp>
      <p:pic>
        <p:nvPicPr>
          <p:cNvPr id="16" name="Graphic 15">
            <a:extLst>
              <a:ext uri="{FF2B5EF4-FFF2-40B4-BE49-F238E27FC236}">
                <a16:creationId xmlns:a16="http://schemas.microsoft.com/office/drawing/2014/main" id="{9FC99449-5110-2A54-FC17-35CB1935BAC7}"/>
              </a:ext>
            </a:extLst>
          </p:cNvPr>
          <p:cNvPicPr>
            <a:picLocks noChangeAspect="1"/>
          </p:cNvPicPr>
          <p:nvPr/>
        </p:nvPicPr>
        <p:blipFill>
          <a:blip>
            <a:extLst>
              <a:ext uri="{96DAC541-7B7A-43D3-8B79-37D633B846F1}">
                <asvg:svgBlip xmlns:asvg="http://schemas.microsoft.com/office/drawing/2016/SVG/main" r:embed="rId5"/>
              </a:ext>
            </a:extLst>
          </a:blip>
          <a:srcRect r="46966"/>
          <a:stretch>
            <a:fillRect/>
          </a:stretch>
        </p:blipFill>
        <p:spPr>
          <a:xfrm>
            <a:off x="10700948" y="3667943"/>
            <a:ext cx="6198641" cy="1851571"/>
          </a:xfrm>
          <a:prstGeom prst="rect">
            <a:avLst/>
          </a:prstGeom>
        </p:spPr>
      </p:pic>
      <p:pic>
        <p:nvPicPr>
          <p:cNvPr id="18" name="Graphic 17">
            <a:extLst>
              <a:ext uri="{FF2B5EF4-FFF2-40B4-BE49-F238E27FC236}">
                <a16:creationId xmlns:a16="http://schemas.microsoft.com/office/drawing/2014/main" id="{13DF5016-2B9E-8507-8D9C-34B5E1AD7BAB}"/>
              </a:ext>
            </a:extLst>
          </p:cNvPr>
          <p:cNvPicPr>
            <a:picLocks noChangeAspect="1"/>
          </p:cNvPicPr>
          <p:nvPr/>
        </p:nvPicPr>
        <p:blipFill>
          <a:blip>
            <a:extLst>
              <a:ext uri="{96DAC541-7B7A-43D3-8B79-37D633B846F1}">
                <asvg:svgBlip xmlns:asvg="http://schemas.microsoft.com/office/drawing/2016/SVG/main" r:embed="rId6"/>
              </a:ext>
            </a:extLst>
          </a:blip>
          <a:srcRect t="537" r="26754"/>
          <a:stretch>
            <a:fillRect/>
          </a:stretch>
        </p:blipFill>
        <p:spPr>
          <a:xfrm>
            <a:off x="9143999" y="7602736"/>
            <a:ext cx="9044978" cy="1703933"/>
          </a:xfrm>
          <a:prstGeom prst="rect">
            <a:avLst/>
          </a:prstGeom>
        </p:spPr>
      </p:pic>
      <p:sp>
        <p:nvSpPr>
          <p:cNvPr id="7" name="Text Placeholder 6">
            <a:extLst>
              <a:ext uri="{FF2B5EF4-FFF2-40B4-BE49-F238E27FC236}">
                <a16:creationId xmlns:a16="http://schemas.microsoft.com/office/drawing/2014/main" id="{EF56E3CF-C96D-44E1-B016-A0006CBC19EF}"/>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5" name="Title 4">
            <a:extLst>
              <a:ext uri="{FF2B5EF4-FFF2-40B4-BE49-F238E27FC236}">
                <a16:creationId xmlns:a16="http://schemas.microsoft.com/office/drawing/2014/main" id="{378866E8-53C5-4797-A4E9-A4D41FF30652}"/>
              </a:ext>
            </a:extLst>
          </p:cNvPr>
          <p:cNvSpPr>
            <a:spLocks noGrp="1"/>
          </p:cNvSpPr>
          <p:nvPr>
            <p:ph type="title"/>
          </p:nvPr>
        </p:nvSpPr>
        <p:spPr/>
        <p:txBody>
          <a:bodyPr/>
          <a:lstStyle/>
          <a:p>
            <a:r>
              <a:rPr lang="en-US" dirty="0"/>
              <a:t>Clock Noise Transfer in the Lab</a:t>
            </a:r>
            <a:endParaRPr lang="LID4096" dirty="0"/>
          </a:p>
        </p:txBody>
      </p:sp>
      <p:sp>
        <p:nvSpPr>
          <p:cNvPr id="22" name="CustomFooter">
            <a:extLst>
              <a:ext uri="{FF2B5EF4-FFF2-40B4-BE49-F238E27FC236}">
                <a16:creationId xmlns:a16="http://schemas.microsoft.com/office/drawing/2014/main" id="{34FE5126-48A6-41E4-A089-8D1BC4CCF231}"/>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25 / 42</a:t>
            </a:r>
            <a:endParaRPr lang="LID4096" sz="1000" spc="100">
              <a:solidFill>
                <a:srgbClr val="A6A6A6"/>
              </a:solidFill>
              <a:latin typeface="Helvetica Neue45 Light"/>
            </a:endParaRPr>
          </a:p>
        </p:txBody>
      </p:sp>
      <p:sp>
        <p:nvSpPr>
          <p:cNvPr id="23" name="TACMeeting">
            <a:extLst>
              <a:ext uri="{FF2B5EF4-FFF2-40B4-BE49-F238E27FC236}">
                <a16:creationId xmlns:a16="http://schemas.microsoft.com/office/drawing/2014/main" id="{DC232724-4812-4A80-8B2C-BFCE8096F917}"/>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076369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966B853-564C-4429-A298-BB542480AE86}"/>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7" name="Title 6">
            <a:extLst>
              <a:ext uri="{FF2B5EF4-FFF2-40B4-BE49-F238E27FC236}">
                <a16:creationId xmlns:a16="http://schemas.microsoft.com/office/drawing/2014/main" id="{C621A108-4F27-4B5D-9613-3A04307DB49F}"/>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Preliminary Clock Noise Removal – Two Phasemeters</a:t>
            </a:r>
            <a:endParaRPr lang="LID4096" dirty="0"/>
          </a:p>
        </p:txBody>
      </p:sp>
      <p:pic>
        <p:nvPicPr>
          <p:cNvPr id="12" name="Picture 11">
            <a:extLst>
              <a:ext uri="{FF2B5EF4-FFF2-40B4-BE49-F238E27FC236}">
                <a16:creationId xmlns:a16="http://schemas.microsoft.com/office/drawing/2014/main" id="{01FF5116-69AC-44F4-AFEE-4E06DD8AC815}"/>
              </a:ext>
            </a:extLst>
          </p:cNvPr>
          <p:cNvPicPr>
            <a:picLocks noChangeAspect="1"/>
          </p:cNvPicPr>
          <p:nvPr/>
        </p:nvPicPr>
        <p:blipFill>
          <a:blip r:embed="rId3"/>
          <a:srcRect/>
          <a:stretch/>
        </p:blipFill>
        <p:spPr>
          <a:xfrm>
            <a:off x="7916325" y="2997107"/>
            <a:ext cx="9609675" cy="6406449"/>
          </a:xfrm>
          <a:prstGeom prst="rect">
            <a:avLst/>
          </a:prstGeom>
        </p:spPr>
      </p:pic>
      <p:sp>
        <p:nvSpPr>
          <p:cNvPr id="25" name="Text Placeholder 24">
            <a:extLst>
              <a:ext uri="{FF2B5EF4-FFF2-40B4-BE49-F238E27FC236}">
                <a16:creationId xmlns:a16="http://schemas.microsoft.com/office/drawing/2014/main" id="{0991BB54-E205-45C8-878B-5186A07BE3FD}"/>
              </a:ext>
            </a:extLst>
          </p:cNvPr>
          <p:cNvSpPr>
            <a:spLocks noGrp="1"/>
          </p:cNvSpPr>
          <p:nvPr>
            <p:ph type="body" sz="quarter" idx="12"/>
          </p:nvPr>
        </p:nvSpPr>
        <p:spPr>
          <a:xfrm>
            <a:off x="649648" y="1758950"/>
            <a:ext cx="12090480" cy="7332663"/>
          </a:xfrm>
        </p:spPr>
        <p:txBody>
          <a:bodyPr/>
          <a:lstStyle/>
          <a:p>
            <a:r>
              <a:rPr lang="en-US" dirty="0"/>
              <a:t>Common carrier noise – this is not a test of TDI</a:t>
            </a:r>
          </a:p>
          <a:p>
            <a:r>
              <a:rPr lang="en-US" dirty="0"/>
              <a:t>Separate sideband modulations</a:t>
            </a:r>
          </a:p>
          <a:p>
            <a:r>
              <a:rPr lang="en-US" dirty="0"/>
              <a:t>Modulation done by </a:t>
            </a:r>
            <a:r>
              <a:rPr lang="en-US" dirty="0" err="1"/>
              <a:t>Moku:Lab</a:t>
            </a:r>
            <a:endParaRPr lang="LID4096" dirty="0"/>
          </a:p>
        </p:txBody>
      </p:sp>
      <p:pic>
        <p:nvPicPr>
          <p:cNvPr id="11" name="Picture 10">
            <a:extLst>
              <a:ext uri="{FF2B5EF4-FFF2-40B4-BE49-F238E27FC236}">
                <a16:creationId xmlns:a16="http://schemas.microsoft.com/office/drawing/2014/main" id="{F121536F-05BA-4CE5-A299-41E726E98A56}"/>
              </a:ext>
            </a:extLst>
          </p:cNvPr>
          <p:cNvPicPr>
            <a:picLocks noChangeAspect="1"/>
          </p:cNvPicPr>
          <p:nvPr/>
        </p:nvPicPr>
        <p:blipFill>
          <a:blip r:embed="rId4"/>
          <a:stretch>
            <a:fillRect/>
          </a:stretch>
        </p:blipFill>
        <p:spPr>
          <a:xfrm>
            <a:off x="-3893013" y="3208049"/>
            <a:ext cx="12548631" cy="5984564"/>
          </a:xfrm>
          <a:prstGeom prst="rect">
            <a:avLst/>
          </a:prstGeom>
        </p:spPr>
      </p:pic>
      <p:sp>
        <p:nvSpPr>
          <p:cNvPr id="17" name="CustomFooter">
            <a:extLst>
              <a:ext uri="{FF2B5EF4-FFF2-40B4-BE49-F238E27FC236}">
                <a16:creationId xmlns:a16="http://schemas.microsoft.com/office/drawing/2014/main" id="{5A1C78E0-70C6-4EBC-BF93-A7FAFC91EE54}"/>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26 / 42</a:t>
            </a:r>
            <a:endParaRPr lang="LID4096" sz="1000" spc="100">
              <a:solidFill>
                <a:srgbClr val="A6A6A6"/>
              </a:solidFill>
              <a:latin typeface="Helvetica Neue45 Light"/>
            </a:endParaRPr>
          </a:p>
        </p:txBody>
      </p:sp>
      <p:sp>
        <p:nvSpPr>
          <p:cNvPr id="18" name="TACMeeting">
            <a:extLst>
              <a:ext uri="{FF2B5EF4-FFF2-40B4-BE49-F238E27FC236}">
                <a16:creationId xmlns:a16="http://schemas.microsoft.com/office/drawing/2014/main" id="{FACAC2BD-9AB6-425B-99E9-AF976DA6C99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8100582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091D0C11-55D0-45C5-89BB-F01245917820}"/>
              </a:ext>
            </a:extLst>
          </p:cNvPr>
          <p:cNvSpPr>
            <a:spLocks noGrp="1"/>
          </p:cNvSpPr>
          <p:nvPr>
            <p:ph type="body" sz="quarter" idx="12"/>
          </p:nvPr>
        </p:nvSpPr>
        <p:spPr>
          <a:xfrm>
            <a:off x="649648" y="1758950"/>
            <a:ext cx="8186991" cy="7332663"/>
          </a:xfrm>
        </p:spPr>
        <p:txBody>
          <a:bodyPr/>
          <a:lstStyle/>
          <a:p>
            <a:r>
              <a:rPr lang="en-US" dirty="0"/>
              <a:t>Upper limit on modulation noise of our EOMs.</a:t>
            </a:r>
          </a:p>
          <a:p>
            <a:r>
              <a:rPr lang="en-US" dirty="0"/>
              <a:t>Should be repeated with different modulating frequencies.</a:t>
            </a:r>
          </a:p>
          <a:p>
            <a:r>
              <a:rPr lang="en-US" dirty="0"/>
              <a:t>We should be able to figure out the underlying differential timing jitters between the phasemeter clock and the modulating signal it puts out </a:t>
            </a:r>
            <a:endParaRPr lang="LID4096" dirty="0"/>
          </a:p>
        </p:txBody>
      </p:sp>
      <p:sp>
        <p:nvSpPr>
          <p:cNvPr id="10" name="Text Placeholder 9">
            <a:extLst>
              <a:ext uri="{FF2B5EF4-FFF2-40B4-BE49-F238E27FC236}">
                <a16:creationId xmlns:a16="http://schemas.microsoft.com/office/drawing/2014/main" id="{46F1E9A6-53EF-4D89-99FE-356C6E167686}"/>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6" name="Title 5">
            <a:extLst>
              <a:ext uri="{FF2B5EF4-FFF2-40B4-BE49-F238E27FC236}">
                <a16:creationId xmlns:a16="http://schemas.microsoft.com/office/drawing/2014/main" id="{878ED70B-9571-4D6C-8D2E-F2ADFD367A65}"/>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Clock Tone Transfer Limitation in </a:t>
            </a:r>
            <a:r>
              <a:rPr lang="en-US" sz="3200" b="1" kern="0" spc="-52" dirty="0" err="1">
                <a:solidFill>
                  <a:srgbClr val="141414"/>
                </a:solidFill>
                <a:latin typeface="Helvetica Neue" pitchFamily="34" charset="0"/>
                <a:ea typeface="Helvetica Neue" pitchFamily="34" charset="-122"/>
                <a:cs typeface="Helvetica Neue" pitchFamily="34" charset="-120"/>
              </a:rPr>
              <a:t>miniLISA</a:t>
            </a:r>
            <a:endParaRPr lang="LID4096" dirty="0"/>
          </a:p>
        </p:txBody>
      </p:sp>
      <p:pic>
        <p:nvPicPr>
          <p:cNvPr id="14" name="Picture 13">
            <a:extLst>
              <a:ext uri="{FF2B5EF4-FFF2-40B4-BE49-F238E27FC236}">
                <a16:creationId xmlns:a16="http://schemas.microsoft.com/office/drawing/2014/main" id="{3CB341AA-BF32-417C-BF43-8B475AF7123A}"/>
              </a:ext>
            </a:extLst>
          </p:cNvPr>
          <p:cNvPicPr>
            <a:picLocks noChangeAspect="1"/>
          </p:cNvPicPr>
          <p:nvPr/>
        </p:nvPicPr>
        <p:blipFill>
          <a:blip r:embed="rId3"/>
          <a:stretch>
            <a:fillRect/>
          </a:stretch>
        </p:blipFill>
        <p:spPr>
          <a:xfrm>
            <a:off x="552143" y="5996185"/>
            <a:ext cx="8382000" cy="3095428"/>
          </a:xfrm>
          <a:prstGeom prst="rect">
            <a:avLst/>
          </a:prstGeom>
        </p:spPr>
      </p:pic>
      <p:pic>
        <p:nvPicPr>
          <p:cNvPr id="16" name="Picture 15">
            <a:extLst>
              <a:ext uri="{FF2B5EF4-FFF2-40B4-BE49-F238E27FC236}">
                <a16:creationId xmlns:a16="http://schemas.microsoft.com/office/drawing/2014/main" id="{E4B290E4-84D4-43C1-84FF-D42666637E8C}"/>
              </a:ext>
            </a:extLst>
          </p:cNvPr>
          <p:cNvPicPr>
            <a:picLocks noChangeAspect="1"/>
          </p:cNvPicPr>
          <p:nvPr/>
        </p:nvPicPr>
        <p:blipFill>
          <a:blip r:embed="rId4"/>
          <a:srcRect/>
          <a:stretch/>
        </p:blipFill>
        <p:spPr>
          <a:xfrm>
            <a:off x="8421702" y="2775897"/>
            <a:ext cx="8629170" cy="5508781"/>
          </a:xfrm>
          <a:prstGeom prst="rect">
            <a:avLst/>
          </a:prstGeom>
        </p:spPr>
      </p:pic>
      <p:sp>
        <p:nvSpPr>
          <p:cNvPr id="19" name="CustomFooter">
            <a:extLst>
              <a:ext uri="{FF2B5EF4-FFF2-40B4-BE49-F238E27FC236}">
                <a16:creationId xmlns:a16="http://schemas.microsoft.com/office/drawing/2014/main" id="{A06A5682-3687-4CD5-A73C-561BDEF1E63B}"/>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27 / 42</a:t>
            </a:r>
            <a:endParaRPr lang="LID4096" sz="1000" spc="100">
              <a:solidFill>
                <a:srgbClr val="A6A6A6"/>
              </a:solidFill>
              <a:latin typeface="Helvetica Neue45 Light"/>
            </a:endParaRPr>
          </a:p>
        </p:txBody>
      </p:sp>
      <p:sp>
        <p:nvSpPr>
          <p:cNvPr id="20" name="TACMeeting">
            <a:extLst>
              <a:ext uri="{FF2B5EF4-FFF2-40B4-BE49-F238E27FC236}">
                <a16:creationId xmlns:a16="http://schemas.microsoft.com/office/drawing/2014/main" id="{B146A76D-7860-4646-822D-C7982C835674}"/>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6FB82C3B-2A16-4816-A714-D33AD605EB97}"/>
              </a:ext>
            </a:extLst>
          </p:cNvPr>
          <p:cNvSpPr>
            <a:spLocks noGrp="1"/>
          </p:cNvSpPr>
          <p:nvPr>
            <p:ph type="body" sz="quarter" idx="12"/>
          </p:nvPr>
        </p:nvSpPr>
        <p:spPr>
          <a:xfrm>
            <a:off x="649648" y="1758950"/>
            <a:ext cx="15371562" cy="7332663"/>
          </a:xfrm>
        </p:spPr>
        <p:txBody>
          <a:bodyPr/>
          <a:lstStyle/>
          <a:p>
            <a:r>
              <a:rPr lang="en-US" dirty="0"/>
              <a:t>We can look at what this modulation noise would look like after TDI 2 and clock noise removal algorithms.</a:t>
            </a:r>
            <a:endParaRPr lang="LID4096" dirty="0"/>
          </a:p>
        </p:txBody>
      </p:sp>
      <p:sp>
        <p:nvSpPr>
          <p:cNvPr id="8" name="Text Placeholder 7">
            <a:extLst>
              <a:ext uri="{FF2B5EF4-FFF2-40B4-BE49-F238E27FC236}">
                <a16:creationId xmlns:a16="http://schemas.microsoft.com/office/drawing/2014/main" id="{FC544793-8848-46C0-B726-33BC78D26D4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6" name="Title 5">
            <a:extLst>
              <a:ext uri="{FF2B5EF4-FFF2-40B4-BE49-F238E27FC236}">
                <a16:creationId xmlns:a16="http://schemas.microsoft.com/office/drawing/2014/main" id="{6D36CEE1-CC0B-44C2-9DB7-D6F2714E4C9C}"/>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Clock Tone Transfer Limitation in </a:t>
            </a:r>
            <a:r>
              <a:rPr lang="en-US" sz="3200" b="1" kern="0" spc="-52" dirty="0" err="1">
                <a:solidFill>
                  <a:srgbClr val="141414"/>
                </a:solidFill>
                <a:latin typeface="Helvetica Neue" pitchFamily="34" charset="0"/>
                <a:ea typeface="Helvetica Neue" pitchFamily="34" charset="-122"/>
                <a:cs typeface="Helvetica Neue" pitchFamily="34" charset="-120"/>
              </a:rPr>
              <a:t>miniLISA</a:t>
            </a:r>
            <a:endParaRPr lang="LID4096" dirty="0"/>
          </a:p>
        </p:txBody>
      </p:sp>
      <p:pic>
        <p:nvPicPr>
          <p:cNvPr id="5" name="Picture 4">
            <a:extLst>
              <a:ext uri="{FF2B5EF4-FFF2-40B4-BE49-F238E27FC236}">
                <a16:creationId xmlns:a16="http://schemas.microsoft.com/office/drawing/2014/main" id="{A29A7DED-A5B7-4C1F-9A0B-20CBED335C8E}"/>
              </a:ext>
            </a:extLst>
          </p:cNvPr>
          <p:cNvPicPr>
            <a:picLocks noChangeAspect="1"/>
          </p:cNvPicPr>
          <p:nvPr/>
        </p:nvPicPr>
        <p:blipFill rotWithShape="1">
          <a:blip r:embed="rId3"/>
          <a:srcRect l="50000"/>
          <a:stretch/>
        </p:blipFill>
        <p:spPr>
          <a:xfrm>
            <a:off x="5065415" y="3081087"/>
            <a:ext cx="7922594" cy="6010526"/>
          </a:xfrm>
          <a:prstGeom prst="rect">
            <a:avLst/>
          </a:prstGeom>
        </p:spPr>
      </p:pic>
      <p:sp>
        <p:nvSpPr>
          <p:cNvPr id="16" name="CustomFooter">
            <a:extLst>
              <a:ext uri="{FF2B5EF4-FFF2-40B4-BE49-F238E27FC236}">
                <a16:creationId xmlns:a16="http://schemas.microsoft.com/office/drawing/2014/main" id="{261DBB71-1282-4477-AFC3-2D024B87F9F1}"/>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28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0A71BD50-1F2C-4888-9C6C-B11F0486212D}"/>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4132247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1F2219-396D-4F10-AE4C-1F1EFBDFDD3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FA1168B5-C7BD-4875-953D-422C9A1B36D5}"/>
              </a:ext>
            </a:extLst>
          </p:cNvPr>
          <p:cNvSpPr>
            <a:spLocks noGrp="1"/>
          </p:cNvSpPr>
          <p:nvPr>
            <p:ph type="title"/>
          </p:nvPr>
        </p:nvSpPr>
        <p:spPr/>
        <p:txBody>
          <a:bodyPr/>
          <a:lstStyle/>
          <a:p>
            <a:r>
              <a:rPr lang="en-US" dirty="0"/>
              <a:t>GHz Sidebands</a:t>
            </a:r>
            <a:endParaRPr lang="LID4096" dirty="0"/>
          </a:p>
        </p:txBody>
      </p:sp>
      <p:sp>
        <p:nvSpPr>
          <p:cNvPr id="29" name="Text Placeholder 8">
            <a:extLst>
              <a:ext uri="{FF2B5EF4-FFF2-40B4-BE49-F238E27FC236}">
                <a16:creationId xmlns:a16="http://schemas.microsoft.com/office/drawing/2014/main" id="{11B5CEBD-C96D-4F42-83AB-A8298E93595F}"/>
              </a:ext>
            </a:extLst>
          </p:cNvPr>
          <p:cNvSpPr>
            <a:spLocks noGrp="1"/>
          </p:cNvSpPr>
          <p:nvPr>
            <p:ph type="body" sz="quarter" idx="12"/>
          </p:nvPr>
        </p:nvSpPr>
        <p:spPr>
          <a:xfrm>
            <a:off x="649648" y="1758950"/>
            <a:ext cx="16876352" cy="1907117"/>
          </a:xfrm>
        </p:spPr>
        <p:txBody>
          <a:bodyPr/>
          <a:lstStyle/>
          <a:p>
            <a:r>
              <a:rPr lang="en-US" dirty="0"/>
              <a:t>Assuming that the measured modulation noise doesn’t scale with the modulating frequency, the solution is to increase the modulating frequency – which is why LISA uses 2.4 GHz sidebands for clock tone transfer. </a:t>
            </a:r>
            <a:endParaRPr lang="LID4096" dirty="0"/>
          </a:p>
        </p:txBody>
      </p:sp>
      <p:sp>
        <p:nvSpPr>
          <p:cNvPr id="13" name="CustomFooter">
            <a:extLst>
              <a:ext uri="{FF2B5EF4-FFF2-40B4-BE49-F238E27FC236}">
                <a16:creationId xmlns:a16="http://schemas.microsoft.com/office/drawing/2014/main" id="{A5F01F1B-CBD1-488D-9351-DF409C3716E2}"/>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29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BFCD4C1E-C92F-4019-970E-1330922D1B15}"/>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1F2219-396D-4F10-AE4C-1F1EFBDFDD3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FA1168B5-C7BD-4875-953D-422C9A1B36D5}"/>
              </a:ext>
            </a:extLst>
          </p:cNvPr>
          <p:cNvSpPr>
            <a:spLocks noGrp="1"/>
          </p:cNvSpPr>
          <p:nvPr>
            <p:ph type="title"/>
          </p:nvPr>
        </p:nvSpPr>
        <p:spPr/>
        <p:txBody>
          <a:bodyPr/>
          <a:lstStyle/>
          <a:p>
            <a:r>
              <a:rPr lang="en-US" dirty="0"/>
              <a:t>GHz Sidebands</a:t>
            </a:r>
            <a:endParaRPr lang="LID4096" dirty="0"/>
          </a:p>
        </p:txBody>
      </p:sp>
      <p:sp>
        <p:nvSpPr>
          <p:cNvPr id="29" name="Text Placeholder 8">
            <a:extLst>
              <a:ext uri="{FF2B5EF4-FFF2-40B4-BE49-F238E27FC236}">
                <a16:creationId xmlns:a16="http://schemas.microsoft.com/office/drawing/2014/main" id="{11B5CEBD-C96D-4F42-83AB-A8298E93595F}"/>
              </a:ext>
            </a:extLst>
          </p:cNvPr>
          <p:cNvSpPr>
            <a:spLocks noGrp="1"/>
          </p:cNvSpPr>
          <p:nvPr>
            <p:ph type="body" sz="quarter" idx="12"/>
          </p:nvPr>
        </p:nvSpPr>
        <p:spPr>
          <a:xfrm>
            <a:off x="649648" y="1758950"/>
            <a:ext cx="16876352" cy="3964517"/>
          </a:xfrm>
        </p:spPr>
        <p:txBody>
          <a:bodyPr/>
          <a:lstStyle/>
          <a:p>
            <a:r>
              <a:rPr lang="en-US" dirty="0"/>
              <a:t>Assuming that the measured modulation noise doesn’t scale with the modulating frequency, the solution is to increase the modulating frequency – which is why LISA uses 2.4 GHz sidebands for clock tone transfer. </a:t>
            </a:r>
            <a:endParaRPr lang="LID4096" dirty="0"/>
          </a:p>
          <a:p>
            <a:r>
              <a:rPr lang="en-US" dirty="0">
                <a:highlight>
                  <a:srgbClr val="D5D5D5"/>
                </a:highlight>
              </a:rPr>
              <a:t>How high should be go?</a:t>
            </a:r>
            <a:endParaRPr lang="LID4096" dirty="0">
              <a:highlight>
                <a:srgbClr val="D5D5D5"/>
              </a:highlight>
            </a:endParaRPr>
          </a:p>
        </p:txBody>
      </p:sp>
      <p:pic>
        <p:nvPicPr>
          <p:cNvPr id="7" name="Picture 6">
            <a:extLst>
              <a:ext uri="{FF2B5EF4-FFF2-40B4-BE49-F238E27FC236}">
                <a16:creationId xmlns:a16="http://schemas.microsoft.com/office/drawing/2014/main" id="{8B2DB7C0-102A-4FFC-9C9A-2AF87A364974}"/>
              </a:ext>
            </a:extLst>
          </p:cNvPr>
          <p:cNvPicPr>
            <a:picLocks noChangeAspect="1"/>
          </p:cNvPicPr>
          <p:nvPr/>
        </p:nvPicPr>
        <p:blipFill rotWithShape="1">
          <a:blip r:embed="rId3"/>
          <a:srcRect l="49871"/>
          <a:stretch/>
        </p:blipFill>
        <p:spPr>
          <a:xfrm>
            <a:off x="5884752" y="3159745"/>
            <a:ext cx="8887522" cy="6329814"/>
          </a:xfrm>
          <a:prstGeom prst="rect">
            <a:avLst/>
          </a:prstGeom>
        </p:spPr>
      </p:pic>
      <p:sp>
        <p:nvSpPr>
          <p:cNvPr id="14" name="CustomFooter">
            <a:extLst>
              <a:ext uri="{FF2B5EF4-FFF2-40B4-BE49-F238E27FC236}">
                <a16:creationId xmlns:a16="http://schemas.microsoft.com/office/drawing/2014/main" id="{DA0D29E5-F016-417E-8D3E-143DEA7EB922}"/>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30 / 42</a:t>
            </a:r>
            <a:endParaRPr lang="LID4096" sz="1000" spc="100">
              <a:solidFill>
                <a:srgbClr val="A6A6A6"/>
              </a:solidFill>
              <a:latin typeface="Helvetica Neue45 Light"/>
            </a:endParaRPr>
          </a:p>
        </p:txBody>
      </p:sp>
      <p:sp>
        <p:nvSpPr>
          <p:cNvPr id="15" name="TACMeeting">
            <a:extLst>
              <a:ext uri="{FF2B5EF4-FFF2-40B4-BE49-F238E27FC236}">
                <a16:creationId xmlns:a16="http://schemas.microsoft.com/office/drawing/2014/main" id="{975A095C-76D3-4464-9D5A-4A2D71EEBB8A}"/>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39791342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1F2219-396D-4F10-AE4C-1F1EFBDFDD3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FA1168B5-C7BD-4875-953D-422C9A1B36D5}"/>
              </a:ext>
            </a:extLst>
          </p:cNvPr>
          <p:cNvSpPr>
            <a:spLocks noGrp="1"/>
          </p:cNvSpPr>
          <p:nvPr>
            <p:ph type="title"/>
          </p:nvPr>
        </p:nvSpPr>
        <p:spPr/>
        <p:txBody>
          <a:bodyPr/>
          <a:lstStyle/>
          <a:p>
            <a:r>
              <a:rPr lang="en-US" dirty="0"/>
              <a:t>Increasing the Sideband Frequency</a:t>
            </a:r>
            <a:endParaRPr lang="LID4096" dirty="0"/>
          </a:p>
        </p:txBody>
      </p:sp>
      <p:pic>
        <p:nvPicPr>
          <p:cNvPr id="15" name="Image 0">
            <a:extLst>
              <a:ext uri="{FF2B5EF4-FFF2-40B4-BE49-F238E27FC236}">
                <a16:creationId xmlns:a16="http://schemas.microsoft.com/office/drawing/2014/main" id="{0C945111-B71E-4D10-9B79-3E6F0806EF72}"/>
              </a:ext>
            </a:extLst>
          </p:cNvPr>
          <p:cNvPicPr>
            <a:picLocks noChangeAspect="1"/>
          </p:cNvPicPr>
          <p:nvPr/>
        </p:nvPicPr>
        <p:blipFill>
          <a:blip r:embed="rId3"/>
          <a:srcRect t="24" b="24"/>
          <a:stretch/>
        </p:blipFill>
        <p:spPr>
          <a:xfrm>
            <a:off x="2670613" y="4141182"/>
            <a:ext cx="12527054" cy="4522334"/>
          </a:xfrm>
          <a:prstGeom prst="rect">
            <a:avLst/>
          </a:prstGeom>
        </p:spPr>
      </p:pic>
      <p:sp>
        <p:nvSpPr>
          <p:cNvPr id="16" name="Text Placeholder 8">
            <a:extLst>
              <a:ext uri="{FF2B5EF4-FFF2-40B4-BE49-F238E27FC236}">
                <a16:creationId xmlns:a16="http://schemas.microsoft.com/office/drawing/2014/main" id="{F49DA0EA-683A-4DAB-8E1E-AAC5CC058678}"/>
              </a:ext>
            </a:extLst>
          </p:cNvPr>
          <p:cNvSpPr>
            <a:spLocks noGrp="1"/>
          </p:cNvSpPr>
          <p:nvPr>
            <p:ph type="body" sz="quarter" idx="12"/>
          </p:nvPr>
        </p:nvSpPr>
        <p:spPr>
          <a:xfrm>
            <a:off x="649648" y="1758950"/>
            <a:ext cx="16876352" cy="1907117"/>
          </a:xfrm>
        </p:spPr>
        <p:txBody>
          <a:bodyPr/>
          <a:lstStyle/>
          <a:p>
            <a:r>
              <a:rPr lang="en-US" dirty="0"/>
              <a:t>First step is to ensure that the differential timing noise on the sidebands is still highly correlated with the phasemeter sampling clock.</a:t>
            </a:r>
            <a:endParaRPr lang="LID4096" dirty="0"/>
          </a:p>
        </p:txBody>
      </p:sp>
      <p:sp>
        <p:nvSpPr>
          <p:cNvPr id="11" name="Rectangle 10">
            <a:extLst>
              <a:ext uri="{FF2B5EF4-FFF2-40B4-BE49-F238E27FC236}">
                <a16:creationId xmlns:a16="http://schemas.microsoft.com/office/drawing/2014/main" id="{D86E996E-EFCF-4E5E-90F3-F7D1F6BF215B}"/>
              </a:ext>
            </a:extLst>
          </p:cNvPr>
          <p:cNvSpPr/>
          <p:nvPr/>
        </p:nvSpPr>
        <p:spPr>
          <a:xfrm>
            <a:off x="8183496" y="4256955"/>
            <a:ext cx="7630245" cy="3980329"/>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CustomFooter">
            <a:extLst>
              <a:ext uri="{FF2B5EF4-FFF2-40B4-BE49-F238E27FC236}">
                <a16:creationId xmlns:a16="http://schemas.microsoft.com/office/drawing/2014/main" id="{8358A1E6-95C9-4B9D-929C-6CD9620D76BE}"/>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31 / 42</a:t>
            </a:r>
            <a:endParaRPr lang="LID4096" sz="1000" spc="100">
              <a:solidFill>
                <a:srgbClr val="A6A6A6"/>
              </a:solidFill>
              <a:latin typeface="Helvetica Neue45 Light"/>
            </a:endParaRPr>
          </a:p>
        </p:txBody>
      </p:sp>
      <p:sp>
        <p:nvSpPr>
          <p:cNvPr id="18" name="TACMeeting">
            <a:extLst>
              <a:ext uri="{FF2B5EF4-FFF2-40B4-BE49-F238E27FC236}">
                <a16:creationId xmlns:a16="http://schemas.microsoft.com/office/drawing/2014/main" id="{5D193F54-CA7B-4B35-97E2-AAE7D6FD12DE}"/>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7602417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1F2219-396D-4F10-AE4C-1F1EFBDFDD3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FA1168B5-C7BD-4875-953D-422C9A1B36D5}"/>
              </a:ext>
            </a:extLst>
          </p:cNvPr>
          <p:cNvSpPr>
            <a:spLocks noGrp="1"/>
          </p:cNvSpPr>
          <p:nvPr>
            <p:ph type="title"/>
          </p:nvPr>
        </p:nvSpPr>
        <p:spPr/>
        <p:txBody>
          <a:bodyPr/>
          <a:lstStyle/>
          <a:p>
            <a:r>
              <a:rPr lang="en-US" dirty="0"/>
              <a:t>Increasing the Sideband Frequency</a:t>
            </a:r>
            <a:endParaRPr lang="LID4096" dirty="0"/>
          </a:p>
        </p:txBody>
      </p:sp>
      <p:sp>
        <p:nvSpPr>
          <p:cNvPr id="29" name="Text Placeholder 8">
            <a:extLst>
              <a:ext uri="{FF2B5EF4-FFF2-40B4-BE49-F238E27FC236}">
                <a16:creationId xmlns:a16="http://schemas.microsoft.com/office/drawing/2014/main" id="{11B5CEBD-C96D-4F42-83AB-A8298E93595F}"/>
              </a:ext>
            </a:extLst>
          </p:cNvPr>
          <p:cNvSpPr>
            <a:spLocks noGrp="1"/>
          </p:cNvSpPr>
          <p:nvPr>
            <p:ph type="body" sz="quarter" idx="12"/>
          </p:nvPr>
        </p:nvSpPr>
        <p:spPr>
          <a:xfrm>
            <a:off x="649648" y="1758950"/>
            <a:ext cx="16876352" cy="1907117"/>
          </a:xfrm>
        </p:spPr>
        <p:txBody>
          <a:bodyPr/>
          <a:lstStyle/>
          <a:p>
            <a:r>
              <a:rPr lang="en-US" dirty="0"/>
              <a:t>To increase the sideband frequency, we have two avenues. </a:t>
            </a:r>
          </a:p>
          <a:p>
            <a:pPr marL="514350" indent="-514350">
              <a:buAutoNum type="arabicParenR"/>
            </a:pPr>
            <a:r>
              <a:rPr lang="en-US" dirty="0"/>
              <a:t>To increase the bandwidth of the ADCs</a:t>
            </a:r>
          </a:p>
          <a:p>
            <a:endParaRPr lang="LID4096" dirty="0"/>
          </a:p>
        </p:txBody>
      </p:sp>
      <p:pic>
        <p:nvPicPr>
          <p:cNvPr id="34" name="Image 0">
            <a:extLst>
              <a:ext uri="{FF2B5EF4-FFF2-40B4-BE49-F238E27FC236}">
                <a16:creationId xmlns:a16="http://schemas.microsoft.com/office/drawing/2014/main" id="{491C859E-A1F9-42DF-91B8-54DE135F104B}"/>
              </a:ext>
            </a:extLst>
          </p:cNvPr>
          <p:cNvPicPr>
            <a:picLocks noChangeAspect="1"/>
          </p:cNvPicPr>
          <p:nvPr/>
        </p:nvPicPr>
        <p:blipFill>
          <a:blip r:embed="rId3"/>
          <a:srcRect t="24" b="24"/>
          <a:stretch/>
        </p:blipFill>
        <p:spPr>
          <a:xfrm>
            <a:off x="2670613" y="4141182"/>
            <a:ext cx="12527054" cy="4522334"/>
          </a:xfrm>
          <a:prstGeom prst="rect">
            <a:avLst/>
          </a:prstGeom>
        </p:spPr>
      </p:pic>
      <p:cxnSp>
        <p:nvCxnSpPr>
          <p:cNvPr id="3" name="Straight Arrow Connector 2">
            <a:extLst>
              <a:ext uri="{FF2B5EF4-FFF2-40B4-BE49-F238E27FC236}">
                <a16:creationId xmlns:a16="http://schemas.microsoft.com/office/drawing/2014/main" id="{A467C4CA-08F4-4620-8ACA-F01778C103E5}"/>
              </a:ext>
            </a:extLst>
          </p:cNvPr>
          <p:cNvCxnSpPr>
            <a:cxnSpLocks/>
          </p:cNvCxnSpPr>
          <p:nvPr/>
        </p:nvCxnSpPr>
        <p:spPr>
          <a:xfrm>
            <a:off x="7327900" y="2980267"/>
            <a:ext cx="228600" cy="1972733"/>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43F4B619-AB9D-4E33-9F79-1C309563C92D}"/>
              </a:ext>
            </a:extLst>
          </p:cNvPr>
          <p:cNvSpPr/>
          <p:nvPr/>
        </p:nvSpPr>
        <p:spPr>
          <a:xfrm>
            <a:off x="8183496" y="4256955"/>
            <a:ext cx="7630245" cy="3980329"/>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CustomFooter">
            <a:extLst>
              <a:ext uri="{FF2B5EF4-FFF2-40B4-BE49-F238E27FC236}">
                <a16:creationId xmlns:a16="http://schemas.microsoft.com/office/drawing/2014/main" id="{55AD048A-E985-4363-A80B-143C32D9ADA6}"/>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32 / 42</a:t>
            </a:r>
            <a:endParaRPr lang="LID4096" sz="1000" spc="100">
              <a:solidFill>
                <a:srgbClr val="A6A6A6"/>
              </a:solidFill>
              <a:latin typeface="Helvetica Neue45 Light"/>
            </a:endParaRPr>
          </a:p>
        </p:txBody>
      </p:sp>
      <p:sp>
        <p:nvSpPr>
          <p:cNvPr id="16" name="TACMeeting">
            <a:extLst>
              <a:ext uri="{FF2B5EF4-FFF2-40B4-BE49-F238E27FC236}">
                <a16:creationId xmlns:a16="http://schemas.microsoft.com/office/drawing/2014/main" id="{5F96AA48-CAD9-423A-9E77-D482993103EB}"/>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366223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1F2219-396D-4F10-AE4C-1F1EFBDFDD3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FA1168B5-C7BD-4875-953D-422C9A1B36D5}"/>
              </a:ext>
            </a:extLst>
          </p:cNvPr>
          <p:cNvSpPr>
            <a:spLocks noGrp="1"/>
          </p:cNvSpPr>
          <p:nvPr>
            <p:ph type="title"/>
          </p:nvPr>
        </p:nvSpPr>
        <p:spPr/>
        <p:txBody>
          <a:bodyPr/>
          <a:lstStyle/>
          <a:p>
            <a:r>
              <a:rPr lang="en-US" dirty="0"/>
              <a:t>Increasing the Sideband Frequency</a:t>
            </a:r>
            <a:endParaRPr lang="LID4096" dirty="0"/>
          </a:p>
        </p:txBody>
      </p:sp>
      <p:sp>
        <p:nvSpPr>
          <p:cNvPr id="29" name="Text Placeholder 8">
            <a:extLst>
              <a:ext uri="{FF2B5EF4-FFF2-40B4-BE49-F238E27FC236}">
                <a16:creationId xmlns:a16="http://schemas.microsoft.com/office/drawing/2014/main" id="{11B5CEBD-C96D-4F42-83AB-A8298E93595F}"/>
              </a:ext>
            </a:extLst>
          </p:cNvPr>
          <p:cNvSpPr>
            <a:spLocks noGrp="1"/>
          </p:cNvSpPr>
          <p:nvPr>
            <p:ph type="body" sz="quarter" idx="12"/>
          </p:nvPr>
        </p:nvSpPr>
        <p:spPr>
          <a:xfrm>
            <a:off x="649648" y="1758950"/>
            <a:ext cx="16876352" cy="1907117"/>
          </a:xfrm>
        </p:spPr>
        <p:txBody>
          <a:bodyPr/>
          <a:lstStyle/>
          <a:p>
            <a:r>
              <a:rPr lang="en-US" dirty="0"/>
              <a:t>To increase the sideband frequency, we have two avenues. </a:t>
            </a:r>
          </a:p>
          <a:p>
            <a:pPr marL="514350" indent="-514350">
              <a:buAutoNum type="arabicParenR"/>
            </a:pPr>
            <a:r>
              <a:rPr lang="en-US" dirty="0">
                <a:solidFill>
                  <a:schemeClr val="bg1">
                    <a:lumMod val="65000"/>
                  </a:schemeClr>
                </a:solidFill>
              </a:rPr>
              <a:t>To increase the bandwidth of the ADCs</a:t>
            </a:r>
          </a:p>
          <a:p>
            <a:pPr marL="514350" indent="-514350">
              <a:buAutoNum type="arabicParenR"/>
            </a:pPr>
            <a:r>
              <a:rPr lang="en-US" dirty="0"/>
              <a:t>To also modulate the reference laser</a:t>
            </a:r>
            <a:endParaRPr lang="LID4096" dirty="0"/>
          </a:p>
        </p:txBody>
      </p:sp>
      <p:pic>
        <p:nvPicPr>
          <p:cNvPr id="34" name="Image 0">
            <a:extLst>
              <a:ext uri="{FF2B5EF4-FFF2-40B4-BE49-F238E27FC236}">
                <a16:creationId xmlns:a16="http://schemas.microsoft.com/office/drawing/2014/main" id="{491C859E-A1F9-42DF-91B8-54DE135F104B}"/>
              </a:ext>
            </a:extLst>
          </p:cNvPr>
          <p:cNvPicPr>
            <a:picLocks noChangeAspect="1"/>
          </p:cNvPicPr>
          <p:nvPr/>
        </p:nvPicPr>
        <p:blipFill>
          <a:blip r:embed="rId3"/>
          <a:srcRect t="24" b="24"/>
          <a:stretch/>
        </p:blipFill>
        <p:spPr>
          <a:xfrm>
            <a:off x="2670613" y="4141182"/>
            <a:ext cx="12527054" cy="4522334"/>
          </a:xfrm>
          <a:prstGeom prst="rect">
            <a:avLst/>
          </a:prstGeom>
        </p:spPr>
      </p:pic>
      <p:cxnSp>
        <p:nvCxnSpPr>
          <p:cNvPr id="9" name="Straight Arrow Connector 8">
            <a:extLst>
              <a:ext uri="{FF2B5EF4-FFF2-40B4-BE49-F238E27FC236}">
                <a16:creationId xmlns:a16="http://schemas.microsoft.com/office/drawing/2014/main" id="{11D800F9-E655-489C-A942-862FA4F79BE8}"/>
              </a:ext>
            </a:extLst>
          </p:cNvPr>
          <p:cNvCxnSpPr>
            <a:cxnSpLocks/>
          </p:cNvCxnSpPr>
          <p:nvPr/>
        </p:nvCxnSpPr>
        <p:spPr>
          <a:xfrm flipH="1" flipV="1">
            <a:off x="5501216" y="7788275"/>
            <a:ext cx="1418167" cy="1287555"/>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02A1A38C-B71D-49A9-AF78-9B941412D826}"/>
              </a:ext>
            </a:extLst>
          </p:cNvPr>
          <p:cNvSpPr/>
          <p:nvPr/>
        </p:nvSpPr>
        <p:spPr>
          <a:xfrm>
            <a:off x="8183496" y="4256955"/>
            <a:ext cx="7630245" cy="3980329"/>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CustomFooter">
            <a:extLst>
              <a:ext uri="{FF2B5EF4-FFF2-40B4-BE49-F238E27FC236}">
                <a16:creationId xmlns:a16="http://schemas.microsoft.com/office/drawing/2014/main" id="{10C2ADDA-485E-435E-B472-FC771952BC2F}"/>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33 / 42</a:t>
            </a:r>
            <a:endParaRPr lang="LID4096" sz="1000" spc="100">
              <a:solidFill>
                <a:srgbClr val="A6A6A6"/>
              </a:solidFill>
              <a:latin typeface="Helvetica Neue45 Light"/>
            </a:endParaRPr>
          </a:p>
        </p:txBody>
      </p:sp>
      <p:sp>
        <p:nvSpPr>
          <p:cNvPr id="16" name="TACMeeting">
            <a:extLst>
              <a:ext uri="{FF2B5EF4-FFF2-40B4-BE49-F238E27FC236}">
                <a16:creationId xmlns:a16="http://schemas.microsoft.com/office/drawing/2014/main" id="{31EAFC34-D671-45A9-8006-CCB6B77CCDD2}"/>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362862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1F2219-396D-4F10-AE4C-1F1EFBDFDD37}"/>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FA1168B5-C7BD-4875-953D-422C9A1B36D5}"/>
              </a:ext>
            </a:extLst>
          </p:cNvPr>
          <p:cNvSpPr>
            <a:spLocks noGrp="1"/>
          </p:cNvSpPr>
          <p:nvPr>
            <p:ph type="title"/>
          </p:nvPr>
        </p:nvSpPr>
        <p:spPr/>
        <p:txBody>
          <a:bodyPr/>
          <a:lstStyle/>
          <a:p>
            <a:r>
              <a:rPr lang="en-US" dirty="0"/>
              <a:t>Increasing the Sideband Frequency</a:t>
            </a:r>
            <a:endParaRPr lang="LID4096" dirty="0"/>
          </a:p>
        </p:txBody>
      </p:sp>
      <p:sp>
        <p:nvSpPr>
          <p:cNvPr id="29" name="Text Placeholder 8">
            <a:extLst>
              <a:ext uri="{FF2B5EF4-FFF2-40B4-BE49-F238E27FC236}">
                <a16:creationId xmlns:a16="http://schemas.microsoft.com/office/drawing/2014/main" id="{11B5CEBD-C96D-4F42-83AB-A8298E93595F}"/>
              </a:ext>
            </a:extLst>
          </p:cNvPr>
          <p:cNvSpPr>
            <a:spLocks noGrp="1"/>
          </p:cNvSpPr>
          <p:nvPr>
            <p:ph type="body" sz="quarter" idx="12"/>
          </p:nvPr>
        </p:nvSpPr>
        <p:spPr>
          <a:xfrm>
            <a:off x="649648" y="1758950"/>
            <a:ext cx="16876352" cy="1907117"/>
          </a:xfrm>
        </p:spPr>
        <p:txBody>
          <a:bodyPr/>
          <a:lstStyle/>
          <a:p>
            <a:r>
              <a:rPr lang="en-US" dirty="0"/>
              <a:t>To increase the sideband frequency, we have two avenues. </a:t>
            </a:r>
          </a:p>
          <a:p>
            <a:pPr marL="514350" indent="-514350">
              <a:buAutoNum type="arabicParenR"/>
            </a:pPr>
            <a:r>
              <a:rPr lang="en-US" dirty="0">
                <a:solidFill>
                  <a:schemeClr val="bg1">
                    <a:lumMod val="65000"/>
                  </a:schemeClr>
                </a:solidFill>
              </a:rPr>
              <a:t>To increase the bandwidth of the ADCs</a:t>
            </a:r>
          </a:p>
          <a:p>
            <a:pPr marL="514350" indent="-514350">
              <a:buAutoNum type="arabicParenR"/>
            </a:pPr>
            <a:r>
              <a:rPr lang="en-US" dirty="0"/>
              <a:t>To also modulate the reference laser</a:t>
            </a:r>
            <a:endParaRPr lang="LID4096" dirty="0"/>
          </a:p>
        </p:txBody>
      </p:sp>
      <p:pic>
        <p:nvPicPr>
          <p:cNvPr id="34" name="Image 0">
            <a:extLst>
              <a:ext uri="{FF2B5EF4-FFF2-40B4-BE49-F238E27FC236}">
                <a16:creationId xmlns:a16="http://schemas.microsoft.com/office/drawing/2014/main" id="{491C859E-A1F9-42DF-91B8-54DE135F104B}"/>
              </a:ext>
            </a:extLst>
          </p:cNvPr>
          <p:cNvPicPr>
            <a:picLocks noChangeAspect="1"/>
          </p:cNvPicPr>
          <p:nvPr/>
        </p:nvPicPr>
        <p:blipFill>
          <a:blip r:embed="rId3"/>
          <a:srcRect t="24" b="24"/>
          <a:stretch/>
        </p:blipFill>
        <p:spPr>
          <a:xfrm>
            <a:off x="2670613" y="4141182"/>
            <a:ext cx="12527054" cy="4522334"/>
          </a:xfrm>
          <a:prstGeom prst="rect">
            <a:avLst/>
          </a:prstGeom>
        </p:spPr>
      </p:pic>
      <p:cxnSp>
        <p:nvCxnSpPr>
          <p:cNvPr id="9" name="Straight Arrow Connector 8">
            <a:extLst>
              <a:ext uri="{FF2B5EF4-FFF2-40B4-BE49-F238E27FC236}">
                <a16:creationId xmlns:a16="http://schemas.microsoft.com/office/drawing/2014/main" id="{11D800F9-E655-489C-A942-862FA4F79BE8}"/>
              </a:ext>
            </a:extLst>
          </p:cNvPr>
          <p:cNvCxnSpPr>
            <a:cxnSpLocks/>
          </p:cNvCxnSpPr>
          <p:nvPr/>
        </p:nvCxnSpPr>
        <p:spPr>
          <a:xfrm flipH="1" flipV="1">
            <a:off x="5501216" y="7788275"/>
            <a:ext cx="1418167" cy="1287555"/>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
        <p:nvSpPr>
          <p:cNvPr id="11" name="Rectangle 10">
            <a:extLst>
              <a:ext uri="{FF2B5EF4-FFF2-40B4-BE49-F238E27FC236}">
                <a16:creationId xmlns:a16="http://schemas.microsoft.com/office/drawing/2014/main" id="{30CEC24D-145A-4B84-B41B-8739F9C1E42A}"/>
              </a:ext>
            </a:extLst>
          </p:cNvPr>
          <p:cNvSpPr/>
          <p:nvPr/>
        </p:nvSpPr>
        <p:spPr>
          <a:xfrm>
            <a:off x="8183496" y="4256955"/>
            <a:ext cx="7630245" cy="3980329"/>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 name="CustomFooter">
            <a:extLst>
              <a:ext uri="{FF2B5EF4-FFF2-40B4-BE49-F238E27FC236}">
                <a16:creationId xmlns:a16="http://schemas.microsoft.com/office/drawing/2014/main" id="{13FF2B4E-5025-4CAD-B730-1A3455DCCEBC}"/>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34 / 42</a:t>
            </a:r>
            <a:endParaRPr lang="LID4096" sz="1000" spc="100">
              <a:solidFill>
                <a:srgbClr val="A6A6A6"/>
              </a:solidFill>
              <a:latin typeface="Helvetica Neue45 Light"/>
            </a:endParaRPr>
          </a:p>
        </p:txBody>
      </p:sp>
      <p:sp>
        <p:nvSpPr>
          <p:cNvPr id="12" name="TACMeeting">
            <a:extLst>
              <a:ext uri="{FF2B5EF4-FFF2-40B4-BE49-F238E27FC236}">
                <a16:creationId xmlns:a16="http://schemas.microsoft.com/office/drawing/2014/main" id="{2594D9AC-8777-4E06-9E8D-E52F6436BDB3}"/>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3163426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id="{D74263FB-6110-4888-A1EA-5F6C3949DA9E}"/>
              </a:ext>
            </a:extLst>
          </p:cNvPr>
          <p:cNvPicPr>
            <a:picLocks noChangeAspect="1"/>
          </p:cNvPicPr>
          <p:nvPr/>
        </p:nvPicPr>
        <p:blipFill>
          <a:blip r:embed="rId3"/>
          <a:stretch>
            <a:fillRect/>
          </a:stretch>
        </p:blipFill>
        <p:spPr>
          <a:xfrm>
            <a:off x="8973008" y="3666067"/>
            <a:ext cx="8552992" cy="5345620"/>
          </a:xfrm>
          <a:prstGeom prst="rect">
            <a:avLst/>
          </a:prstGeom>
        </p:spPr>
      </p:pic>
      <p:sp>
        <p:nvSpPr>
          <p:cNvPr id="6" name="Text Placeholder 5">
            <a:extLst>
              <a:ext uri="{FF2B5EF4-FFF2-40B4-BE49-F238E27FC236}">
                <a16:creationId xmlns:a16="http://schemas.microsoft.com/office/drawing/2014/main" id="{7E5CBACB-C664-40F4-800D-CDCF5E4C5111}"/>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CLOCK NOISE: STATUS</a:t>
            </a:r>
            <a:endParaRPr lang="LID4096" dirty="0"/>
          </a:p>
        </p:txBody>
      </p:sp>
      <p:sp>
        <p:nvSpPr>
          <p:cNvPr id="4" name="Title 3">
            <a:extLst>
              <a:ext uri="{FF2B5EF4-FFF2-40B4-BE49-F238E27FC236}">
                <a16:creationId xmlns:a16="http://schemas.microsoft.com/office/drawing/2014/main" id="{98574D14-C300-4B92-BE0D-3FA623D33927}"/>
              </a:ext>
            </a:extLst>
          </p:cNvPr>
          <p:cNvSpPr>
            <a:spLocks noGrp="1"/>
          </p:cNvSpPr>
          <p:nvPr>
            <p:ph type="title"/>
          </p:nvPr>
        </p:nvSpPr>
        <p:spPr/>
        <p:txBody>
          <a:bodyPr/>
          <a:lstStyle/>
          <a:p>
            <a:r>
              <a:rPr lang="en-US" dirty="0"/>
              <a:t>Using the Delay Line Board Clock as a Modulation Source</a:t>
            </a:r>
            <a:endParaRPr lang="LID4096" dirty="0"/>
          </a:p>
        </p:txBody>
      </p:sp>
      <p:pic>
        <p:nvPicPr>
          <p:cNvPr id="15" name="Picture 14">
            <a:extLst>
              <a:ext uri="{FF2B5EF4-FFF2-40B4-BE49-F238E27FC236}">
                <a16:creationId xmlns:a16="http://schemas.microsoft.com/office/drawing/2014/main" id="{83120BE4-5BDA-4306-9750-11D80990A0A8}"/>
              </a:ext>
            </a:extLst>
          </p:cNvPr>
          <p:cNvPicPr>
            <a:picLocks noChangeAspect="1"/>
          </p:cNvPicPr>
          <p:nvPr/>
        </p:nvPicPr>
        <p:blipFill>
          <a:blip r:embed="rId4"/>
          <a:stretch>
            <a:fillRect/>
          </a:stretch>
        </p:blipFill>
        <p:spPr>
          <a:xfrm>
            <a:off x="65662" y="2015133"/>
            <a:ext cx="10880522" cy="4542444"/>
          </a:xfrm>
          <a:prstGeom prst="rect">
            <a:avLst/>
          </a:prstGeom>
        </p:spPr>
      </p:pic>
      <p:sp>
        <p:nvSpPr>
          <p:cNvPr id="28" name="Text Placeholder 8">
            <a:extLst>
              <a:ext uri="{FF2B5EF4-FFF2-40B4-BE49-F238E27FC236}">
                <a16:creationId xmlns:a16="http://schemas.microsoft.com/office/drawing/2014/main" id="{8B2B6C62-31B1-4A75-895A-35A165F9C189}"/>
              </a:ext>
            </a:extLst>
          </p:cNvPr>
          <p:cNvSpPr>
            <a:spLocks noGrp="1"/>
          </p:cNvSpPr>
          <p:nvPr>
            <p:ph type="body" sz="quarter" idx="12"/>
          </p:nvPr>
        </p:nvSpPr>
        <p:spPr>
          <a:xfrm>
            <a:off x="649648" y="1758950"/>
            <a:ext cx="16876352" cy="1907117"/>
          </a:xfrm>
        </p:spPr>
        <p:txBody>
          <a:bodyPr/>
          <a:lstStyle/>
          <a:p>
            <a:r>
              <a:rPr lang="en-US" dirty="0"/>
              <a:t>Preliminary test for using the delay line board clock as a modulation source.</a:t>
            </a:r>
            <a:endParaRPr lang="LID4096" dirty="0"/>
          </a:p>
        </p:txBody>
      </p:sp>
      <p:pic>
        <p:nvPicPr>
          <p:cNvPr id="7" name="Graphic 6">
            <a:extLst>
              <a:ext uri="{FF2B5EF4-FFF2-40B4-BE49-F238E27FC236}">
                <a16:creationId xmlns:a16="http://schemas.microsoft.com/office/drawing/2014/main" id="{DBCD7527-61A6-4AD9-8842-0A83D9D622F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6552" y="8086023"/>
            <a:ext cx="11555789" cy="1404674"/>
          </a:xfrm>
          <a:prstGeom prst="rect">
            <a:avLst/>
          </a:prstGeom>
        </p:spPr>
      </p:pic>
      <p:sp>
        <p:nvSpPr>
          <p:cNvPr id="16" name="CustomFooter">
            <a:extLst>
              <a:ext uri="{FF2B5EF4-FFF2-40B4-BE49-F238E27FC236}">
                <a16:creationId xmlns:a16="http://schemas.microsoft.com/office/drawing/2014/main" id="{7DD4605C-4F67-4E4D-969C-BC85BA8F51CE}"/>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35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97CC6FE0-97DE-4C89-942E-9F8336A12644}"/>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4745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7" name="Title 6">
            <a:extLst>
              <a:ext uri="{FF2B5EF4-FFF2-40B4-BE49-F238E27FC236}">
                <a16:creationId xmlns:a16="http://schemas.microsoft.com/office/drawing/2014/main" id="{117363F0-153C-4BE6-88DC-446B46B323B6}"/>
              </a:ext>
            </a:extLst>
          </p:cNvPr>
          <p:cNvSpPr>
            <a:spLocks noGrp="1"/>
          </p:cNvSpPr>
          <p:nvPr>
            <p:ph type="title"/>
          </p:nvPr>
        </p:nvSpPr>
        <p:spPr>
          <a:xfrm>
            <a:off x="647700" y="1270000"/>
            <a:ext cx="15773400" cy="7874000"/>
          </a:xfrm>
        </p:spPr>
        <p:txBody>
          <a:bodyPr anchor="ctr"/>
          <a:lstStyle/>
          <a:p>
            <a:pPr algn="l">
              <a:lnSpc>
                <a:spcPct val="100000"/>
              </a:lnSpc>
              <a:spcBef>
                <a:spcPts val="600"/>
              </a:spcBef>
              <a:spcAft>
                <a:spcPts val="600"/>
              </a:spcAft>
              <a:buNone/>
            </a:pPr>
            <a:r>
              <a:rPr lang="en-US" sz="2800" dirty="0">
                <a:solidFill>
                  <a:srgbClr val="7F7F7F"/>
                </a:solidFill>
              </a:rPr>
              <a:t>Context</a:t>
            </a:r>
          </a:p>
          <a:p>
            <a:pPr algn="l">
              <a:lnSpc>
                <a:spcPct val="100000"/>
              </a:lnSpc>
              <a:spcBef>
                <a:spcPts val="600"/>
              </a:spcBef>
              <a:spcAft>
                <a:spcPts val="600"/>
              </a:spcAft>
              <a:buNone/>
            </a:pPr>
            <a:r>
              <a:rPr lang="en-US" sz="2800" dirty="0">
                <a:solidFill>
                  <a:srgbClr val="7F7F7F"/>
                </a:solidFill>
              </a:rPr>
              <a:t>Overview of the LISA Measurement System</a:t>
            </a:r>
          </a:p>
          <a:p>
            <a:pPr algn="l">
              <a:lnSpc>
                <a:spcPct val="100000"/>
              </a:lnSpc>
              <a:spcBef>
                <a:spcPts val="600"/>
              </a:spcBef>
              <a:spcAft>
                <a:spcPts val="600"/>
              </a:spcAft>
              <a:buNone/>
            </a:pPr>
            <a:r>
              <a:rPr lang="en-US" sz="2800" dirty="0">
                <a:solidFill>
                  <a:srgbClr val="7F7F7F"/>
                </a:solidFill>
              </a:rPr>
              <a:t>Testbed Concept</a:t>
            </a:r>
          </a:p>
          <a:p>
            <a:pPr algn="l">
              <a:lnSpc>
                <a:spcPct val="100000"/>
              </a:lnSpc>
              <a:spcBef>
                <a:spcPts val="600"/>
              </a:spcBef>
              <a:spcAft>
                <a:spcPts val="600"/>
              </a:spcAft>
              <a:buNone/>
            </a:pPr>
            <a:r>
              <a:rPr lang="en-US" sz="2800" dirty="0">
                <a:solidFill>
                  <a:srgbClr val="7F7F7F"/>
                </a:solidFill>
              </a:rPr>
              <a:t>TDI and Laser Frequency Noise: Status</a:t>
            </a:r>
          </a:p>
          <a:p>
            <a:pPr algn="l">
              <a:lnSpc>
                <a:spcPct val="100000"/>
              </a:lnSpc>
              <a:spcBef>
                <a:spcPts val="600"/>
              </a:spcBef>
              <a:spcAft>
                <a:spcPts val="600"/>
              </a:spcAft>
              <a:buNone/>
            </a:pPr>
            <a:r>
              <a:rPr lang="en-US" sz="2800" dirty="0">
                <a:solidFill>
                  <a:srgbClr val="7F7F7F"/>
                </a:solidFill>
              </a:rPr>
              <a:t>Clock Noise: Status</a:t>
            </a:r>
          </a:p>
          <a:p>
            <a:pPr algn="l">
              <a:lnSpc>
                <a:spcPct val="100000"/>
              </a:lnSpc>
              <a:spcBef>
                <a:spcPts val="1400"/>
              </a:spcBef>
              <a:spcAft>
                <a:spcPts val="1400"/>
              </a:spcAft>
              <a:buNone/>
            </a:pPr>
            <a:r>
              <a:rPr lang="en-US" sz="5400" b="1" dirty="0"/>
              <a:t>Next Steps</a:t>
            </a:r>
          </a:p>
          <a:p>
            <a:pPr algn="l">
              <a:lnSpc>
                <a:spcPct val="100000"/>
              </a:lnSpc>
              <a:spcBef>
                <a:spcPts val="600"/>
              </a:spcBef>
              <a:spcAft>
                <a:spcPts val="600"/>
              </a:spcAft>
              <a:buNone/>
            </a:pPr>
            <a:r>
              <a:rPr lang="en-US" sz="2800" dirty="0">
                <a:solidFill>
                  <a:srgbClr val="7F7F7F"/>
                </a:solidFill>
              </a:rPr>
              <a:t>Conclusions</a:t>
            </a:r>
          </a:p>
        </p:txBody>
      </p:sp>
      <p:sp>
        <p:nvSpPr>
          <p:cNvPr id="14" name="CustomFooter">
            <a:extLst>
              <a:ext uri="{FF2B5EF4-FFF2-40B4-BE49-F238E27FC236}">
                <a16:creationId xmlns:a16="http://schemas.microsoft.com/office/drawing/2014/main" id="{D80831EC-2AA5-443A-B8D9-A8D869BFDEED}"/>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36 / 42</a:t>
            </a:r>
            <a:endParaRPr lang="LID4096" sz="1000" spc="100">
              <a:solidFill>
                <a:srgbClr val="A6A6A6"/>
              </a:solidFill>
              <a:latin typeface="Helvetica Neue45 Light"/>
            </a:endParaRPr>
          </a:p>
        </p:txBody>
      </p:sp>
      <p:sp>
        <p:nvSpPr>
          <p:cNvPr id="15" name="TACMeeting">
            <a:extLst>
              <a:ext uri="{FF2B5EF4-FFF2-40B4-BE49-F238E27FC236}">
                <a16:creationId xmlns:a16="http://schemas.microsoft.com/office/drawing/2014/main" id="{A9415A10-7E11-4240-AD89-3046E8229965}"/>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6881356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2" name="Text Placeholder 1">
            <a:extLst>
              <a:ext uri="{FF2B5EF4-FFF2-40B4-BE49-F238E27FC236}">
                <a16:creationId xmlns:a16="http://schemas.microsoft.com/office/drawing/2014/main" id="{7B6F73C7-8C71-4291-A623-FB72D509D11E}"/>
              </a:ext>
            </a:extLst>
          </p:cNvPr>
          <p:cNvSpPr>
            <a:spLocks noGrp="1"/>
          </p:cNvSpPr>
          <p:nvPr>
            <p:ph type="body" sz="quarter" idx="11"/>
          </p:nvPr>
        </p:nvSpPr>
        <p:spPr/>
        <p:txBody>
          <a:bodyPr/>
          <a:lstStyle/>
          <a:p>
            <a:r>
              <a:rPr lang="en-US" dirty="0"/>
              <a:t>NEXT STEPS</a:t>
            </a:r>
            <a:endParaRPr lang="LID4096" dirty="0"/>
          </a:p>
        </p:txBody>
      </p:sp>
      <p:sp>
        <p:nvSpPr>
          <p:cNvPr id="7" name="Title 6">
            <a:extLst>
              <a:ext uri="{FF2B5EF4-FFF2-40B4-BE49-F238E27FC236}">
                <a16:creationId xmlns:a16="http://schemas.microsoft.com/office/drawing/2014/main" id="{117363F0-153C-4BE6-88DC-446B46B323B6}"/>
              </a:ext>
            </a:extLst>
          </p:cNvPr>
          <p:cNvSpPr>
            <a:spLocks noGrp="1"/>
          </p:cNvSpPr>
          <p:nvPr>
            <p:ph type="title"/>
          </p:nvPr>
        </p:nvSpPr>
        <p:spPr/>
        <p:txBody>
          <a:bodyPr/>
          <a:lstStyle/>
          <a:p>
            <a:r>
              <a:rPr lang="en-US" dirty="0"/>
              <a:t>Pinpoint the Multi-board Noise Floor</a:t>
            </a:r>
            <a:endParaRPr lang="LID4096" dirty="0"/>
          </a:p>
        </p:txBody>
      </p:sp>
      <p:sp>
        <p:nvSpPr>
          <p:cNvPr id="4" name="Text Placeholder 3">
            <a:extLst>
              <a:ext uri="{FF2B5EF4-FFF2-40B4-BE49-F238E27FC236}">
                <a16:creationId xmlns:a16="http://schemas.microsoft.com/office/drawing/2014/main" id="{E2C91649-DEBE-4145-8A82-565E1EA39B7A}"/>
              </a:ext>
            </a:extLst>
          </p:cNvPr>
          <p:cNvSpPr>
            <a:spLocks noGrp="1"/>
          </p:cNvSpPr>
          <p:nvPr>
            <p:ph type="body" sz="quarter" idx="12"/>
          </p:nvPr>
        </p:nvSpPr>
        <p:spPr>
          <a:xfrm>
            <a:off x="649648" y="1758950"/>
            <a:ext cx="12655647" cy="7332663"/>
          </a:xfrm>
        </p:spPr>
        <p:txBody>
          <a:bodyPr/>
          <a:lstStyle/>
          <a:p>
            <a:r>
              <a:rPr lang="en-US" dirty="0"/>
              <a:t>Is the multi-board TDI combination limited by delay errors?</a:t>
            </a:r>
          </a:p>
          <a:p>
            <a:endParaRPr lang="en-US" dirty="0"/>
          </a:p>
        </p:txBody>
      </p:sp>
      <p:pic>
        <p:nvPicPr>
          <p:cNvPr id="13" name="Picture 12">
            <a:extLst>
              <a:ext uri="{FF2B5EF4-FFF2-40B4-BE49-F238E27FC236}">
                <a16:creationId xmlns:a16="http://schemas.microsoft.com/office/drawing/2014/main" id="{D9F349F9-2C6A-4420-B310-8B4D3BDBE63F}"/>
              </a:ext>
            </a:extLst>
          </p:cNvPr>
          <p:cNvPicPr>
            <a:picLocks noChangeAspect="1"/>
          </p:cNvPicPr>
          <p:nvPr/>
        </p:nvPicPr>
        <p:blipFill>
          <a:blip r:embed="rId3"/>
          <a:srcRect/>
          <a:stretch/>
        </p:blipFill>
        <p:spPr>
          <a:xfrm>
            <a:off x="8726217" y="3513858"/>
            <a:ext cx="8146641" cy="5091650"/>
          </a:xfrm>
          <a:prstGeom prst="rect">
            <a:avLst/>
          </a:prstGeom>
        </p:spPr>
      </p:pic>
      <p:pic>
        <p:nvPicPr>
          <p:cNvPr id="14" name="Picture 13">
            <a:extLst>
              <a:ext uri="{FF2B5EF4-FFF2-40B4-BE49-F238E27FC236}">
                <a16:creationId xmlns:a16="http://schemas.microsoft.com/office/drawing/2014/main" id="{7B2CFA7D-8032-406E-81B7-BE6BE559E5EA}"/>
              </a:ext>
            </a:extLst>
          </p:cNvPr>
          <p:cNvPicPr>
            <a:picLocks noChangeAspect="1"/>
          </p:cNvPicPr>
          <p:nvPr/>
        </p:nvPicPr>
        <p:blipFill>
          <a:blip r:embed="rId4"/>
          <a:stretch>
            <a:fillRect/>
          </a:stretch>
        </p:blipFill>
        <p:spPr>
          <a:xfrm>
            <a:off x="-448761" y="2121706"/>
            <a:ext cx="8729711" cy="7112370"/>
          </a:xfrm>
          <a:prstGeom prst="rect">
            <a:avLst/>
          </a:prstGeom>
        </p:spPr>
      </p:pic>
      <p:sp>
        <p:nvSpPr>
          <p:cNvPr id="22" name="CustomFooter">
            <a:extLst>
              <a:ext uri="{FF2B5EF4-FFF2-40B4-BE49-F238E27FC236}">
                <a16:creationId xmlns:a16="http://schemas.microsoft.com/office/drawing/2014/main" id="{4045AA88-296E-469B-8985-2367CE1B485C}"/>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37 / 42</a:t>
            </a:r>
            <a:endParaRPr lang="LID4096" sz="1000" spc="100">
              <a:solidFill>
                <a:srgbClr val="A6A6A6"/>
              </a:solidFill>
              <a:latin typeface="Helvetica Neue45 Light"/>
            </a:endParaRPr>
          </a:p>
        </p:txBody>
      </p:sp>
      <p:sp>
        <p:nvSpPr>
          <p:cNvPr id="23" name="TACMeeting">
            <a:extLst>
              <a:ext uri="{FF2B5EF4-FFF2-40B4-BE49-F238E27FC236}">
                <a16:creationId xmlns:a16="http://schemas.microsoft.com/office/drawing/2014/main" id="{7C7E9FD2-D52B-46B3-A072-DD182C78911F}"/>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8614527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2" name="Text Placeholder 1">
            <a:extLst>
              <a:ext uri="{FF2B5EF4-FFF2-40B4-BE49-F238E27FC236}">
                <a16:creationId xmlns:a16="http://schemas.microsoft.com/office/drawing/2014/main" id="{7B6F73C7-8C71-4291-A623-FB72D509D11E}"/>
              </a:ext>
            </a:extLst>
          </p:cNvPr>
          <p:cNvSpPr>
            <a:spLocks noGrp="1"/>
          </p:cNvSpPr>
          <p:nvPr>
            <p:ph type="body" sz="quarter" idx="11"/>
          </p:nvPr>
        </p:nvSpPr>
        <p:spPr/>
        <p:txBody>
          <a:bodyPr/>
          <a:lstStyle/>
          <a:p>
            <a:r>
              <a:rPr lang="en-US" dirty="0"/>
              <a:t>NEXT STEPS</a:t>
            </a:r>
            <a:endParaRPr lang="LID4096" dirty="0"/>
          </a:p>
        </p:txBody>
      </p:sp>
      <p:sp>
        <p:nvSpPr>
          <p:cNvPr id="7" name="Title 6">
            <a:extLst>
              <a:ext uri="{FF2B5EF4-FFF2-40B4-BE49-F238E27FC236}">
                <a16:creationId xmlns:a16="http://schemas.microsoft.com/office/drawing/2014/main" id="{117363F0-153C-4BE6-88DC-446B46B323B6}"/>
              </a:ext>
            </a:extLst>
          </p:cNvPr>
          <p:cNvSpPr>
            <a:spLocks noGrp="1"/>
          </p:cNvSpPr>
          <p:nvPr>
            <p:ph type="title"/>
          </p:nvPr>
        </p:nvSpPr>
        <p:spPr/>
        <p:txBody>
          <a:bodyPr/>
          <a:lstStyle/>
          <a:p>
            <a:r>
              <a:rPr lang="en-US" dirty="0"/>
              <a:t>Towards the Full Setup</a:t>
            </a:r>
            <a:endParaRPr lang="LID4096" dirty="0"/>
          </a:p>
        </p:txBody>
      </p:sp>
      <p:sp>
        <p:nvSpPr>
          <p:cNvPr id="4" name="Text Placeholder 3">
            <a:extLst>
              <a:ext uri="{FF2B5EF4-FFF2-40B4-BE49-F238E27FC236}">
                <a16:creationId xmlns:a16="http://schemas.microsoft.com/office/drawing/2014/main" id="{E2C91649-DEBE-4145-8A82-565E1EA39B7A}"/>
              </a:ext>
            </a:extLst>
          </p:cNvPr>
          <p:cNvSpPr>
            <a:spLocks noGrp="1"/>
          </p:cNvSpPr>
          <p:nvPr>
            <p:ph type="body" sz="quarter" idx="12"/>
          </p:nvPr>
        </p:nvSpPr>
        <p:spPr>
          <a:xfrm>
            <a:off x="649648" y="1758950"/>
            <a:ext cx="10845665" cy="7332663"/>
          </a:xfrm>
        </p:spPr>
        <p:txBody>
          <a:bodyPr/>
          <a:lstStyle/>
          <a:p>
            <a:pPr>
              <a:lnSpc>
                <a:spcPct val="150000"/>
              </a:lnSpc>
            </a:pPr>
            <a:r>
              <a:rPr lang="en-US" dirty="0"/>
              <a:t>TDI-1 with real lasers</a:t>
            </a:r>
          </a:p>
          <a:p>
            <a:pPr>
              <a:lnSpc>
                <a:spcPct val="150000"/>
              </a:lnSpc>
            </a:pPr>
            <a:r>
              <a:rPr lang="en-US" dirty="0">
                <a:solidFill>
                  <a:schemeClr val="bg1">
                    <a:lumMod val="50000"/>
                  </a:schemeClr>
                </a:solidFill>
              </a:rPr>
              <a:t>TDI-2 with real lasers and independent phasemeters</a:t>
            </a:r>
          </a:p>
          <a:p>
            <a:pPr>
              <a:lnSpc>
                <a:spcPct val="150000"/>
              </a:lnSpc>
            </a:pPr>
            <a:r>
              <a:rPr lang="en-US" dirty="0">
                <a:solidFill>
                  <a:schemeClr val="bg1">
                    <a:lumMod val="50000"/>
                  </a:schemeClr>
                </a:solidFill>
              </a:rPr>
              <a:t>TDI with three arms</a:t>
            </a:r>
          </a:p>
          <a:p>
            <a:pPr>
              <a:lnSpc>
                <a:spcPct val="150000"/>
              </a:lnSpc>
            </a:pPr>
            <a:r>
              <a:rPr lang="en-US" dirty="0">
                <a:solidFill>
                  <a:schemeClr val="bg1">
                    <a:lumMod val="50000"/>
                  </a:schemeClr>
                </a:solidFill>
              </a:rPr>
              <a:t>Recovery of an injected signal</a:t>
            </a:r>
          </a:p>
          <a:p>
            <a:endParaRPr lang="en-US" dirty="0"/>
          </a:p>
          <a:p>
            <a:r>
              <a:rPr lang="en-US" dirty="0"/>
              <a:t>	</a:t>
            </a:r>
            <a:endParaRPr lang="LID4096" dirty="0"/>
          </a:p>
        </p:txBody>
      </p:sp>
      <p:sp>
        <p:nvSpPr>
          <p:cNvPr id="13" name="Text Placeholder 3">
            <a:extLst>
              <a:ext uri="{FF2B5EF4-FFF2-40B4-BE49-F238E27FC236}">
                <a16:creationId xmlns:a16="http://schemas.microsoft.com/office/drawing/2014/main" id="{0BB3DCDD-C0C2-4768-A286-278F5D95951F}"/>
              </a:ext>
            </a:extLst>
          </p:cNvPr>
          <p:cNvSpPr txBox="1">
            <a:spLocks/>
          </p:cNvSpPr>
          <p:nvPr/>
        </p:nvSpPr>
        <p:spPr>
          <a:xfrm>
            <a:off x="649648" y="1758950"/>
            <a:ext cx="12655647" cy="7332663"/>
          </a:xfrm>
          <a:prstGeom prst="rect">
            <a:avLst/>
          </a:prstGeom>
        </p:spPr>
        <p:txBody>
          <a:bodyPr/>
          <a:lstStyle>
            <a:lvl1pPr marL="0" indent="0" algn="l" defTabSz="914400" rtl="0" eaLnBrk="1" latinLnBrk="0" hangingPunct="1">
              <a:spcBef>
                <a:spcPct val="20000"/>
              </a:spcBef>
              <a:buFont typeface="Arial" pitchFamily="34" charset="0"/>
              <a:buNone/>
              <a:defRPr sz="3200" kern="1200" spc="-100" baseline="0">
                <a:solidFill>
                  <a:schemeClr val="tx1"/>
                </a:solidFill>
                <a:latin typeface="Helvetica Neue"/>
                <a:ea typeface="Helvetica Neue"/>
                <a:cs typeface="+mn-cs"/>
              </a:defRPr>
            </a:lvl1pPr>
            <a:lvl2pPr marL="457200" indent="0" algn="l" defTabSz="914400" rtl="0" eaLnBrk="1" latinLnBrk="0" hangingPunct="1">
              <a:spcBef>
                <a:spcPct val="20000"/>
              </a:spcBef>
              <a:buFont typeface="Arial" pitchFamily="34" charset="0"/>
              <a:buNone/>
              <a:defRPr sz="2800" kern="1200" spc="-100" baseline="0">
                <a:solidFill>
                  <a:schemeClr val="tx1"/>
                </a:solidFill>
                <a:latin typeface="Helvetica Neue"/>
                <a:ea typeface="Helvetica Neue"/>
                <a:cs typeface="+mn-cs"/>
              </a:defRPr>
            </a:lvl2pPr>
            <a:lvl3pPr marL="914400" indent="0" algn="l" defTabSz="914400" rtl="0" eaLnBrk="1" latinLnBrk="0" hangingPunct="1">
              <a:spcBef>
                <a:spcPct val="20000"/>
              </a:spcBef>
              <a:buFont typeface="Arial" pitchFamily="34" charset="0"/>
              <a:buNone/>
              <a:defRPr sz="2400" kern="1200" spc="-100" baseline="0">
                <a:solidFill>
                  <a:schemeClr val="tx1"/>
                </a:solidFill>
                <a:latin typeface="Helvetica Neue"/>
                <a:ea typeface="Helvetica Neue"/>
                <a:cs typeface="+mn-cs"/>
              </a:defRPr>
            </a:lvl3pPr>
            <a:lvl4pPr marL="1371600" indent="0" algn="l" defTabSz="914400" rtl="0" eaLnBrk="1" latinLnBrk="0" hangingPunct="1">
              <a:spcBef>
                <a:spcPct val="20000"/>
              </a:spcBef>
              <a:buFont typeface="Arial" pitchFamily="34" charset="0"/>
              <a:buNone/>
              <a:defRPr sz="2000" kern="1200" spc="-100" baseline="0">
                <a:solidFill>
                  <a:schemeClr val="tx1"/>
                </a:solidFill>
                <a:latin typeface="Helvetica Neue"/>
                <a:ea typeface="Helvetica Neue"/>
                <a:cs typeface="+mn-cs"/>
              </a:defRPr>
            </a:lvl4pPr>
            <a:lvl5pPr marL="1828800" indent="0" algn="l" defTabSz="914400" rtl="0" eaLnBrk="1" latinLnBrk="0" hangingPunct="1">
              <a:spcBef>
                <a:spcPct val="20000"/>
              </a:spcBef>
              <a:buFont typeface="Arial" pitchFamily="34" charset="0"/>
              <a:buNone/>
              <a:defRPr sz="2000" kern="1200" spc="-100" baseline="0">
                <a:solidFill>
                  <a:schemeClr val="tx1"/>
                </a:solidFill>
                <a:latin typeface="Helvetica Neue"/>
                <a:ea typeface="Helvetica Neue"/>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pic>
        <p:nvPicPr>
          <p:cNvPr id="21" name="Picture 20">
            <a:extLst>
              <a:ext uri="{FF2B5EF4-FFF2-40B4-BE49-F238E27FC236}">
                <a16:creationId xmlns:a16="http://schemas.microsoft.com/office/drawing/2014/main" id="{F637E2E1-B33D-4609-9ABD-1D2055A2453C}"/>
              </a:ext>
            </a:extLst>
          </p:cNvPr>
          <p:cNvPicPr>
            <a:picLocks noChangeAspect="1"/>
          </p:cNvPicPr>
          <p:nvPr/>
        </p:nvPicPr>
        <p:blipFill>
          <a:blip r:embed="rId3"/>
          <a:stretch>
            <a:fillRect/>
          </a:stretch>
        </p:blipFill>
        <p:spPr>
          <a:xfrm>
            <a:off x="9316132" y="1598337"/>
            <a:ext cx="8599949" cy="8232665"/>
          </a:xfrm>
          <a:prstGeom prst="rect">
            <a:avLst/>
          </a:prstGeom>
        </p:spPr>
      </p:pic>
      <p:sp>
        <p:nvSpPr>
          <p:cNvPr id="26" name="CustomFooter">
            <a:extLst>
              <a:ext uri="{FF2B5EF4-FFF2-40B4-BE49-F238E27FC236}">
                <a16:creationId xmlns:a16="http://schemas.microsoft.com/office/drawing/2014/main" id="{E24CA34A-32A5-4061-82BE-AF9D524FA075}"/>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38 / 42</a:t>
            </a:r>
            <a:endParaRPr lang="LID4096" sz="1000" spc="100">
              <a:solidFill>
                <a:srgbClr val="A6A6A6"/>
              </a:solidFill>
              <a:latin typeface="Helvetica Neue45 Light"/>
            </a:endParaRPr>
          </a:p>
        </p:txBody>
      </p:sp>
      <p:sp>
        <p:nvSpPr>
          <p:cNvPr id="27" name="TACMeeting">
            <a:extLst>
              <a:ext uri="{FF2B5EF4-FFF2-40B4-BE49-F238E27FC236}">
                <a16:creationId xmlns:a16="http://schemas.microsoft.com/office/drawing/2014/main" id="{12BBEE88-0F3A-49BC-97CF-77E45F322B2C}"/>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494390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2" name="Text Placeholder 1">
            <a:extLst>
              <a:ext uri="{FF2B5EF4-FFF2-40B4-BE49-F238E27FC236}">
                <a16:creationId xmlns:a16="http://schemas.microsoft.com/office/drawing/2014/main" id="{7B6F73C7-8C71-4291-A623-FB72D509D11E}"/>
              </a:ext>
            </a:extLst>
          </p:cNvPr>
          <p:cNvSpPr>
            <a:spLocks noGrp="1"/>
          </p:cNvSpPr>
          <p:nvPr>
            <p:ph type="body" sz="quarter" idx="11"/>
          </p:nvPr>
        </p:nvSpPr>
        <p:spPr/>
        <p:txBody>
          <a:bodyPr/>
          <a:lstStyle/>
          <a:p>
            <a:r>
              <a:rPr lang="en-US" dirty="0"/>
              <a:t>NEXT STEPS</a:t>
            </a:r>
            <a:endParaRPr lang="LID4096" dirty="0"/>
          </a:p>
        </p:txBody>
      </p:sp>
      <p:sp>
        <p:nvSpPr>
          <p:cNvPr id="7" name="Title 6">
            <a:extLst>
              <a:ext uri="{FF2B5EF4-FFF2-40B4-BE49-F238E27FC236}">
                <a16:creationId xmlns:a16="http://schemas.microsoft.com/office/drawing/2014/main" id="{117363F0-153C-4BE6-88DC-446B46B323B6}"/>
              </a:ext>
            </a:extLst>
          </p:cNvPr>
          <p:cNvSpPr>
            <a:spLocks noGrp="1"/>
          </p:cNvSpPr>
          <p:nvPr>
            <p:ph type="title"/>
          </p:nvPr>
        </p:nvSpPr>
        <p:spPr/>
        <p:txBody>
          <a:bodyPr/>
          <a:lstStyle/>
          <a:p>
            <a:r>
              <a:rPr lang="en-US" dirty="0"/>
              <a:t>Towards the Full Setup</a:t>
            </a:r>
            <a:endParaRPr lang="LID4096" dirty="0"/>
          </a:p>
        </p:txBody>
      </p:sp>
      <p:sp>
        <p:nvSpPr>
          <p:cNvPr id="4" name="Text Placeholder 3">
            <a:extLst>
              <a:ext uri="{FF2B5EF4-FFF2-40B4-BE49-F238E27FC236}">
                <a16:creationId xmlns:a16="http://schemas.microsoft.com/office/drawing/2014/main" id="{E2C91649-DEBE-4145-8A82-565E1EA39B7A}"/>
              </a:ext>
            </a:extLst>
          </p:cNvPr>
          <p:cNvSpPr>
            <a:spLocks noGrp="1"/>
          </p:cNvSpPr>
          <p:nvPr>
            <p:ph type="body" sz="quarter" idx="12"/>
          </p:nvPr>
        </p:nvSpPr>
        <p:spPr>
          <a:xfrm>
            <a:off x="649648" y="1758950"/>
            <a:ext cx="10845665" cy="7332663"/>
          </a:xfrm>
        </p:spPr>
        <p:txBody>
          <a:bodyPr/>
          <a:lstStyle/>
          <a:p>
            <a:pPr>
              <a:lnSpc>
                <a:spcPct val="150000"/>
              </a:lnSpc>
            </a:pPr>
            <a:r>
              <a:rPr lang="en-US" dirty="0">
                <a:solidFill>
                  <a:schemeClr val="bg1">
                    <a:lumMod val="50000"/>
                  </a:schemeClr>
                </a:solidFill>
              </a:rPr>
              <a:t>TDI-1 with real lasers</a:t>
            </a:r>
          </a:p>
          <a:p>
            <a:pPr>
              <a:lnSpc>
                <a:spcPct val="150000"/>
              </a:lnSpc>
            </a:pPr>
            <a:r>
              <a:rPr lang="en-US" dirty="0"/>
              <a:t>TDI-2 with real lasers and independent phasemeters</a:t>
            </a:r>
          </a:p>
          <a:p>
            <a:pPr>
              <a:lnSpc>
                <a:spcPct val="150000"/>
              </a:lnSpc>
            </a:pPr>
            <a:r>
              <a:rPr lang="en-US" dirty="0">
                <a:solidFill>
                  <a:schemeClr val="bg1">
                    <a:lumMod val="50000"/>
                  </a:schemeClr>
                </a:solidFill>
              </a:rPr>
              <a:t>TDI with three arms</a:t>
            </a:r>
          </a:p>
          <a:p>
            <a:pPr>
              <a:lnSpc>
                <a:spcPct val="150000"/>
              </a:lnSpc>
            </a:pPr>
            <a:r>
              <a:rPr lang="en-US" dirty="0">
                <a:solidFill>
                  <a:schemeClr val="bg1">
                    <a:lumMod val="50000"/>
                  </a:schemeClr>
                </a:solidFill>
              </a:rPr>
              <a:t>Recovery of an injected signal</a:t>
            </a:r>
          </a:p>
          <a:p>
            <a:endParaRPr lang="en-US" dirty="0"/>
          </a:p>
          <a:p>
            <a:r>
              <a:rPr lang="en-US" dirty="0"/>
              <a:t>	</a:t>
            </a:r>
            <a:endParaRPr lang="LID4096" dirty="0"/>
          </a:p>
        </p:txBody>
      </p:sp>
      <p:sp>
        <p:nvSpPr>
          <p:cNvPr id="13" name="Text Placeholder 3">
            <a:extLst>
              <a:ext uri="{FF2B5EF4-FFF2-40B4-BE49-F238E27FC236}">
                <a16:creationId xmlns:a16="http://schemas.microsoft.com/office/drawing/2014/main" id="{0BB3DCDD-C0C2-4768-A286-278F5D95951F}"/>
              </a:ext>
            </a:extLst>
          </p:cNvPr>
          <p:cNvSpPr txBox="1">
            <a:spLocks/>
          </p:cNvSpPr>
          <p:nvPr/>
        </p:nvSpPr>
        <p:spPr>
          <a:xfrm>
            <a:off x="649648" y="1758950"/>
            <a:ext cx="12655647" cy="7332663"/>
          </a:xfrm>
          <a:prstGeom prst="rect">
            <a:avLst/>
          </a:prstGeom>
        </p:spPr>
        <p:txBody>
          <a:bodyPr/>
          <a:lstStyle>
            <a:lvl1pPr marL="0" indent="0" algn="l" defTabSz="914400" rtl="0" eaLnBrk="1" latinLnBrk="0" hangingPunct="1">
              <a:spcBef>
                <a:spcPct val="20000"/>
              </a:spcBef>
              <a:buFont typeface="Arial" pitchFamily="34" charset="0"/>
              <a:buNone/>
              <a:defRPr sz="3200" kern="1200" spc="-100" baseline="0">
                <a:solidFill>
                  <a:schemeClr val="tx1"/>
                </a:solidFill>
                <a:latin typeface="Helvetica Neue"/>
                <a:ea typeface="Helvetica Neue"/>
                <a:cs typeface="+mn-cs"/>
              </a:defRPr>
            </a:lvl1pPr>
            <a:lvl2pPr marL="457200" indent="0" algn="l" defTabSz="914400" rtl="0" eaLnBrk="1" latinLnBrk="0" hangingPunct="1">
              <a:spcBef>
                <a:spcPct val="20000"/>
              </a:spcBef>
              <a:buFont typeface="Arial" pitchFamily="34" charset="0"/>
              <a:buNone/>
              <a:defRPr sz="2800" kern="1200" spc="-100" baseline="0">
                <a:solidFill>
                  <a:schemeClr val="tx1"/>
                </a:solidFill>
                <a:latin typeface="Helvetica Neue"/>
                <a:ea typeface="Helvetica Neue"/>
                <a:cs typeface="+mn-cs"/>
              </a:defRPr>
            </a:lvl2pPr>
            <a:lvl3pPr marL="914400" indent="0" algn="l" defTabSz="914400" rtl="0" eaLnBrk="1" latinLnBrk="0" hangingPunct="1">
              <a:spcBef>
                <a:spcPct val="20000"/>
              </a:spcBef>
              <a:buFont typeface="Arial" pitchFamily="34" charset="0"/>
              <a:buNone/>
              <a:defRPr sz="2400" kern="1200" spc="-100" baseline="0">
                <a:solidFill>
                  <a:schemeClr val="tx1"/>
                </a:solidFill>
                <a:latin typeface="Helvetica Neue"/>
                <a:ea typeface="Helvetica Neue"/>
                <a:cs typeface="+mn-cs"/>
              </a:defRPr>
            </a:lvl3pPr>
            <a:lvl4pPr marL="1371600" indent="0" algn="l" defTabSz="914400" rtl="0" eaLnBrk="1" latinLnBrk="0" hangingPunct="1">
              <a:spcBef>
                <a:spcPct val="20000"/>
              </a:spcBef>
              <a:buFont typeface="Arial" pitchFamily="34" charset="0"/>
              <a:buNone/>
              <a:defRPr sz="2000" kern="1200" spc="-100" baseline="0">
                <a:solidFill>
                  <a:schemeClr val="tx1"/>
                </a:solidFill>
                <a:latin typeface="Helvetica Neue"/>
                <a:ea typeface="Helvetica Neue"/>
                <a:cs typeface="+mn-cs"/>
              </a:defRPr>
            </a:lvl4pPr>
            <a:lvl5pPr marL="1828800" indent="0" algn="l" defTabSz="914400" rtl="0" eaLnBrk="1" latinLnBrk="0" hangingPunct="1">
              <a:spcBef>
                <a:spcPct val="20000"/>
              </a:spcBef>
              <a:buFont typeface="Arial" pitchFamily="34" charset="0"/>
              <a:buNone/>
              <a:defRPr sz="2000" kern="1200" spc="-100" baseline="0">
                <a:solidFill>
                  <a:schemeClr val="tx1"/>
                </a:solidFill>
                <a:latin typeface="Helvetica Neue"/>
                <a:ea typeface="Helvetica Neue"/>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pic>
        <p:nvPicPr>
          <p:cNvPr id="21" name="Picture 20">
            <a:extLst>
              <a:ext uri="{FF2B5EF4-FFF2-40B4-BE49-F238E27FC236}">
                <a16:creationId xmlns:a16="http://schemas.microsoft.com/office/drawing/2014/main" id="{F637E2E1-B33D-4609-9ABD-1D2055A2453C}"/>
              </a:ext>
            </a:extLst>
          </p:cNvPr>
          <p:cNvPicPr>
            <a:picLocks noChangeAspect="1"/>
          </p:cNvPicPr>
          <p:nvPr/>
        </p:nvPicPr>
        <p:blipFill>
          <a:blip r:embed="rId3"/>
          <a:srcRect/>
          <a:stretch/>
        </p:blipFill>
        <p:spPr>
          <a:xfrm>
            <a:off x="9316132" y="1598337"/>
            <a:ext cx="8599949" cy="8232665"/>
          </a:xfrm>
          <a:prstGeom prst="rect">
            <a:avLst/>
          </a:prstGeom>
        </p:spPr>
      </p:pic>
      <p:sp>
        <p:nvSpPr>
          <p:cNvPr id="12" name="CustomFooter">
            <a:extLst>
              <a:ext uri="{FF2B5EF4-FFF2-40B4-BE49-F238E27FC236}">
                <a16:creationId xmlns:a16="http://schemas.microsoft.com/office/drawing/2014/main" id="{0D416E1E-C772-4089-92B6-20AE46B04066}"/>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39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43D4A5B6-61E3-438B-BED6-89C5A8BE3C92}"/>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6789014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2" name="Text Placeholder 1">
            <a:extLst>
              <a:ext uri="{FF2B5EF4-FFF2-40B4-BE49-F238E27FC236}">
                <a16:creationId xmlns:a16="http://schemas.microsoft.com/office/drawing/2014/main" id="{7B6F73C7-8C71-4291-A623-FB72D509D11E}"/>
              </a:ext>
            </a:extLst>
          </p:cNvPr>
          <p:cNvSpPr>
            <a:spLocks noGrp="1"/>
          </p:cNvSpPr>
          <p:nvPr>
            <p:ph type="body" sz="quarter" idx="11"/>
          </p:nvPr>
        </p:nvSpPr>
        <p:spPr/>
        <p:txBody>
          <a:bodyPr/>
          <a:lstStyle/>
          <a:p>
            <a:r>
              <a:rPr lang="en-US" dirty="0"/>
              <a:t>NEXT STEPS</a:t>
            </a:r>
            <a:endParaRPr lang="LID4096" dirty="0"/>
          </a:p>
        </p:txBody>
      </p:sp>
      <p:sp>
        <p:nvSpPr>
          <p:cNvPr id="7" name="Title 6">
            <a:extLst>
              <a:ext uri="{FF2B5EF4-FFF2-40B4-BE49-F238E27FC236}">
                <a16:creationId xmlns:a16="http://schemas.microsoft.com/office/drawing/2014/main" id="{117363F0-153C-4BE6-88DC-446B46B323B6}"/>
              </a:ext>
            </a:extLst>
          </p:cNvPr>
          <p:cNvSpPr>
            <a:spLocks noGrp="1"/>
          </p:cNvSpPr>
          <p:nvPr>
            <p:ph type="title"/>
          </p:nvPr>
        </p:nvSpPr>
        <p:spPr/>
        <p:txBody>
          <a:bodyPr/>
          <a:lstStyle/>
          <a:p>
            <a:r>
              <a:rPr lang="en-US" dirty="0"/>
              <a:t>Towards the Full Setup</a:t>
            </a:r>
            <a:endParaRPr lang="LID4096" dirty="0"/>
          </a:p>
        </p:txBody>
      </p:sp>
      <p:sp>
        <p:nvSpPr>
          <p:cNvPr id="4" name="Text Placeholder 3">
            <a:extLst>
              <a:ext uri="{FF2B5EF4-FFF2-40B4-BE49-F238E27FC236}">
                <a16:creationId xmlns:a16="http://schemas.microsoft.com/office/drawing/2014/main" id="{E2C91649-DEBE-4145-8A82-565E1EA39B7A}"/>
              </a:ext>
            </a:extLst>
          </p:cNvPr>
          <p:cNvSpPr>
            <a:spLocks noGrp="1"/>
          </p:cNvSpPr>
          <p:nvPr>
            <p:ph type="body" sz="quarter" idx="12"/>
          </p:nvPr>
        </p:nvSpPr>
        <p:spPr>
          <a:xfrm>
            <a:off x="649648" y="1758950"/>
            <a:ext cx="10845665" cy="7332663"/>
          </a:xfrm>
        </p:spPr>
        <p:txBody>
          <a:bodyPr/>
          <a:lstStyle/>
          <a:p>
            <a:pPr>
              <a:lnSpc>
                <a:spcPct val="150000"/>
              </a:lnSpc>
            </a:pPr>
            <a:r>
              <a:rPr lang="en-US" dirty="0">
                <a:solidFill>
                  <a:schemeClr val="bg1">
                    <a:lumMod val="50000"/>
                  </a:schemeClr>
                </a:solidFill>
              </a:rPr>
              <a:t>TDI-1 with real lasers</a:t>
            </a:r>
          </a:p>
          <a:p>
            <a:pPr>
              <a:lnSpc>
                <a:spcPct val="150000"/>
              </a:lnSpc>
            </a:pPr>
            <a:r>
              <a:rPr lang="en-US" dirty="0">
                <a:solidFill>
                  <a:schemeClr val="bg1">
                    <a:lumMod val="50000"/>
                  </a:schemeClr>
                </a:solidFill>
              </a:rPr>
              <a:t>TDI-2 with real lasers and independent phasemeters</a:t>
            </a:r>
          </a:p>
          <a:p>
            <a:pPr>
              <a:lnSpc>
                <a:spcPct val="150000"/>
              </a:lnSpc>
            </a:pPr>
            <a:r>
              <a:rPr lang="en-US" dirty="0"/>
              <a:t>TDI with three arms</a:t>
            </a:r>
          </a:p>
          <a:p>
            <a:pPr>
              <a:lnSpc>
                <a:spcPct val="150000"/>
              </a:lnSpc>
            </a:pPr>
            <a:r>
              <a:rPr lang="en-US" dirty="0"/>
              <a:t>Recovery of an injected signal</a:t>
            </a:r>
          </a:p>
          <a:p>
            <a:endParaRPr lang="en-US" dirty="0"/>
          </a:p>
          <a:p>
            <a:r>
              <a:rPr lang="en-US" dirty="0"/>
              <a:t>	</a:t>
            </a:r>
            <a:endParaRPr lang="LID4096" dirty="0"/>
          </a:p>
        </p:txBody>
      </p:sp>
      <p:sp>
        <p:nvSpPr>
          <p:cNvPr id="13" name="Text Placeholder 3">
            <a:extLst>
              <a:ext uri="{FF2B5EF4-FFF2-40B4-BE49-F238E27FC236}">
                <a16:creationId xmlns:a16="http://schemas.microsoft.com/office/drawing/2014/main" id="{0BB3DCDD-C0C2-4768-A286-278F5D95951F}"/>
              </a:ext>
            </a:extLst>
          </p:cNvPr>
          <p:cNvSpPr txBox="1">
            <a:spLocks/>
          </p:cNvSpPr>
          <p:nvPr/>
        </p:nvSpPr>
        <p:spPr>
          <a:xfrm>
            <a:off x="649648" y="1758950"/>
            <a:ext cx="12655647" cy="7332663"/>
          </a:xfrm>
          <a:prstGeom prst="rect">
            <a:avLst/>
          </a:prstGeom>
        </p:spPr>
        <p:txBody>
          <a:bodyPr/>
          <a:lstStyle>
            <a:lvl1pPr marL="0" indent="0" algn="l" defTabSz="914400" rtl="0" eaLnBrk="1" latinLnBrk="0" hangingPunct="1">
              <a:spcBef>
                <a:spcPct val="20000"/>
              </a:spcBef>
              <a:buFont typeface="Arial" pitchFamily="34" charset="0"/>
              <a:buNone/>
              <a:defRPr sz="3200" kern="1200" spc="-100" baseline="0">
                <a:solidFill>
                  <a:schemeClr val="tx1"/>
                </a:solidFill>
                <a:latin typeface="Helvetica Neue"/>
                <a:ea typeface="Helvetica Neue"/>
                <a:cs typeface="+mn-cs"/>
              </a:defRPr>
            </a:lvl1pPr>
            <a:lvl2pPr marL="457200" indent="0" algn="l" defTabSz="914400" rtl="0" eaLnBrk="1" latinLnBrk="0" hangingPunct="1">
              <a:spcBef>
                <a:spcPct val="20000"/>
              </a:spcBef>
              <a:buFont typeface="Arial" pitchFamily="34" charset="0"/>
              <a:buNone/>
              <a:defRPr sz="2800" kern="1200" spc="-100" baseline="0">
                <a:solidFill>
                  <a:schemeClr val="tx1"/>
                </a:solidFill>
                <a:latin typeface="Helvetica Neue"/>
                <a:ea typeface="Helvetica Neue"/>
                <a:cs typeface="+mn-cs"/>
              </a:defRPr>
            </a:lvl2pPr>
            <a:lvl3pPr marL="914400" indent="0" algn="l" defTabSz="914400" rtl="0" eaLnBrk="1" latinLnBrk="0" hangingPunct="1">
              <a:spcBef>
                <a:spcPct val="20000"/>
              </a:spcBef>
              <a:buFont typeface="Arial" pitchFamily="34" charset="0"/>
              <a:buNone/>
              <a:defRPr sz="2400" kern="1200" spc="-100" baseline="0">
                <a:solidFill>
                  <a:schemeClr val="tx1"/>
                </a:solidFill>
                <a:latin typeface="Helvetica Neue"/>
                <a:ea typeface="Helvetica Neue"/>
                <a:cs typeface="+mn-cs"/>
              </a:defRPr>
            </a:lvl3pPr>
            <a:lvl4pPr marL="1371600" indent="0" algn="l" defTabSz="914400" rtl="0" eaLnBrk="1" latinLnBrk="0" hangingPunct="1">
              <a:spcBef>
                <a:spcPct val="20000"/>
              </a:spcBef>
              <a:buFont typeface="Arial" pitchFamily="34" charset="0"/>
              <a:buNone/>
              <a:defRPr sz="2000" kern="1200" spc="-100" baseline="0">
                <a:solidFill>
                  <a:schemeClr val="tx1"/>
                </a:solidFill>
                <a:latin typeface="Helvetica Neue"/>
                <a:ea typeface="Helvetica Neue"/>
                <a:cs typeface="+mn-cs"/>
              </a:defRPr>
            </a:lvl4pPr>
            <a:lvl5pPr marL="1828800" indent="0" algn="l" defTabSz="914400" rtl="0" eaLnBrk="1" latinLnBrk="0" hangingPunct="1">
              <a:spcBef>
                <a:spcPct val="20000"/>
              </a:spcBef>
              <a:buFont typeface="Arial" pitchFamily="34" charset="0"/>
              <a:buNone/>
              <a:defRPr sz="2000" kern="1200" spc="-100" baseline="0">
                <a:solidFill>
                  <a:schemeClr val="tx1"/>
                </a:solidFill>
                <a:latin typeface="Helvetica Neue"/>
                <a:ea typeface="Helvetica Neue"/>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pic>
        <p:nvPicPr>
          <p:cNvPr id="21" name="Picture 20">
            <a:extLst>
              <a:ext uri="{FF2B5EF4-FFF2-40B4-BE49-F238E27FC236}">
                <a16:creationId xmlns:a16="http://schemas.microsoft.com/office/drawing/2014/main" id="{F637E2E1-B33D-4609-9ABD-1D2055A2453C}"/>
              </a:ext>
            </a:extLst>
          </p:cNvPr>
          <p:cNvPicPr>
            <a:picLocks noChangeAspect="1"/>
          </p:cNvPicPr>
          <p:nvPr/>
        </p:nvPicPr>
        <p:blipFill>
          <a:blip r:embed="rId3"/>
          <a:srcRect/>
          <a:stretch/>
        </p:blipFill>
        <p:spPr>
          <a:xfrm>
            <a:off x="9316132" y="1598337"/>
            <a:ext cx="8599949" cy="8232665"/>
          </a:xfrm>
          <a:prstGeom prst="rect">
            <a:avLst/>
          </a:prstGeom>
        </p:spPr>
      </p:pic>
      <p:sp>
        <p:nvSpPr>
          <p:cNvPr id="12" name="CustomFooter">
            <a:extLst>
              <a:ext uri="{FF2B5EF4-FFF2-40B4-BE49-F238E27FC236}">
                <a16:creationId xmlns:a16="http://schemas.microsoft.com/office/drawing/2014/main" id="{CBC5C35F-E110-4843-8CD6-DCEA532AA807}"/>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40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C54C5755-94C0-42A9-94D2-136CE885F58F}"/>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3594433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2" name="Text Placeholder 1">
            <a:extLst>
              <a:ext uri="{FF2B5EF4-FFF2-40B4-BE49-F238E27FC236}">
                <a16:creationId xmlns:a16="http://schemas.microsoft.com/office/drawing/2014/main" id="{7B6F73C7-8C71-4291-A623-FB72D509D11E}"/>
              </a:ext>
            </a:extLst>
          </p:cNvPr>
          <p:cNvSpPr>
            <a:spLocks noGrp="1"/>
          </p:cNvSpPr>
          <p:nvPr>
            <p:ph type="body" sz="quarter" idx="11"/>
          </p:nvPr>
        </p:nvSpPr>
        <p:spPr/>
        <p:txBody>
          <a:bodyPr/>
          <a:lstStyle/>
          <a:p>
            <a:r>
              <a:rPr lang="en-US" dirty="0"/>
              <a:t>NEXT STEPS</a:t>
            </a:r>
            <a:endParaRPr lang="LID4096" dirty="0"/>
          </a:p>
        </p:txBody>
      </p:sp>
      <p:sp>
        <p:nvSpPr>
          <p:cNvPr id="7" name="Title 6">
            <a:extLst>
              <a:ext uri="{FF2B5EF4-FFF2-40B4-BE49-F238E27FC236}">
                <a16:creationId xmlns:a16="http://schemas.microsoft.com/office/drawing/2014/main" id="{117363F0-153C-4BE6-88DC-446B46B323B6}"/>
              </a:ext>
            </a:extLst>
          </p:cNvPr>
          <p:cNvSpPr>
            <a:spLocks noGrp="1"/>
          </p:cNvSpPr>
          <p:nvPr>
            <p:ph type="title"/>
          </p:nvPr>
        </p:nvSpPr>
        <p:spPr/>
        <p:txBody>
          <a:bodyPr/>
          <a:lstStyle/>
          <a:p>
            <a:r>
              <a:rPr lang="en-US" dirty="0"/>
              <a:t>Extensions</a:t>
            </a:r>
            <a:endParaRPr lang="LID4096" dirty="0"/>
          </a:p>
        </p:txBody>
      </p:sp>
      <p:sp>
        <p:nvSpPr>
          <p:cNvPr id="4" name="Text Placeholder 3">
            <a:extLst>
              <a:ext uri="{FF2B5EF4-FFF2-40B4-BE49-F238E27FC236}">
                <a16:creationId xmlns:a16="http://schemas.microsoft.com/office/drawing/2014/main" id="{E2C91649-DEBE-4145-8A82-565E1EA39B7A}"/>
              </a:ext>
            </a:extLst>
          </p:cNvPr>
          <p:cNvSpPr>
            <a:spLocks noGrp="1"/>
          </p:cNvSpPr>
          <p:nvPr>
            <p:ph type="body" sz="quarter" idx="12"/>
          </p:nvPr>
        </p:nvSpPr>
        <p:spPr>
          <a:xfrm>
            <a:off x="649648" y="1758950"/>
            <a:ext cx="16639428" cy="7332663"/>
          </a:xfrm>
        </p:spPr>
        <p:txBody>
          <a:bodyPr/>
          <a:lstStyle/>
          <a:p>
            <a:pPr>
              <a:lnSpc>
                <a:spcPct val="150000"/>
              </a:lnSpc>
            </a:pPr>
            <a:r>
              <a:rPr lang="en-US" dirty="0"/>
              <a:t>TDI without clock synchronization — demonstrated in Hexagon, but without real delays</a:t>
            </a:r>
          </a:p>
          <a:p>
            <a:pPr>
              <a:lnSpc>
                <a:spcPct val="150000"/>
              </a:lnSpc>
            </a:pPr>
            <a:r>
              <a:rPr lang="en-US" dirty="0"/>
              <a:t>PRN ranging — requires delay-board modification</a:t>
            </a:r>
            <a:endParaRPr lang="LID4096" dirty="0"/>
          </a:p>
        </p:txBody>
      </p:sp>
      <p:sp>
        <p:nvSpPr>
          <p:cNvPr id="16" name="CustomFooter">
            <a:extLst>
              <a:ext uri="{FF2B5EF4-FFF2-40B4-BE49-F238E27FC236}">
                <a16:creationId xmlns:a16="http://schemas.microsoft.com/office/drawing/2014/main" id="{9ACAD74E-D11D-4054-BA71-23B797DF3E6C}"/>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41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1A2064D2-EEA1-4879-ABD1-79FF0CA4C606}"/>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31801692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5" name="Title 24">
            <a:extLst>
              <a:ext uri="{FF2B5EF4-FFF2-40B4-BE49-F238E27FC236}">
                <a16:creationId xmlns:a16="http://schemas.microsoft.com/office/drawing/2014/main" id="{C6AF43C1-4D07-49FE-A707-BC6E51255250}"/>
              </a:ext>
            </a:extLst>
          </p:cNvPr>
          <p:cNvSpPr>
            <a:spLocks noGrp="1"/>
          </p:cNvSpPr>
          <p:nvPr>
            <p:ph type="title"/>
          </p:nvPr>
        </p:nvSpPr>
        <p:spPr/>
        <p:txBody>
          <a:bodyPr/>
          <a:lstStyle/>
          <a:p>
            <a:r>
              <a:rPr lang="en-US" dirty="0"/>
              <a:t>Conclusions</a:t>
            </a:r>
            <a:endParaRPr lang="LID4096" dirty="0"/>
          </a:p>
        </p:txBody>
      </p:sp>
      <p:sp>
        <p:nvSpPr>
          <p:cNvPr id="29" name="Text Placeholder 28">
            <a:extLst>
              <a:ext uri="{FF2B5EF4-FFF2-40B4-BE49-F238E27FC236}">
                <a16:creationId xmlns:a16="http://schemas.microsoft.com/office/drawing/2014/main" id="{50118A5F-A3EA-471A-A95A-41C509D4C96E}"/>
              </a:ext>
            </a:extLst>
          </p:cNvPr>
          <p:cNvSpPr>
            <a:spLocks noGrp="1"/>
          </p:cNvSpPr>
          <p:nvPr>
            <p:ph type="body" sz="quarter" idx="12"/>
          </p:nvPr>
        </p:nvSpPr>
        <p:spPr>
          <a:xfrm>
            <a:off x="649648" y="1758950"/>
            <a:ext cx="15947865" cy="7332663"/>
          </a:xfrm>
        </p:spPr>
        <p:txBody>
          <a:bodyPr/>
          <a:lstStyle/>
          <a:p>
            <a:pPr>
              <a:lnSpc>
                <a:spcPct val="150000"/>
              </a:lnSpc>
            </a:pPr>
            <a:r>
              <a:rPr lang="en-US" dirty="0"/>
              <a:t>An integrated optical testbed for validating LISA's TDI and clock-noise post-processing</a:t>
            </a:r>
          </a:p>
          <a:p>
            <a:pPr>
              <a:lnSpc>
                <a:spcPct val="150000"/>
              </a:lnSpc>
            </a:pPr>
            <a:r>
              <a:rPr lang="en-US" dirty="0"/>
              <a:t>Status: TDI-2 with signal recovery shown electronically</a:t>
            </a:r>
          </a:p>
          <a:p>
            <a:pPr>
              <a:lnSpc>
                <a:spcPct val="150000"/>
              </a:lnSpc>
            </a:pPr>
            <a:r>
              <a:rPr lang="en-US" dirty="0"/>
              <a:t>Next: pinpoint the multi-board floor, inject laser noise and clock noise</a:t>
            </a:r>
          </a:p>
          <a:p>
            <a:pPr>
              <a:lnSpc>
                <a:spcPct val="150000"/>
              </a:lnSpc>
            </a:pPr>
            <a:r>
              <a:rPr lang="en-US" dirty="0"/>
              <a:t>Goal: full three-arm TDI with clock noise removal at LISA performance</a:t>
            </a:r>
          </a:p>
          <a:p>
            <a:pPr>
              <a:lnSpc>
                <a:spcPct val="150000"/>
              </a:lnSpc>
            </a:pPr>
            <a:r>
              <a:rPr lang="en-US" dirty="0"/>
              <a:t>Extensions: TDI without clock synchronization; PRN ranging </a:t>
            </a:r>
          </a:p>
          <a:p>
            <a:r>
              <a:rPr lang="en-US" dirty="0"/>
              <a:t> </a:t>
            </a:r>
            <a:endParaRPr lang="LID4096" dirty="0"/>
          </a:p>
        </p:txBody>
      </p:sp>
      <p:sp>
        <p:nvSpPr>
          <p:cNvPr id="13" name="CustomFooter">
            <a:extLst>
              <a:ext uri="{FF2B5EF4-FFF2-40B4-BE49-F238E27FC236}">
                <a16:creationId xmlns:a16="http://schemas.microsoft.com/office/drawing/2014/main" id="{1A6580B6-9AE5-4997-963C-38F0CA9D3352}"/>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42 / 42</a:t>
            </a:r>
            <a:endParaRPr lang="LID4096" sz="1000" spc="100">
              <a:solidFill>
                <a:srgbClr val="A6A6A6"/>
              </a:solidFill>
              <a:latin typeface="Helvetica Neue45 Light"/>
            </a:endParaRPr>
          </a:p>
        </p:txBody>
      </p:sp>
      <p:sp>
        <p:nvSpPr>
          <p:cNvPr id="14" name="TACMeeting">
            <a:extLst>
              <a:ext uri="{FF2B5EF4-FFF2-40B4-BE49-F238E27FC236}">
                <a16:creationId xmlns:a16="http://schemas.microsoft.com/office/drawing/2014/main" id="{7A6D1871-E02D-4754-8A11-8C1635B68B39}"/>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E6E5C864-4C6E-4F16-8782-1A67861E6529}"/>
              </a:ext>
            </a:extLst>
          </p:cNvPr>
          <p:cNvSpPr>
            <a:spLocks noGrp="1"/>
          </p:cNvSpPr>
          <p:nvPr>
            <p:ph type="body" sz="quarter" idx="11"/>
          </p:nvPr>
        </p:nvSpPr>
        <p:spPr/>
        <p:txBody>
          <a:bodyPr/>
          <a:lstStyle/>
          <a:p>
            <a:r>
              <a:rPr lang="en-US" sz="1200" b="1" dirty="0"/>
              <a:t>WHAT HAPPENS IN THE FPGA?</a:t>
            </a:r>
            <a:endParaRPr lang="LID4096" dirty="0"/>
          </a:p>
        </p:txBody>
      </p:sp>
      <p:sp>
        <p:nvSpPr>
          <p:cNvPr id="19" name="Title 18">
            <a:extLst>
              <a:ext uri="{FF2B5EF4-FFF2-40B4-BE49-F238E27FC236}">
                <a16:creationId xmlns:a16="http://schemas.microsoft.com/office/drawing/2014/main" id="{7C3E489C-8D42-4BED-9B5D-167C9621B077}"/>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Extra: </a:t>
            </a:r>
            <a:r>
              <a:rPr lang="en-US" dirty="0"/>
              <a:t>Internals of the Delay Line</a:t>
            </a:r>
            <a:endParaRPr lang="LID4096" dirty="0"/>
          </a:p>
        </p:txBody>
      </p:sp>
      <p:pic>
        <p:nvPicPr>
          <p:cNvPr id="14" name="Picture 13">
            <a:extLst>
              <a:ext uri="{FF2B5EF4-FFF2-40B4-BE49-F238E27FC236}">
                <a16:creationId xmlns:a16="http://schemas.microsoft.com/office/drawing/2014/main" id="{FCF99912-0DEE-4585-A049-06740FF1BA77}"/>
              </a:ext>
            </a:extLst>
          </p:cNvPr>
          <p:cNvPicPr>
            <a:picLocks noChangeAspect="1"/>
          </p:cNvPicPr>
          <p:nvPr/>
        </p:nvPicPr>
        <p:blipFill>
          <a:blip r:embed="rId3"/>
          <a:stretch>
            <a:fillRect/>
          </a:stretch>
        </p:blipFill>
        <p:spPr>
          <a:xfrm>
            <a:off x="492504" y="2098954"/>
            <a:ext cx="8651496" cy="3044546"/>
          </a:xfrm>
          <a:prstGeom prst="rect">
            <a:avLst/>
          </a:prstGeom>
        </p:spPr>
      </p:pic>
      <p:pic>
        <p:nvPicPr>
          <p:cNvPr id="16" name="Picture 15">
            <a:extLst>
              <a:ext uri="{FF2B5EF4-FFF2-40B4-BE49-F238E27FC236}">
                <a16:creationId xmlns:a16="http://schemas.microsoft.com/office/drawing/2014/main" id="{F3E2E2D4-C4A4-4FA0-AB09-091D84410DFB}"/>
              </a:ext>
            </a:extLst>
          </p:cNvPr>
          <p:cNvPicPr>
            <a:picLocks noChangeAspect="1"/>
          </p:cNvPicPr>
          <p:nvPr/>
        </p:nvPicPr>
        <p:blipFill rotWithShape="1">
          <a:blip r:embed="rId4"/>
          <a:srcRect l="5509"/>
          <a:stretch/>
        </p:blipFill>
        <p:spPr>
          <a:xfrm>
            <a:off x="8982635" y="2020687"/>
            <a:ext cx="6462272" cy="3324526"/>
          </a:xfrm>
          <a:prstGeom prst="rect">
            <a:avLst/>
          </a:prstGeom>
        </p:spPr>
      </p:pic>
      <p:pic>
        <p:nvPicPr>
          <p:cNvPr id="18" name="Picture 17">
            <a:extLst>
              <a:ext uri="{FF2B5EF4-FFF2-40B4-BE49-F238E27FC236}">
                <a16:creationId xmlns:a16="http://schemas.microsoft.com/office/drawing/2014/main" id="{B2B0081E-5898-416F-BFB7-FB6D7929C370}"/>
              </a:ext>
            </a:extLst>
          </p:cNvPr>
          <p:cNvPicPr>
            <a:picLocks noChangeAspect="1"/>
          </p:cNvPicPr>
          <p:nvPr/>
        </p:nvPicPr>
        <p:blipFill>
          <a:blip r:embed="rId5"/>
          <a:stretch>
            <a:fillRect/>
          </a:stretch>
        </p:blipFill>
        <p:spPr>
          <a:xfrm>
            <a:off x="964693" y="6219995"/>
            <a:ext cx="6290990" cy="3209230"/>
          </a:xfrm>
          <a:prstGeom prst="rect">
            <a:avLst/>
          </a:prstGeom>
        </p:spPr>
      </p:pic>
      <p:pic>
        <p:nvPicPr>
          <p:cNvPr id="22" name="Picture 21">
            <a:extLst>
              <a:ext uri="{FF2B5EF4-FFF2-40B4-BE49-F238E27FC236}">
                <a16:creationId xmlns:a16="http://schemas.microsoft.com/office/drawing/2014/main" id="{5E0CC60F-0C30-4F61-AA07-4BFEF7501923}"/>
              </a:ext>
            </a:extLst>
          </p:cNvPr>
          <p:cNvPicPr>
            <a:picLocks noChangeAspect="1"/>
          </p:cNvPicPr>
          <p:nvPr/>
        </p:nvPicPr>
        <p:blipFill>
          <a:blip r:embed="rId6"/>
          <a:stretch>
            <a:fillRect/>
          </a:stretch>
        </p:blipFill>
        <p:spPr>
          <a:xfrm>
            <a:off x="7088479" y="6972179"/>
            <a:ext cx="7887680" cy="2431734"/>
          </a:xfrm>
          <a:prstGeom prst="rect">
            <a:avLst/>
          </a:prstGeom>
        </p:spPr>
      </p:pic>
      <p:sp>
        <p:nvSpPr>
          <p:cNvPr id="23" name="Text 5">
            <a:extLst>
              <a:ext uri="{FF2B5EF4-FFF2-40B4-BE49-F238E27FC236}">
                <a16:creationId xmlns:a16="http://schemas.microsoft.com/office/drawing/2014/main" id="{90A9874C-86B7-45AC-9461-3D2A12D9E8B8}"/>
              </a:ext>
            </a:extLst>
          </p:cNvPr>
          <p:cNvSpPr/>
          <p:nvPr/>
        </p:nvSpPr>
        <p:spPr>
          <a:xfrm>
            <a:off x="15636679" y="8900362"/>
            <a:ext cx="3373256" cy="503551"/>
          </a:xfrm>
          <a:prstGeom prst="rect">
            <a:avLst/>
          </a:prstGeom>
          <a:noFill/>
          <a:ln/>
        </p:spPr>
        <p:txBody>
          <a:bodyPr wrap="square" lIns="25400" tIns="25400" rIns="25400" bIns="25400" rtlCol="0" anchor="t">
            <a:noAutofit/>
          </a:bodyPr>
          <a:lstStyle/>
          <a:p>
            <a:pPr marL="0" indent="0" algn="l">
              <a:buNone/>
            </a:pPr>
            <a:r>
              <a:rPr lang="en-US" sz="1600" dirty="0">
                <a:solidFill>
                  <a:srgbClr val="A0A0A0"/>
                </a:solidFill>
                <a:latin typeface="Helvetica Neue" pitchFamily="34" charset="0"/>
                <a:ea typeface="Helvetica Neue" pitchFamily="34" charset="-122"/>
                <a:cs typeface="Helvetica Neue" pitchFamily="34" charset="-120"/>
              </a:rPr>
              <a:t>Credit: R. Ferguson</a:t>
            </a:r>
            <a:endParaRPr lang="en-US" sz="1600" dirty="0"/>
          </a:p>
        </p:txBody>
      </p:sp>
      <p:sp>
        <p:nvSpPr>
          <p:cNvPr id="26" name="CustomFooter">
            <a:extLst>
              <a:ext uri="{FF2B5EF4-FFF2-40B4-BE49-F238E27FC236}">
                <a16:creationId xmlns:a16="http://schemas.microsoft.com/office/drawing/2014/main" id="{4AD82C8B-F6EC-4007-8D12-EC23E51134CF}"/>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43 / 42</a:t>
            </a:r>
            <a:endParaRPr lang="LID4096" sz="1000" spc="100">
              <a:solidFill>
                <a:srgbClr val="A6A6A6"/>
              </a:solidFill>
              <a:latin typeface="Helvetica Neue45 Light"/>
            </a:endParaRPr>
          </a:p>
        </p:txBody>
      </p:sp>
      <p:sp>
        <p:nvSpPr>
          <p:cNvPr id="27" name="TACMeeting">
            <a:extLst>
              <a:ext uri="{FF2B5EF4-FFF2-40B4-BE49-F238E27FC236}">
                <a16:creationId xmlns:a16="http://schemas.microsoft.com/office/drawing/2014/main" id="{1F2B17F1-83DB-4648-A955-DB3D857AD915}"/>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9552757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1620D2ED-6817-447C-A94C-364CE0E2C30A}"/>
              </a:ext>
            </a:extLst>
          </p:cNvPr>
          <p:cNvPicPr>
            <a:picLocks noChangeAspect="1"/>
          </p:cNvPicPr>
          <p:nvPr/>
        </p:nvPicPr>
        <p:blipFill rotWithShape="1">
          <a:blip r:embed="rId3"/>
          <a:srcRect l="10720" r="10316" b="1451"/>
          <a:stretch/>
        </p:blipFill>
        <p:spPr>
          <a:xfrm rot="5400000">
            <a:off x="12209165" y="-824506"/>
            <a:ext cx="3524816" cy="6259910"/>
          </a:xfrm>
          <a:prstGeom prst="rect">
            <a:avLst/>
          </a:prstGeom>
        </p:spPr>
      </p:pic>
      <p:pic>
        <p:nvPicPr>
          <p:cNvPr id="13" name="Picture 12">
            <a:extLst>
              <a:ext uri="{FF2B5EF4-FFF2-40B4-BE49-F238E27FC236}">
                <a16:creationId xmlns:a16="http://schemas.microsoft.com/office/drawing/2014/main" id="{2EA55C9C-FB02-4F64-A5FD-1697FDA5ADF2}"/>
              </a:ext>
            </a:extLst>
          </p:cNvPr>
          <p:cNvPicPr>
            <a:picLocks noChangeAspect="1"/>
          </p:cNvPicPr>
          <p:nvPr/>
        </p:nvPicPr>
        <p:blipFill rotWithShape="1">
          <a:blip r:embed="rId4"/>
          <a:srcRect t="2423" r="3320"/>
          <a:stretch/>
        </p:blipFill>
        <p:spPr>
          <a:xfrm>
            <a:off x="5978015" y="5280113"/>
            <a:ext cx="6223952" cy="4003326"/>
          </a:xfrm>
          <a:prstGeom prst="rect">
            <a:avLst/>
          </a:prstGeom>
        </p:spPr>
      </p:pic>
      <p:sp>
        <p:nvSpPr>
          <p:cNvPr id="3" name="Text 1"/>
          <p:cNvSpPr/>
          <p:nvPr/>
        </p:nvSpPr>
        <p:spPr>
          <a:xfrm>
            <a:off x="876300" y="847725"/>
            <a:ext cx="18188940" cy="48577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endParaRPr lang="en-US" sz="3450" dirty="0"/>
          </a:p>
        </p:txBody>
      </p:sp>
      <p:sp>
        <p:nvSpPr>
          <p:cNvPr id="5" name="Text Placeholder 4">
            <a:extLst>
              <a:ext uri="{FF2B5EF4-FFF2-40B4-BE49-F238E27FC236}">
                <a16:creationId xmlns:a16="http://schemas.microsoft.com/office/drawing/2014/main" id="{91BAF9E3-1EAB-4F0A-AED4-6FAC0BF6953B}"/>
              </a:ext>
            </a:extLst>
          </p:cNvPr>
          <p:cNvSpPr>
            <a:spLocks noGrp="1"/>
          </p:cNvSpPr>
          <p:nvPr>
            <p:ph type="body" sz="quarter" idx="11"/>
          </p:nvPr>
        </p:nvSpPr>
        <p:spPr/>
        <p:txBody>
          <a:bodyPr/>
          <a:lstStyle/>
          <a:p>
            <a:r>
              <a:rPr lang="en-US" dirty="0"/>
              <a:t>HEXAGON IS MISSING</a:t>
            </a:r>
            <a:endParaRPr lang="LID4096" dirty="0"/>
          </a:p>
        </p:txBody>
      </p:sp>
      <p:sp>
        <p:nvSpPr>
          <p:cNvPr id="4" name="Title 3">
            <a:extLst>
              <a:ext uri="{FF2B5EF4-FFF2-40B4-BE49-F238E27FC236}">
                <a16:creationId xmlns:a16="http://schemas.microsoft.com/office/drawing/2014/main" id="{EE6810BD-7BDC-4A09-89B6-9CA738C84698}"/>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Extra: </a:t>
            </a:r>
            <a:r>
              <a:rPr lang="en-US" sz="3200" b="1" kern="0" spc="-52" dirty="0">
                <a:solidFill>
                  <a:srgbClr val="141414"/>
                </a:solidFill>
                <a:latin typeface="Helvetica Neue" pitchFamily="34" charset="0"/>
                <a:ea typeface="Helvetica Neue" pitchFamily="34" charset="-122"/>
              </a:rPr>
              <a:t>Results from Other </a:t>
            </a:r>
            <a:r>
              <a:rPr lang="en-US" kern="0" spc="-52" dirty="0">
                <a:solidFill>
                  <a:srgbClr val="141414"/>
                </a:solidFill>
                <a:latin typeface="Helvetica Neue" pitchFamily="34" charset="0"/>
                <a:ea typeface="Helvetica Neue" pitchFamily="34" charset="-122"/>
              </a:rPr>
              <a:t>T</a:t>
            </a:r>
            <a:r>
              <a:rPr lang="en-US" sz="3200" b="1" kern="0" spc="-52" dirty="0">
                <a:solidFill>
                  <a:srgbClr val="141414"/>
                </a:solidFill>
                <a:latin typeface="Helvetica Neue" pitchFamily="34" charset="0"/>
                <a:ea typeface="Helvetica Neue" pitchFamily="34" charset="-122"/>
              </a:rPr>
              <a:t>estbeds</a:t>
            </a:r>
            <a:endParaRPr lang="LID4096" dirty="0"/>
          </a:p>
        </p:txBody>
      </p:sp>
      <p:pic>
        <p:nvPicPr>
          <p:cNvPr id="9" name="Picture 8">
            <a:extLst>
              <a:ext uri="{FF2B5EF4-FFF2-40B4-BE49-F238E27FC236}">
                <a16:creationId xmlns:a16="http://schemas.microsoft.com/office/drawing/2014/main" id="{C857C0E2-E5B4-4068-AEFB-9C2FF9205DA7}"/>
              </a:ext>
            </a:extLst>
          </p:cNvPr>
          <p:cNvPicPr>
            <a:picLocks noChangeAspect="1"/>
          </p:cNvPicPr>
          <p:nvPr/>
        </p:nvPicPr>
        <p:blipFill rotWithShape="1">
          <a:blip r:embed="rId5"/>
          <a:srcRect r="1733"/>
          <a:stretch/>
        </p:blipFill>
        <p:spPr>
          <a:xfrm>
            <a:off x="288498" y="1998190"/>
            <a:ext cx="5082641" cy="4282909"/>
          </a:xfrm>
          <a:prstGeom prst="rect">
            <a:avLst/>
          </a:prstGeom>
        </p:spPr>
      </p:pic>
      <p:sp>
        <p:nvSpPr>
          <p:cNvPr id="12" name="TextBox 11">
            <a:extLst>
              <a:ext uri="{FF2B5EF4-FFF2-40B4-BE49-F238E27FC236}">
                <a16:creationId xmlns:a16="http://schemas.microsoft.com/office/drawing/2014/main" id="{2422EDBB-2070-4A68-9D15-E02C63401C1A}"/>
              </a:ext>
            </a:extLst>
          </p:cNvPr>
          <p:cNvSpPr txBox="1"/>
          <p:nvPr/>
        </p:nvSpPr>
        <p:spPr>
          <a:xfrm>
            <a:off x="1046474" y="6289709"/>
            <a:ext cx="3810000" cy="523220"/>
          </a:xfrm>
          <a:prstGeom prst="rect">
            <a:avLst/>
          </a:prstGeom>
          <a:noFill/>
        </p:spPr>
        <p:txBody>
          <a:bodyPr wrap="square">
            <a:spAutoFit/>
          </a:bodyPr>
          <a:lstStyle/>
          <a:p>
            <a:r>
              <a:rPr lang="en-US" sz="1400" spc="-50" noProof="0" dirty="0">
                <a:solidFill>
                  <a:srgbClr val="9A9A9A"/>
                </a:solidFill>
                <a:latin typeface="Helvetica Neue"/>
                <a:cs typeface="Arial" panose="020B0604020202020204" pitchFamily="34" charset="0"/>
              </a:rPr>
              <a:t>De Vine et al., 2010: Experimental Demonstration of Time-Delay Interferometry for LISA, JPL</a:t>
            </a:r>
          </a:p>
        </p:txBody>
      </p:sp>
      <p:sp>
        <p:nvSpPr>
          <p:cNvPr id="17" name="TextBox 16">
            <a:extLst>
              <a:ext uri="{FF2B5EF4-FFF2-40B4-BE49-F238E27FC236}">
                <a16:creationId xmlns:a16="http://schemas.microsoft.com/office/drawing/2014/main" id="{8E4FBB0F-F3E4-483F-8933-5F900280ED4D}"/>
              </a:ext>
            </a:extLst>
          </p:cNvPr>
          <p:cNvSpPr txBox="1"/>
          <p:nvPr/>
        </p:nvSpPr>
        <p:spPr>
          <a:xfrm>
            <a:off x="6885944" y="4643982"/>
            <a:ext cx="5316022" cy="738664"/>
          </a:xfrm>
          <a:prstGeom prst="rect">
            <a:avLst/>
          </a:prstGeom>
          <a:noFill/>
        </p:spPr>
        <p:txBody>
          <a:bodyPr wrap="square" rtlCol="0">
            <a:spAutoFit/>
          </a:bodyPr>
          <a:lstStyle/>
          <a:p>
            <a:r>
              <a:rPr lang="en-US" sz="1400" spc="-50" dirty="0" err="1">
                <a:solidFill>
                  <a:srgbClr val="9A9A9A"/>
                </a:solidFill>
                <a:latin typeface="Helvetica Neue"/>
                <a:cs typeface="Arial" panose="020B0604020202020204" pitchFamily="34" charset="0"/>
              </a:rPr>
              <a:t>Mitryk</a:t>
            </a:r>
            <a:r>
              <a:rPr lang="en-US" sz="1400" spc="-50" dirty="0">
                <a:solidFill>
                  <a:srgbClr val="9A9A9A"/>
                </a:solidFill>
                <a:latin typeface="Helvetica Neue"/>
                <a:cs typeface="Arial" panose="020B0604020202020204" pitchFamily="34" charset="0"/>
              </a:rPr>
              <a:t>, 2012: Laser Noise Mitigation through Time Delay Interferometry for Space-based Gravitational Wave Interferometers Using the UF Laser Interferometer</a:t>
            </a:r>
            <a:endParaRPr lang="et-EE" sz="1400" spc="-50" dirty="0">
              <a:solidFill>
                <a:srgbClr val="9A9A9A"/>
              </a:solidFill>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8BA09D5D-44E3-4DA2-AC88-3AC958708E2C}"/>
              </a:ext>
            </a:extLst>
          </p:cNvPr>
          <p:cNvSpPr txBox="1"/>
          <p:nvPr/>
        </p:nvSpPr>
        <p:spPr>
          <a:xfrm>
            <a:off x="12309986" y="4169171"/>
            <a:ext cx="4113061" cy="523220"/>
          </a:xfrm>
          <a:prstGeom prst="rect">
            <a:avLst/>
          </a:prstGeom>
          <a:noFill/>
        </p:spPr>
        <p:txBody>
          <a:bodyPr wrap="square">
            <a:spAutoFit/>
          </a:bodyPr>
          <a:lstStyle/>
          <a:p>
            <a:r>
              <a:rPr lang="en-US" sz="1400" spc="-50" noProof="0" dirty="0">
                <a:solidFill>
                  <a:srgbClr val="9A9A9A"/>
                </a:solidFill>
                <a:latin typeface="Helvetica Neue"/>
                <a:cs typeface="Arial" panose="020B0604020202020204" pitchFamily="34" charset="0"/>
              </a:rPr>
              <a:t>Vidal, 2023: </a:t>
            </a:r>
            <a:r>
              <a:rPr lang="fr-FR" sz="1400" spc="-50" dirty="0">
                <a:solidFill>
                  <a:srgbClr val="9A9A9A"/>
                </a:solidFill>
                <a:effectLst/>
                <a:latin typeface="Helvetica Neue"/>
              </a:rPr>
              <a:t>Validation expérimentale des performances interférométriques de LISA</a:t>
            </a:r>
            <a:r>
              <a:rPr lang="en-US" sz="1400" spc="-50" noProof="0" dirty="0">
                <a:solidFill>
                  <a:srgbClr val="9A9A9A"/>
                </a:solidFill>
                <a:latin typeface="Helvetica Neue"/>
                <a:cs typeface="Arial" panose="020B0604020202020204" pitchFamily="34" charset="0"/>
              </a:rPr>
              <a:t>, APC</a:t>
            </a:r>
          </a:p>
        </p:txBody>
      </p:sp>
      <p:sp>
        <p:nvSpPr>
          <p:cNvPr id="21" name="CustomFooter">
            <a:extLst>
              <a:ext uri="{FF2B5EF4-FFF2-40B4-BE49-F238E27FC236}">
                <a16:creationId xmlns:a16="http://schemas.microsoft.com/office/drawing/2014/main" id="{61E19F2A-FF3B-42FB-8CE8-9E883FAC34A7}"/>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44 / 42</a:t>
            </a:r>
            <a:endParaRPr lang="LID4096" sz="1000" spc="100">
              <a:solidFill>
                <a:srgbClr val="A6A6A6"/>
              </a:solidFill>
              <a:latin typeface="Helvetica Neue45 Light"/>
            </a:endParaRPr>
          </a:p>
        </p:txBody>
      </p:sp>
      <p:sp>
        <p:nvSpPr>
          <p:cNvPr id="22" name="TACMeeting">
            <a:extLst>
              <a:ext uri="{FF2B5EF4-FFF2-40B4-BE49-F238E27FC236}">
                <a16:creationId xmlns:a16="http://schemas.microsoft.com/office/drawing/2014/main" id="{A858A595-4A48-482E-A43A-F91147552715}"/>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0520736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E7A659E8-8EAA-4A12-8B70-A8135E4A3C53}"/>
              </a:ext>
            </a:extLst>
          </p:cNvPr>
          <p:cNvPicPr>
            <a:picLocks noChangeAspect="1"/>
          </p:cNvPicPr>
          <p:nvPr/>
        </p:nvPicPr>
        <p:blipFill>
          <a:blip r:embed="rId3"/>
          <a:stretch>
            <a:fillRect/>
          </a:stretch>
        </p:blipFill>
        <p:spPr>
          <a:xfrm>
            <a:off x="6330283" y="2820747"/>
            <a:ext cx="10274914" cy="6421821"/>
          </a:xfrm>
          <a:prstGeom prst="rect">
            <a:avLst/>
          </a:prstGeom>
        </p:spPr>
      </p:pic>
      <p:sp>
        <p:nvSpPr>
          <p:cNvPr id="10" name="Text Placeholder 9">
            <a:extLst>
              <a:ext uri="{FF2B5EF4-FFF2-40B4-BE49-F238E27FC236}">
                <a16:creationId xmlns:a16="http://schemas.microsoft.com/office/drawing/2014/main" id="{0E3D6D46-B079-4977-BF48-F2071387EF25}"/>
              </a:ext>
            </a:extLst>
          </p:cNvPr>
          <p:cNvSpPr>
            <a:spLocks noGrp="1"/>
          </p:cNvSpPr>
          <p:nvPr>
            <p:ph type="body" sz="quarter" idx="12"/>
          </p:nvPr>
        </p:nvSpPr>
        <p:spPr>
          <a:xfrm>
            <a:off x="649648" y="1758950"/>
            <a:ext cx="8440108" cy="7332663"/>
          </a:xfrm>
        </p:spPr>
        <p:txBody>
          <a:bodyPr/>
          <a:lstStyle/>
          <a:p>
            <a:r>
              <a:rPr lang="en-US" dirty="0"/>
              <a:t>Multi board clock noise removal</a:t>
            </a:r>
          </a:p>
          <a:p>
            <a:r>
              <a:rPr lang="en-US" dirty="0"/>
              <a:t>Clock noise removal done via algorithm from Hartwig &amp; Bayle</a:t>
            </a:r>
          </a:p>
        </p:txBody>
      </p:sp>
      <p:sp>
        <p:nvSpPr>
          <p:cNvPr id="8" name="Text Placeholder 7">
            <a:extLst>
              <a:ext uri="{FF2B5EF4-FFF2-40B4-BE49-F238E27FC236}">
                <a16:creationId xmlns:a16="http://schemas.microsoft.com/office/drawing/2014/main" id="{7966B853-564C-4429-A298-BB542480AE86}"/>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THERE IS SOMETHING WRONG HERE</a:t>
            </a:r>
            <a:endParaRPr lang="LID4096" dirty="0"/>
          </a:p>
          <a:p>
            <a:endParaRPr lang="LID4096" dirty="0"/>
          </a:p>
        </p:txBody>
      </p:sp>
      <p:sp>
        <p:nvSpPr>
          <p:cNvPr id="7" name="Title 6">
            <a:extLst>
              <a:ext uri="{FF2B5EF4-FFF2-40B4-BE49-F238E27FC236}">
                <a16:creationId xmlns:a16="http://schemas.microsoft.com/office/drawing/2014/main" id="{C621A108-4F27-4B5D-9613-3A04307DB49F}"/>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Extra: Preliminary Clock Noise Removal</a:t>
            </a:r>
            <a:endParaRPr lang="LID4096" dirty="0"/>
          </a:p>
        </p:txBody>
      </p:sp>
      <p:sp>
        <p:nvSpPr>
          <p:cNvPr id="16" name="CustomFooter">
            <a:extLst>
              <a:ext uri="{FF2B5EF4-FFF2-40B4-BE49-F238E27FC236}">
                <a16:creationId xmlns:a16="http://schemas.microsoft.com/office/drawing/2014/main" id="{3368A8E4-DBC6-4711-ACCA-C84A240897DA}"/>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45 / 42</a:t>
            </a:r>
            <a:endParaRPr lang="LID4096" sz="1000" spc="100">
              <a:solidFill>
                <a:srgbClr val="A6A6A6"/>
              </a:solidFill>
              <a:latin typeface="Helvetica Neue45 Light"/>
            </a:endParaRPr>
          </a:p>
        </p:txBody>
      </p:sp>
      <p:sp>
        <p:nvSpPr>
          <p:cNvPr id="17" name="TACMeeting">
            <a:extLst>
              <a:ext uri="{FF2B5EF4-FFF2-40B4-BE49-F238E27FC236}">
                <a16:creationId xmlns:a16="http://schemas.microsoft.com/office/drawing/2014/main" id="{00A50A53-27D5-4102-A950-628DBE7168FE}"/>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29015673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091D0C11-55D0-45C5-89BB-F01245917820}"/>
              </a:ext>
            </a:extLst>
          </p:cNvPr>
          <p:cNvSpPr>
            <a:spLocks noGrp="1"/>
          </p:cNvSpPr>
          <p:nvPr>
            <p:ph type="body" sz="quarter" idx="12"/>
          </p:nvPr>
        </p:nvSpPr>
        <p:spPr>
          <a:xfrm>
            <a:off x="649649" y="1758950"/>
            <a:ext cx="16531850" cy="7332663"/>
          </a:xfrm>
        </p:spPr>
        <p:txBody>
          <a:bodyPr/>
          <a:lstStyle/>
          <a:p>
            <a:r>
              <a:rPr lang="en-US" dirty="0"/>
              <a:t>If the measurement was dominated by modulation noise, the USB-LSB would overlap with the other two lines.</a:t>
            </a:r>
          </a:p>
          <a:p>
            <a:r>
              <a:rPr lang="en-US" dirty="0"/>
              <a:t>Relative amplitude noise was equal in all three readouts.</a:t>
            </a:r>
          </a:p>
        </p:txBody>
      </p:sp>
      <p:sp>
        <p:nvSpPr>
          <p:cNvPr id="10" name="Text Placeholder 9">
            <a:extLst>
              <a:ext uri="{FF2B5EF4-FFF2-40B4-BE49-F238E27FC236}">
                <a16:creationId xmlns:a16="http://schemas.microsoft.com/office/drawing/2014/main" id="{46F1E9A6-53EF-4D89-99FE-356C6E167686}"/>
              </a:ext>
            </a:extLst>
          </p:cNvPr>
          <p:cNvSpPr>
            <a:spLocks noGrp="1"/>
          </p:cNvSpPr>
          <p:nvPr>
            <p:ph type="body" sz="quarter" idx="11"/>
          </p:nvPr>
        </p:nvSpPr>
        <p:spPr/>
        <p:txBody>
          <a:bodyPr/>
          <a:lstStyle/>
          <a:p>
            <a:r>
              <a:rPr lang="en-US" sz="1200" b="1" kern="0" spc="225" dirty="0">
                <a:solidFill>
                  <a:srgbClr val="9A9A9A"/>
                </a:solidFill>
                <a:latin typeface="Helvetica Neue" pitchFamily="34" charset="0"/>
                <a:ea typeface="Helvetica Neue" pitchFamily="34" charset="-122"/>
                <a:cs typeface="Helvetica Neue" pitchFamily="34" charset="-120"/>
              </a:rPr>
              <a:t>WHY ARE THE LINES NOT OVERLAPPING?</a:t>
            </a:r>
            <a:endParaRPr lang="LID4096" dirty="0"/>
          </a:p>
        </p:txBody>
      </p:sp>
      <p:sp>
        <p:nvSpPr>
          <p:cNvPr id="6" name="Title 5">
            <a:extLst>
              <a:ext uri="{FF2B5EF4-FFF2-40B4-BE49-F238E27FC236}">
                <a16:creationId xmlns:a16="http://schemas.microsoft.com/office/drawing/2014/main" id="{878ED70B-9571-4D6C-8D2E-F2ADFD367A65}"/>
              </a:ext>
            </a:extLst>
          </p:cNvPr>
          <p:cNvSpPr>
            <a:spLocks noGrp="1"/>
          </p:cNvSpPr>
          <p:nvPr>
            <p:ph type="title"/>
          </p:nvPr>
        </p:nvSpPr>
        <p:spPr/>
        <p:txBody>
          <a:bodyPr/>
          <a:lstStyle/>
          <a:p>
            <a:r>
              <a:rPr lang="en-US" sz="3200" b="1" kern="0" spc="-52" dirty="0">
                <a:solidFill>
                  <a:srgbClr val="141414"/>
                </a:solidFill>
                <a:latin typeface="Helvetica Neue" pitchFamily="34" charset="0"/>
                <a:ea typeface="Helvetica Neue" pitchFamily="34" charset="-122"/>
                <a:cs typeface="Helvetica Neue" pitchFamily="34" charset="-120"/>
              </a:rPr>
              <a:t>Extra: Modulation Noise Measurement</a:t>
            </a:r>
            <a:endParaRPr lang="LID4096" dirty="0"/>
          </a:p>
        </p:txBody>
      </p:sp>
      <p:pic>
        <p:nvPicPr>
          <p:cNvPr id="5" name="Picture 4">
            <a:extLst>
              <a:ext uri="{FF2B5EF4-FFF2-40B4-BE49-F238E27FC236}">
                <a16:creationId xmlns:a16="http://schemas.microsoft.com/office/drawing/2014/main" id="{22D5B62C-8B45-4BBC-B80D-702764D7A65C}"/>
              </a:ext>
            </a:extLst>
          </p:cNvPr>
          <p:cNvPicPr>
            <a:picLocks noChangeAspect="1"/>
          </p:cNvPicPr>
          <p:nvPr/>
        </p:nvPicPr>
        <p:blipFill>
          <a:blip r:embed="rId3"/>
          <a:stretch>
            <a:fillRect/>
          </a:stretch>
        </p:blipFill>
        <p:spPr>
          <a:xfrm>
            <a:off x="8536348" y="4333795"/>
            <a:ext cx="6941155" cy="4418319"/>
          </a:xfrm>
          <a:prstGeom prst="rect">
            <a:avLst/>
          </a:prstGeom>
        </p:spPr>
      </p:pic>
      <p:pic>
        <p:nvPicPr>
          <p:cNvPr id="12" name="Picture 11">
            <a:extLst>
              <a:ext uri="{FF2B5EF4-FFF2-40B4-BE49-F238E27FC236}">
                <a16:creationId xmlns:a16="http://schemas.microsoft.com/office/drawing/2014/main" id="{F70332F0-42F9-4104-8437-BA12D9353DC2}"/>
              </a:ext>
            </a:extLst>
          </p:cNvPr>
          <p:cNvPicPr>
            <a:picLocks noChangeAspect="1"/>
          </p:cNvPicPr>
          <p:nvPr/>
        </p:nvPicPr>
        <p:blipFill>
          <a:blip r:embed="rId4"/>
          <a:srcRect/>
          <a:stretch/>
        </p:blipFill>
        <p:spPr>
          <a:xfrm>
            <a:off x="1226732" y="4333795"/>
            <a:ext cx="6690536" cy="4271176"/>
          </a:xfrm>
          <a:prstGeom prst="rect">
            <a:avLst/>
          </a:prstGeom>
        </p:spPr>
      </p:pic>
      <p:pic>
        <p:nvPicPr>
          <p:cNvPr id="17" name="Graphic 16">
            <a:extLst>
              <a:ext uri="{FF2B5EF4-FFF2-40B4-BE49-F238E27FC236}">
                <a16:creationId xmlns:a16="http://schemas.microsoft.com/office/drawing/2014/main" id="{2BA06EC0-F499-45A0-A065-1FED2970A5B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475071" y="3040181"/>
            <a:ext cx="7163280" cy="870765"/>
          </a:xfrm>
          <a:prstGeom prst="rect">
            <a:avLst/>
          </a:prstGeom>
        </p:spPr>
      </p:pic>
      <p:sp>
        <p:nvSpPr>
          <p:cNvPr id="20" name="CustomFooter">
            <a:extLst>
              <a:ext uri="{FF2B5EF4-FFF2-40B4-BE49-F238E27FC236}">
                <a16:creationId xmlns:a16="http://schemas.microsoft.com/office/drawing/2014/main" id="{1334EB11-B3F1-4B7F-846F-59C1982379C0}"/>
              </a:ext>
            </a:extLst>
          </p:cNvPr>
          <p:cNvSpPr txBox="1"/>
          <p:nvPr/>
        </p:nvSpPr>
        <p:spPr>
          <a:xfrm>
            <a:off x="14605000" y="9715500"/>
            <a:ext cx="2921000" cy="246221"/>
          </a:xfrm>
          <a:prstGeom prst="rect">
            <a:avLst/>
          </a:prstGeom>
          <a:noFill/>
        </p:spPr>
        <p:txBody>
          <a:bodyPr vert="horz" rtlCol="0" anchor="ctr">
            <a:spAutoFit/>
          </a:bodyPr>
          <a:lstStyle/>
          <a:p>
            <a:pPr algn="r"/>
            <a:r>
              <a:rPr lang="en-US" sz="1000" spc="100">
                <a:solidFill>
                  <a:srgbClr val="A6A6A6"/>
                </a:solidFill>
                <a:latin typeface="Helvetica Neue45 Light"/>
              </a:rPr>
              <a:t>27 August 2026 · 46 / 42</a:t>
            </a:r>
            <a:endParaRPr lang="LID4096" sz="1000" spc="100">
              <a:solidFill>
                <a:srgbClr val="A6A6A6"/>
              </a:solidFill>
              <a:latin typeface="Helvetica Neue45 Light"/>
            </a:endParaRPr>
          </a:p>
        </p:txBody>
      </p:sp>
      <p:sp>
        <p:nvSpPr>
          <p:cNvPr id="21" name="TACMeeting">
            <a:extLst>
              <a:ext uri="{FF2B5EF4-FFF2-40B4-BE49-F238E27FC236}">
                <a16:creationId xmlns:a16="http://schemas.microsoft.com/office/drawing/2014/main" id="{5B176057-B08B-4D8F-A35A-D470B3A04A18}"/>
              </a:ext>
            </a:extLst>
          </p:cNvPr>
          <p:cNvSpPr txBox="1"/>
          <p:nvPr/>
        </p:nvSpPr>
        <p:spPr>
          <a:xfrm>
            <a:off x="762000" y="9715500"/>
            <a:ext cx="3810000" cy="246221"/>
          </a:xfrm>
          <a:prstGeom prst="rect">
            <a:avLst/>
          </a:prstGeom>
          <a:noFill/>
        </p:spPr>
        <p:txBody>
          <a:bodyPr vert="horz" rtlCol="0" anchor="ctr">
            <a:spAutoFit/>
          </a:bodyPr>
          <a:lstStyle/>
          <a:p>
            <a:r>
              <a:rPr lang="en-US" sz="1000" b="1" spc="150">
                <a:solidFill>
                  <a:srgbClr val="A6A6A6"/>
                </a:solidFill>
                <a:latin typeface="Helvetica Neue 65 Medium"/>
              </a:rPr>
              <a:t>STUDENT SEMINAR · TAC MEETING</a:t>
            </a:r>
            <a:endParaRPr lang="LID4096" sz="1000" b="1" spc="150">
              <a:solidFill>
                <a:srgbClr val="A6A6A6"/>
              </a:solidFill>
              <a:latin typeface="Helvetica Neue 65 Medium"/>
            </a:endParaRPr>
          </a:p>
        </p:txBody>
      </p:sp>
    </p:spTree>
    <p:extLst>
      <p:ext uri="{BB962C8B-B14F-4D97-AF65-F5344CB8AC3E}">
        <p14:creationId xmlns:p14="http://schemas.microsoft.com/office/powerpoint/2010/main" val="17441152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D6C79C-AD76-4CAF-957F-5489FFCD68AD}">
  <we:reference id="wa200010001" version="1.0.0.1" store="en-US" storeType="OMEX"/>
  <we:alternateReferences>
    <we:reference id="wa200010001" version="1.0.0.1" store="en-US" storeType="OMEX"/>
  </we:alternateReferences>
  <we:properties>
    <we:property name="claude.fileId" value="&quot;8182453a-2342-4880-bf4f-14816433e77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3919</Words>
  <Application>Microsoft Office PowerPoint</Application>
  <PresentationFormat>Custom</PresentationFormat>
  <Paragraphs>460</Paragraphs>
  <Slides>46</Slides>
  <Notes>46</Notes>
  <HiddenSlides>0</HiddenSlides>
  <MMClips>0</MMClips>
  <ScaleCrop>false</ScaleCrop>
  <HeadingPairs>
    <vt:vector size="4" baseType="variant">
      <vt:variant>
        <vt:lpstr>Theme</vt:lpstr>
      </vt:variant>
      <vt:variant>
        <vt:i4>1</vt:i4>
      </vt:variant>
      <vt:variant>
        <vt:lpstr>Slide Titles</vt:lpstr>
      </vt:variant>
      <vt:variant>
        <vt:i4>46</vt:i4>
      </vt:variant>
    </vt:vector>
  </HeadingPairs>
  <TitlesOfParts>
    <vt:vector size="47" baseType="lpstr">
      <vt:lpstr>Office Theme</vt:lpstr>
      <vt:lpstr>PowerPoint Presentation</vt:lpstr>
      <vt:lpstr>Outline of the Talk</vt:lpstr>
      <vt:lpstr>Context Overview of the LISA Measurement System Testbed Concept TDI and Laser Frequency Noise: Status Clock Noise: Status Next Steps Conclusions</vt:lpstr>
      <vt:lpstr>PowerPoint Presentation</vt:lpstr>
      <vt:lpstr>LISA Constellation</vt:lpstr>
      <vt:lpstr>Laser Frequency Noise</vt:lpstr>
      <vt:lpstr>Context Overview of the LISA Measurement System Testbed Concept TDI and Laser Noise: Status Clock Noise: Status Next Steps Conclusions</vt:lpstr>
      <vt:lpstr>LISA Science Interferometer</vt:lpstr>
      <vt:lpstr>TDI and Laser Frequency Noise</vt:lpstr>
      <vt:lpstr>Expected Laser Noise Reduction</vt:lpstr>
      <vt:lpstr>Context Overview of the LISA Measurement System Testbed Concept TDI and Laser Frequency Noise: Status Clock Noise: Status Next Steps Conclusions</vt:lpstr>
      <vt:lpstr>Testbed One Arm Link</vt:lpstr>
      <vt:lpstr>Comparison of the Readouts</vt:lpstr>
      <vt:lpstr>The Full Setup</vt:lpstr>
      <vt:lpstr>Context Overview of the LISA Measurement System Testbed Concept TDI and Laser Frequency Noise: Status Clock Noise: Status Next Steps Conclusions</vt:lpstr>
      <vt:lpstr>The Delay Line</vt:lpstr>
      <vt:lpstr>Demonstration of TDI 2 with Signal Injection</vt:lpstr>
      <vt:lpstr>TDI Michelson X with a Multi-board Setup</vt:lpstr>
      <vt:lpstr>Injecting Laser Noise: PLL Lock of Far Spacecraft</vt:lpstr>
      <vt:lpstr>Recovering the Transfer Function</vt:lpstr>
      <vt:lpstr>Cavity Locking</vt:lpstr>
      <vt:lpstr>Context Overview of the LISA Measurement System Testbed Concept TDI and Laser Frequency Noise: Status Clock Noise: Status Next Steps Conclusions</vt:lpstr>
      <vt:lpstr>Clock Noise Transfer in LISA</vt:lpstr>
      <vt:lpstr>Clock Noise Transfer Fidelity</vt:lpstr>
      <vt:lpstr>Clock Noise Transfer in the Lab</vt:lpstr>
      <vt:lpstr>Preliminary Clock Noise Removal – Two Phasemeters</vt:lpstr>
      <vt:lpstr>Clock Tone Transfer Limitation in miniLISA</vt:lpstr>
      <vt:lpstr>Clock Tone Transfer Limitation in miniLISA</vt:lpstr>
      <vt:lpstr>GHz Sidebands</vt:lpstr>
      <vt:lpstr>GHz Sidebands</vt:lpstr>
      <vt:lpstr>Increasing the Sideband Frequency</vt:lpstr>
      <vt:lpstr>Increasing the Sideband Frequency</vt:lpstr>
      <vt:lpstr>Increasing the Sideband Frequency</vt:lpstr>
      <vt:lpstr>Increasing the Sideband Frequency</vt:lpstr>
      <vt:lpstr>Using the Delay Line Board Clock as a Modulation Source</vt:lpstr>
      <vt:lpstr>Context Overview of the LISA Measurement System Testbed Concept TDI and Laser Frequency Noise: Status Clock Noise: Status Next Steps Conclusions</vt:lpstr>
      <vt:lpstr>Pinpoint the Multi-board Noise Floor</vt:lpstr>
      <vt:lpstr>Towards the Full Setup</vt:lpstr>
      <vt:lpstr>Towards the Full Setup</vt:lpstr>
      <vt:lpstr>Towards the Full Setup</vt:lpstr>
      <vt:lpstr>Extensions</vt:lpstr>
      <vt:lpstr>Conclusions</vt:lpstr>
      <vt:lpstr>Extra: Internals of the Delay Line</vt:lpstr>
      <vt:lpstr>Extra: Results from Other Testbeds</vt:lpstr>
      <vt:lpstr>Extra: Preliminary Clock Noise Removal</vt:lpstr>
      <vt:lpstr>Extra: Modulation Noise Measurement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cloudconvert_10</cp:lastModifiedBy>
  <cp:revision>255</cp:revision>
  <dcterms:created xsi:type="dcterms:W3CDTF">2026-06-21T16:48:27Z</dcterms:created>
  <dcterms:modified xsi:type="dcterms:W3CDTF">2026-08-27T12:30:56Z</dcterms:modified>
</cp:coreProperties>
</file>