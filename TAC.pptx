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009"/>
    <p:restoredTop sz="74004"/>
  </p:normalViewPr>
  <p:slideViewPr>
    <p:cSldViewPr snapToGrid="0" snapToObjects="1">
      <p:cViewPr varScale="1">
        <p:scale>
          <a:sx n="81" d="100"/>
          <a:sy n="81" d="100"/>
        </p:scale>
        <p:origin x="1980"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071968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I'm going to jump right into the technical stuff. So we're looking at the LISA inter-satellite interferometer. The raw phase meter data is dominated by two noise sources: laser frequency noise... and clock noise.</a:t>
            </a:r>
          </a:p>
          <a:p>
            <a:r>
              <a:rPr lang="en-GB" sz="1200" b="0" i="0" u="none" strike="noStrike" kern="1200" dirty="0">
                <a:solidFill>
                  <a:schemeClr val="tx1"/>
                </a:solidFill>
                <a:effectLst/>
                <a:latin typeface="+mn-lt"/>
                <a:ea typeface="+mn-ea"/>
                <a:cs typeface="+mn-cs"/>
              </a:rPr>
              <a:t>I've written down how these enter the phase readout — the laser noise comes from both lasers forming the link, and the clock noise of the local spacecraft couples in via the beat note frequency. These are the two couplings we need to replicate and then remove.</a:t>
            </a:r>
          </a:p>
          <a:p>
            <a:r>
              <a:rPr lang="en-GB" sz="1200" b="0" i="0" u="none" strike="noStrike" kern="1200" dirty="0">
                <a:solidFill>
                  <a:schemeClr val="tx1"/>
                </a:solidFill>
                <a:effectLst/>
                <a:latin typeface="+mn-lt"/>
                <a:ea typeface="+mn-ea"/>
                <a:cs typeface="+mn-cs"/>
              </a:rPr>
              <a:t>Now — why do this in hardware? </a:t>
            </a:r>
            <a:r>
              <a:rPr lang="en-GB" sz="1200" b="0" i="1" u="none" strike="noStrike" kern="1200" dirty="0">
                <a:solidFill>
                  <a:schemeClr val="tx1"/>
                </a:solidFill>
                <a:effectLst/>
                <a:latin typeface="+mn-lt"/>
                <a:ea typeface="+mn-ea"/>
                <a:cs typeface="+mn-cs"/>
              </a:rPr>
              <a:t>[pause]</a:t>
            </a:r>
            <a:r>
              <a:rPr lang="en-GB" sz="1200" b="0" i="0" u="none" strike="noStrike" kern="1200" dirty="0">
                <a:solidFill>
                  <a:schemeClr val="tx1"/>
                </a:solidFill>
                <a:effectLst/>
                <a:latin typeface="+mn-lt"/>
                <a:ea typeface="+mn-ea"/>
                <a:cs typeface="+mn-cs"/>
              </a:rPr>
              <a:t> Because simulations only simulate what you think to simulate. LISA has extremely detailed noise models — but a hardware testbed lets you check that those models actually match reality. That the noise couples in the way you think it does, with the structure you assumed, at the level you predicted. </a:t>
            </a:r>
            <a:r>
              <a:rPr lang="en-GB" sz="1200" b="0" i="1" u="none" strike="noStrike" kern="1200" dirty="0">
                <a:solidFill>
                  <a:schemeClr val="tx1"/>
                </a:solidFill>
                <a:effectLst/>
                <a:latin typeface="+mn-lt"/>
                <a:ea typeface="+mn-ea"/>
                <a:cs typeface="+mn-cs"/>
              </a:rPr>
              <a:t>[pause]</a:t>
            </a:r>
            <a:r>
              <a:rPr lang="en-GB" sz="1200" b="0" i="0" u="none" strike="noStrike" kern="1200" dirty="0">
                <a:solidFill>
                  <a:schemeClr val="tx1"/>
                </a:solidFill>
                <a:effectLst/>
                <a:latin typeface="+mn-lt"/>
                <a:ea typeface="+mn-ea"/>
                <a:cs typeface="+mn-cs"/>
              </a:rPr>
              <a:t> There is no substitute for seeing it in real data.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So here's our plan for how to replicate the LISA readouts in the lab. The top diagram is the actual LISA arm — light travelling between two spacecraft, picked up by a phasemeter. The bottom is our benchtop analogue.</a:t>
            </a:r>
          </a:p>
          <a:p>
            <a:r>
              <a:rPr lang="en-GB" sz="1200" b="0" i="0" u="none" strike="noStrike" kern="1200" dirty="0">
                <a:solidFill>
                  <a:schemeClr val="tx1"/>
                </a:solidFill>
                <a:effectLst/>
                <a:latin typeface="+mn-lt"/>
                <a:ea typeface="+mn-ea"/>
                <a:cs typeface="+mn-cs"/>
              </a:rPr>
              <a:t>At the centre of the testbed is the electronic delay line — my colleague gave a great talk on that a couple of hours ago, so I won't go into the details here. </a:t>
            </a:r>
            <a:r>
              <a:rPr lang="en-GB" sz="1200" b="0" i="1" u="none" strike="noStrike" kern="1200" dirty="0">
                <a:solidFill>
                  <a:schemeClr val="tx1"/>
                </a:solidFill>
                <a:effectLst/>
                <a:latin typeface="+mn-lt"/>
                <a:ea typeface="+mn-ea"/>
                <a:cs typeface="+mn-cs"/>
              </a:rPr>
              <a:t>[pause]</a:t>
            </a:r>
            <a:r>
              <a:rPr lang="en-GB" sz="1200" b="0" i="0" u="none" strike="noStrike" kern="1200" dirty="0">
                <a:solidFill>
                  <a:schemeClr val="tx1"/>
                </a:solidFill>
                <a:effectLst/>
                <a:latin typeface="+mn-lt"/>
                <a:ea typeface="+mn-ea"/>
                <a:cs typeface="+mn-cs"/>
              </a:rPr>
              <a:t> What I want to focus on instead is how we go from a purely electronic implementation to one that also includes real optics.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So, we start with a laser field — and for an infrared laser that's sitting at about 281 terahertz. </a:t>
            </a:r>
          </a:p>
          <a:p>
            <a:r>
              <a:rPr lang="en-GB" sz="1200" b="0" i="0" u="none" strike="noStrike" kern="1200" dirty="0">
                <a:solidFill>
                  <a:schemeClr val="tx1"/>
                </a:solidFill>
                <a:effectLst/>
                <a:latin typeface="+mn-lt"/>
                <a:ea typeface="+mn-ea"/>
                <a:cs typeface="+mn-cs"/>
              </a:rPr>
              <a:t>To get it into our electronics </a:t>
            </a:r>
            <a:r>
              <a:rPr lang="en-GB" sz="1200" b="0" i="1" u="none" strike="noStrike" kern="1200" dirty="0">
                <a:solidFill>
                  <a:schemeClr val="tx1"/>
                </a:solidFill>
                <a:effectLst/>
                <a:latin typeface="+mn-lt"/>
                <a:ea typeface="+mn-ea"/>
                <a:cs typeface="+mn-cs"/>
              </a:rPr>
              <a:t>[point]</a:t>
            </a:r>
            <a:r>
              <a:rPr lang="en-GB" sz="1200" b="0" i="0" u="none" strike="noStrike" kern="1200" dirty="0">
                <a:solidFill>
                  <a:schemeClr val="tx1"/>
                </a:solidFill>
                <a:effectLst/>
                <a:latin typeface="+mn-lt"/>
                <a:ea typeface="+mn-ea"/>
                <a:cs typeface="+mn-cs"/>
              </a:rPr>
              <a:t>, we heterodyne it with a reference laser field to produce a beat note in a measurable range. </a:t>
            </a:r>
          </a:p>
          <a:p>
            <a:r>
              <a:rPr lang="en-GB" sz="1200" b="0" i="0" u="none" strike="noStrike" kern="1200" dirty="0">
                <a:solidFill>
                  <a:schemeClr val="tx1"/>
                </a:solidFill>
                <a:effectLst/>
                <a:latin typeface="+mn-lt"/>
                <a:ea typeface="+mn-ea"/>
                <a:cs typeface="+mn-cs"/>
              </a:rPr>
              <a:t>This is effectively a frequency </a:t>
            </a:r>
            <a:r>
              <a:rPr lang="en-GB" sz="1200" b="0" i="0" u="none" strike="noStrike" kern="1200" dirty="0" err="1">
                <a:solidFill>
                  <a:schemeClr val="tx1"/>
                </a:solidFill>
                <a:effectLst/>
                <a:latin typeface="+mn-lt"/>
                <a:ea typeface="+mn-ea"/>
                <a:cs typeface="+mn-cs"/>
              </a:rPr>
              <a:t>downconversion</a:t>
            </a:r>
            <a:r>
              <a:rPr lang="en-GB" sz="1200" b="0" i="0" u="none" strike="noStrike" kern="1200" dirty="0">
                <a:solidFill>
                  <a:schemeClr val="tx1"/>
                </a:solidFill>
                <a:effectLst/>
                <a:latin typeface="+mn-lt"/>
                <a:ea typeface="+mn-ea"/>
                <a:cs typeface="+mn-cs"/>
              </a:rPr>
              <a:t> — and crucially, it preserves the phase noise around the beat note. </a:t>
            </a:r>
          </a:p>
          <a:p>
            <a:r>
              <a:rPr lang="en-GB" sz="1200" b="0" i="0" u="none" strike="noStrike" kern="1200" dirty="0">
                <a:solidFill>
                  <a:schemeClr val="tx1"/>
                </a:solidFill>
                <a:effectLst/>
                <a:latin typeface="+mn-lt"/>
                <a:ea typeface="+mn-ea"/>
                <a:cs typeface="+mn-cs"/>
              </a:rPr>
              <a:t>Which is exactly the same thing that happens in LISA — that's why the laser phase noise appears in the phasemeter readout in the first place.</a:t>
            </a:r>
            <a:br>
              <a:rPr lang="en-GB" sz="1200" b="0" i="0" u="none" strike="noStrike" kern="1200" dirty="0">
                <a:solidFill>
                  <a:schemeClr val="tx1"/>
                </a:solidFill>
                <a:effectLst/>
                <a:latin typeface="+mn-lt"/>
                <a:ea typeface="+mn-ea"/>
                <a:cs typeface="+mn-cs"/>
              </a:rPr>
            </a:br>
            <a:br>
              <a:rPr lang="en-GB" sz="1200" b="0" i="0" u="none" strike="noStrike" kern="1200" dirty="0">
                <a:solidFill>
                  <a:schemeClr val="tx1"/>
                </a:solidFill>
                <a:effectLst/>
                <a:latin typeface="+mn-lt"/>
                <a:ea typeface="+mn-ea"/>
                <a:cs typeface="+mn-cs"/>
              </a:rPr>
            </a:br>
            <a:r>
              <a:rPr lang="en-GB" sz="1200" b="0" i="0" u="none" strike="noStrike" kern="1200" dirty="0">
                <a:solidFill>
                  <a:schemeClr val="tx1"/>
                </a:solidFill>
                <a:effectLst/>
                <a:latin typeface="+mn-lt"/>
                <a:ea typeface="+mn-ea"/>
                <a:cs typeface="+mn-cs"/>
              </a:rPr>
              <a:t>But this is not yet a LISA-like beat note, its just in intermediate frequency that can be passed </a:t>
            </a:r>
            <a:r>
              <a:rPr lang="en-GB" sz="1200" b="0" i="0" u="none" strike="noStrike" kern="1200" dirty="0" err="1">
                <a:solidFill>
                  <a:schemeClr val="tx1"/>
                </a:solidFill>
                <a:effectLst/>
                <a:latin typeface="+mn-lt"/>
                <a:ea typeface="+mn-ea"/>
                <a:cs typeface="+mn-cs"/>
              </a:rPr>
              <a:t>thouogh</a:t>
            </a:r>
            <a:r>
              <a:rPr lang="en-GB" sz="1200" b="0" i="0" u="none" strike="noStrike" kern="1200" dirty="0">
                <a:solidFill>
                  <a:schemeClr val="tx1"/>
                </a:solidFill>
                <a:effectLst/>
                <a:latin typeface="+mn-lt"/>
                <a:ea typeface="+mn-ea"/>
                <a:cs typeface="+mn-cs"/>
              </a:rPr>
              <a:t> the delay line electronics.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The LISA-like beat note is then synthesised in the electronics by a mixer. So these mixers here </a:t>
            </a:r>
            <a:r>
              <a:rPr lang="en-GB" sz="1200" b="0" i="1" u="none" strike="noStrike" kern="1200" dirty="0">
                <a:solidFill>
                  <a:schemeClr val="tx1"/>
                </a:solidFill>
                <a:effectLst/>
                <a:latin typeface="+mn-lt"/>
                <a:ea typeface="+mn-ea"/>
                <a:cs typeface="+mn-cs"/>
              </a:rPr>
              <a:t>[point]</a:t>
            </a:r>
            <a:r>
              <a:rPr lang="en-GB" sz="1200" b="0" i="0" u="none" strike="noStrike" kern="1200" dirty="0">
                <a:solidFill>
                  <a:schemeClr val="tx1"/>
                </a:solidFill>
                <a:effectLst/>
                <a:latin typeface="+mn-lt"/>
                <a:ea typeface="+mn-ea"/>
                <a:cs typeface="+mn-cs"/>
              </a:rPr>
              <a:t> are where a LISA-like photodetector reading is produced — this is the point in the signal chain that corresponds to the photodetector on the far spacecraft in LISA. This signal is then passed to the phasemeter, which behaves more or less like LISA.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So following the LISA model, this is how we write down the noise couplings in our testbed measurement. </a:t>
            </a:r>
          </a:p>
          <a:p>
            <a:r>
              <a:rPr lang="en-GB" sz="1200" b="0" i="0" u="none" strike="noStrike" kern="1200" dirty="0">
                <a:solidFill>
                  <a:schemeClr val="tx1"/>
                </a:solidFill>
                <a:effectLst/>
                <a:latin typeface="+mn-lt"/>
                <a:ea typeface="+mn-ea"/>
                <a:cs typeface="+mn-cs"/>
              </a:rPr>
              <a:t>The clock noise couples in exactly like in LISA. For the laser noise — the differential between the reference oscillator phase and the spacecraft laser phase is essentially a proxy for the spacecraft laser noise terms. </a:t>
            </a:r>
          </a:p>
          <a:p>
            <a:r>
              <a:rPr lang="en-GB" sz="1200" b="0" i="0" u="none" strike="noStrike" kern="1200" dirty="0">
                <a:solidFill>
                  <a:schemeClr val="tx1"/>
                </a:solidFill>
                <a:effectLst/>
                <a:latin typeface="+mn-lt"/>
                <a:ea typeface="+mn-ea"/>
                <a:cs typeface="+mn-cs"/>
              </a:rPr>
              <a:t>So each photodetector reading carries a LISA-like laser noise contribution from one laser. </a:t>
            </a:r>
            <a:r>
              <a:rPr lang="en-GB" sz="1200" b="0" i="1" u="none" strike="noStrike" kern="1200" dirty="0">
                <a:solidFill>
                  <a:schemeClr val="tx1"/>
                </a:solidFill>
                <a:effectLst/>
                <a:latin typeface="+mn-lt"/>
                <a:ea typeface="+mn-ea"/>
                <a:cs typeface="+mn-cs"/>
              </a:rPr>
              <a:t>[pause]</a:t>
            </a:r>
            <a:r>
              <a:rPr lang="en-GB" sz="1200" b="0" i="0" u="none" strike="noStrike" kern="1200" dirty="0">
                <a:solidFill>
                  <a:schemeClr val="tx1"/>
                </a:solidFill>
                <a:effectLst/>
                <a:latin typeface="+mn-lt"/>
                <a:ea typeface="+mn-ea"/>
                <a:cs typeface="+mn-cs"/>
              </a:rPr>
              <a:t> From the perspective of TDI, these should all cancel perfectly — just as they would in LISA.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So this is the full plan — take three such arms and build up a LISA-like constellation of three spacecraft. [pause] </a:t>
            </a:r>
          </a:p>
          <a:p>
            <a:r>
              <a:rPr lang="en-GB" sz="1200" b="0" i="0" u="none" strike="noStrike" kern="1200" dirty="0">
                <a:solidFill>
                  <a:schemeClr val="tx1"/>
                </a:solidFill>
                <a:effectLst/>
                <a:latin typeface="+mn-lt"/>
                <a:ea typeface="+mn-ea"/>
                <a:cs typeface="+mn-cs"/>
              </a:rPr>
              <a:t>Each spacecraft is represented by one laser, and the primary laser on Spacecraft 1 is locked to an optical cavity, which gives us realistic LISA-like laser frequency noise. The other two spacecraft have their lasers phase-locked to the incoming beam, just as in LISA. </a:t>
            </a:r>
          </a:p>
          <a:p>
            <a:r>
              <a:rPr lang="en-GB" sz="1200" b="0" i="0" u="none" strike="noStrike" kern="1200" dirty="0">
                <a:solidFill>
                  <a:schemeClr val="tx1"/>
                </a:solidFill>
                <a:effectLst/>
                <a:latin typeface="+mn-lt"/>
                <a:ea typeface="+mn-ea"/>
                <a:cs typeface="+mn-cs"/>
              </a:rPr>
              <a:t>We also have the fourth laser as the reference we use to heterodyne the other laser fields with. This laser will also be cavity locked. </a:t>
            </a:r>
          </a:p>
          <a:p>
            <a:r>
              <a:rPr lang="en-GB" sz="1200" b="0" i="0" u="none" strike="noStrike" kern="1200" dirty="0">
                <a:solidFill>
                  <a:schemeClr val="tx1"/>
                </a:solidFill>
                <a:effectLst/>
                <a:latin typeface="+mn-lt"/>
                <a:ea typeface="+mn-ea"/>
                <a:cs typeface="+mn-cs"/>
              </a:rPr>
              <a:t>Each spacecraft also has its own independent clock — this is what allows us to actually demonstrate clock noise removal, because the clocks are genuinely not synchronised. </a:t>
            </a:r>
          </a:p>
          <a:p>
            <a:r>
              <a:rPr lang="en-GB" sz="1200" b="0" i="0" u="none" strike="noStrike" kern="1200" dirty="0">
                <a:solidFill>
                  <a:schemeClr val="tx1"/>
                </a:solidFill>
                <a:effectLst/>
                <a:latin typeface="+mn-lt"/>
                <a:ea typeface="+mn-ea"/>
                <a:cs typeface="+mn-cs"/>
              </a:rPr>
              <a:t>And then connecting everything together we have six separate delay lines — two per inter-spacecraft link, one for each direction.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I want to talk a bit about the cavity locking. We will have two lasers locked to separate cavities, and the interesting thing is that they need to produce a beat note below 60 MHz — that's the limit of our electronics. </a:t>
            </a:r>
            <a:r>
              <a:rPr lang="en-GB" sz="1200" b="0" i="1" u="none" strike="noStrike" kern="1200" dirty="0">
                <a:solidFill>
                  <a:schemeClr val="tx1"/>
                </a:solidFill>
                <a:effectLst/>
                <a:latin typeface="+mn-lt"/>
                <a:ea typeface="+mn-ea"/>
                <a:cs typeface="+mn-cs"/>
              </a:rPr>
              <a:t>[pause]</a:t>
            </a:r>
            <a:endParaRPr lang="en-GB" sz="1200" b="0" i="0" u="none" strike="noStrike" kern="1200" dirty="0">
              <a:solidFill>
                <a:schemeClr val="tx1"/>
              </a:solidFill>
              <a:effectLst/>
              <a:latin typeface="+mn-lt"/>
              <a:ea typeface="+mn-ea"/>
              <a:cs typeface="+mn-cs"/>
            </a:endParaRPr>
          </a:p>
          <a:p>
            <a:r>
              <a:rPr lang="en-GB" sz="1200" b="0" i="0" u="none" strike="noStrike" kern="1200" dirty="0">
                <a:solidFill>
                  <a:schemeClr val="tx1"/>
                </a:solidFill>
                <a:effectLst/>
                <a:latin typeface="+mn-lt"/>
                <a:ea typeface="+mn-ea"/>
                <a:cs typeface="+mn-cs"/>
              </a:rPr>
              <a:t>The question is: can we always find a pair of resonances, one from each cavity, that happen to fall within 60 MHz of each other?</a:t>
            </a:r>
          </a:p>
          <a:p>
            <a:r>
              <a:rPr lang="en-GB" sz="1200" b="0" i="0" u="none" strike="noStrike" kern="1200" dirty="0">
                <a:solidFill>
                  <a:schemeClr val="tx1"/>
                </a:solidFill>
                <a:effectLst/>
                <a:latin typeface="+mn-lt"/>
                <a:ea typeface="+mn-ea"/>
                <a:cs typeface="+mn-cs"/>
              </a:rPr>
              <a:t>To do this, we use two custom ULE cavities with slightly different lengths of 25 and 30 centimetres, giving free spectral ranges of around 500 and 600 </a:t>
            </a:r>
            <a:r>
              <a:rPr lang="en-GB" sz="1200" b="0" i="0" u="none" strike="noStrike" kern="1200" dirty="0" err="1">
                <a:solidFill>
                  <a:schemeClr val="tx1"/>
                </a:solidFill>
                <a:effectLst/>
                <a:latin typeface="+mn-lt"/>
                <a:ea typeface="+mn-ea"/>
                <a:cs typeface="+mn-cs"/>
              </a:rPr>
              <a:t>MHz.</a:t>
            </a:r>
            <a:r>
              <a:rPr lang="en-GB" sz="1200" b="0" i="0" u="none" strike="noStrike" kern="1200" dirty="0">
                <a:solidFill>
                  <a:schemeClr val="tx1"/>
                </a:solidFill>
                <a:effectLst/>
                <a:latin typeface="+mn-lt"/>
                <a:ea typeface="+mn-ea"/>
                <a:cs typeface="+mn-cs"/>
              </a:rPr>
              <a:t> </a:t>
            </a:r>
          </a:p>
          <a:p>
            <a:r>
              <a:rPr lang="en-GB" sz="1200" b="0" i="1" u="none" strike="noStrike" kern="1200" dirty="0">
                <a:solidFill>
                  <a:schemeClr val="tx1"/>
                </a:solidFill>
                <a:effectLst/>
                <a:latin typeface="+mn-lt"/>
                <a:ea typeface="+mn-ea"/>
                <a:cs typeface="+mn-cs"/>
              </a:rPr>
              <a:t>[point at plot]</a:t>
            </a:r>
            <a:r>
              <a:rPr lang="en-GB" sz="1200" b="0" i="0" u="none" strike="noStrike" kern="1200" dirty="0">
                <a:solidFill>
                  <a:schemeClr val="tx1"/>
                </a:solidFill>
                <a:effectLst/>
                <a:latin typeface="+mn-lt"/>
                <a:ea typeface="+mn-ea"/>
                <a:cs typeface="+mn-cs"/>
              </a:rPr>
              <a:t> Here I've plotted an illustrative example of the resonances of both cavities across a section of the laser tuning range. Now, if the ratio of the cavity lengths were exactly a rational number, the resonance pairs would always land at the same fixed set of beat note values. But in practice, small manufacturing imperfections mean the ratio is never exactly rational, and this causes the resonance pairs to slowly shift relative to each other as you scan across frequency. </a:t>
            </a:r>
            <a:r>
              <a:rPr lang="en-GB" sz="1200" b="0" i="1" u="none" strike="noStrike" kern="1200" dirty="0">
                <a:solidFill>
                  <a:schemeClr val="tx1"/>
                </a:solidFill>
                <a:effectLst/>
                <a:latin typeface="+mn-lt"/>
                <a:ea typeface="+mn-ea"/>
                <a:cs typeface="+mn-cs"/>
              </a:rPr>
              <a:t>[pause]</a:t>
            </a:r>
            <a:r>
              <a:rPr lang="en-GB" sz="1200" b="0" i="0" u="none" strike="noStrike" kern="1200" dirty="0">
                <a:solidFill>
                  <a:schemeClr val="tx1"/>
                </a:solidFill>
                <a:effectLst/>
                <a:latin typeface="+mn-lt"/>
                <a:ea typeface="+mn-ea"/>
                <a:cs typeface="+mn-cs"/>
              </a:rPr>
              <a:t> So you end up cycling through a wide range of beat note values, and we expect to always be able to find a pair within 60 MHz somewhere in the tuning range.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So for the delay lines, we use these FPGA evaluation boards. Each board includes the FPGA chip itself, the ADCs and DACs, and also a regular processing unit — essentially a tiny computer. One of these boards can handle two delay lines. Before running a measurement, the processing unit calculates the time-varying delays and Doppler shifts based on real LISA orbits, and also the gravitational wave strain signals to be injected— which is a feature I haven't mentioned so far. Then during a measurement, the FPGA handles the signal processing — controlling the delay, injecting the GW signal, and the mixing. </a:t>
            </a:r>
            <a:r>
              <a:rPr lang="en-GB" sz="1200" b="0" i="1" u="none" strike="noStrike" kern="1200" dirty="0">
                <a:solidFill>
                  <a:schemeClr val="tx1"/>
                </a:solidFill>
                <a:effectLst/>
                <a:latin typeface="+mn-lt"/>
                <a:ea typeface="+mn-ea"/>
                <a:cs typeface="+mn-cs"/>
              </a:rPr>
              <a:t>[pause]</a:t>
            </a:r>
            <a:endParaRPr lang="en-GB" sz="1200" b="0" i="0" u="none" strike="noStrike" kern="1200" dirty="0">
              <a:solidFill>
                <a:schemeClr val="tx1"/>
              </a:solidFill>
              <a:effectLst/>
              <a:latin typeface="+mn-lt"/>
              <a:ea typeface="+mn-ea"/>
              <a:cs typeface="+mn-cs"/>
            </a:endParaRPr>
          </a:p>
          <a:p>
            <a:r>
              <a:rPr lang="en-GB" sz="1200" b="0" i="0" u="none" strike="noStrike" kern="1200" dirty="0">
                <a:solidFill>
                  <a:schemeClr val="tx1"/>
                </a:solidFill>
                <a:effectLst/>
                <a:latin typeface="+mn-lt"/>
                <a:ea typeface="+mn-ea"/>
                <a:cs typeface="+mn-cs"/>
              </a:rPr>
              <a:t>On the right we have a measurement of the intrinsic noise floor of one delay line. To measure this, we delayed a signal in hardware, bypassing the mixing step, and then applied the same delay in post-processing to the original signal. The difference between the two gives us the hardware noise. We also dis  a pilot tone correction step here — so in a perfect case this purple line would be zero — and it sits nicely below the one-way link noise requirement across the band. So the delay line technically allows for LISA-like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We have started integrating the optics with the delay line. One demonstration we did is locking a laser to an incoming laser field as received through the delay line — which is exactly what LISA does via the phase-locked loop on the far spacecraft.</a:t>
            </a:r>
          </a:p>
          <a:p>
            <a:r>
              <a:rPr lang="en-GB" sz="1200" b="0" i="0" u="none" strike="noStrike" kern="1200" dirty="0">
                <a:solidFill>
                  <a:schemeClr val="tx1"/>
                </a:solidFill>
                <a:effectLst/>
                <a:latin typeface="+mn-lt"/>
                <a:ea typeface="+mn-ea"/>
                <a:cs typeface="+mn-cs"/>
              </a:rPr>
              <a:t>The red and green lines are the raw photodetector readings from the two spacecraft — so essentially the laser phase noise. The grey line is their calculated difference, and you can see the characteristic dips at frequencies corresponding to the inverse of the delay.</a:t>
            </a:r>
          </a:p>
          <a:p>
            <a:r>
              <a:rPr lang="en-GB" sz="1200" b="0" i="0" u="none" strike="noStrike" kern="1200" dirty="0">
                <a:solidFill>
                  <a:schemeClr val="tx1"/>
                </a:solidFill>
                <a:effectLst/>
                <a:latin typeface="+mn-lt"/>
                <a:ea typeface="+mn-ea"/>
                <a:cs typeface="+mn-cs"/>
              </a:rPr>
              <a:t>The purple line is the mixed signal. And you see that this drops by many orders of magnitude. This tells us that the PLL is working, the laser is successfully following the delay line signal, and the signal chain from the optics through the delay line and back out is functioning as intended.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This is another way to illustrate the same result — we can recover the modelled one-way laser noise transfer function directly from our measurements. We plot the ratio derived from our photodetector data against the analytical model, and the agreement is excellent. At higher frequencies we see some excess noise, which seems to originate from the mixing on the delay line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So this is where we currently stand with TDI — my colleague has demonstrated static two-arm perfect transponder Michelson X TDI using the purely electronic testbed, so no optics were used for this measurement. But effectively the MHz inputs can now be switched out for ones generated by the lasers. A gravitational wave signal was injected and successfully recovered, and the residual noise floor is shown by the light blue and purple lines. </a:t>
            </a:r>
            <a:r>
              <a:rPr lang="en-GB" sz="1200" b="0" i="1" u="none" strike="noStrike" kern="1200" dirty="0">
                <a:solidFill>
                  <a:schemeClr val="tx1"/>
                </a:solidFill>
                <a:effectLst/>
                <a:latin typeface="+mn-lt"/>
                <a:ea typeface="+mn-ea"/>
                <a:cs typeface="+mn-cs"/>
              </a:rPr>
              <a:t>[pause]</a:t>
            </a:r>
            <a:endParaRPr lang="en-GB" sz="1200" b="0" i="0" u="none" strike="noStrike"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u="none" strike="noStrike" kern="1200" dirty="0">
                <a:solidFill>
                  <a:schemeClr val="tx1"/>
                </a:solidFill>
                <a:effectLst/>
                <a:latin typeface="+mn-lt"/>
                <a:ea typeface="+mn-ea"/>
                <a:cs typeface="+mn-cs"/>
              </a:rPr>
              <a:t>Laser noise suppression with TDI is working. The next step is to add the independent clocks and demonstrate clock noise removal on top of that</a:t>
            </a:r>
            <a:br>
              <a:rPr lang="en-GB" sz="1200" b="0" i="0" u="none" strike="noStrike" kern="1200" dirty="0">
                <a:solidFill>
                  <a:schemeClr val="tx1"/>
                </a:solidFill>
                <a:effectLst/>
                <a:latin typeface="+mn-lt"/>
                <a:ea typeface="+mn-ea"/>
                <a:cs typeface="+mn-cs"/>
              </a:rPr>
            </a:br>
            <a:endParaRPr lang="en-GB" sz="1200" b="0" i="0" u="none" strike="noStrike" kern="1200" dirty="0">
              <a:solidFill>
                <a:schemeClr val="tx1"/>
              </a:solidFill>
              <a:effectLst/>
              <a:latin typeface="+mn-lt"/>
              <a:ea typeface="+mn-ea"/>
              <a:cs typeface="+mn-cs"/>
            </a:endParaRPr>
          </a:p>
          <a:p>
            <a:endParaRPr lang="en-GB" sz="1200" b="0" i="0" u="none" strike="noStrike"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Now I'll get into our plans for the clock noise correction. The way LISA removes clock noise is by modulating each spacecrafts timing jitters onto the laser as a sideband, transmitting it to the far spacecraft, and measuring the differential there. </a:t>
            </a:r>
            <a:r>
              <a:rPr lang="en-GB" sz="1200" b="0" i="1" u="none" strike="noStrike" kern="1200" dirty="0">
                <a:solidFill>
                  <a:schemeClr val="tx1"/>
                </a:solidFill>
                <a:effectLst/>
                <a:latin typeface="+mn-lt"/>
                <a:ea typeface="+mn-ea"/>
                <a:cs typeface="+mn-cs"/>
              </a:rPr>
              <a:t>[pause]</a:t>
            </a:r>
            <a:endParaRPr lang="en-GB" sz="1200" b="0" i="0" u="none" strike="noStrike" kern="1200" dirty="0">
              <a:solidFill>
                <a:schemeClr val="tx1"/>
              </a:solidFill>
              <a:effectLst/>
              <a:latin typeface="+mn-lt"/>
              <a:ea typeface="+mn-ea"/>
              <a:cs typeface="+mn-cs"/>
            </a:endParaRPr>
          </a:p>
          <a:p>
            <a:r>
              <a:rPr lang="en-GB" sz="1200" b="0" i="0" u="none" strike="noStrike" kern="1200" dirty="0">
                <a:solidFill>
                  <a:schemeClr val="tx1"/>
                </a:solidFill>
                <a:effectLst/>
                <a:latin typeface="+mn-lt"/>
                <a:ea typeface="+mn-ea"/>
                <a:cs typeface="+mn-cs"/>
              </a:rPr>
              <a:t>If you look at the sideband phase readout here — in addition to the usual laser noise and clock noise terms, which is in common mode with the carrier, there is now an extra term where the differential clock noise between the two spacecraft is amplified by the modulating frequency. </a:t>
            </a:r>
          </a:p>
          <a:p>
            <a:r>
              <a:rPr lang="en-GB" sz="1200" b="0" i="0" u="none" strike="noStrike" kern="1200" dirty="0">
                <a:solidFill>
                  <a:schemeClr val="tx1"/>
                </a:solidFill>
                <a:effectLst/>
                <a:latin typeface="+mn-lt"/>
                <a:ea typeface="+mn-ea"/>
                <a:cs typeface="+mn-cs"/>
              </a:rPr>
              <a:t>As a first approach, we can simply add modulators to the testbed laser fields and get the same coupling in the readout. In principle this already lets us play with clock noise removal. The catch is that, in such a configuration, we are limited to MHz modulation — if we tried to use a GHz sideband here, it would fall outside the ADC measurement range. </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So here is the problem with MHz modulation. The LISA sideband phase noise requirement is set assuming a GHz modulating tone. If we scale that requirement down to match our MHz modulation frequency — which in our case means tightening it by a factor of about 200 — we get the solid black line shown here. And our measured modulator phase noise, the red line, sits well above it. </a:t>
            </a:r>
            <a:r>
              <a:rPr lang="en-GB" sz="1200" b="0" i="1" u="none" strike="noStrike" kern="1200" dirty="0">
                <a:solidFill>
                  <a:schemeClr val="tx1"/>
                </a:solidFill>
                <a:effectLst/>
                <a:latin typeface="+mn-lt"/>
                <a:ea typeface="+mn-ea"/>
                <a:cs typeface="+mn-cs"/>
              </a:rPr>
              <a:t>[pause]</a:t>
            </a:r>
            <a:endParaRPr lang="en-GB" sz="1200" b="0" i="0" u="none" strike="noStrike" kern="1200" dirty="0">
              <a:solidFill>
                <a:schemeClr val="tx1"/>
              </a:solidFill>
              <a:effectLst/>
              <a:latin typeface="+mn-lt"/>
              <a:ea typeface="+mn-ea"/>
              <a:cs typeface="+mn-cs"/>
            </a:endParaRPr>
          </a:p>
          <a:p>
            <a:r>
              <a:rPr lang="en-GB" sz="1200" b="0" i="0" u="none" strike="noStrike" kern="1200" dirty="0">
                <a:solidFill>
                  <a:schemeClr val="tx1"/>
                </a:solidFill>
                <a:effectLst/>
                <a:latin typeface="+mn-lt"/>
                <a:ea typeface="+mn-ea"/>
                <a:cs typeface="+mn-cs"/>
              </a:rPr>
              <a:t>So while the MHz approach gets the right terms in the readout, it doesn't get us to LISA-like performance. The modulator itself is simply too noisy at this scaled requirement as well. This means we most likely need to move to a GHz modulation scheme as well.</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So we have a list of ideas that we need to properly investigate. The first two on the list assume modulating the reference laser at GHz frequencies giving a MHz sideband-sideband </a:t>
            </a:r>
            <a:r>
              <a:rPr lang="en-GB" sz="1200" b="0" i="0" u="none" strike="noStrike" kern="1200" dirty="0" err="1">
                <a:solidFill>
                  <a:schemeClr val="tx1"/>
                </a:solidFill>
                <a:effectLst/>
                <a:latin typeface="+mn-lt"/>
                <a:ea typeface="+mn-ea"/>
                <a:cs typeface="+mn-cs"/>
              </a:rPr>
              <a:t>beatnote</a:t>
            </a:r>
            <a:r>
              <a:rPr lang="en-GB" sz="1200" b="0" i="0" u="none" strike="noStrike" kern="1200" dirty="0">
                <a:solidFill>
                  <a:schemeClr val="tx1"/>
                </a:solidFill>
                <a:effectLst/>
                <a:latin typeface="+mn-lt"/>
                <a:ea typeface="+mn-ea"/>
                <a:cs typeface="+mn-cs"/>
              </a:rPr>
              <a:t> on the photodetector. But the thing is — since the driving signal will also carry timing jitter, that jitter gets amplified by the high modulation frequency just like the clock noise does. So you need a way to compare it against the spacecraft USOs to remove it in post-processing. </a:t>
            </a:r>
            <a:br>
              <a:rPr lang="en-GB" sz="1200" b="0" i="0" u="none" strike="noStrike" kern="1200" dirty="0">
                <a:solidFill>
                  <a:schemeClr val="tx1"/>
                </a:solidFill>
                <a:effectLst/>
                <a:latin typeface="+mn-lt"/>
                <a:ea typeface="+mn-ea"/>
                <a:cs typeface="+mn-cs"/>
              </a:rPr>
            </a:br>
            <a:r>
              <a:rPr lang="en-GB" sz="1200" b="0" i="0" u="none" strike="noStrike" kern="1200" dirty="0">
                <a:solidFill>
                  <a:schemeClr val="tx1"/>
                </a:solidFill>
                <a:effectLst/>
                <a:latin typeface="+mn-lt"/>
                <a:ea typeface="+mn-ea"/>
                <a:cs typeface="+mn-cs"/>
              </a:rPr>
              <a:t>One option is to simply measure it with a dedicated reference channel. Or — and this is an interesting idea — you use that same signal to drive the phasemeters directly, so it becomes part of the measurement rather than a noise source you need to subtract. </a:t>
            </a:r>
            <a:r>
              <a:rPr lang="en-GB" sz="1200" b="0" i="1" u="none" strike="noStrike" kern="1200" dirty="0">
                <a:solidFill>
                  <a:schemeClr val="tx1"/>
                </a:solidFill>
                <a:effectLst/>
                <a:latin typeface="+mn-lt"/>
                <a:ea typeface="+mn-ea"/>
                <a:cs typeface="+mn-cs"/>
              </a:rPr>
              <a:t>[pause]</a:t>
            </a:r>
            <a:endParaRPr lang="en-GB" sz="1200" b="0" i="0" u="none" strike="noStrike" kern="1200" dirty="0">
              <a:solidFill>
                <a:schemeClr val="tx1"/>
              </a:solidFill>
              <a:effectLst/>
              <a:latin typeface="+mn-lt"/>
              <a:ea typeface="+mn-ea"/>
              <a:cs typeface="+mn-cs"/>
            </a:endParaRPr>
          </a:p>
          <a:p>
            <a:r>
              <a:rPr lang="en-GB" sz="1200" b="0" i="0" u="none" strike="noStrike" kern="1200" dirty="0">
                <a:solidFill>
                  <a:schemeClr val="tx1"/>
                </a:solidFill>
                <a:effectLst/>
                <a:latin typeface="+mn-lt"/>
                <a:ea typeface="+mn-ea"/>
                <a:cs typeface="+mn-cs"/>
              </a:rPr>
              <a:t>We are also looking at extending the ADC range itself through firmware changes, which would allow us to measure higher frequency sidebands. However this would still require mixing to </a:t>
            </a:r>
            <a:r>
              <a:rPr lang="en-GB" sz="1200" b="0" i="0" u="none" strike="noStrike" kern="1200" dirty="0" err="1">
                <a:solidFill>
                  <a:schemeClr val="tx1"/>
                </a:solidFill>
                <a:effectLst/>
                <a:latin typeface="+mn-lt"/>
                <a:ea typeface="+mn-ea"/>
                <a:cs typeface="+mn-cs"/>
              </a:rPr>
              <a:t>downconvert</a:t>
            </a:r>
            <a:r>
              <a:rPr lang="en-GB" sz="1200" b="0" i="0" u="none" strike="noStrike" kern="1200" dirty="0">
                <a:solidFill>
                  <a:schemeClr val="tx1"/>
                </a:solidFill>
                <a:effectLst/>
                <a:latin typeface="+mn-lt"/>
                <a:ea typeface="+mn-ea"/>
                <a:cs typeface="+mn-cs"/>
              </a:rPr>
              <a:t> the signal, so we face a similar noise problem as before.</a:t>
            </a:r>
          </a:p>
          <a:p>
            <a:r>
              <a:rPr lang="en-GB" sz="1200" b="0" i="0" u="none" strike="noStrike" kern="1200" dirty="0">
                <a:solidFill>
                  <a:schemeClr val="tx1"/>
                </a:solidFill>
                <a:effectLst/>
                <a:latin typeface="+mn-lt"/>
                <a:ea typeface="+mn-ea"/>
                <a:cs typeface="+mn-cs"/>
              </a:rPr>
              <a:t>And finally, we are looking at the possibility of using aliased sideband measurements as a way to access higher modulation frequencies within the existing ADC range.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So to summarise. We have a working delay line that sits below the LISA requirement, we have demonstrated PLL lock with the optics integrated, and we have demonstrated gravitational wave recovery using TDI </a:t>
            </a:r>
            <a:r>
              <a:rPr lang="en-GB" sz="1200" b="0" i="1" u="none" strike="noStrike" kern="1200" dirty="0">
                <a:solidFill>
                  <a:schemeClr val="tx1"/>
                </a:solidFill>
                <a:effectLst/>
                <a:latin typeface="+mn-lt"/>
                <a:ea typeface="+mn-ea"/>
                <a:cs typeface="+mn-cs"/>
              </a:rPr>
              <a:t>[pause]</a:t>
            </a:r>
            <a:endParaRPr lang="en-GB" sz="1200" b="0" i="0" u="none" strike="noStrike" kern="1200" dirty="0">
              <a:solidFill>
                <a:schemeClr val="tx1"/>
              </a:solidFill>
              <a:effectLst/>
              <a:latin typeface="+mn-lt"/>
              <a:ea typeface="+mn-ea"/>
              <a:cs typeface="+mn-cs"/>
            </a:endParaRPr>
          </a:p>
          <a:p>
            <a:r>
              <a:rPr lang="en-GB" sz="1200" b="0" i="0" u="none" strike="noStrike" kern="1200" dirty="0">
                <a:solidFill>
                  <a:schemeClr val="tx1"/>
                </a:solidFill>
                <a:effectLst/>
                <a:latin typeface="+mn-lt"/>
                <a:ea typeface="+mn-ea"/>
                <a:cs typeface="+mn-cs"/>
              </a:rPr>
              <a:t>Looking ahead, we are currently assembling the full optical layout with the cavity locked lasers. On the clock noise side, we have some performance limitations to work out. Once that is resolved, the path forward is clock noise removal on the delay boards, and ultimately a full end-to-end demonstration of second-generation TDI and clock noise correction in hardware. </a:t>
            </a:r>
            <a:r>
              <a:rPr lang="en-GB" sz="1200" b="0" i="1" u="none" strike="noStrike" kern="1200" dirty="0">
                <a:solidFill>
                  <a:schemeClr val="tx1"/>
                </a:solidFill>
                <a:effectLst/>
                <a:latin typeface="+mn-lt"/>
                <a:ea typeface="+mn-ea"/>
                <a:cs typeface="+mn-cs"/>
              </a:rPr>
              <a:t>[pause]</a:t>
            </a:r>
            <a:endParaRPr lang="en-GB" sz="1200" b="0" i="0" u="none" strike="noStrike" kern="1200" dirty="0">
              <a:solidFill>
                <a:schemeClr val="tx1"/>
              </a:solidFill>
              <a:effectLst/>
              <a:latin typeface="+mn-lt"/>
              <a:ea typeface="+mn-ea"/>
              <a:cs typeface="+mn-cs"/>
            </a:endParaRPr>
          </a:p>
          <a:p>
            <a:r>
              <a:rPr lang="en-GB" sz="1200" b="0" i="0" u="none" strike="noStrike" kern="1200" dirty="0">
                <a:solidFill>
                  <a:schemeClr val="tx1"/>
                </a:solidFill>
                <a:effectLst/>
                <a:latin typeface="+mn-lt"/>
                <a:ea typeface="+mn-ea"/>
                <a:cs typeface="+mn-cs"/>
              </a:rPr>
              <a:t>Thank you for listening</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5.sv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3.png"/><Relationship Id="rId7"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9.svg"/><Relationship Id="rId5" Type="http://schemas.openxmlformats.org/officeDocument/2006/relationships/image" Target="../media/image18.png"/><Relationship Id="rId10" Type="http://schemas.openxmlformats.org/officeDocument/2006/relationships/image" Target="../media/image23.svg"/><Relationship Id="rId4" Type="http://schemas.openxmlformats.org/officeDocument/2006/relationships/image" Target="../media/image17.jpg"/><Relationship Id="rId9" Type="http://schemas.openxmlformats.org/officeDocument/2006/relationships/image" Target="../media/image22.png"/></Relationships>
</file>

<file path=ppt/slides/_rels/slide11.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9.svg"/><Relationship Id="rId5" Type="http://schemas.openxmlformats.org/officeDocument/2006/relationships/image" Target="../media/image18.png"/><Relationship Id="rId10" Type="http://schemas.openxmlformats.org/officeDocument/2006/relationships/image" Target="../media/image26.svg"/><Relationship Id="rId4" Type="http://schemas.openxmlformats.org/officeDocument/2006/relationships/image" Target="../media/image24.png"/><Relationship Id="rId9" Type="http://schemas.openxmlformats.org/officeDocument/2006/relationships/image" Target="../media/image25.png"/></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29.svg"/><Relationship Id="rId4" Type="http://schemas.openxmlformats.org/officeDocument/2006/relationships/image" Target="../media/image28.png"/></Relationships>
</file>

<file path=ppt/slides/_rels/slide13.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image" Target="../media/image3.png"/><Relationship Id="rId7" Type="http://schemas.openxmlformats.org/officeDocument/2006/relationships/image" Target="../media/image32.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31.svg"/><Relationship Id="rId5" Type="http://schemas.openxmlformats.org/officeDocument/2006/relationships/image" Target="../media/image30.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066800" y="914400"/>
            <a:ext cx="17769840" cy="238125"/>
          </a:xfrm>
          <a:prstGeom prst="rect">
            <a:avLst/>
          </a:prstGeom>
          <a:noFill/>
          <a:ln/>
        </p:spPr>
        <p:txBody>
          <a:bodyPr wrap="square" lIns="25400" tIns="25400" rIns="25400" bIns="25400" rtlCol="0" anchor="t">
            <a:normAutofit lnSpcReduction="10000"/>
          </a:bodyPr>
          <a:lstStyle/>
          <a:p>
            <a:pPr marL="0" indent="0" algn="l">
              <a:buNone/>
            </a:pPr>
            <a:r>
              <a:rPr lang="en-US" sz="1275" b="1" kern="0" spc="281" dirty="0">
                <a:solidFill>
                  <a:srgbClr val="9A9A9A"/>
                </a:solidFill>
                <a:latin typeface="Helvetica Neue" pitchFamily="34" charset="0"/>
                <a:ea typeface="Helvetica Neue" pitchFamily="34" charset="-122"/>
                <a:cs typeface="Helvetica Neue" pitchFamily="34" charset="-120"/>
              </a:rPr>
              <a:t>THESIS ADVISORY COMMITTEE MEETING· 27 AUGUST 2026</a:t>
            </a:r>
            <a:endParaRPr lang="en-US" sz="1275" dirty="0"/>
          </a:p>
        </p:txBody>
      </p:sp>
      <p:sp>
        <p:nvSpPr>
          <p:cNvPr id="3" name="Text 1"/>
          <p:cNvSpPr/>
          <p:nvPr/>
        </p:nvSpPr>
        <p:spPr>
          <a:xfrm>
            <a:off x="1066800" y="3805237"/>
            <a:ext cx="14519910" cy="1276350"/>
          </a:xfrm>
          <a:prstGeom prst="rect">
            <a:avLst/>
          </a:prstGeom>
          <a:noFill/>
          <a:ln/>
        </p:spPr>
        <p:txBody>
          <a:bodyPr wrap="square" lIns="25400" tIns="25400" rIns="25400" bIns="25400" rtlCol="0" anchor="t">
            <a:noAutofit/>
          </a:bodyPr>
          <a:lstStyle/>
          <a:p>
            <a:pPr marL="0" indent="0" algn="l">
              <a:lnSpc>
                <a:spcPct val="106000"/>
              </a:lnSpc>
              <a:buNone/>
            </a:pPr>
            <a:r>
              <a:rPr lang="en-US" sz="4800" b="1" kern="0" spc="-93" dirty="0">
                <a:solidFill>
                  <a:srgbClr val="141414"/>
                </a:solidFill>
                <a:latin typeface="Helvetica Neue" pitchFamily="34" charset="0"/>
                <a:ea typeface="Helvetica Neue" pitchFamily="34" charset="-122"/>
                <a:cs typeface="Helvetica Neue" pitchFamily="34" charset="-120"/>
              </a:rPr>
              <a:t>Testbed for Validating Second-Generation TDI and Clock-Noise Correction for LISA</a:t>
            </a:r>
            <a:endParaRPr lang="en-US" sz="4800" dirty="0"/>
          </a:p>
        </p:txBody>
      </p:sp>
      <p:sp>
        <p:nvSpPr>
          <p:cNvPr id="4" name="Text 2"/>
          <p:cNvSpPr/>
          <p:nvPr/>
        </p:nvSpPr>
        <p:spPr>
          <a:xfrm>
            <a:off x="1066800" y="5367338"/>
            <a:ext cx="15506700" cy="409575"/>
          </a:xfrm>
          <a:prstGeom prst="rect">
            <a:avLst/>
          </a:prstGeom>
          <a:noFill/>
          <a:ln/>
        </p:spPr>
        <p:txBody>
          <a:bodyPr wrap="square" lIns="25400" tIns="25400" rIns="25400" bIns="25400" rtlCol="0" anchor="t">
            <a:noAutofit/>
          </a:bodyPr>
          <a:lstStyle/>
          <a:p>
            <a:pPr marL="0" indent="0" algn="l">
              <a:lnSpc>
                <a:spcPct val="150000"/>
              </a:lnSpc>
              <a:buNone/>
            </a:pPr>
            <a:r>
              <a:rPr lang="en-US" sz="2400" b="1" dirty="0">
                <a:solidFill>
                  <a:srgbClr val="141414"/>
                </a:solidFill>
                <a:latin typeface="Helvetica Neue" pitchFamily="34" charset="0"/>
                <a:ea typeface="Helvetica Neue" pitchFamily="34" charset="-122"/>
                <a:cs typeface="Helvetica Neue" pitchFamily="34" charset="-120"/>
              </a:rPr>
              <a:t>Karin </a:t>
            </a:r>
            <a:r>
              <a:rPr lang="en-US" sz="2400" b="1" dirty="0" err="1">
                <a:solidFill>
                  <a:srgbClr val="141414"/>
                </a:solidFill>
                <a:latin typeface="Helvetica Neue" pitchFamily="34" charset="0"/>
                <a:ea typeface="Helvetica Neue" pitchFamily="34" charset="-122"/>
                <a:cs typeface="Helvetica Neue" pitchFamily="34" charset="-120"/>
              </a:rPr>
              <a:t>Kruuse</a:t>
            </a:r>
            <a:endParaRPr lang="en-US" sz="2400" dirty="0"/>
          </a:p>
        </p:txBody>
      </p:sp>
      <p:sp>
        <p:nvSpPr>
          <p:cNvPr id="5" name="Text 3"/>
          <p:cNvSpPr/>
          <p:nvPr/>
        </p:nvSpPr>
        <p:spPr>
          <a:xfrm>
            <a:off x="1066800" y="5964913"/>
            <a:ext cx="15506700" cy="266700"/>
          </a:xfrm>
          <a:prstGeom prst="rect">
            <a:avLst/>
          </a:prstGeom>
          <a:noFill/>
          <a:ln/>
        </p:spPr>
        <p:txBody>
          <a:bodyPr wrap="square" lIns="25400" tIns="25400" rIns="25400" bIns="25400" rtlCol="0" anchor="t">
            <a:normAutofit lnSpcReduction="10000"/>
          </a:bodyPr>
          <a:lstStyle/>
          <a:p>
            <a:pPr marL="0" indent="0" algn="l">
              <a:buNone/>
            </a:pPr>
            <a:r>
              <a:rPr lang="en-US" sz="1500" dirty="0">
                <a:solidFill>
                  <a:srgbClr val="8A8A8A"/>
                </a:solidFill>
                <a:latin typeface="Helvetica Neue" pitchFamily="34" charset="0"/>
                <a:ea typeface="Helvetica Neue" pitchFamily="34" charset="-122"/>
                <a:cs typeface="Helvetica Neue" pitchFamily="34" charset="-120"/>
              </a:rPr>
              <a:t>Max Planck Institute for Gravitational Physics (AEI) · Leibniz Universität Hannover</a:t>
            </a:r>
            <a:endParaRPr lang="en-US" sz="1500" dirty="0"/>
          </a:p>
        </p:txBody>
      </p:sp>
      <p:sp>
        <p:nvSpPr>
          <p:cNvPr id="6" name="Shape 4"/>
          <p:cNvSpPr/>
          <p:nvPr/>
        </p:nvSpPr>
        <p:spPr>
          <a:xfrm>
            <a:off x="1066800" y="8734425"/>
            <a:ext cx="16154400" cy="9525"/>
          </a:xfrm>
          <a:prstGeom prst="rect">
            <a:avLst/>
          </a:prstGeom>
          <a:solidFill>
            <a:srgbClr val="ECECEC"/>
          </a:solidFill>
          <a:ln/>
        </p:spPr>
      </p:sp>
      <p:pic>
        <p:nvPicPr>
          <p:cNvPr id="7" name="Image 0" descr="preencoded.png"/>
          <p:cNvPicPr>
            <a:picLocks noChangeAspect="1"/>
          </p:cNvPicPr>
          <p:nvPr/>
        </p:nvPicPr>
        <p:blipFill>
          <a:blip r:embed="rId3"/>
          <a:srcRect t="-3" b="-3"/>
          <a:stretch/>
        </p:blipFill>
        <p:spPr>
          <a:xfrm>
            <a:off x="1066800" y="9048750"/>
            <a:ext cx="2370534" cy="533400"/>
          </a:xfrm>
          <a:prstGeom prst="rect">
            <a:avLst/>
          </a:prstGeom>
        </p:spPr>
      </p:pic>
      <p:pic>
        <p:nvPicPr>
          <p:cNvPr id="8" name="Image 1" descr="preencoded.png"/>
          <p:cNvPicPr>
            <a:picLocks noChangeAspect="1"/>
          </p:cNvPicPr>
          <p:nvPr/>
        </p:nvPicPr>
        <p:blipFill>
          <a:blip r:embed="rId4"/>
          <a:srcRect t="-3" b="-3"/>
          <a:stretch/>
        </p:blipFill>
        <p:spPr>
          <a:xfrm>
            <a:off x="3856434" y="9029700"/>
            <a:ext cx="1979116" cy="571500"/>
          </a:xfrm>
          <a:prstGeom prst="rect">
            <a:avLst/>
          </a:prstGeom>
        </p:spPr>
      </p:pic>
      <p:sp>
        <p:nvSpPr>
          <p:cNvPr id="9" name="Text 5"/>
          <p:cNvSpPr/>
          <p:nvPr/>
        </p:nvSpPr>
        <p:spPr>
          <a:xfrm>
            <a:off x="16746289" y="9439275"/>
            <a:ext cx="551111" cy="200025"/>
          </a:xfrm>
          <a:prstGeom prst="rect">
            <a:avLst/>
          </a:prstGeom>
          <a:noFill/>
          <a:ln/>
        </p:spPr>
        <p:txBody>
          <a:bodyPr wrap="square" lIns="25400" tIns="25400" rIns="25400" bIns="25400" rtlCol="0" anchor="t">
            <a:normAutofit fontScale="92500" lnSpcReduction="10000"/>
          </a:bodyPr>
          <a:lstStyle/>
          <a:p>
            <a:pPr marL="0" indent="0" algn="l">
              <a:buNone/>
            </a:pPr>
            <a:r>
              <a:rPr lang="en-US" sz="1125" kern="0" spc="34" dirty="0">
                <a:solidFill>
                  <a:srgbClr val="A6A6A6"/>
                </a:solidFill>
                <a:latin typeface="Helvetica Neue" pitchFamily="34" charset="0"/>
                <a:ea typeface="Helvetica Neue" pitchFamily="34" charset="-122"/>
                <a:cs typeface="Helvetica Neue" pitchFamily="34" charset="-120"/>
              </a:rPr>
              <a:t>01 / 16</a:t>
            </a:r>
            <a:endParaRPr lang="en-US" sz="112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76300" y="571500"/>
            <a:ext cx="18188940" cy="209550"/>
          </a:xfrm>
          <a:prstGeom prst="rect">
            <a:avLst/>
          </a:prstGeom>
          <a:noFill/>
          <a:ln/>
        </p:spPr>
        <p:txBody>
          <a:bodyPr wrap="square" lIns="25400" tIns="25400" rIns="25400" bIns="25400" rtlCol="0" anchor="t">
            <a:normAutofit lnSpcReduction="10000"/>
          </a:bodyPr>
          <a:lstStyle/>
          <a:p>
            <a:pPr marL="0" indent="0" algn="l">
              <a:buNone/>
            </a:pPr>
            <a:r>
              <a:rPr lang="en-US" sz="1125" b="1" kern="0" spc="225" dirty="0">
                <a:solidFill>
                  <a:srgbClr val="9A9A9A"/>
                </a:solidFill>
                <a:latin typeface="Helvetica Neue" pitchFamily="34" charset="0"/>
                <a:ea typeface="Helvetica Neue" pitchFamily="34" charset="-122"/>
                <a:cs typeface="Helvetica Neue" pitchFamily="34" charset="-120"/>
              </a:rPr>
              <a:t>THE LISA MEASUREMENT</a:t>
            </a:r>
            <a:endParaRPr lang="en-US" sz="1125" dirty="0"/>
          </a:p>
        </p:txBody>
      </p:sp>
      <p:sp>
        <p:nvSpPr>
          <p:cNvPr id="3" name="Text 1"/>
          <p:cNvSpPr/>
          <p:nvPr/>
        </p:nvSpPr>
        <p:spPr>
          <a:xfrm>
            <a:off x="876300" y="847725"/>
            <a:ext cx="18188940" cy="485775"/>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3450" b="1" kern="0" spc="-52" dirty="0">
                <a:solidFill>
                  <a:srgbClr val="141414"/>
                </a:solidFill>
                <a:latin typeface="Helvetica Neue" pitchFamily="34" charset="0"/>
                <a:ea typeface="Helvetica Neue" pitchFamily="34" charset="-122"/>
                <a:cs typeface="Helvetica Neue" pitchFamily="34" charset="-120"/>
              </a:rPr>
              <a:t>LISA Science Interferometer</a:t>
            </a:r>
            <a:endParaRPr lang="en-US" sz="3450" dirty="0"/>
          </a:p>
        </p:txBody>
      </p:sp>
      <p:pic>
        <p:nvPicPr>
          <p:cNvPr id="4" name="Image 0" descr="preencoded.png"/>
          <p:cNvPicPr>
            <a:picLocks noChangeAspect="1"/>
          </p:cNvPicPr>
          <p:nvPr/>
        </p:nvPicPr>
        <p:blipFill>
          <a:blip r:embed="rId3"/>
          <a:srcRect l="-1" r="-1" b="6895"/>
          <a:stretch>
            <a:fillRect/>
          </a:stretch>
        </p:blipFill>
        <p:spPr>
          <a:xfrm>
            <a:off x="1918689" y="2394642"/>
            <a:ext cx="14450467" cy="3756543"/>
          </a:xfrm>
          <a:prstGeom prst="rect">
            <a:avLst/>
          </a:prstGeom>
        </p:spPr>
      </p:pic>
      <p:sp>
        <p:nvSpPr>
          <p:cNvPr id="7" name="Text 3"/>
          <p:cNvSpPr/>
          <p:nvPr/>
        </p:nvSpPr>
        <p:spPr>
          <a:xfrm>
            <a:off x="2836605" y="8473901"/>
            <a:ext cx="12614639" cy="352425"/>
          </a:xfrm>
          <a:prstGeom prst="rect">
            <a:avLst/>
          </a:prstGeom>
          <a:noFill/>
          <a:ln/>
        </p:spPr>
        <p:txBody>
          <a:bodyPr wrap="square" lIns="25400" tIns="25400" rIns="25400" bIns="25400" rtlCol="0" anchor="t">
            <a:noAutofit/>
          </a:bodyPr>
          <a:lstStyle/>
          <a:p>
            <a:pPr marL="0" indent="0" algn="l">
              <a:lnSpc>
                <a:spcPct val="140000"/>
              </a:lnSpc>
              <a:buNone/>
            </a:pPr>
            <a:r>
              <a:rPr lang="en-US" sz="2400" dirty="0">
                <a:solidFill>
                  <a:srgbClr val="2A2A2A"/>
                </a:solidFill>
                <a:latin typeface="Helvetica Neue" pitchFamily="34" charset="0"/>
                <a:ea typeface="Helvetica Neue" pitchFamily="34" charset="-122"/>
                <a:cs typeface="Helvetica Neue" pitchFamily="34" charset="-120"/>
              </a:rPr>
              <a:t>The two primary noises in the raw data are </a:t>
            </a:r>
            <a:r>
              <a:rPr lang="en-US" sz="2400" b="1" dirty="0">
                <a:solidFill>
                  <a:srgbClr val="2A2A2A"/>
                </a:solidFill>
                <a:latin typeface="Helvetica Neue" pitchFamily="34" charset="0"/>
                <a:ea typeface="Helvetica Neue" pitchFamily="34" charset="-122"/>
                <a:cs typeface="Helvetica Neue" pitchFamily="34" charset="-120"/>
              </a:rPr>
              <a:t>laser frequency noise </a:t>
            </a:r>
            <a:r>
              <a:rPr lang="en-US" sz="2400" dirty="0">
                <a:solidFill>
                  <a:srgbClr val="2A2A2A"/>
                </a:solidFill>
                <a:latin typeface="Helvetica Neue" pitchFamily="34" charset="0"/>
                <a:ea typeface="Helvetica Neue" pitchFamily="34" charset="-122"/>
                <a:cs typeface="Helvetica Neue" pitchFamily="34" charset="-120"/>
              </a:rPr>
              <a:t>and </a:t>
            </a:r>
            <a:r>
              <a:rPr lang="en-US" sz="2400" b="1" dirty="0">
                <a:solidFill>
                  <a:srgbClr val="2A2A2A"/>
                </a:solidFill>
                <a:latin typeface="Helvetica Neue" pitchFamily="34" charset="0"/>
                <a:ea typeface="Helvetica Neue" pitchFamily="34" charset="-122"/>
                <a:cs typeface="Helvetica Neue" pitchFamily="34" charset="-120"/>
              </a:rPr>
              <a:t>clock timing jitter</a:t>
            </a:r>
            <a:r>
              <a:rPr lang="en-US" sz="2400" dirty="0">
                <a:solidFill>
                  <a:srgbClr val="2A2A2A"/>
                </a:solidFill>
                <a:latin typeface="Helvetica Neue" pitchFamily="34" charset="0"/>
                <a:ea typeface="Helvetica Neue" pitchFamily="34" charset="-122"/>
                <a:cs typeface="Helvetica Neue" pitchFamily="34" charset="-120"/>
              </a:rPr>
              <a:t>.</a:t>
            </a:r>
            <a:endParaRPr lang="en-US" sz="2400" dirty="0"/>
          </a:p>
        </p:txBody>
      </p:sp>
      <p:sp>
        <p:nvSpPr>
          <p:cNvPr id="8" name="Shape 4"/>
          <p:cNvSpPr/>
          <p:nvPr/>
        </p:nvSpPr>
        <p:spPr>
          <a:xfrm>
            <a:off x="876300" y="9505950"/>
            <a:ext cx="16535400" cy="9525"/>
          </a:xfrm>
          <a:prstGeom prst="rect">
            <a:avLst/>
          </a:prstGeom>
          <a:solidFill>
            <a:srgbClr val="ECECEC"/>
          </a:solidFill>
          <a:ln/>
        </p:spPr>
      </p:sp>
      <p:sp>
        <p:nvSpPr>
          <p:cNvPr id="9" name="Text 5"/>
          <p:cNvSpPr/>
          <p:nvPr/>
        </p:nvSpPr>
        <p:spPr>
          <a:xfrm>
            <a:off x="876300" y="9667875"/>
            <a:ext cx="2633127" cy="200025"/>
          </a:xfrm>
          <a:prstGeom prst="rect">
            <a:avLst/>
          </a:prstGeom>
          <a:noFill/>
          <a:ln/>
        </p:spPr>
        <p:txBody>
          <a:bodyPr wrap="square" lIns="25400" tIns="25400" rIns="25400" bIns="25400" rtlCol="0" anchor="t">
            <a:normAutofit fontScale="92500" lnSpcReduction="10000"/>
          </a:bodyPr>
          <a:lstStyle/>
          <a:p>
            <a:pPr marL="0" indent="0" algn="l">
              <a:buNone/>
            </a:pPr>
            <a:r>
              <a:rPr lang="en-US" sz="1125" kern="0" spc="34" dirty="0">
                <a:solidFill>
                  <a:srgbClr val="A6A6A6"/>
                </a:solidFill>
                <a:latin typeface="Helvetica Neue" pitchFamily="34" charset="0"/>
                <a:ea typeface="Helvetica Neue" pitchFamily="34" charset="-122"/>
                <a:cs typeface="Helvetica Neue" pitchFamily="34" charset="-120"/>
              </a:rPr>
              <a:t>16th International LISA Symposium</a:t>
            </a:r>
            <a:endParaRPr lang="en-US" sz="1125" dirty="0"/>
          </a:p>
        </p:txBody>
      </p:sp>
      <p:sp>
        <p:nvSpPr>
          <p:cNvPr id="10" name="Text 6"/>
          <p:cNvSpPr/>
          <p:nvPr/>
        </p:nvSpPr>
        <p:spPr>
          <a:xfrm>
            <a:off x="15799594" y="9667875"/>
            <a:ext cx="1773317" cy="200025"/>
          </a:xfrm>
          <a:prstGeom prst="rect">
            <a:avLst/>
          </a:prstGeom>
          <a:noFill/>
          <a:ln/>
        </p:spPr>
        <p:txBody>
          <a:bodyPr wrap="square" lIns="25400" tIns="25400" rIns="25400" bIns="25400" rtlCol="0" anchor="t">
            <a:normAutofit fontScale="92500" lnSpcReduction="10000"/>
          </a:bodyPr>
          <a:lstStyle/>
          <a:p>
            <a:pPr marL="0" indent="0" algn="l">
              <a:buNone/>
            </a:pPr>
            <a:r>
              <a:rPr lang="en-US" sz="1125" kern="0" spc="34" dirty="0">
                <a:solidFill>
                  <a:srgbClr val="A6A6A6"/>
                </a:solidFill>
                <a:latin typeface="Helvetica Neue" pitchFamily="34" charset="0"/>
                <a:ea typeface="Helvetica Neue" pitchFamily="34" charset="-122"/>
                <a:cs typeface="Helvetica Neue" pitchFamily="34" charset="-120"/>
              </a:rPr>
              <a:t>23 June 2026 · 02 / 16</a:t>
            </a:r>
            <a:endParaRPr lang="en-US" sz="1125" dirty="0"/>
          </a:p>
        </p:txBody>
      </p:sp>
      <p:pic>
        <p:nvPicPr>
          <p:cNvPr id="20" name="Graphic 19">
            <a:extLst>
              <a:ext uri="{FF2B5EF4-FFF2-40B4-BE49-F238E27FC236}">
                <a16:creationId xmlns:a16="http://schemas.microsoft.com/office/drawing/2014/main" id="{8E5F7403-794F-42E0-8015-A5ADD919C88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410659" y="6703635"/>
            <a:ext cx="7466529" cy="134129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77788" y="555427"/>
            <a:ext cx="18185666" cy="209550"/>
          </a:xfrm>
          <a:prstGeom prst="rect">
            <a:avLst/>
          </a:prstGeom>
          <a:noFill/>
          <a:ln/>
        </p:spPr>
        <p:txBody>
          <a:bodyPr wrap="square" lIns="25400" tIns="25400" rIns="25400" bIns="25400" rtlCol="0" anchor="t">
            <a:normAutofit lnSpcReduction="10000"/>
          </a:bodyPr>
          <a:lstStyle/>
          <a:p>
            <a:pPr marL="0" indent="0" algn="l">
              <a:buNone/>
            </a:pPr>
            <a:r>
              <a:rPr lang="en-US" sz="1125" b="1" kern="0" spc="225" dirty="0">
                <a:solidFill>
                  <a:srgbClr val="9A9A9A"/>
                </a:solidFill>
                <a:latin typeface="Helvetica Neue" pitchFamily="34" charset="0"/>
                <a:ea typeface="Helvetica Neue" pitchFamily="34" charset="-122"/>
                <a:cs typeface="Helvetica Neue" pitchFamily="34" charset="-120"/>
              </a:rPr>
              <a:t>TESTBED CONCEPT</a:t>
            </a:r>
            <a:endParaRPr lang="en-US" sz="1125" dirty="0"/>
          </a:p>
        </p:txBody>
      </p:sp>
      <p:sp>
        <p:nvSpPr>
          <p:cNvPr id="3" name="Text 1"/>
          <p:cNvSpPr/>
          <p:nvPr/>
        </p:nvSpPr>
        <p:spPr>
          <a:xfrm>
            <a:off x="877788" y="822127"/>
            <a:ext cx="18185666" cy="485775"/>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3450" b="1" kern="0" spc="-52" dirty="0">
                <a:solidFill>
                  <a:srgbClr val="141414"/>
                </a:solidFill>
                <a:latin typeface="Helvetica Neue" pitchFamily="34" charset="0"/>
                <a:ea typeface="Helvetica Neue" pitchFamily="34" charset="-122"/>
                <a:cs typeface="Helvetica Neue" pitchFamily="34" charset="-120"/>
              </a:rPr>
              <a:t>Replicating the LISA Arm in the Lab</a:t>
            </a:r>
            <a:endParaRPr lang="en-US" sz="3450" dirty="0"/>
          </a:p>
        </p:txBody>
      </p:sp>
      <p:pic>
        <p:nvPicPr>
          <p:cNvPr id="4" name="Image 0" descr="preencoded.png"/>
          <p:cNvPicPr>
            <a:picLocks noChangeAspect="1"/>
          </p:cNvPicPr>
          <p:nvPr/>
        </p:nvPicPr>
        <p:blipFill>
          <a:blip r:embed="rId3"/>
          <a:srcRect t="-40" b="-40"/>
          <a:stretch/>
        </p:blipFill>
        <p:spPr>
          <a:xfrm>
            <a:off x="3163788" y="1738461"/>
            <a:ext cx="12911286" cy="7766596"/>
          </a:xfrm>
          <a:prstGeom prst="rect">
            <a:avLst/>
          </a:prstGeom>
        </p:spPr>
      </p:pic>
      <p:sp>
        <p:nvSpPr>
          <p:cNvPr id="5" name="Text 2"/>
          <p:cNvSpPr/>
          <p:nvPr/>
        </p:nvSpPr>
        <p:spPr>
          <a:xfrm>
            <a:off x="1005780" y="2983111"/>
            <a:ext cx="2615119" cy="323850"/>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141414"/>
                </a:solidFill>
                <a:latin typeface="Helvetica Neue" pitchFamily="34" charset="0"/>
                <a:ea typeface="Helvetica Neue" pitchFamily="34" charset="-122"/>
                <a:cs typeface="Helvetica Neue" pitchFamily="34" charset="-120"/>
              </a:rPr>
              <a:t>LISA arm</a:t>
            </a:r>
            <a:endParaRPr lang="en-US" sz="1875" dirty="0"/>
          </a:p>
        </p:txBody>
      </p:sp>
      <p:sp>
        <p:nvSpPr>
          <p:cNvPr id="6" name="Text 3"/>
          <p:cNvSpPr/>
          <p:nvPr/>
        </p:nvSpPr>
        <p:spPr>
          <a:xfrm>
            <a:off x="1005780" y="3287911"/>
            <a:ext cx="2615119" cy="22860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200" dirty="0">
                <a:solidFill>
                  <a:srgbClr val="9A9A9A"/>
                </a:solidFill>
                <a:latin typeface="Helvetica Neue" pitchFamily="34" charset="0"/>
                <a:ea typeface="Helvetica Neue" pitchFamily="34" charset="-122"/>
                <a:cs typeface="Helvetica Neue" pitchFamily="34" charset="-120"/>
              </a:rPr>
              <a:t>In-flight inter-satellite link</a:t>
            </a:r>
            <a:endParaRPr lang="en-US" sz="1200" dirty="0"/>
          </a:p>
        </p:txBody>
      </p:sp>
      <p:sp>
        <p:nvSpPr>
          <p:cNvPr id="7" name="Text 4"/>
          <p:cNvSpPr/>
          <p:nvPr/>
        </p:nvSpPr>
        <p:spPr>
          <a:xfrm>
            <a:off x="1005780" y="6737896"/>
            <a:ext cx="2615119" cy="323850"/>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141414"/>
                </a:solidFill>
                <a:latin typeface="Helvetica Neue" pitchFamily="34" charset="0"/>
                <a:ea typeface="Helvetica Neue" pitchFamily="34" charset="-122"/>
                <a:cs typeface="Helvetica Neue" pitchFamily="34" charset="-120"/>
              </a:rPr>
              <a:t>Testbed arm</a:t>
            </a:r>
            <a:endParaRPr lang="en-US" sz="1875" dirty="0"/>
          </a:p>
        </p:txBody>
      </p:sp>
      <p:sp>
        <p:nvSpPr>
          <p:cNvPr id="8" name="Text 5"/>
          <p:cNvSpPr/>
          <p:nvPr/>
        </p:nvSpPr>
        <p:spPr>
          <a:xfrm>
            <a:off x="1005780" y="7042696"/>
            <a:ext cx="2615119" cy="22860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200" dirty="0">
                <a:solidFill>
                  <a:srgbClr val="9A9A9A"/>
                </a:solidFill>
                <a:latin typeface="Helvetica Neue" pitchFamily="34" charset="0"/>
                <a:ea typeface="Helvetica Neue" pitchFamily="34" charset="-122"/>
                <a:cs typeface="Helvetica Neue" pitchFamily="34" charset="-120"/>
              </a:rPr>
              <a:t>Benchtop analogue</a:t>
            </a:r>
            <a:endParaRPr lang="en-US" sz="1200" dirty="0"/>
          </a:p>
        </p:txBody>
      </p:sp>
      <p:sp>
        <p:nvSpPr>
          <p:cNvPr id="9" name="Shape 6"/>
          <p:cNvSpPr/>
          <p:nvPr/>
        </p:nvSpPr>
        <p:spPr>
          <a:xfrm>
            <a:off x="877788" y="9591377"/>
            <a:ext cx="16532423" cy="9525"/>
          </a:xfrm>
          <a:prstGeom prst="rect">
            <a:avLst/>
          </a:prstGeom>
          <a:solidFill>
            <a:srgbClr val="ECECEC"/>
          </a:solidFill>
          <a:ln/>
        </p:spPr>
      </p:sp>
      <p:sp>
        <p:nvSpPr>
          <p:cNvPr id="10" name="Text 7"/>
          <p:cNvSpPr/>
          <p:nvPr/>
        </p:nvSpPr>
        <p:spPr>
          <a:xfrm>
            <a:off x="877788" y="9734252"/>
            <a:ext cx="2633127" cy="200025"/>
          </a:xfrm>
          <a:prstGeom prst="rect">
            <a:avLst/>
          </a:prstGeom>
          <a:noFill/>
          <a:ln/>
        </p:spPr>
        <p:txBody>
          <a:bodyPr wrap="square" lIns="25400" tIns="25400" rIns="25400" bIns="25400" rtlCol="0" anchor="t">
            <a:normAutofit fontScale="92500" lnSpcReduction="10000"/>
          </a:bodyPr>
          <a:lstStyle/>
          <a:p>
            <a:pPr marL="0" indent="0" algn="l">
              <a:buNone/>
            </a:pPr>
            <a:r>
              <a:rPr lang="en-US" sz="1125" kern="0" spc="34" dirty="0">
                <a:solidFill>
                  <a:srgbClr val="A6A6A6"/>
                </a:solidFill>
                <a:latin typeface="Helvetica Neue" pitchFamily="34" charset="0"/>
                <a:ea typeface="Helvetica Neue" pitchFamily="34" charset="-122"/>
                <a:cs typeface="Helvetica Neue" pitchFamily="34" charset="-120"/>
              </a:rPr>
              <a:t>16th International LISA Symposium</a:t>
            </a:r>
            <a:endParaRPr lang="en-US" sz="1125" dirty="0"/>
          </a:p>
        </p:txBody>
      </p:sp>
      <p:sp>
        <p:nvSpPr>
          <p:cNvPr id="11" name="Text 8"/>
          <p:cNvSpPr/>
          <p:nvPr/>
        </p:nvSpPr>
        <p:spPr>
          <a:xfrm>
            <a:off x="15798105" y="9734252"/>
            <a:ext cx="1773317" cy="200025"/>
          </a:xfrm>
          <a:prstGeom prst="rect">
            <a:avLst/>
          </a:prstGeom>
          <a:noFill/>
          <a:ln/>
        </p:spPr>
        <p:txBody>
          <a:bodyPr wrap="square" lIns="25400" tIns="25400" rIns="25400" bIns="25400" rtlCol="0" anchor="t">
            <a:normAutofit fontScale="92500" lnSpcReduction="10000"/>
          </a:bodyPr>
          <a:lstStyle/>
          <a:p>
            <a:pPr marL="0" indent="0" algn="l">
              <a:buNone/>
            </a:pPr>
            <a:r>
              <a:rPr lang="en-US" sz="1125" kern="0" spc="34" dirty="0">
                <a:solidFill>
                  <a:srgbClr val="A6A6A6"/>
                </a:solidFill>
                <a:latin typeface="Helvetica Neue" pitchFamily="34" charset="0"/>
                <a:ea typeface="Helvetica Neue" pitchFamily="34" charset="-122"/>
                <a:cs typeface="Helvetica Neue" pitchFamily="34" charset="-120"/>
              </a:rPr>
              <a:t>23 June 2026 · 03 / 16</a:t>
            </a:r>
            <a:endParaRPr lang="en-US" sz="112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77788" y="555427"/>
            <a:ext cx="18185666" cy="209550"/>
          </a:xfrm>
          <a:prstGeom prst="rect">
            <a:avLst/>
          </a:prstGeom>
          <a:noFill/>
          <a:ln/>
        </p:spPr>
        <p:txBody>
          <a:bodyPr wrap="square" lIns="25400" tIns="25400" rIns="25400" bIns="25400" rtlCol="0" anchor="t">
            <a:normAutofit lnSpcReduction="10000"/>
          </a:bodyPr>
          <a:lstStyle/>
          <a:p>
            <a:pPr marL="0" indent="0" algn="l">
              <a:buNone/>
            </a:pPr>
            <a:r>
              <a:rPr lang="en-US" sz="1125" b="1" kern="0" spc="225" dirty="0">
                <a:solidFill>
                  <a:srgbClr val="9A9A9A"/>
                </a:solidFill>
                <a:latin typeface="Helvetica Neue" pitchFamily="34" charset="0"/>
                <a:ea typeface="Helvetica Neue" pitchFamily="34" charset="-122"/>
                <a:cs typeface="Helvetica Neue" pitchFamily="34" charset="-120"/>
              </a:rPr>
              <a:t>TESTBED CONCEPT</a:t>
            </a:r>
            <a:endParaRPr lang="en-US" sz="1125" dirty="0"/>
          </a:p>
        </p:txBody>
      </p:sp>
      <p:sp>
        <p:nvSpPr>
          <p:cNvPr id="3" name="Text 1"/>
          <p:cNvSpPr/>
          <p:nvPr/>
        </p:nvSpPr>
        <p:spPr>
          <a:xfrm>
            <a:off x="877788" y="822127"/>
            <a:ext cx="18185666" cy="485775"/>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3450" b="1" kern="0" spc="-52" dirty="0">
                <a:solidFill>
                  <a:srgbClr val="141414"/>
                </a:solidFill>
                <a:latin typeface="Helvetica Neue" pitchFamily="34" charset="0"/>
                <a:ea typeface="Helvetica Neue" pitchFamily="34" charset="-122"/>
                <a:cs typeface="Helvetica Neue" pitchFamily="34" charset="-120"/>
              </a:rPr>
              <a:t>Replicating the LISA Arm in the Lab</a:t>
            </a:r>
            <a:endParaRPr lang="en-US" sz="3450" dirty="0"/>
          </a:p>
        </p:txBody>
      </p:sp>
      <p:pic>
        <p:nvPicPr>
          <p:cNvPr id="4" name="Image 0" descr="preencoded.png"/>
          <p:cNvPicPr>
            <a:picLocks noChangeAspect="1"/>
          </p:cNvPicPr>
          <p:nvPr/>
        </p:nvPicPr>
        <p:blipFill>
          <a:blip r:embed="rId3"/>
          <a:srcRect t="-40" b="-40"/>
          <a:stretch/>
        </p:blipFill>
        <p:spPr>
          <a:xfrm>
            <a:off x="3163788" y="1735136"/>
            <a:ext cx="12911286" cy="7766596"/>
          </a:xfrm>
          <a:prstGeom prst="rect">
            <a:avLst/>
          </a:prstGeom>
        </p:spPr>
      </p:pic>
      <p:sp>
        <p:nvSpPr>
          <p:cNvPr id="5" name="Shape 2"/>
          <p:cNvSpPr/>
          <p:nvPr/>
        </p:nvSpPr>
        <p:spPr>
          <a:xfrm>
            <a:off x="6931075" y="5761256"/>
            <a:ext cx="1737271" cy="843409"/>
          </a:xfrm>
          <a:prstGeom prst="roundRect">
            <a:avLst>
              <a:gd name="adj" fmla="val 2259"/>
            </a:avLst>
          </a:prstGeom>
          <a:ln w="50800">
            <a:solidFill>
              <a:srgbClr val="C00000"/>
            </a:solidFill>
            <a:prstDash val="solid"/>
          </a:ln>
        </p:spPr>
      </p:sp>
      <p:sp>
        <p:nvSpPr>
          <p:cNvPr id="6" name="Shape 3"/>
          <p:cNvSpPr/>
          <p:nvPr/>
        </p:nvSpPr>
        <p:spPr>
          <a:xfrm>
            <a:off x="11159292" y="7381292"/>
            <a:ext cx="1865263" cy="843409"/>
          </a:xfrm>
          <a:prstGeom prst="roundRect">
            <a:avLst>
              <a:gd name="adj" fmla="val 2259"/>
            </a:avLst>
          </a:prstGeom>
          <a:ln w="50800">
            <a:solidFill>
              <a:srgbClr val="C00000"/>
            </a:solidFill>
            <a:prstDash val="solid"/>
          </a:ln>
        </p:spPr>
      </p:sp>
      <p:sp>
        <p:nvSpPr>
          <p:cNvPr id="7" name="Text 4"/>
          <p:cNvSpPr/>
          <p:nvPr/>
        </p:nvSpPr>
        <p:spPr>
          <a:xfrm>
            <a:off x="5772501" y="5334022"/>
            <a:ext cx="6035040" cy="285750"/>
          </a:xfrm>
          <a:prstGeom prst="rect">
            <a:avLst/>
          </a:prstGeom>
          <a:noFill/>
          <a:ln/>
        </p:spPr>
        <p:txBody>
          <a:bodyPr wrap="square" lIns="25400" tIns="25400" rIns="25400" bIns="25400" rtlCol="0" anchor="t">
            <a:noAutofit/>
          </a:bodyPr>
          <a:lstStyle/>
          <a:p>
            <a:pPr marL="0" indent="0" algn="ctr">
              <a:buNone/>
            </a:pPr>
            <a:r>
              <a:rPr lang="en-US" sz="2000" b="1" dirty="0">
                <a:solidFill>
                  <a:srgbClr val="C00000"/>
                </a:solidFill>
                <a:latin typeface="Helvetica Neue" pitchFamily="34" charset="0"/>
                <a:ea typeface="Helvetica Neue" pitchFamily="34" charset="-122"/>
                <a:cs typeface="Helvetica Neue" pitchFamily="34" charset="-120"/>
              </a:rPr>
              <a:t>Carrier from 281 THz to ~50 MHz</a:t>
            </a:r>
            <a:endParaRPr lang="en-US" sz="2000" dirty="0"/>
          </a:p>
        </p:txBody>
      </p:sp>
      <p:sp>
        <p:nvSpPr>
          <p:cNvPr id="8" name="Text 5"/>
          <p:cNvSpPr/>
          <p:nvPr/>
        </p:nvSpPr>
        <p:spPr>
          <a:xfrm>
            <a:off x="1005780" y="2983111"/>
            <a:ext cx="2615119" cy="323850"/>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141414"/>
                </a:solidFill>
                <a:latin typeface="Helvetica Neue" pitchFamily="34" charset="0"/>
                <a:ea typeface="Helvetica Neue" pitchFamily="34" charset="-122"/>
                <a:cs typeface="Helvetica Neue" pitchFamily="34" charset="-120"/>
              </a:rPr>
              <a:t>LISA arm</a:t>
            </a:r>
            <a:endParaRPr lang="en-US" sz="1875" dirty="0"/>
          </a:p>
        </p:txBody>
      </p:sp>
      <p:sp>
        <p:nvSpPr>
          <p:cNvPr id="9" name="Text 6"/>
          <p:cNvSpPr/>
          <p:nvPr/>
        </p:nvSpPr>
        <p:spPr>
          <a:xfrm>
            <a:off x="1005780" y="3287911"/>
            <a:ext cx="2615119" cy="22860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200" dirty="0">
                <a:solidFill>
                  <a:srgbClr val="9A9A9A"/>
                </a:solidFill>
                <a:latin typeface="Helvetica Neue" pitchFamily="34" charset="0"/>
                <a:ea typeface="Helvetica Neue" pitchFamily="34" charset="-122"/>
                <a:cs typeface="Helvetica Neue" pitchFamily="34" charset="-120"/>
              </a:rPr>
              <a:t>In-flight inter-satellite link</a:t>
            </a:r>
            <a:endParaRPr lang="en-US" sz="1200" dirty="0"/>
          </a:p>
        </p:txBody>
      </p:sp>
      <p:sp>
        <p:nvSpPr>
          <p:cNvPr id="10" name="Text 7"/>
          <p:cNvSpPr/>
          <p:nvPr/>
        </p:nvSpPr>
        <p:spPr>
          <a:xfrm>
            <a:off x="1005780" y="6737896"/>
            <a:ext cx="2615119" cy="323850"/>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141414"/>
                </a:solidFill>
                <a:latin typeface="Helvetica Neue" pitchFamily="34" charset="0"/>
                <a:ea typeface="Helvetica Neue" pitchFamily="34" charset="-122"/>
                <a:cs typeface="Helvetica Neue" pitchFamily="34" charset="-120"/>
              </a:rPr>
              <a:t>Testbed arm</a:t>
            </a:r>
            <a:endParaRPr lang="en-US" sz="1875" dirty="0"/>
          </a:p>
        </p:txBody>
      </p:sp>
      <p:sp>
        <p:nvSpPr>
          <p:cNvPr id="11" name="Text 8"/>
          <p:cNvSpPr/>
          <p:nvPr/>
        </p:nvSpPr>
        <p:spPr>
          <a:xfrm>
            <a:off x="1005780" y="7042696"/>
            <a:ext cx="2615119" cy="22860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200" dirty="0">
                <a:solidFill>
                  <a:srgbClr val="9A9A9A"/>
                </a:solidFill>
                <a:latin typeface="Helvetica Neue" pitchFamily="34" charset="0"/>
                <a:ea typeface="Helvetica Neue" pitchFamily="34" charset="-122"/>
                <a:cs typeface="Helvetica Neue" pitchFamily="34" charset="-120"/>
              </a:rPr>
              <a:t>Benchtop analogue</a:t>
            </a:r>
            <a:endParaRPr lang="en-US" sz="1200" dirty="0"/>
          </a:p>
        </p:txBody>
      </p:sp>
      <p:sp>
        <p:nvSpPr>
          <p:cNvPr id="12" name="Shape 9"/>
          <p:cNvSpPr/>
          <p:nvPr/>
        </p:nvSpPr>
        <p:spPr>
          <a:xfrm>
            <a:off x="877788" y="9591377"/>
            <a:ext cx="16532423" cy="9525"/>
          </a:xfrm>
          <a:prstGeom prst="rect">
            <a:avLst/>
          </a:prstGeom>
          <a:solidFill>
            <a:srgbClr val="ECECEC"/>
          </a:solidFill>
          <a:ln/>
        </p:spPr>
      </p:sp>
      <p:sp>
        <p:nvSpPr>
          <p:cNvPr id="13" name="Text 10"/>
          <p:cNvSpPr/>
          <p:nvPr/>
        </p:nvSpPr>
        <p:spPr>
          <a:xfrm>
            <a:off x="877788" y="9734252"/>
            <a:ext cx="2633127" cy="200025"/>
          </a:xfrm>
          <a:prstGeom prst="rect">
            <a:avLst/>
          </a:prstGeom>
          <a:noFill/>
          <a:ln/>
        </p:spPr>
        <p:txBody>
          <a:bodyPr wrap="square" lIns="25400" tIns="25400" rIns="25400" bIns="25400" rtlCol="0" anchor="t">
            <a:normAutofit fontScale="92500" lnSpcReduction="10000"/>
          </a:bodyPr>
          <a:lstStyle/>
          <a:p>
            <a:pPr marL="0" indent="0" algn="l">
              <a:buNone/>
            </a:pPr>
            <a:r>
              <a:rPr lang="en-US" sz="1125" kern="0" spc="34" dirty="0">
                <a:solidFill>
                  <a:srgbClr val="A6A6A6"/>
                </a:solidFill>
                <a:latin typeface="Helvetica Neue" pitchFamily="34" charset="0"/>
                <a:ea typeface="Helvetica Neue" pitchFamily="34" charset="-122"/>
                <a:cs typeface="Helvetica Neue" pitchFamily="34" charset="-120"/>
              </a:rPr>
              <a:t>16th International LISA Symposium</a:t>
            </a:r>
            <a:endParaRPr lang="en-US" sz="1125" dirty="0"/>
          </a:p>
        </p:txBody>
      </p:sp>
      <p:sp>
        <p:nvSpPr>
          <p:cNvPr id="14" name="Text 11"/>
          <p:cNvSpPr/>
          <p:nvPr/>
        </p:nvSpPr>
        <p:spPr>
          <a:xfrm>
            <a:off x="15798105" y="9734252"/>
            <a:ext cx="1773317" cy="200025"/>
          </a:xfrm>
          <a:prstGeom prst="rect">
            <a:avLst/>
          </a:prstGeom>
          <a:noFill/>
          <a:ln/>
        </p:spPr>
        <p:txBody>
          <a:bodyPr wrap="square" lIns="25400" tIns="25400" rIns="25400" bIns="25400" rtlCol="0" anchor="t">
            <a:normAutofit fontScale="92500" lnSpcReduction="10000"/>
          </a:bodyPr>
          <a:lstStyle/>
          <a:p>
            <a:pPr marL="0" indent="0" algn="l">
              <a:buNone/>
            </a:pPr>
            <a:r>
              <a:rPr lang="en-US" sz="1125" kern="0" spc="34" dirty="0">
                <a:solidFill>
                  <a:srgbClr val="A6A6A6"/>
                </a:solidFill>
                <a:latin typeface="Helvetica Neue" pitchFamily="34" charset="0"/>
                <a:ea typeface="Helvetica Neue" pitchFamily="34" charset="-122"/>
                <a:cs typeface="Helvetica Neue" pitchFamily="34" charset="-120"/>
              </a:rPr>
              <a:t>23 June 2026 · 04 / 16</a:t>
            </a:r>
            <a:endParaRPr lang="en-US" sz="112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77788" y="555427"/>
            <a:ext cx="18185666" cy="209550"/>
          </a:xfrm>
          <a:prstGeom prst="rect">
            <a:avLst/>
          </a:prstGeom>
          <a:noFill/>
          <a:ln/>
        </p:spPr>
        <p:txBody>
          <a:bodyPr wrap="square" lIns="25400" tIns="25400" rIns="25400" bIns="25400" rtlCol="0" anchor="t">
            <a:normAutofit lnSpcReduction="10000"/>
          </a:bodyPr>
          <a:lstStyle/>
          <a:p>
            <a:pPr marL="0" indent="0" algn="l">
              <a:buNone/>
            </a:pPr>
            <a:r>
              <a:rPr lang="en-US" sz="1125" b="1" kern="0" spc="225" dirty="0">
                <a:solidFill>
                  <a:srgbClr val="9A9A9A"/>
                </a:solidFill>
                <a:latin typeface="Helvetica Neue" pitchFamily="34" charset="0"/>
                <a:ea typeface="Helvetica Neue" pitchFamily="34" charset="-122"/>
                <a:cs typeface="Helvetica Neue" pitchFamily="34" charset="-120"/>
              </a:rPr>
              <a:t>TESTBED CONCEPT</a:t>
            </a:r>
            <a:endParaRPr lang="en-US" sz="1125" dirty="0"/>
          </a:p>
        </p:txBody>
      </p:sp>
      <p:sp>
        <p:nvSpPr>
          <p:cNvPr id="3" name="Text 1"/>
          <p:cNvSpPr/>
          <p:nvPr/>
        </p:nvSpPr>
        <p:spPr>
          <a:xfrm>
            <a:off x="877788" y="822127"/>
            <a:ext cx="18185666" cy="485775"/>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3450" b="1" kern="0" spc="-52" dirty="0">
                <a:solidFill>
                  <a:srgbClr val="141414"/>
                </a:solidFill>
                <a:latin typeface="Helvetica Neue" pitchFamily="34" charset="0"/>
                <a:ea typeface="Helvetica Neue" pitchFamily="34" charset="-122"/>
                <a:cs typeface="Helvetica Neue" pitchFamily="34" charset="-120"/>
              </a:rPr>
              <a:t>Replicating the LISA Arm in the Lab</a:t>
            </a:r>
            <a:endParaRPr lang="en-US" sz="3450" dirty="0"/>
          </a:p>
        </p:txBody>
      </p:sp>
      <p:pic>
        <p:nvPicPr>
          <p:cNvPr id="4" name="Image 0" descr="preencoded.png"/>
          <p:cNvPicPr>
            <a:picLocks noChangeAspect="1"/>
          </p:cNvPicPr>
          <p:nvPr/>
        </p:nvPicPr>
        <p:blipFill>
          <a:blip r:embed="rId3"/>
          <a:srcRect t="-40" b="-40"/>
          <a:stretch/>
        </p:blipFill>
        <p:spPr>
          <a:xfrm>
            <a:off x="3163788" y="1738461"/>
            <a:ext cx="12911286" cy="7766596"/>
          </a:xfrm>
          <a:prstGeom prst="rect">
            <a:avLst/>
          </a:prstGeom>
        </p:spPr>
      </p:pic>
      <p:sp>
        <p:nvSpPr>
          <p:cNvPr id="5" name="Shape 2"/>
          <p:cNvSpPr/>
          <p:nvPr/>
        </p:nvSpPr>
        <p:spPr>
          <a:xfrm>
            <a:off x="6821388" y="7314009"/>
            <a:ext cx="1828800" cy="843409"/>
          </a:xfrm>
          <a:prstGeom prst="roundRect">
            <a:avLst>
              <a:gd name="adj" fmla="val 2259"/>
            </a:avLst>
          </a:prstGeom>
          <a:ln w="50800">
            <a:solidFill>
              <a:srgbClr val="C00000"/>
            </a:solidFill>
            <a:prstDash val="solid"/>
          </a:ln>
        </p:spPr>
      </p:sp>
      <p:sp>
        <p:nvSpPr>
          <p:cNvPr id="6" name="Shape 3"/>
          <p:cNvSpPr/>
          <p:nvPr/>
        </p:nvSpPr>
        <p:spPr>
          <a:xfrm>
            <a:off x="11356777" y="5729734"/>
            <a:ext cx="1737271" cy="843409"/>
          </a:xfrm>
          <a:prstGeom prst="roundRect">
            <a:avLst>
              <a:gd name="adj" fmla="val 2259"/>
            </a:avLst>
          </a:prstGeom>
          <a:ln w="50800">
            <a:solidFill>
              <a:srgbClr val="C00000"/>
            </a:solidFill>
            <a:prstDash val="solid"/>
          </a:ln>
        </p:spPr>
      </p:sp>
      <p:sp>
        <p:nvSpPr>
          <p:cNvPr id="7" name="Shape 4"/>
          <p:cNvSpPr/>
          <p:nvPr/>
        </p:nvSpPr>
        <p:spPr>
          <a:xfrm>
            <a:off x="7205513" y="4009896"/>
            <a:ext cx="530275" cy="720030"/>
          </a:xfrm>
          <a:prstGeom prst="roundRect">
            <a:avLst>
              <a:gd name="adj" fmla="val 3592"/>
            </a:avLst>
          </a:prstGeom>
          <a:ln w="38100">
            <a:solidFill>
              <a:srgbClr val="C00000"/>
            </a:solidFill>
            <a:prstDash val="solid"/>
          </a:ln>
        </p:spPr>
      </p:sp>
      <p:sp>
        <p:nvSpPr>
          <p:cNvPr id="8" name="Shape 5"/>
          <p:cNvSpPr/>
          <p:nvPr/>
        </p:nvSpPr>
        <p:spPr>
          <a:xfrm>
            <a:off x="12161490" y="2293888"/>
            <a:ext cx="530275" cy="720030"/>
          </a:xfrm>
          <a:prstGeom prst="roundRect">
            <a:avLst>
              <a:gd name="adj" fmla="val 3592"/>
            </a:avLst>
          </a:prstGeom>
          <a:ln w="38100">
            <a:solidFill>
              <a:srgbClr val="C00000"/>
            </a:solidFill>
            <a:prstDash val="solid"/>
          </a:ln>
        </p:spPr>
      </p:sp>
      <p:sp>
        <p:nvSpPr>
          <p:cNvPr id="9" name="Text 6"/>
          <p:cNvSpPr/>
          <p:nvPr/>
        </p:nvSpPr>
        <p:spPr>
          <a:xfrm>
            <a:off x="9268003" y="5257799"/>
            <a:ext cx="5230237" cy="285750"/>
          </a:xfrm>
          <a:prstGeom prst="rect">
            <a:avLst/>
          </a:prstGeom>
          <a:noFill/>
          <a:ln/>
        </p:spPr>
        <p:txBody>
          <a:bodyPr wrap="square" lIns="25400" tIns="25400" rIns="25400" bIns="25400" rtlCol="0" anchor="t">
            <a:noAutofit/>
          </a:bodyPr>
          <a:lstStyle/>
          <a:p>
            <a:pPr marL="0" indent="0" algn="ctr">
              <a:buNone/>
            </a:pPr>
            <a:r>
              <a:rPr lang="en-US" sz="2000" b="1" dirty="0">
                <a:solidFill>
                  <a:srgbClr val="C00000"/>
                </a:solidFill>
                <a:latin typeface="Helvetica Neue" pitchFamily="34" charset="0"/>
                <a:ea typeface="Helvetica Neue" pitchFamily="34" charset="-122"/>
                <a:cs typeface="Helvetica Neue" pitchFamily="34" charset="-120"/>
              </a:rPr>
              <a:t>Inter-satellite interferometers</a:t>
            </a:r>
            <a:endParaRPr lang="en-US" sz="2000" dirty="0"/>
          </a:p>
        </p:txBody>
      </p:sp>
      <p:sp>
        <p:nvSpPr>
          <p:cNvPr id="10" name="Text 7"/>
          <p:cNvSpPr/>
          <p:nvPr/>
        </p:nvSpPr>
        <p:spPr>
          <a:xfrm>
            <a:off x="1005780" y="2983111"/>
            <a:ext cx="2615119" cy="323850"/>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141414"/>
                </a:solidFill>
                <a:latin typeface="Helvetica Neue" pitchFamily="34" charset="0"/>
                <a:ea typeface="Helvetica Neue" pitchFamily="34" charset="-122"/>
                <a:cs typeface="Helvetica Neue" pitchFamily="34" charset="-120"/>
              </a:rPr>
              <a:t>LISA arm</a:t>
            </a:r>
            <a:endParaRPr lang="en-US" sz="1875" dirty="0"/>
          </a:p>
        </p:txBody>
      </p:sp>
      <p:sp>
        <p:nvSpPr>
          <p:cNvPr id="11" name="Text 8"/>
          <p:cNvSpPr/>
          <p:nvPr/>
        </p:nvSpPr>
        <p:spPr>
          <a:xfrm>
            <a:off x="1005780" y="3287911"/>
            <a:ext cx="2615119" cy="22860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200" dirty="0">
                <a:solidFill>
                  <a:srgbClr val="9A9A9A"/>
                </a:solidFill>
                <a:latin typeface="Helvetica Neue" pitchFamily="34" charset="0"/>
                <a:ea typeface="Helvetica Neue" pitchFamily="34" charset="-122"/>
                <a:cs typeface="Helvetica Neue" pitchFamily="34" charset="-120"/>
              </a:rPr>
              <a:t>In-flight inter-satellite link</a:t>
            </a:r>
            <a:endParaRPr lang="en-US" sz="1200" dirty="0"/>
          </a:p>
        </p:txBody>
      </p:sp>
      <p:sp>
        <p:nvSpPr>
          <p:cNvPr id="12" name="Text 9"/>
          <p:cNvSpPr/>
          <p:nvPr/>
        </p:nvSpPr>
        <p:spPr>
          <a:xfrm>
            <a:off x="1005780" y="6737896"/>
            <a:ext cx="2615119" cy="323850"/>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141414"/>
                </a:solidFill>
                <a:latin typeface="Helvetica Neue" pitchFamily="34" charset="0"/>
                <a:ea typeface="Helvetica Neue" pitchFamily="34" charset="-122"/>
                <a:cs typeface="Helvetica Neue" pitchFamily="34" charset="-120"/>
              </a:rPr>
              <a:t>Testbed arm</a:t>
            </a:r>
            <a:endParaRPr lang="en-US" sz="1875" dirty="0"/>
          </a:p>
        </p:txBody>
      </p:sp>
      <p:sp>
        <p:nvSpPr>
          <p:cNvPr id="13" name="Text 10"/>
          <p:cNvSpPr/>
          <p:nvPr/>
        </p:nvSpPr>
        <p:spPr>
          <a:xfrm>
            <a:off x="1005780" y="7042696"/>
            <a:ext cx="2615119" cy="22860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200" dirty="0">
                <a:solidFill>
                  <a:srgbClr val="9A9A9A"/>
                </a:solidFill>
                <a:latin typeface="Helvetica Neue" pitchFamily="34" charset="0"/>
                <a:ea typeface="Helvetica Neue" pitchFamily="34" charset="-122"/>
                <a:cs typeface="Helvetica Neue" pitchFamily="34" charset="-120"/>
              </a:rPr>
              <a:t>Benchtop analogue</a:t>
            </a:r>
            <a:endParaRPr lang="en-US" sz="1200" dirty="0"/>
          </a:p>
        </p:txBody>
      </p:sp>
      <p:sp>
        <p:nvSpPr>
          <p:cNvPr id="14" name="Shape 11"/>
          <p:cNvSpPr/>
          <p:nvPr/>
        </p:nvSpPr>
        <p:spPr>
          <a:xfrm>
            <a:off x="877788" y="9591377"/>
            <a:ext cx="16532423" cy="9525"/>
          </a:xfrm>
          <a:prstGeom prst="rect">
            <a:avLst/>
          </a:prstGeom>
          <a:solidFill>
            <a:srgbClr val="ECECEC"/>
          </a:solidFill>
          <a:ln/>
        </p:spPr>
      </p:sp>
      <p:sp>
        <p:nvSpPr>
          <p:cNvPr id="15" name="Text 12"/>
          <p:cNvSpPr/>
          <p:nvPr/>
        </p:nvSpPr>
        <p:spPr>
          <a:xfrm>
            <a:off x="877788" y="9734252"/>
            <a:ext cx="2633127" cy="200025"/>
          </a:xfrm>
          <a:prstGeom prst="rect">
            <a:avLst/>
          </a:prstGeom>
          <a:noFill/>
          <a:ln/>
        </p:spPr>
        <p:txBody>
          <a:bodyPr wrap="square" lIns="25400" tIns="25400" rIns="25400" bIns="25400" rtlCol="0" anchor="t">
            <a:normAutofit fontScale="92500" lnSpcReduction="10000"/>
          </a:bodyPr>
          <a:lstStyle/>
          <a:p>
            <a:pPr marL="0" indent="0" algn="l">
              <a:buNone/>
            </a:pPr>
            <a:r>
              <a:rPr lang="en-US" sz="1125" kern="0" spc="34" dirty="0">
                <a:solidFill>
                  <a:srgbClr val="A6A6A6"/>
                </a:solidFill>
                <a:latin typeface="Helvetica Neue" pitchFamily="34" charset="0"/>
                <a:ea typeface="Helvetica Neue" pitchFamily="34" charset="-122"/>
                <a:cs typeface="Helvetica Neue" pitchFamily="34" charset="-120"/>
              </a:rPr>
              <a:t>16th International LISA Symposium</a:t>
            </a:r>
            <a:endParaRPr lang="en-US" sz="1125" dirty="0"/>
          </a:p>
        </p:txBody>
      </p:sp>
      <p:sp>
        <p:nvSpPr>
          <p:cNvPr id="16" name="Text 13"/>
          <p:cNvSpPr/>
          <p:nvPr/>
        </p:nvSpPr>
        <p:spPr>
          <a:xfrm>
            <a:off x="15798105" y="9734252"/>
            <a:ext cx="1773317" cy="200025"/>
          </a:xfrm>
          <a:prstGeom prst="rect">
            <a:avLst/>
          </a:prstGeom>
          <a:noFill/>
          <a:ln/>
        </p:spPr>
        <p:txBody>
          <a:bodyPr wrap="square" lIns="25400" tIns="25400" rIns="25400" bIns="25400" rtlCol="0" anchor="t">
            <a:normAutofit fontScale="92500" lnSpcReduction="10000"/>
          </a:bodyPr>
          <a:lstStyle/>
          <a:p>
            <a:pPr marL="0" indent="0" algn="l">
              <a:buNone/>
            </a:pPr>
            <a:r>
              <a:rPr lang="en-US" sz="1125" kern="0" spc="34" dirty="0">
                <a:solidFill>
                  <a:srgbClr val="A6A6A6"/>
                </a:solidFill>
                <a:latin typeface="Helvetica Neue" pitchFamily="34" charset="0"/>
                <a:ea typeface="Helvetica Neue" pitchFamily="34" charset="-122"/>
                <a:cs typeface="Helvetica Neue" pitchFamily="34" charset="-120"/>
              </a:rPr>
              <a:t>23 June 2026 · 05 / 16</a:t>
            </a:r>
            <a:endParaRPr lang="en-US" sz="112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77788" y="555427"/>
            <a:ext cx="18185666" cy="209550"/>
          </a:xfrm>
          <a:prstGeom prst="rect">
            <a:avLst/>
          </a:prstGeom>
          <a:noFill/>
          <a:ln/>
        </p:spPr>
        <p:txBody>
          <a:bodyPr wrap="square" lIns="25400" tIns="25400" rIns="25400" bIns="25400" rtlCol="0" anchor="t">
            <a:normAutofit lnSpcReduction="10000"/>
          </a:bodyPr>
          <a:lstStyle/>
          <a:p>
            <a:pPr marL="0" indent="0" algn="l">
              <a:buNone/>
            </a:pPr>
            <a:r>
              <a:rPr lang="en-US" sz="1125" b="1" kern="0" spc="225" dirty="0">
                <a:solidFill>
                  <a:srgbClr val="9A9A9A"/>
                </a:solidFill>
                <a:latin typeface="Helvetica Neue" pitchFamily="34" charset="0"/>
                <a:ea typeface="Helvetica Neue" pitchFamily="34" charset="-122"/>
                <a:cs typeface="Helvetica Neue" pitchFamily="34" charset="-120"/>
              </a:rPr>
              <a:t>TESTBED CONCEPT</a:t>
            </a:r>
            <a:endParaRPr lang="en-US" sz="1125" dirty="0"/>
          </a:p>
        </p:txBody>
      </p:sp>
      <p:sp>
        <p:nvSpPr>
          <p:cNvPr id="3" name="Text 1"/>
          <p:cNvSpPr/>
          <p:nvPr/>
        </p:nvSpPr>
        <p:spPr>
          <a:xfrm>
            <a:off x="877788" y="822127"/>
            <a:ext cx="18185666" cy="485775"/>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3450" b="1" kern="0" spc="-52" dirty="0">
                <a:solidFill>
                  <a:srgbClr val="141414"/>
                </a:solidFill>
                <a:latin typeface="Helvetica Neue" pitchFamily="34" charset="0"/>
                <a:ea typeface="Helvetica Neue" pitchFamily="34" charset="-122"/>
                <a:cs typeface="Helvetica Neue" pitchFamily="34" charset="-120"/>
              </a:rPr>
              <a:t>Matching the Interferometric Signal Model</a:t>
            </a:r>
            <a:endParaRPr lang="en-US" sz="3450" dirty="0"/>
          </a:p>
        </p:txBody>
      </p:sp>
      <p:pic>
        <p:nvPicPr>
          <p:cNvPr id="4" name="Image 0" descr="preencoded.png"/>
          <p:cNvPicPr>
            <a:picLocks noChangeAspect="1"/>
          </p:cNvPicPr>
          <p:nvPr/>
        </p:nvPicPr>
        <p:blipFill>
          <a:blip r:embed="rId3"/>
          <a:srcRect t="-75" b="-75"/>
          <a:stretch/>
        </p:blipFill>
        <p:spPr>
          <a:xfrm>
            <a:off x="786259" y="1851571"/>
            <a:ext cx="9601200" cy="2684859"/>
          </a:xfrm>
          <a:prstGeom prst="rect">
            <a:avLst/>
          </a:prstGeom>
        </p:spPr>
      </p:pic>
      <p:pic>
        <p:nvPicPr>
          <p:cNvPr id="6" name="Image 2" descr="preencoded.png"/>
          <p:cNvPicPr>
            <a:picLocks noChangeAspect="1"/>
          </p:cNvPicPr>
          <p:nvPr/>
        </p:nvPicPr>
        <p:blipFill>
          <a:blip r:embed="rId4"/>
          <a:srcRect l="-6" r="-6"/>
          <a:stretch/>
        </p:blipFill>
        <p:spPr>
          <a:xfrm>
            <a:off x="914400" y="5472559"/>
            <a:ext cx="9966871" cy="3497461"/>
          </a:xfrm>
          <a:prstGeom prst="rect">
            <a:avLst/>
          </a:prstGeom>
        </p:spPr>
      </p:pic>
      <p:sp>
        <p:nvSpPr>
          <p:cNvPr id="8" name="Text 2"/>
          <p:cNvSpPr/>
          <p:nvPr/>
        </p:nvSpPr>
        <p:spPr>
          <a:xfrm>
            <a:off x="14996071" y="3597081"/>
            <a:ext cx="3218557" cy="314325"/>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141414"/>
                </a:solidFill>
                <a:latin typeface="Helvetica Neue" pitchFamily="34" charset="0"/>
                <a:ea typeface="Helvetica Neue" pitchFamily="34" charset="-122"/>
                <a:cs typeface="Helvetica Neue" pitchFamily="34" charset="-120"/>
              </a:rPr>
              <a:t>LISA arm</a:t>
            </a:r>
            <a:endParaRPr lang="en-US" sz="1800" dirty="0"/>
          </a:p>
        </p:txBody>
      </p:sp>
      <p:sp>
        <p:nvSpPr>
          <p:cNvPr id="9" name="Text 3"/>
          <p:cNvSpPr/>
          <p:nvPr/>
        </p:nvSpPr>
        <p:spPr>
          <a:xfrm>
            <a:off x="14996071" y="3892356"/>
            <a:ext cx="3218557" cy="209550"/>
          </a:xfrm>
          <a:prstGeom prst="rect">
            <a:avLst/>
          </a:prstGeom>
          <a:noFill/>
          <a:ln/>
        </p:spPr>
        <p:txBody>
          <a:bodyPr wrap="square" lIns="25400" tIns="25400" rIns="25400" bIns="25400" rtlCol="0" anchor="t">
            <a:normAutofit fontScale="92500" lnSpcReduction="10000"/>
          </a:bodyPr>
          <a:lstStyle/>
          <a:p>
            <a:pPr marL="0" indent="0" algn="l">
              <a:buNone/>
            </a:pPr>
            <a:r>
              <a:rPr lang="en-US" sz="1200" dirty="0">
                <a:solidFill>
                  <a:srgbClr val="9A9A9A"/>
                </a:solidFill>
                <a:latin typeface="Helvetica Neue" pitchFamily="34" charset="0"/>
                <a:ea typeface="Helvetica Neue" pitchFamily="34" charset="-122"/>
                <a:cs typeface="Helvetica Neue" pitchFamily="34" charset="-120"/>
              </a:rPr>
              <a:t>In-flight link</a:t>
            </a:r>
            <a:endParaRPr lang="en-US" sz="1200" dirty="0"/>
          </a:p>
        </p:txBody>
      </p:sp>
      <p:sp>
        <p:nvSpPr>
          <p:cNvPr id="10" name="Text 4"/>
          <p:cNvSpPr/>
          <p:nvPr/>
        </p:nvSpPr>
        <p:spPr>
          <a:xfrm>
            <a:off x="14996071" y="7464160"/>
            <a:ext cx="3218557" cy="314325"/>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141414"/>
                </a:solidFill>
                <a:latin typeface="Helvetica Neue" pitchFamily="34" charset="0"/>
                <a:ea typeface="Helvetica Neue" pitchFamily="34" charset="-122"/>
                <a:cs typeface="Helvetica Neue" pitchFamily="34" charset="-120"/>
              </a:rPr>
              <a:t>Testbed arm</a:t>
            </a:r>
            <a:endParaRPr lang="en-US" sz="1800" dirty="0"/>
          </a:p>
        </p:txBody>
      </p:sp>
      <p:sp>
        <p:nvSpPr>
          <p:cNvPr id="11" name="Text 5"/>
          <p:cNvSpPr/>
          <p:nvPr/>
        </p:nvSpPr>
        <p:spPr>
          <a:xfrm>
            <a:off x="14996071" y="7759435"/>
            <a:ext cx="3218557" cy="209550"/>
          </a:xfrm>
          <a:prstGeom prst="rect">
            <a:avLst/>
          </a:prstGeom>
          <a:noFill/>
          <a:ln/>
        </p:spPr>
        <p:txBody>
          <a:bodyPr wrap="square" lIns="25400" tIns="25400" rIns="25400" bIns="25400" rtlCol="0" anchor="t">
            <a:normAutofit fontScale="92500" lnSpcReduction="10000"/>
          </a:bodyPr>
          <a:lstStyle/>
          <a:p>
            <a:pPr marL="0" indent="0" algn="l">
              <a:buNone/>
            </a:pPr>
            <a:r>
              <a:rPr lang="en-US" sz="1200" dirty="0">
                <a:solidFill>
                  <a:srgbClr val="9A9A9A"/>
                </a:solidFill>
                <a:latin typeface="Helvetica Neue" pitchFamily="34" charset="0"/>
                <a:ea typeface="Helvetica Neue" pitchFamily="34" charset="-122"/>
                <a:cs typeface="Helvetica Neue" pitchFamily="34" charset="-120"/>
              </a:rPr>
              <a:t>Benchtop analogue</a:t>
            </a:r>
            <a:endParaRPr lang="en-US" sz="1200" dirty="0"/>
          </a:p>
        </p:txBody>
      </p:sp>
      <p:sp>
        <p:nvSpPr>
          <p:cNvPr id="12" name="Shape 6"/>
          <p:cNvSpPr/>
          <p:nvPr/>
        </p:nvSpPr>
        <p:spPr>
          <a:xfrm>
            <a:off x="877788" y="9591377"/>
            <a:ext cx="16532423" cy="9525"/>
          </a:xfrm>
          <a:prstGeom prst="rect">
            <a:avLst/>
          </a:prstGeom>
          <a:solidFill>
            <a:srgbClr val="ECECEC"/>
          </a:solidFill>
          <a:ln/>
        </p:spPr>
      </p:sp>
      <p:sp>
        <p:nvSpPr>
          <p:cNvPr id="13" name="Text 7"/>
          <p:cNvSpPr/>
          <p:nvPr/>
        </p:nvSpPr>
        <p:spPr>
          <a:xfrm>
            <a:off x="877788" y="9734252"/>
            <a:ext cx="2633127" cy="200025"/>
          </a:xfrm>
          <a:prstGeom prst="rect">
            <a:avLst/>
          </a:prstGeom>
          <a:noFill/>
          <a:ln/>
        </p:spPr>
        <p:txBody>
          <a:bodyPr wrap="square" lIns="25400" tIns="25400" rIns="25400" bIns="25400" rtlCol="0" anchor="t">
            <a:normAutofit fontScale="92500" lnSpcReduction="10000"/>
          </a:bodyPr>
          <a:lstStyle/>
          <a:p>
            <a:pPr marL="0" indent="0" algn="l">
              <a:buNone/>
            </a:pPr>
            <a:r>
              <a:rPr lang="en-US" sz="1125" kern="0" spc="34" dirty="0">
                <a:solidFill>
                  <a:srgbClr val="A6A6A6"/>
                </a:solidFill>
                <a:latin typeface="Helvetica Neue" pitchFamily="34" charset="0"/>
                <a:ea typeface="Helvetica Neue" pitchFamily="34" charset="-122"/>
                <a:cs typeface="Helvetica Neue" pitchFamily="34" charset="-120"/>
              </a:rPr>
              <a:t>16th International LISA Symposium</a:t>
            </a:r>
            <a:endParaRPr lang="en-US" sz="1125" dirty="0"/>
          </a:p>
        </p:txBody>
      </p:sp>
      <p:sp>
        <p:nvSpPr>
          <p:cNvPr id="14" name="Text 8"/>
          <p:cNvSpPr/>
          <p:nvPr/>
        </p:nvSpPr>
        <p:spPr>
          <a:xfrm>
            <a:off x="15798105" y="9734252"/>
            <a:ext cx="1773317" cy="200025"/>
          </a:xfrm>
          <a:prstGeom prst="rect">
            <a:avLst/>
          </a:prstGeom>
          <a:noFill/>
          <a:ln/>
        </p:spPr>
        <p:txBody>
          <a:bodyPr wrap="square" lIns="25400" tIns="25400" rIns="25400" bIns="25400" rtlCol="0" anchor="t">
            <a:normAutofit fontScale="92500" lnSpcReduction="10000"/>
          </a:bodyPr>
          <a:lstStyle/>
          <a:p>
            <a:pPr marL="0" indent="0" algn="l">
              <a:buNone/>
            </a:pPr>
            <a:r>
              <a:rPr lang="en-US" sz="1125" kern="0" spc="34" dirty="0">
                <a:solidFill>
                  <a:srgbClr val="A6A6A6"/>
                </a:solidFill>
                <a:latin typeface="Helvetica Neue" pitchFamily="34" charset="0"/>
                <a:ea typeface="Helvetica Neue" pitchFamily="34" charset="-122"/>
                <a:cs typeface="Helvetica Neue" pitchFamily="34" charset="-120"/>
              </a:rPr>
              <a:t>23 June 2026 · 06 / 16</a:t>
            </a:r>
            <a:endParaRPr lang="en-US" sz="1125" dirty="0"/>
          </a:p>
        </p:txBody>
      </p:sp>
      <p:pic>
        <p:nvPicPr>
          <p:cNvPr id="16" name="Graphic 15">
            <a:extLst>
              <a:ext uri="{FF2B5EF4-FFF2-40B4-BE49-F238E27FC236}">
                <a16:creationId xmlns:a16="http://schemas.microsoft.com/office/drawing/2014/main" id="{6AAAFCDA-ED6E-97A8-8D44-47E59DAA280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929736" y="4255311"/>
            <a:ext cx="7443864" cy="1337221"/>
          </a:xfrm>
          <a:prstGeom prst="rect">
            <a:avLst/>
          </a:prstGeom>
        </p:spPr>
      </p:pic>
      <p:pic>
        <p:nvPicPr>
          <p:cNvPr id="18" name="Graphic 17">
            <a:extLst>
              <a:ext uri="{FF2B5EF4-FFF2-40B4-BE49-F238E27FC236}">
                <a16:creationId xmlns:a16="http://schemas.microsoft.com/office/drawing/2014/main" id="{0272B11E-E04F-0371-E640-35FD155FC3C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010783" y="8429922"/>
            <a:ext cx="9362817" cy="114180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77788" y="555427"/>
            <a:ext cx="18185666" cy="209550"/>
          </a:xfrm>
          <a:prstGeom prst="rect">
            <a:avLst/>
          </a:prstGeom>
          <a:noFill/>
          <a:ln/>
        </p:spPr>
        <p:txBody>
          <a:bodyPr wrap="square" lIns="25400" tIns="25400" rIns="25400" bIns="25400" rtlCol="0" anchor="t">
            <a:normAutofit lnSpcReduction="10000"/>
          </a:bodyPr>
          <a:lstStyle/>
          <a:p>
            <a:r>
              <a:rPr lang="en-US" sz="1125" b="1" kern="0" spc="225" dirty="0">
                <a:solidFill>
                  <a:srgbClr val="9A9A9A"/>
                </a:solidFill>
                <a:latin typeface="Helvetica Neue" pitchFamily="34" charset="0"/>
                <a:ea typeface="Helvetica Neue" pitchFamily="34" charset="-122"/>
                <a:cs typeface="Helvetica Neue" pitchFamily="34" charset="-120"/>
              </a:rPr>
              <a:t>TESTBED CONCEPT</a:t>
            </a:r>
            <a:endParaRPr lang="en-US" sz="1125" dirty="0"/>
          </a:p>
          <a:p>
            <a:pPr marL="0" indent="0" algn="l">
              <a:buNone/>
            </a:pPr>
            <a:endParaRPr lang="en-US" sz="1125" dirty="0"/>
          </a:p>
        </p:txBody>
      </p:sp>
      <p:sp>
        <p:nvSpPr>
          <p:cNvPr id="3" name="Text 1"/>
          <p:cNvSpPr/>
          <p:nvPr/>
        </p:nvSpPr>
        <p:spPr>
          <a:xfrm>
            <a:off x="877788" y="822127"/>
            <a:ext cx="18185666" cy="485775"/>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3450" b="1" kern="0" spc="-52" dirty="0">
                <a:solidFill>
                  <a:srgbClr val="141414"/>
                </a:solidFill>
                <a:latin typeface="Helvetica Neue" pitchFamily="34" charset="0"/>
                <a:ea typeface="Helvetica Neue" pitchFamily="34" charset="-122"/>
                <a:cs typeface="Helvetica Neue" pitchFamily="34" charset="-120"/>
              </a:rPr>
              <a:t>Full Testbed</a:t>
            </a:r>
            <a:endParaRPr lang="en-US" sz="3450" dirty="0"/>
          </a:p>
        </p:txBody>
      </p:sp>
      <p:pic>
        <p:nvPicPr>
          <p:cNvPr id="4" name="Image 0" descr="preencoded.png"/>
          <p:cNvPicPr>
            <a:picLocks noChangeAspect="1"/>
          </p:cNvPicPr>
          <p:nvPr/>
        </p:nvPicPr>
        <p:blipFill>
          <a:blip r:embed="rId3"/>
          <a:srcRect l="-2293" r="-2293"/>
          <a:stretch/>
        </p:blipFill>
        <p:spPr>
          <a:xfrm>
            <a:off x="6912769" y="1337221"/>
            <a:ext cx="10606980" cy="8435280"/>
          </a:xfrm>
          <a:prstGeom prst="rect">
            <a:avLst/>
          </a:prstGeom>
        </p:spPr>
      </p:pic>
      <p:sp>
        <p:nvSpPr>
          <p:cNvPr id="6" name="Text 3"/>
          <p:cNvSpPr/>
          <p:nvPr/>
        </p:nvSpPr>
        <p:spPr>
          <a:xfrm>
            <a:off x="1296888" y="2571750"/>
            <a:ext cx="3161913" cy="333375"/>
          </a:xfrm>
          <a:prstGeom prst="rect">
            <a:avLst/>
          </a:prstGeom>
          <a:noFill/>
          <a:ln/>
        </p:spPr>
        <p:txBody>
          <a:bodyPr wrap="square" lIns="25400" tIns="25400" rIns="25400" bIns="25400" rtlCol="0" anchor="t">
            <a:normAutofit fontScale="92500" lnSpcReduction="10000"/>
          </a:bodyPr>
          <a:lstStyle/>
          <a:p>
            <a:pPr marL="0" indent="0" algn="l">
              <a:lnSpc>
                <a:spcPct val="125000"/>
              </a:lnSpc>
              <a:buNone/>
            </a:pPr>
            <a:r>
              <a:rPr lang="en-US" sz="1875" b="1" dirty="0">
                <a:solidFill>
                  <a:srgbClr val="1A1A1A"/>
                </a:solidFill>
                <a:latin typeface="Helvetica Neue" pitchFamily="34" charset="0"/>
                <a:ea typeface="Helvetica Neue" pitchFamily="34" charset="-122"/>
                <a:cs typeface="Helvetica Neue" pitchFamily="34" charset="-120"/>
              </a:rPr>
              <a:t>One laser per spacecraft</a:t>
            </a:r>
            <a:endParaRPr lang="en-US" sz="1875" dirty="0"/>
          </a:p>
        </p:txBody>
      </p:sp>
      <p:sp>
        <p:nvSpPr>
          <p:cNvPr id="7" name="Text 4"/>
          <p:cNvSpPr/>
          <p:nvPr/>
        </p:nvSpPr>
        <p:spPr>
          <a:xfrm>
            <a:off x="1296888" y="2895600"/>
            <a:ext cx="3161913" cy="257175"/>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1350" dirty="0">
                <a:solidFill>
                  <a:srgbClr val="8A8A8A"/>
                </a:solidFill>
                <a:latin typeface="Helvetica Neue" pitchFamily="34" charset="0"/>
                <a:ea typeface="Helvetica Neue" pitchFamily="34" charset="-122"/>
                <a:cs typeface="Helvetica Neue" pitchFamily="34" charset="-120"/>
              </a:rPr>
              <a:t>An independent source on each satellite</a:t>
            </a:r>
            <a:endParaRPr lang="en-US" sz="1350" dirty="0"/>
          </a:p>
        </p:txBody>
      </p:sp>
      <p:sp>
        <p:nvSpPr>
          <p:cNvPr id="9" name="Text 6"/>
          <p:cNvSpPr/>
          <p:nvPr/>
        </p:nvSpPr>
        <p:spPr>
          <a:xfrm>
            <a:off x="1296888" y="3400425"/>
            <a:ext cx="3433346" cy="333375"/>
          </a:xfrm>
          <a:prstGeom prst="rect">
            <a:avLst/>
          </a:prstGeom>
          <a:noFill/>
          <a:ln/>
        </p:spPr>
        <p:txBody>
          <a:bodyPr wrap="square" lIns="25400" tIns="25400" rIns="25400" bIns="25400" rtlCol="0" anchor="t">
            <a:normAutofit fontScale="92500" lnSpcReduction="10000"/>
          </a:bodyPr>
          <a:lstStyle/>
          <a:p>
            <a:pPr marL="0" indent="0" algn="l">
              <a:lnSpc>
                <a:spcPct val="125000"/>
              </a:lnSpc>
              <a:buNone/>
            </a:pPr>
            <a:r>
              <a:rPr lang="en-US" sz="1875" b="1" dirty="0">
                <a:solidFill>
                  <a:srgbClr val="1A1A1A"/>
                </a:solidFill>
                <a:latin typeface="Helvetica Neue" pitchFamily="34" charset="0"/>
                <a:ea typeface="Helvetica Neue" pitchFamily="34" charset="-122"/>
                <a:cs typeface="Helvetica Neue" pitchFamily="34" charset="-120"/>
              </a:rPr>
              <a:t>Cavity-locked primary laser</a:t>
            </a:r>
            <a:endParaRPr lang="en-US" sz="1875" dirty="0"/>
          </a:p>
        </p:txBody>
      </p:sp>
      <p:sp>
        <p:nvSpPr>
          <p:cNvPr id="10" name="Text 7"/>
          <p:cNvSpPr/>
          <p:nvPr/>
        </p:nvSpPr>
        <p:spPr>
          <a:xfrm>
            <a:off x="1296888" y="3724275"/>
            <a:ext cx="3433346" cy="257175"/>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1350" dirty="0">
                <a:solidFill>
                  <a:srgbClr val="8A8A8A"/>
                </a:solidFill>
                <a:latin typeface="Helvetica Neue" pitchFamily="34" charset="0"/>
                <a:ea typeface="Helvetica Neue" pitchFamily="34" charset="-122"/>
                <a:cs typeface="Helvetica Neue" pitchFamily="34" charset="-120"/>
              </a:rPr>
              <a:t>Provides LISA-like laser frequency noise</a:t>
            </a:r>
            <a:endParaRPr lang="en-US" sz="1350" dirty="0"/>
          </a:p>
        </p:txBody>
      </p:sp>
      <p:sp>
        <p:nvSpPr>
          <p:cNvPr id="12" name="Text 9"/>
          <p:cNvSpPr/>
          <p:nvPr/>
        </p:nvSpPr>
        <p:spPr>
          <a:xfrm>
            <a:off x="1296888" y="4229100"/>
            <a:ext cx="2997056" cy="333375"/>
          </a:xfrm>
          <a:prstGeom prst="rect">
            <a:avLst/>
          </a:prstGeom>
          <a:noFill/>
          <a:ln/>
        </p:spPr>
        <p:txBody>
          <a:bodyPr wrap="square" lIns="25400" tIns="25400" rIns="25400" bIns="25400" rtlCol="0" anchor="t">
            <a:normAutofit fontScale="92500" lnSpcReduction="10000"/>
          </a:bodyPr>
          <a:lstStyle/>
          <a:p>
            <a:pPr marL="0" indent="0" algn="l">
              <a:lnSpc>
                <a:spcPct val="125000"/>
              </a:lnSpc>
              <a:buNone/>
            </a:pPr>
            <a:r>
              <a:rPr lang="en-US" sz="1875" b="1" dirty="0">
                <a:solidFill>
                  <a:srgbClr val="1A1A1A"/>
                </a:solidFill>
                <a:latin typeface="Helvetica Neue" pitchFamily="34" charset="0"/>
                <a:ea typeface="Helvetica Neue" pitchFamily="34" charset="-122"/>
                <a:cs typeface="Helvetica Neue" pitchFamily="34" charset="-120"/>
              </a:rPr>
              <a:t>Independent clocks</a:t>
            </a:r>
            <a:endParaRPr lang="en-US" sz="1875" dirty="0"/>
          </a:p>
        </p:txBody>
      </p:sp>
      <p:sp>
        <p:nvSpPr>
          <p:cNvPr id="13" name="Text 10"/>
          <p:cNvSpPr/>
          <p:nvPr/>
        </p:nvSpPr>
        <p:spPr>
          <a:xfrm>
            <a:off x="1296888" y="4552950"/>
            <a:ext cx="2997056" cy="257175"/>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1350" dirty="0">
                <a:solidFill>
                  <a:srgbClr val="8A8A8A"/>
                </a:solidFill>
                <a:latin typeface="Helvetica Neue" pitchFamily="34" charset="0"/>
                <a:ea typeface="Helvetica Neue" pitchFamily="34" charset="-122"/>
                <a:cs typeface="Helvetica Neue" pitchFamily="34" charset="-120"/>
              </a:rPr>
              <a:t>Allows to demonstrate clock noise removal</a:t>
            </a:r>
            <a:endParaRPr lang="en-US" sz="1350" dirty="0"/>
          </a:p>
        </p:txBody>
      </p:sp>
      <p:sp>
        <p:nvSpPr>
          <p:cNvPr id="15" name="Text 12"/>
          <p:cNvSpPr/>
          <p:nvPr/>
        </p:nvSpPr>
        <p:spPr>
          <a:xfrm>
            <a:off x="1296888" y="5057775"/>
            <a:ext cx="2938775" cy="333375"/>
          </a:xfrm>
          <a:prstGeom prst="rect">
            <a:avLst/>
          </a:prstGeom>
          <a:noFill/>
          <a:ln/>
        </p:spPr>
        <p:txBody>
          <a:bodyPr wrap="square" lIns="25400" tIns="25400" rIns="25400" bIns="25400" rtlCol="0" anchor="t">
            <a:normAutofit fontScale="92500" lnSpcReduction="10000"/>
          </a:bodyPr>
          <a:lstStyle/>
          <a:p>
            <a:pPr marL="0" indent="0" algn="l">
              <a:lnSpc>
                <a:spcPct val="125000"/>
              </a:lnSpc>
              <a:buNone/>
            </a:pPr>
            <a:r>
              <a:rPr lang="en-US" sz="1875" b="1" dirty="0">
                <a:solidFill>
                  <a:srgbClr val="1A1A1A"/>
                </a:solidFill>
                <a:latin typeface="Helvetica Neue" pitchFamily="34" charset="0"/>
                <a:ea typeface="Helvetica Neue" pitchFamily="34" charset="-122"/>
                <a:cs typeface="Helvetica Neue" pitchFamily="34" charset="-120"/>
              </a:rPr>
              <a:t>Six separate delay lines</a:t>
            </a:r>
            <a:endParaRPr lang="en-US" sz="1875" dirty="0"/>
          </a:p>
        </p:txBody>
      </p:sp>
      <p:sp>
        <p:nvSpPr>
          <p:cNvPr id="16" name="Text 13"/>
          <p:cNvSpPr/>
          <p:nvPr/>
        </p:nvSpPr>
        <p:spPr>
          <a:xfrm>
            <a:off x="1296888" y="5381625"/>
            <a:ext cx="2938775" cy="257175"/>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1350" dirty="0">
                <a:solidFill>
                  <a:srgbClr val="8A8A8A"/>
                </a:solidFill>
                <a:latin typeface="Helvetica Neue" pitchFamily="34" charset="0"/>
                <a:ea typeface="Helvetica Neue" pitchFamily="34" charset="-122"/>
                <a:cs typeface="Helvetica Neue" pitchFamily="34" charset="-120"/>
              </a:rPr>
              <a:t>Two per inter-spacecraft link</a:t>
            </a:r>
            <a:endParaRPr lang="en-US" sz="1350" dirty="0"/>
          </a:p>
        </p:txBody>
      </p:sp>
      <p:sp>
        <p:nvSpPr>
          <p:cNvPr id="17" name="Shape 14"/>
          <p:cNvSpPr/>
          <p:nvPr/>
        </p:nvSpPr>
        <p:spPr>
          <a:xfrm>
            <a:off x="877788" y="9591377"/>
            <a:ext cx="16532423" cy="9525"/>
          </a:xfrm>
          <a:prstGeom prst="rect">
            <a:avLst/>
          </a:prstGeom>
          <a:solidFill>
            <a:srgbClr val="ECECEC"/>
          </a:solidFill>
          <a:ln/>
        </p:spPr>
      </p:sp>
      <p:sp>
        <p:nvSpPr>
          <p:cNvPr id="18" name="Text 15"/>
          <p:cNvSpPr/>
          <p:nvPr/>
        </p:nvSpPr>
        <p:spPr>
          <a:xfrm>
            <a:off x="877788" y="9734252"/>
            <a:ext cx="2633127" cy="200025"/>
          </a:xfrm>
          <a:prstGeom prst="rect">
            <a:avLst/>
          </a:prstGeom>
          <a:noFill/>
          <a:ln/>
        </p:spPr>
        <p:txBody>
          <a:bodyPr wrap="square" lIns="25400" tIns="25400" rIns="25400" bIns="25400" rtlCol="0" anchor="t">
            <a:normAutofit fontScale="92500" lnSpcReduction="10000"/>
          </a:bodyPr>
          <a:lstStyle/>
          <a:p>
            <a:pPr marL="0" indent="0" algn="l">
              <a:buNone/>
            </a:pPr>
            <a:r>
              <a:rPr lang="en-US" sz="1125" kern="0" spc="34" dirty="0">
                <a:solidFill>
                  <a:srgbClr val="A6A6A6"/>
                </a:solidFill>
                <a:latin typeface="Helvetica Neue" pitchFamily="34" charset="0"/>
                <a:ea typeface="Helvetica Neue" pitchFamily="34" charset="-122"/>
                <a:cs typeface="Helvetica Neue" pitchFamily="34" charset="-120"/>
              </a:rPr>
              <a:t>16th International LISA Symposium</a:t>
            </a:r>
            <a:endParaRPr lang="en-US" sz="1125" dirty="0"/>
          </a:p>
        </p:txBody>
      </p:sp>
      <p:sp>
        <p:nvSpPr>
          <p:cNvPr id="19" name="Text 16"/>
          <p:cNvSpPr/>
          <p:nvPr/>
        </p:nvSpPr>
        <p:spPr>
          <a:xfrm>
            <a:off x="15798105" y="9734252"/>
            <a:ext cx="1773317" cy="200025"/>
          </a:xfrm>
          <a:prstGeom prst="rect">
            <a:avLst/>
          </a:prstGeom>
          <a:noFill/>
          <a:ln/>
        </p:spPr>
        <p:txBody>
          <a:bodyPr wrap="square" lIns="25400" tIns="25400" rIns="25400" bIns="25400" rtlCol="0" anchor="t">
            <a:normAutofit fontScale="92500" lnSpcReduction="10000"/>
          </a:bodyPr>
          <a:lstStyle/>
          <a:p>
            <a:pPr marL="0" indent="0" algn="l">
              <a:buNone/>
            </a:pPr>
            <a:r>
              <a:rPr lang="en-US" sz="1125" kern="0" spc="34" dirty="0">
                <a:solidFill>
                  <a:srgbClr val="A6A6A6"/>
                </a:solidFill>
                <a:latin typeface="Helvetica Neue" pitchFamily="34" charset="0"/>
                <a:ea typeface="Helvetica Neue" pitchFamily="34" charset="-122"/>
                <a:cs typeface="Helvetica Neue" pitchFamily="34" charset="-120"/>
              </a:rPr>
              <a:t>23 June 2026 · 07 / 16</a:t>
            </a:r>
            <a:endParaRPr lang="en-US" sz="1125" dirty="0"/>
          </a:p>
        </p:txBody>
      </p:sp>
      <p:sp>
        <p:nvSpPr>
          <p:cNvPr id="20" name="Shape 4">
            <a:extLst>
              <a:ext uri="{FF2B5EF4-FFF2-40B4-BE49-F238E27FC236}">
                <a16:creationId xmlns:a16="http://schemas.microsoft.com/office/drawing/2014/main" id="{AC247FFB-A56B-A5DF-C0E3-76E3472E01AD}"/>
              </a:ext>
            </a:extLst>
          </p:cNvPr>
          <p:cNvSpPr/>
          <p:nvPr/>
        </p:nvSpPr>
        <p:spPr>
          <a:xfrm>
            <a:off x="877788" y="1648031"/>
            <a:ext cx="7200000" cy="45719"/>
          </a:xfrm>
          <a:prstGeom prst="rect">
            <a:avLst/>
          </a:prstGeom>
          <a:solidFill>
            <a:srgbClr val="ECECEC"/>
          </a:solidFill>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77788" y="555427"/>
            <a:ext cx="18185666" cy="209550"/>
          </a:xfrm>
          <a:prstGeom prst="rect">
            <a:avLst/>
          </a:prstGeom>
          <a:noFill/>
          <a:ln/>
        </p:spPr>
        <p:txBody>
          <a:bodyPr wrap="square" lIns="25400" tIns="25400" rIns="25400" bIns="25400" rtlCol="0" anchor="t">
            <a:normAutofit lnSpcReduction="10000"/>
          </a:bodyPr>
          <a:lstStyle/>
          <a:p>
            <a:pPr marL="0" indent="0" algn="l">
              <a:buNone/>
            </a:pPr>
            <a:r>
              <a:rPr lang="en-US" sz="1125" b="1" kern="0" spc="225" dirty="0">
                <a:solidFill>
                  <a:srgbClr val="9A9A9A"/>
                </a:solidFill>
                <a:latin typeface="Helvetica Neue" pitchFamily="34" charset="0"/>
                <a:ea typeface="Helvetica Neue" pitchFamily="34" charset="-122"/>
                <a:cs typeface="Helvetica Neue" pitchFamily="34" charset="-120"/>
              </a:rPr>
              <a:t>HARDWARE</a:t>
            </a:r>
            <a:endParaRPr lang="en-US" sz="1125" dirty="0"/>
          </a:p>
        </p:txBody>
      </p:sp>
      <p:sp>
        <p:nvSpPr>
          <p:cNvPr id="3" name="Text 1"/>
          <p:cNvSpPr/>
          <p:nvPr/>
        </p:nvSpPr>
        <p:spPr>
          <a:xfrm>
            <a:off x="877788" y="822127"/>
            <a:ext cx="18185666" cy="485775"/>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3450" b="1" kern="0" spc="-52" dirty="0">
                <a:solidFill>
                  <a:srgbClr val="141414"/>
                </a:solidFill>
                <a:latin typeface="Helvetica Neue" pitchFamily="34" charset="0"/>
                <a:ea typeface="Helvetica Neue" pitchFamily="34" charset="-122"/>
                <a:cs typeface="Helvetica Neue" pitchFamily="34" charset="-120"/>
              </a:rPr>
              <a:t>Cavity Locking Two Lasers</a:t>
            </a:r>
            <a:endParaRPr lang="en-US" sz="3450" dirty="0"/>
          </a:p>
        </p:txBody>
      </p:sp>
      <p:sp>
        <p:nvSpPr>
          <p:cNvPr id="4" name="Shape 2"/>
          <p:cNvSpPr/>
          <p:nvPr/>
        </p:nvSpPr>
        <p:spPr>
          <a:xfrm>
            <a:off x="877788" y="2275500"/>
            <a:ext cx="66675" cy="66675"/>
          </a:xfrm>
          <a:prstGeom prst="ellipse">
            <a:avLst/>
          </a:prstGeom>
          <a:solidFill>
            <a:srgbClr val="141414"/>
          </a:solidFill>
          <a:ln/>
        </p:spPr>
      </p:sp>
      <p:sp>
        <p:nvSpPr>
          <p:cNvPr id="5" name="Text 3"/>
          <p:cNvSpPr/>
          <p:nvPr/>
        </p:nvSpPr>
        <p:spPr>
          <a:xfrm>
            <a:off x="1077812" y="2057400"/>
            <a:ext cx="9500541" cy="333375"/>
          </a:xfrm>
          <a:prstGeom prst="rect">
            <a:avLst/>
          </a:prstGeom>
          <a:noFill/>
          <a:ln/>
        </p:spPr>
        <p:txBody>
          <a:bodyPr wrap="square" lIns="25400" tIns="25400" rIns="25400" bIns="25400" rtlCol="0" anchor="t">
            <a:noAutofit/>
          </a:bodyPr>
          <a:lstStyle/>
          <a:p>
            <a:pPr marL="0" indent="0" algn="l">
              <a:lnSpc>
                <a:spcPct val="135000"/>
              </a:lnSpc>
              <a:buNone/>
            </a:pPr>
            <a:r>
              <a:rPr lang="en-US" sz="2400" dirty="0">
                <a:solidFill>
                  <a:srgbClr val="252525"/>
                </a:solidFill>
                <a:latin typeface="Helvetica Neue" pitchFamily="34" charset="0"/>
                <a:ea typeface="Helvetica Neue" pitchFamily="34" charset="-122"/>
                <a:cs typeface="Helvetica Neue" pitchFamily="34" charset="-120"/>
              </a:rPr>
              <a:t>For LISA-like laser noise, the primary laser should be cavity-locked.</a:t>
            </a:r>
            <a:endParaRPr lang="en-US" sz="2400" dirty="0"/>
          </a:p>
        </p:txBody>
      </p:sp>
      <p:sp>
        <p:nvSpPr>
          <p:cNvPr id="6" name="Shape 4"/>
          <p:cNvSpPr/>
          <p:nvPr/>
        </p:nvSpPr>
        <p:spPr>
          <a:xfrm>
            <a:off x="877788" y="2796012"/>
            <a:ext cx="66675" cy="66675"/>
          </a:xfrm>
          <a:prstGeom prst="ellipse">
            <a:avLst/>
          </a:prstGeom>
          <a:solidFill>
            <a:srgbClr val="141414"/>
          </a:solidFill>
          <a:ln/>
        </p:spPr>
      </p:sp>
      <p:sp>
        <p:nvSpPr>
          <p:cNvPr id="7" name="Text 5"/>
          <p:cNvSpPr/>
          <p:nvPr/>
        </p:nvSpPr>
        <p:spPr>
          <a:xfrm>
            <a:off x="1077813" y="2577912"/>
            <a:ext cx="8814654" cy="537716"/>
          </a:xfrm>
          <a:prstGeom prst="rect">
            <a:avLst/>
          </a:prstGeom>
          <a:noFill/>
          <a:ln/>
        </p:spPr>
        <p:txBody>
          <a:bodyPr wrap="square" lIns="25400" tIns="25400" rIns="25400" bIns="25400" rtlCol="0" anchor="t">
            <a:noAutofit/>
          </a:bodyPr>
          <a:lstStyle/>
          <a:p>
            <a:pPr marL="0" indent="0" algn="l">
              <a:lnSpc>
                <a:spcPct val="135000"/>
              </a:lnSpc>
              <a:buNone/>
            </a:pPr>
            <a:r>
              <a:rPr lang="en-US" sz="2400" dirty="0">
                <a:solidFill>
                  <a:srgbClr val="252525"/>
                </a:solidFill>
                <a:latin typeface="Helvetica Neue" pitchFamily="34" charset="0"/>
                <a:ea typeface="Helvetica Neue" pitchFamily="34" charset="-122"/>
                <a:cs typeface="Helvetica Neue" pitchFamily="34" charset="-120"/>
              </a:rPr>
              <a:t>Two lasers locked to separate cavities — </a:t>
            </a:r>
            <a:r>
              <a:rPr lang="en-US" sz="2400" b="1" dirty="0">
                <a:solidFill>
                  <a:srgbClr val="252525"/>
                </a:solidFill>
                <a:latin typeface="Helvetica Neue" pitchFamily="34" charset="0"/>
                <a:ea typeface="Helvetica Neue" pitchFamily="34" charset="-122"/>
                <a:cs typeface="Helvetica Neue" pitchFamily="34" charset="-120"/>
              </a:rPr>
              <a:t>25 cm </a:t>
            </a:r>
            <a:r>
              <a:rPr lang="en-US" sz="2400" dirty="0">
                <a:solidFill>
                  <a:srgbClr val="252525"/>
                </a:solidFill>
                <a:latin typeface="Helvetica Neue" pitchFamily="34" charset="0"/>
                <a:ea typeface="Helvetica Neue" pitchFamily="34" charset="-122"/>
                <a:cs typeface="Helvetica Neue" pitchFamily="34" charset="-120"/>
              </a:rPr>
              <a:t>and </a:t>
            </a:r>
            <a:r>
              <a:rPr lang="en-US" sz="2400" b="1" dirty="0">
                <a:solidFill>
                  <a:srgbClr val="252525"/>
                </a:solidFill>
                <a:latin typeface="Helvetica Neue" pitchFamily="34" charset="0"/>
                <a:ea typeface="Helvetica Neue" pitchFamily="34" charset="-122"/>
                <a:cs typeface="Helvetica Neue" pitchFamily="34" charset="-120"/>
              </a:rPr>
              <a:t>30 cm</a:t>
            </a:r>
            <a:endParaRPr lang="en-US" sz="2400" dirty="0"/>
          </a:p>
        </p:txBody>
      </p:sp>
      <p:sp>
        <p:nvSpPr>
          <p:cNvPr id="8" name="Shape 6"/>
          <p:cNvSpPr/>
          <p:nvPr/>
        </p:nvSpPr>
        <p:spPr>
          <a:xfrm>
            <a:off x="877788" y="3316524"/>
            <a:ext cx="66675" cy="66675"/>
          </a:xfrm>
          <a:prstGeom prst="ellipse">
            <a:avLst/>
          </a:prstGeom>
          <a:solidFill>
            <a:srgbClr val="141414"/>
          </a:solidFill>
          <a:ln/>
        </p:spPr>
      </p:sp>
      <p:sp>
        <p:nvSpPr>
          <p:cNvPr id="9" name="Text 7"/>
          <p:cNvSpPr/>
          <p:nvPr/>
        </p:nvSpPr>
        <p:spPr>
          <a:xfrm>
            <a:off x="1077812" y="3098424"/>
            <a:ext cx="7384397" cy="422077"/>
          </a:xfrm>
          <a:prstGeom prst="rect">
            <a:avLst/>
          </a:prstGeom>
          <a:noFill/>
          <a:ln/>
        </p:spPr>
        <p:txBody>
          <a:bodyPr wrap="square" lIns="25400" tIns="25400" rIns="25400" bIns="25400" rtlCol="0" anchor="t">
            <a:noAutofit/>
          </a:bodyPr>
          <a:lstStyle/>
          <a:p>
            <a:pPr marL="0" indent="0" algn="l">
              <a:lnSpc>
                <a:spcPct val="135000"/>
              </a:lnSpc>
              <a:buNone/>
            </a:pPr>
            <a:r>
              <a:rPr lang="en-US" sz="2400" dirty="0">
                <a:solidFill>
                  <a:srgbClr val="252525"/>
                </a:solidFill>
                <a:latin typeface="Helvetica Neue" pitchFamily="34" charset="0"/>
                <a:ea typeface="Helvetica Neue" pitchFamily="34" charset="-122"/>
                <a:cs typeface="Helvetica Neue" pitchFamily="34" charset="-120"/>
              </a:rPr>
              <a:t>Two separate Pound–Drever–Hall (PDH) locks</a:t>
            </a:r>
            <a:endParaRPr lang="en-US" sz="2400" dirty="0"/>
          </a:p>
        </p:txBody>
      </p:sp>
      <p:sp>
        <p:nvSpPr>
          <p:cNvPr id="10" name="Shape 8"/>
          <p:cNvSpPr/>
          <p:nvPr/>
        </p:nvSpPr>
        <p:spPr>
          <a:xfrm>
            <a:off x="877788" y="3819107"/>
            <a:ext cx="66675" cy="66675"/>
          </a:xfrm>
          <a:prstGeom prst="ellipse">
            <a:avLst/>
          </a:prstGeom>
          <a:solidFill>
            <a:srgbClr val="141414"/>
          </a:solidFill>
          <a:ln/>
        </p:spPr>
      </p:sp>
      <p:sp>
        <p:nvSpPr>
          <p:cNvPr id="11" name="Text 9"/>
          <p:cNvSpPr/>
          <p:nvPr/>
        </p:nvSpPr>
        <p:spPr>
          <a:xfrm>
            <a:off x="1077812" y="3601006"/>
            <a:ext cx="5399747" cy="498277"/>
          </a:xfrm>
          <a:prstGeom prst="rect">
            <a:avLst/>
          </a:prstGeom>
          <a:noFill/>
          <a:ln/>
        </p:spPr>
        <p:txBody>
          <a:bodyPr wrap="square" lIns="25400" tIns="25400" rIns="25400" bIns="25400" rtlCol="0" anchor="t">
            <a:noAutofit/>
          </a:bodyPr>
          <a:lstStyle/>
          <a:p>
            <a:pPr marL="0" indent="0" algn="l">
              <a:lnSpc>
                <a:spcPct val="135000"/>
              </a:lnSpc>
              <a:buNone/>
            </a:pPr>
            <a:r>
              <a:rPr lang="en-US" sz="2400" dirty="0">
                <a:solidFill>
                  <a:srgbClr val="252525"/>
                </a:solidFill>
                <a:latin typeface="Helvetica Neue" pitchFamily="34" charset="0"/>
                <a:ea typeface="Helvetica Neue" pitchFamily="34" charset="-122"/>
                <a:cs typeface="Helvetica Neue" pitchFamily="34" charset="-120"/>
              </a:rPr>
              <a:t>Beat note needs to be below </a:t>
            </a:r>
            <a:r>
              <a:rPr lang="en-US" sz="2400" b="1" dirty="0">
                <a:solidFill>
                  <a:srgbClr val="252525"/>
                </a:solidFill>
                <a:latin typeface="Helvetica Neue" pitchFamily="34" charset="0"/>
                <a:ea typeface="Helvetica Neue" pitchFamily="34" charset="-122"/>
                <a:cs typeface="Helvetica Neue" pitchFamily="34" charset="-120"/>
              </a:rPr>
              <a:t>60 MHz</a:t>
            </a:r>
            <a:endParaRPr lang="en-US" sz="2400" dirty="0"/>
          </a:p>
        </p:txBody>
      </p:sp>
      <p:sp>
        <p:nvSpPr>
          <p:cNvPr id="13" name="Text 10"/>
          <p:cNvSpPr/>
          <p:nvPr/>
        </p:nvSpPr>
        <p:spPr>
          <a:xfrm>
            <a:off x="668280" y="5038725"/>
            <a:ext cx="3084225" cy="209550"/>
          </a:xfrm>
          <a:prstGeom prst="rect">
            <a:avLst/>
          </a:prstGeom>
          <a:noFill/>
          <a:ln/>
        </p:spPr>
        <p:txBody>
          <a:bodyPr wrap="square" lIns="25400" tIns="25400" rIns="25400" bIns="25400" rtlCol="0" anchor="t">
            <a:noAutofit/>
          </a:bodyPr>
          <a:lstStyle/>
          <a:p>
            <a:pPr marL="0" indent="0" algn="l">
              <a:buNone/>
            </a:pPr>
            <a:r>
              <a:rPr lang="en-US" sz="1600" dirty="0">
                <a:solidFill>
                  <a:srgbClr val="9A9A9A"/>
                </a:solidFill>
                <a:latin typeface="Helvetica Neue" pitchFamily="34" charset="0"/>
                <a:ea typeface="Helvetica Neue" pitchFamily="34" charset="-122"/>
                <a:cs typeface="Helvetica Neue" pitchFamily="34" charset="-120"/>
              </a:rPr>
              <a:t>Illustrative cavity resonances</a:t>
            </a:r>
            <a:endParaRPr lang="en-US" sz="1600" dirty="0"/>
          </a:p>
        </p:txBody>
      </p:sp>
      <p:sp>
        <p:nvSpPr>
          <p:cNvPr id="15" name="Shape 11"/>
          <p:cNvSpPr/>
          <p:nvPr/>
        </p:nvSpPr>
        <p:spPr>
          <a:xfrm>
            <a:off x="877788" y="9591377"/>
            <a:ext cx="16532423" cy="9525"/>
          </a:xfrm>
          <a:prstGeom prst="rect">
            <a:avLst/>
          </a:prstGeom>
          <a:solidFill>
            <a:srgbClr val="ECECEC"/>
          </a:solidFill>
          <a:ln/>
        </p:spPr>
      </p:sp>
      <p:sp>
        <p:nvSpPr>
          <p:cNvPr id="16" name="Text 12"/>
          <p:cNvSpPr/>
          <p:nvPr/>
        </p:nvSpPr>
        <p:spPr>
          <a:xfrm>
            <a:off x="877788" y="9734252"/>
            <a:ext cx="2633127" cy="200025"/>
          </a:xfrm>
          <a:prstGeom prst="rect">
            <a:avLst/>
          </a:prstGeom>
          <a:noFill/>
          <a:ln/>
        </p:spPr>
        <p:txBody>
          <a:bodyPr wrap="square" lIns="25400" tIns="25400" rIns="25400" bIns="25400" rtlCol="0" anchor="t">
            <a:normAutofit fontScale="92500" lnSpcReduction="10000"/>
          </a:bodyPr>
          <a:lstStyle/>
          <a:p>
            <a:pPr marL="0" indent="0" algn="l">
              <a:buNone/>
            </a:pPr>
            <a:r>
              <a:rPr lang="en-US" sz="1125" kern="0" spc="34" dirty="0">
                <a:solidFill>
                  <a:srgbClr val="A6A6A6"/>
                </a:solidFill>
                <a:latin typeface="Helvetica Neue" pitchFamily="34" charset="0"/>
                <a:ea typeface="Helvetica Neue" pitchFamily="34" charset="-122"/>
                <a:cs typeface="Helvetica Neue" pitchFamily="34" charset="-120"/>
              </a:rPr>
              <a:t>16th International LISA Symposium</a:t>
            </a:r>
            <a:endParaRPr lang="en-US" sz="1125" dirty="0"/>
          </a:p>
        </p:txBody>
      </p:sp>
      <p:sp>
        <p:nvSpPr>
          <p:cNvPr id="17" name="Text 13"/>
          <p:cNvSpPr/>
          <p:nvPr/>
        </p:nvSpPr>
        <p:spPr>
          <a:xfrm>
            <a:off x="15798105" y="9734252"/>
            <a:ext cx="1773317" cy="200025"/>
          </a:xfrm>
          <a:prstGeom prst="rect">
            <a:avLst/>
          </a:prstGeom>
          <a:noFill/>
          <a:ln/>
        </p:spPr>
        <p:txBody>
          <a:bodyPr wrap="square" lIns="25400" tIns="25400" rIns="25400" bIns="25400" rtlCol="0" anchor="t">
            <a:normAutofit fontScale="92500" lnSpcReduction="10000"/>
          </a:bodyPr>
          <a:lstStyle/>
          <a:p>
            <a:pPr marL="0" indent="0" algn="l">
              <a:buNone/>
            </a:pPr>
            <a:r>
              <a:rPr lang="en-US" sz="1125" kern="0" spc="34" dirty="0">
                <a:solidFill>
                  <a:srgbClr val="A6A6A6"/>
                </a:solidFill>
                <a:latin typeface="Helvetica Neue" pitchFamily="34" charset="0"/>
                <a:ea typeface="Helvetica Neue" pitchFamily="34" charset="-122"/>
                <a:cs typeface="Helvetica Neue" pitchFamily="34" charset="-120"/>
              </a:rPr>
              <a:t>23 June 2026 · 08 / 16</a:t>
            </a:r>
            <a:endParaRPr lang="en-US" sz="1125" dirty="0"/>
          </a:p>
        </p:txBody>
      </p:sp>
      <p:pic>
        <p:nvPicPr>
          <p:cNvPr id="19" name="Picture 18">
            <a:extLst>
              <a:ext uri="{FF2B5EF4-FFF2-40B4-BE49-F238E27FC236}">
                <a16:creationId xmlns:a16="http://schemas.microsoft.com/office/drawing/2014/main" id="{7F14BDC2-31DF-7058-DD00-E15A3B3DA81F}"/>
              </a:ext>
            </a:extLst>
          </p:cNvPr>
          <p:cNvPicPr>
            <a:picLocks noChangeAspect="1"/>
          </p:cNvPicPr>
          <p:nvPr/>
        </p:nvPicPr>
        <p:blipFill>
          <a:blip r:embed="rId3"/>
          <a:stretch>
            <a:fillRect/>
          </a:stretch>
        </p:blipFill>
        <p:spPr>
          <a:xfrm>
            <a:off x="0" y="5372099"/>
            <a:ext cx="12272211" cy="4387315"/>
          </a:xfrm>
          <a:prstGeom prst="rect">
            <a:avLst/>
          </a:prstGeom>
        </p:spPr>
      </p:pic>
      <p:pic>
        <p:nvPicPr>
          <p:cNvPr id="12" name="Image 0" descr="preencoded.png"/>
          <p:cNvPicPr>
            <a:picLocks noChangeAspect="1"/>
          </p:cNvPicPr>
          <p:nvPr/>
        </p:nvPicPr>
        <p:blipFill>
          <a:blip r:embed="rId4"/>
          <a:srcRect l="-26065" r="-26065"/>
          <a:stretch/>
        </p:blipFill>
        <p:spPr>
          <a:xfrm>
            <a:off x="9825792" y="898327"/>
            <a:ext cx="9371012" cy="5676616"/>
          </a:xfrm>
          <a:prstGeom prst="rect">
            <a:avLst/>
          </a:prstGeom>
        </p:spPr>
      </p:pic>
      <p:sp>
        <p:nvSpPr>
          <p:cNvPr id="20" name="Shape 4">
            <a:extLst>
              <a:ext uri="{FF2B5EF4-FFF2-40B4-BE49-F238E27FC236}">
                <a16:creationId xmlns:a16="http://schemas.microsoft.com/office/drawing/2014/main" id="{6CD83E5F-FD80-1F63-EB42-EC613B27349E}"/>
              </a:ext>
            </a:extLst>
          </p:cNvPr>
          <p:cNvSpPr/>
          <p:nvPr/>
        </p:nvSpPr>
        <p:spPr>
          <a:xfrm>
            <a:off x="877788" y="1648031"/>
            <a:ext cx="7200000" cy="45719"/>
          </a:xfrm>
          <a:prstGeom prst="rect">
            <a:avLst/>
          </a:prstGeom>
          <a:solidFill>
            <a:srgbClr val="ECECEC"/>
          </a:solid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77788" y="555427"/>
            <a:ext cx="18185666" cy="209550"/>
          </a:xfrm>
          <a:prstGeom prst="rect">
            <a:avLst/>
          </a:prstGeom>
          <a:noFill/>
          <a:ln/>
        </p:spPr>
        <p:txBody>
          <a:bodyPr wrap="square" lIns="25400" tIns="25400" rIns="25400" bIns="25400" rtlCol="0" anchor="t">
            <a:normAutofit lnSpcReduction="10000"/>
          </a:bodyPr>
          <a:lstStyle/>
          <a:p>
            <a:pPr marL="0" indent="0" algn="l">
              <a:buNone/>
            </a:pPr>
            <a:r>
              <a:rPr lang="en-US" sz="1125" b="1" kern="0" spc="225" dirty="0">
                <a:solidFill>
                  <a:srgbClr val="9A9A9A"/>
                </a:solidFill>
                <a:latin typeface="Helvetica Neue" pitchFamily="34" charset="0"/>
                <a:ea typeface="Helvetica Neue" pitchFamily="34" charset="-122"/>
                <a:cs typeface="Helvetica Neue" pitchFamily="34" charset="-120"/>
              </a:rPr>
              <a:t>HARDWARE</a:t>
            </a:r>
            <a:endParaRPr lang="en-US" sz="1125" dirty="0"/>
          </a:p>
        </p:txBody>
      </p:sp>
      <p:sp>
        <p:nvSpPr>
          <p:cNvPr id="3" name="Text 1"/>
          <p:cNvSpPr/>
          <p:nvPr/>
        </p:nvSpPr>
        <p:spPr>
          <a:xfrm>
            <a:off x="877788" y="822127"/>
            <a:ext cx="18185666" cy="485775"/>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3450" b="1" kern="0" spc="-52" dirty="0">
                <a:solidFill>
                  <a:srgbClr val="141414"/>
                </a:solidFill>
                <a:latin typeface="Helvetica Neue" pitchFamily="34" charset="0"/>
                <a:ea typeface="Helvetica Neue" pitchFamily="34" charset="-122"/>
                <a:cs typeface="Helvetica Neue" pitchFamily="34" charset="-120"/>
              </a:rPr>
              <a:t>Delay Line</a:t>
            </a:r>
            <a:endParaRPr lang="en-US" sz="3450" dirty="0"/>
          </a:p>
        </p:txBody>
      </p:sp>
      <p:sp>
        <p:nvSpPr>
          <p:cNvPr id="4" name="Shape 2"/>
          <p:cNvSpPr/>
          <p:nvPr/>
        </p:nvSpPr>
        <p:spPr>
          <a:xfrm>
            <a:off x="877788" y="2288695"/>
            <a:ext cx="66675" cy="66675"/>
          </a:xfrm>
          <a:prstGeom prst="ellipse">
            <a:avLst/>
          </a:prstGeom>
          <a:solidFill>
            <a:srgbClr val="141414"/>
          </a:solidFill>
          <a:ln/>
        </p:spPr>
      </p:sp>
      <p:sp>
        <p:nvSpPr>
          <p:cNvPr id="5" name="Text 3"/>
          <p:cNvSpPr/>
          <p:nvPr/>
        </p:nvSpPr>
        <p:spPr>
          <a:xfrm>
            <a:off x="1077812" y="2077650"/>
            <a:ext cx="3319937" cy="340073"/>
          </a:xfrm>
          <a:prstGeom prst="rect">
            <a:avLst/>
          </a:prstGeom>
          <a:noFill/>
          <a:ln/>
        </p:spPr>
        <p:txBody>
          <a:bodyPr wrap="square" lIns="25400" tIns="25400" rIns="25400" bIns="25400" rtlCol="0" anchor="t">
            <a:noAutofit/>
          </a:bodyPr>
          <a:lstStyle/>
          <a:p>
            <a:pPr marL="0" indent="0" algn="l">
              <a:lnSpc>
                <a:spcPct val="130000"/>
              </a:lnSpc>
              <a:buNone/>
            </a:pPr>
            <a:r>
              <a:rPr lang="en-US" sz="2400" dirty="0">
                <a:solidFill>
                  <a:srgbClr val="252525"/>
                </a:solidFill>
                <a:latin typeface="Helvetica Neue" pitchFamily="34" charset="0"/>
                <a:ea typeface="Helvetica Neue" pitchFamily="34" charset="-122"/>
                <a:cs typeface="Helvetica Neue" pitchFamily="34" charset="-120"/>
              </a:rPr>
              <a:t>Time-varying delays</a:t>
            </a:r>
            <a:endParaRPr lang="en-US" sz="2400" dirty="0"/>
          </a:p>
        </p:txBody>
      </p:sp>
      <p:sp>
        <p:nvSpPr>
          <p:cNvPr id="6" name="Shape 4"/>
          <p:cNvSpPr/>
          <p:nvPr/>
        </p:nvSpPr>
        <p:spPr>
          <a:xfrm>
            <a:off x="877788" y="2766212"/>
            <a:ext cx="66675" cy="66675"/>
          </a:xfrm>
          <a:prstGeom prst="ellipse">
            <a:avLst/>
          </a:prstGeom>
          <a:solidFill>
            <a:srgbClr val="141414"/>
          </a:solidFill>
          <a:ln/>
        </p:spPr>
      </p:sp>
      <p:sp>
        <p:nvSpPr>
          <p:cNvPr id="7" name="Text 5"/>
          <p:cNvSpPr/>
          <p:nvPr/>
        </p:nvSpPr>
        <p:spPr>
          <a:xfrm>
            <a:off x="1077812" y="2564107"/>
            <a:ext cx="6636877" cy="283602"/>
          </a:xfrm>
          <a:prstGeom prst="rect">
            <a:avLst/>
          </a:prstGeom>
          <a:noFill/>
          <a:ln/>
        </p:spPr>
        <p:txBody>
          <a:bodyPr wrap="square" lIns="25400" tIns="25400" rIns="25400" bIns="25400" rtlCol="0" anchor="t">
            <a:noAutofit/>
          </a:bodyPr>
          <a:lstStyle/>
          <a:p>
            <a:pPr marL="0" indent="0" algn="l">
              <a:lnSpc>
                <a:spcPct val="130000"/>
              </a:lnSpc>
              <a:buNone/>
            </a:pPr>
            <a:r>
              <a:rPr lang="en-US" sz="2400" dirty="0">
                <a:solidFill>
                  <a:srgbClr val="252525"/>
                </a:solidFill>
                <a:latin typeface="Helvetica Neue" pitchFamily="34" charset="0"/>
                <a:ea typeface="Helvetica Neue" pitchFamily="34" charset="-122"/>
                <a:cs typeface="Helvetica Neue" pitchFamily="34" charset="-120"/>
              </a:rPr>
              <a:t>Doppler shifts for both carrier and sidebands</a:t>
            </a:r>
            <a:endParaRPr lang="en-US" sz="2400" dirty="0"/>
          </a:p>
        </p:txBody>
      </p:sp>
      <p:sp>
        <p:nvSpPr>
          <p:cNvPr id="8" name="Shape 6"/>
          <p:cNvSpPr/>
          <p:nvPr/>
        </p:nvSpPr>
        <p:spPr>
          <a:xfrm>
            <a:off x="877788" y="3225800"/>
            <a:ext cx="66675" cy="66675"/>
          </a:xfrm>
          <a:prstGeom prst="ellipse">
            <a:avLst/>
          </a:prstGeom>
          <a:solidFill>
            <a:srgbClr val="141414"/>
          </a:solidFill>
          <a:ln/>
        </p:spPr>
      </p:sp>
      <p:sp>
        <p:nvSpPr>
          <p:cNvPr id="9" name="Text 7"/>
          <p:cNvSpPr/>
          <p:nvPr/>
        </p:nvSpPr>
        <p:spPr>
          <a:xfrm>
            <a:off x="1077812" y="3045801"/>
            <a:ext cx="4574561" cy="283602"/>
          </a:xfrm>
          <a:prstGeom prst="rect">
            <a:avLst/>
          </a:prstGeom>
          <a:noFill/>
          <a:ln/>
        </p:spPr>
        <p:txBody>
          <a:bodyPr wrap="square" lIns="25400" tIns="25400" rIns="25400" bIns="25400" rtlCol="0" anchor="t">
            <a:noAutofit/>
          </a:bodyPr>
          <a:lstStyle/>
          <a:p>
            <a:pPr marL="0" indent="0" algn="l">
              <a:lnSpc>
                <a:spcPct val="130000"/>
              </a:lnSpc>
              <a:buNone/>
            </a:pPr>
            <a:r>
              <a:rPr lang="en-US" sz="2400" dirty="0">
                <a:solidFill>
                  <a:srgbClr val="252525"/>
                </a:solidFill>
                <a:latin typeface="Helvetica Neue" pitchFamily="34" charset="0"/>
                <a:ea typeface="Helvetica Neue" pitchFamily="34" charset="-122"/>
                <a:cs typeface="Helvetica Neue" pitchFamily="34" charset="-120"/>
              </a:rPr>
              <a:t>Gravitational-wave injection</a:t>
            </a:r>
            <a:endParaRPr lang="en-US" sz="2400" dirty="0"/>
          </a:p>
        </p:txBody>
      </p:sp>
      <p:pic>
        <p:nvPicPr>
          <p:cNvPr id="10" name="Image 0" descr="preencoded.png"/>
          <p:cNvPicPr>
            <a:picLocks noChangeAspect="1"/>
          </p:cNvPicPr>
          <p:nvPr/>
        </p:nvPicPr>
        <p:blipFill>
          <a:blip r:embed="rId3"/>
          <a:srcRect l="-3543" r="-3543"/>
          <a:stretch/>
        </p:blipFill>
        <p:spPr>
          <a:xfrm>
            <a:off x="5824910" y="3280836"/>
            <a:ext cx="2890421" cy="3251757"/>
          </a:xfrm>
          <a:prstGeom prst="rect">
            <a:avLst/>
          </a:prstGeom>
        </p:spPr>
      </p:pic>
      <p:pic>
        <p:nvPicPr>
          <p:cNvPr id="11" name="Image 1" descr="preencoded.png"/>
          <p:cNvPicPr>
            <a:picLocks noChangeAspect="1"/>
          </p:cNvPicPr>
          <p:nvPr/>
        </p:nvPicPr>
        <p:blipFill>
          <a:blip r:embed="rId4"/>
          <a:srcRect t="-915" b="-915"/>
          <a:stretch/>
        </p:blipFill>
        <p:spPr>
          <a:xfrm>
            <a:off x="736040" y="4318907"/>
            <a:ext cx="5486400" cy="4320480"/>
          </a:xfrm>
          <a:prstGeom prst="rect">
            <a:avLst/>
          </a:prstGeom>
        </p:spPr>
      </p:pic>
      <p:sp>
        <p:nvSpPr>
          <p:cNvPr id="12" name="Text 8"/>
          <p:cNvSpPr/>
          <p:nvPr/>
        </p:nvSpPr>
        <p:spPr>
          <a:xfrm>
            <a:off x="914400" y="8538121"/>
            <a:ext cx="6437278" cy="247650"/>
          </a:xfrm>
          <a:prstGeom prst="rect">
            <a:avLst/>
          </a:prstGeom>
          <a:noFill/>
          <a:ln/>
        </p:spPr>
        <p:txBody>
          <a:bodyPr wrap="square" lIns="25400" tIns="25400" rIns="25400" bIns="25400" rtlCol="0" anchor="t">
            <a:noAutofit/>
          </a:bodyPr>
          <a:lstStyle/>
          <a:p>
            <a:pPr marL="0" indent="0" algn="l">
              <a:lnSpc>
                <a:spcPct val="130000"/>
              </a:lnSpc>
              <a:buNone/>
            </a:pPr>
            <a:r>
              <a:rPr lang="en-US" sz="1600" dirty="0">
                <a:solidFill>
                  <a:srgbClr val="8A8A8A"/>
                </a:solidFill>
                <a:latin typeface="Helvetica Neue" pitchFamily="34" charset="0"/>
                <a:ea typeface="Helvetica Neue" pitchFamily="34" charset="-122"/>
                <a:cs typeface="Helvetica Neue" pitchFamily="34" charset="-120"/>
              </a:rPr>
              <a:t>AMD Zynq™ UltraScale+™ RFSoC ZCU208 Evaluation Kit</a:t>
            </a:r>
            <a:endParaRPr lang="en-US" sz="1600" dirty="0"/>
          </a:p>
        </p:txBody>
      </p:sp>
      <p:pic>
        <p:nvPicPr>
          <p:cNvPr id="13" name="Image 2" descr="preencoded.png"/>
          <p:cNvPicPr>
            <a:picLocks noChangeAspect="1"/>
          </p:cNvPicPr>
          <p:nvPr/>
        </p:nvPicPr>
        <p:blipFill>
          <a:blip r:embed="rId5"/>
          <a:srcRect t="-719" b="-719"/>
          <a:stretch/>
        </p:blipFill>
        <p:spPr>
          <a:xfrm>
            <a:off x="8887867" y="2468761"/>
            <a:ext cx="9144000" cy="6377880"/>
          </a:xfrm>
          <a:prstGeom prst="rect">
            <a:avLst/>
          </a:prstGeom>
        </p:spPr>
      </p:pic>
      <p:sp>
        <p:nvSpPr>
          <p:cNvPr id="14" name="Text 9"/>
          <p:cNvSpPr/>
          <p:nvPr/>
        </p:nvSpPr>
        <p:spPr>
          <a:xfrm>
            <a:off x="9665211" y="8898136"/>
            <a:ext cx="8650159" cy="209550"/>
          </a:xfrm>
          <a:prstGeom prst="rect">
            <a:avLst/>
          </a:prstGeom>
          <a:noFill/>
          <a:ln/>
        </p:spPr>
        <p:txBody>
          <a:bodyPr wrap="square" lIns="25400" tIns="25400" rIns="25400" bIns="25400" rtlCol="0" anchor="t">
            <a:noAutofit/>
          </a:bodyPr>
          <a:lstStyle/>
          <a:p>
            <a:pPr marL="0" indent="0" algn="ctr">
              <a:buNone/>
            </a:pPr>
            <a:r>
              <a:rPr lang="en-US" sz="1600" dirty="0">
                <a:solidFill>
                  <a:srgbClr val="A0A0A0"/>
                </a:solidFill>
                <a:latin typeface="Helvetica Neue" pitchFamily="34" charset="0"/>
                <a:ea typeface="Helvetica Neue" pitchFamily="34" charset="-122"/>
                <a:cs typeface="Helvetica Neue" pitchFamily="34" charset="-120"/>
              </a:rPr>
              <a:t>Intrinsic noise floor of one board (purple)</a:t>
            </a:r>
            <a:endParaRPr lang="en-US" sz="1600" dirty="0"/>
          </a:p>
        </p:txBody>
      </p:sp>
      <p:sp>
        <p:nvSpPr>
          <p:cNvPr id="15" name="Shape 10"/>
          <p:cNvSpPr/>
          <p:nvPr/>
        </p:nvSpPr>
        <p:spPr>
          <a:xfrm>
            <a:off x="877788" y="9591377"/>
            <a:ext cx="16532423" cy="9525"/>
          </a:xfrm>
          <a:prstGeom prst="rect">
            <a:avLst/>
          </a:prstGeom>
          <a:solidFill>
            <a:srgbClr val="ECECEC"/>
          </a:solidFill>
          <a:ln/>
        </p:spPr>
      </p:sp>
      <p:sp>
        <p:nvSpPr>
          <p:cNvPr id="16" name="Text 11"/>
          <p:cNvSpPr/>
          <p:nvPr/>
        </p:nvSpPr>
        <p:spPr>
          <a:xfrm>
            <a:off x="877788" y="9734252"/>
            <a:ext cx="2633127" cy="200025"/>
          </a:xfrm>
          <a:prstGeom prst="rect">
            <a:avLst/>
          </a:prstGeom>
          <a:noFill/>
          <a:ln/>
        </p:spPr>
        <p:txBody>
          <a:bodyPr wrap="square" lIns="25400" tIns="25400" rIns="25400" bIns="25400" rtlCol="0" anchor="t">
            <a:normAutofit fontScale="92500" lnSpcReduction="10000"/>
          </a:bodyPr>
          <a:lstStyle/>
          <a:p>
            <a:pPr marL="0" indent="0" algn="l">
              <a:buNone/>
            </a:pPr>
            <a:r>
              <a:rPr lang="en-US" sz="1125" kern="0" spc="34" dirty="0">
                <a:solidFill>
                  <a:srgbClr val="A6A6A6"/>
                </a:solidFill>
                <a:latin typeface="Helvetica Neue" pitchFamily="34" charset="0"/>
                <a:ea typeface="Helvetica Neue" pitchFamily="34" charset="-122"/>
                <a:cs typeface="Helvetica Neue" pitchFamily="34" charset="-120"/>
              </a:rPr>
              <a:t>16th International LISA Symposium</a:t>
            </a:r>
            <a:endParaRPr lang="en-US" sz="1125" dirty="0"/>
          </a:p>
        </p:txBody>
      </p:sp>
      <p:sp>
        <p:nvSpPr>
          <p:cNvPr id="17" name="Text 12"/>
          <p:cNvSpPr/>
          <p:nvPr/>
        </p:nvSpPr>
        <p:spPr>
          <a:xfrm>
            <a:off x="15798105" y="9734252"/>
            <a:ext cx="1773317" cy="200025"/>
          </a:xfrm>
          <a:prstGeom prst="rect">
            <a:avLst/>
          </a:prstGeom>
          <a:noFill/>
          <a:ln/>
        </p:spPr>
        <p:txBody>
          <a:bodyPr wrap="square" lIns="25400" tIns="25400" rIns="25400" bIns="25400" rtlCol="0" anchor="t">
            <a:normAutofit fontScale="92500" lnSpcReduction="10000"/>
          </a:bodyPr>
          <a:lstStyle/>
          <a:p>
            <a:pPr marL="0" indent="0" algn="l">
              <a:buNone/>
            </a:pPr>
            <a:r>
              <a:rPr lang="en-US" sz="1125" kern="0" spc="34" dirty="0">
                <a:solidFill>
                  <a:srgbClr val="A6A6A6"/>
                </a:solidFill>
                <a:latin typeface="Helvetica Neue" pitchFamily="34" charset="0"/>
                <a:ea typeface="Helvetica Neue" pitchFamily="34" charset="-122"/>
                <a:cs typeface="Helvetica Neue" pitchFamily="34" charset="-120"/>
              </a:rPr>
              <a:t>23 June 2026 · 09 / 16</a:t>
            </a:r>
            <a:endParaRPr lang="en-US" sz="1125" dirty="0"/>
          </a:p>
        </p:txBody>
      </p:sp>
      <p:sp>
        <p:nvSpPr>
          <p:cNvPr id="18" name="Shape 4">
            <a:extLst>
              <a:ext uri="{FF2B5EF4-FFF2-40B4-BE49-F238E27FC236}">
                <a16:creationId xmlns:a16="http://schemas.microsoft.com/office/drawing/2014/main" id="{B7FA015C-3486-5268-2AE3-F6EF060E876C}"/>
              </a:ext>
            </a:extLst>
          </p:cNvPr>
          <p:cNvSpPr/>
          <p:nvPr/>
        </p:nvSpPr>
        <p:spPr>
          <a:xfrm>
            <a:off x="877788" y="1648031"/>
            <a:ext cx="7200000" cy="45719"/>
          </a:xfrm>
          <a:prstGeom prst="rect">
            <a:avLst/>
          </a:prstGeom>
          <a:solidFill>
            <a:srgbClr val="ECECEC"/>
          </a:solidFill>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77788" y="555427"/>
            <a:ext cx="18185666" cy="209550"/>
          </a:xfrm>
          <a:prstGeom prst="rect">
            <a:avLst/>
          </a:prstGeom>
          <a:noFill/>
          <a:ln/>
        </p:spPr>
        <p:txBody>
          <a:bodyPr wrap="square" lIns="25400" tIns="25400" rIns="25400" bIns="25400" rtlCol="0" anchor="t">
            <a:normAutofit lnSpcReduction="10000"/>
          </a:bodyPr>
          <a:lstStyle/>
          <a:p>
            <a:pPr marL="0" indent="0" algn="l">
              <a:buNone/>
            </a:pPr>
            <a:r>
              <a:rPr lang="en-US" sz="1125" b="1" kern="0" spc="225" dirty="0">
                <a:solidFill>
                  <a:srgbClr val="9A9A9A"/>
                </a:solidFill>
                <a:latin typeface="Helvetica Neue" pitchFamily="34" charset="0"/>
                <a:ea typeface="Helvetica Neue" pitchFamily="34" charset="-122"/>
                <a:cs typeface="Helvetica Neue" pitchFamily="34" charset="-120"/>
              </a:rPr>
              <a:t>LASER NOISE RESULTS</a:t>
            </a:r>
            <a:endParaRPr lang="en-US" sz="1125" dirty="0"/>
          </a:p>
        </p:txBody>
      </p:sp>
      <p:sp>
        <p:nvSpPr>
          <p:cNvPr id="3" name="Text 1"/>
          <p:cNvSpPr/>
          <p:nvPr/>
        </p:nvSpPr>
        <p:spPr>
          <a:xfrm>
            <a:off x="877788" y="822127"/>
            <a:ext cx="18185666" cy="485775"/>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3450" b="1" kern="0" spc="-52" dirty="0">
                <a:solidFill>
                  <a:srgbClr val="141414"/>
                </a:solidFill>
                <a:latin typeface="Helvetica Neue" pitchFamily="34" charset="0"/>
                <a:ea typeface="Helvetica Neue" pitchFamily="34" charset="-122"/>
                <a:cs typeface="Helvetica Neue" pitchFamily="34" charset="-120"/>
              </a:rPr>
              <a:t>PLL Lock of Far Spacecraft</a:t>
            </a:r>
            <a:endParaRPr lang="en-US" sz="3450" dirty="0"/>
          </a:p>
        </p:txBody>
      </p:sp>
      <p:sp>
        <p:nvSpPr>
          <p:cNvPr id="5" name="Text 3"/>
          <p:cNvSpPr/>
          <p:nvPr/>
        </p:nvSpPr>
        <p:spPr>
          <a:xfrm>
            <a:off x="898520" y="2057400"/>
            <a:ext cx="9102457" cy="628650"/>
          </a:xfrm>
          <a:prstGeom prst="rect">
            <a:avLst/>
          </a:prstGeom>
          <a:noFill/>
          <a:ln/>
        </p:spPr>
        <p:txBody>
          <a:bodyPr wrap="square" lIns="25400" tIns="25400" rIns="25400" bIns="25400" rtlCol="0" anchor="t">
            <a:noAutofit/>
          </a:bodyPr>
          <a:lstStyle/>
          <a:p>
            <a:pPr marL="0" indent="0" algn="l">
              <a:lnSpc>
                <a:spcPct val="135000"/>
              </a:lnSpc>
              <a:buNone/>
            </a:pPr>
            <a:r>
              <a:rPr lang="en-US" sz="2400" dirty="0">
                <a:solidFill>
                  <a:srgbClr val="252525"/>
                </a:solidFill>
                <a:latin typeface="Helvetica Neue" pitchFamily="34" charset="0"/>
                <a:ea typeface="Helvetica Neue" pitchFamily="34" charset="-122"/>
                <a:cs typeface="Helvetica Neue" pitchFamily="34" charset="-120"/>
              </a:rPr>
              <a:t>Photodetector readings are dominated by free-running laser frequency noise.</a:t>
            </a:r>
            <a:endParaRPr lang="en-US" sz="2400" dirty="0"/>
          </a:p>
        </p:txBody>
      </p:sp>
      <p:sp>
        <p:nvSpPr>
          <p:cNvPr id="7" name="Text 5"/>
          <p:cNvSpPr/>
          <p:nvPr/>
        </p:nvSpPr>
        <p:spPr>
          <a:xfrm>
            <a:off x="898520" y="3158934"/>
            <a:ext cx="7547214" cy="470800"/>
          </a:xfrm>
          <a:prstGeom prst="rect">
            <a:avLst/>
          </a:prstGeom>
          <a:noFill/>
          <a:ln/>
        </p:spPr>
        <p:txBody>
          <a:bodyPr wrap="square" lIns="25400" tIns="25400" rIns="25400" bIns="25400" rtlCol="0" anchor="t">
            <a:noAutofit/>
          </a:bodyPr>
          <a:lstStyle/>
          <a:p>
            <a:pPr marL="0" indent="0" algn="l">
              <a:lnSpc>
                <a:spcPct val="135000"/>
              </a:lnSpc>
              <a:buNone/>
            </a:pPr>
            <a:r>
              <a:rPr lang="en-US" sz="2400" dirty="0">
                <a:solidFill>
                  <a:srgbClr val="252525"/>
                </a:solidFill>
                <a:latin typeface="Helvetica Neue" pitchFamily="34" charset="0"/>
                <a:ea typeface="Helvetica Neue" pitchFamily="34" charset="-122"/>
                <a:cs typeface="Helvetica Neue" pitchFamily="34" charset="-120"/>
              </a:rPr>
              <a:t>The mixed output is orders of magnitude lower.</a:t>
            </a:r>
            <a:endParaRPr lang="en-US" sz="2400" dirty="0"/>
          </a:p>
        </p:txBody>
      </p:sp>
      <p:pic>
        <p:nvPicPr>
          <p:cNvPr id="9" name="Image 1" descr="preencoded.png"/>
          <p:cNvPicPr>
            <a:picLocks noChangeAspect="1"/>
          </p:cNvPicPr>
          <p:nvPr/>
        </p:nvPicPr>
        <p:blipFill>
          <a:blip r:embed="rId3"/>
          <a:srcRect t="-2908" b="-2908"/>
          <a:stretch/>
        </p:blipFill>
        <p:spPr>
          <a:xfrm>
            <a:off x="36463" y="5452021"/>
            <a:ext cx="8778180" cy="4011811"/>
          </a:xfrm>
          <a:prstGeom prst="rect">
            <a:avLst/>
          </a:prstGeom>
        </p:spPr>
      </p:pic>
      <p:sp>
        <p:nvSpPr>
          <p:cNvPr id="12" name="Text 6"/>
          <p:cNvSpPr/>
          <p:nvPr/>
        </p:nvSpPr>
        <p:spPr>
          <a:xfrm>
            <a:off x="9665211" y="8898136"/>
            <a:ext cx="8650159" cy="209550"/>
          </a:xfrm>
          <a:prstGeom prst="rect">
            <a:avLst/>
          </a:prstGeom>
          <a:noFill/>
          <a:ln/>
        </p:spPr>
        <p:txBody>
          <a:bodyPr wrap="square" lIns="25400" tIns="25400" rIns="25400" bIns="25400" rtlCol="0" anchor="t">
            <a:noAutofit/>
          </a:bodyPr>
          <a:lstStyle/>
          <a:p>
            <a:pPr marL="0" indent="0" algn="ctr">
              <a:buNone/>
            </a:pPr>
            <a:r>
              <a:rPr lang="en-US" sz="1400" dirty="0">
                <a:solidFill>
                  <a:srgbClr val="A0A0A0"/>
                </a:solidFill>
                <a:latin typeface="Helvetica Neue" pitchFamily="34" charset="0"/>
                <a:ea typeface="Helvetica Neue" pitchFamily="34" charset="-122"/>
                <a:cs typeface="Helvetica Neue" pitchFamily="34" charset="-120"/>
              </a:rPr>
              <a:t>Free-running photodetector noise vs. mixed output</a:t>
            </a:r>
            <a:endParaRPr lang="en-US" sz="1400" dirty="0"/>
          </a:p>
        </p:txBody>
      </p:sp>
      <p:sp>
        <p:nvSpPr>
          <p:cNvPr id="13" name="Shape 7"/>
          <p:cNvSpPr/>
          <p:nvPr/>
        </p:nvSpPr>
        <p:spPr>
          <a:xfrm>
            <a:off x="877788" y="9591377"/>
            <a:ext cx="16532423" cy="9525"/>
          </a:xfrm>
          <a:prstGeom prst="rect">
            <a:avLst/>
          </a:prstGeom>
          <a:solidFill>
            <a:srgbClr val="ECECEC"/>
          </a:solidFill>
          <a:ln/>
        </p:spPr>
      </p:sp>
      <p:sp>
        <p:nvSpPr>
          <p:cNvPr id="14" name="Text 8"/>
          <p:cNvSpPr/>
          <p:nvPr/>
        </p:nvSpPr>
        <p:spPr>
          <a:xfrm>
            <a:off x="877788" y="9734252"/>
            <a:ext cx="2633127" cy="200025"/>
          </a:xfrm>
          <a:prstGeom prst="rect">
            <a:avLst/>
          </a:prstGeom>
          <a:noFill/>
          <a:ln/>
        </p:spPr>
        <p:txBody>
          <a:bodyPr wrap="square" lIns="25400" tIns="25400" rIns="25400" bIns="25400" rtlCol="0" anchor="t">
            <a:normAutofit fontScale="92500" lnSpcReduction="10000"/>
          </a:bodyPr>
          <a:lstStyle/>
          <a:p>
            <a:pPr marL="0" indent="0" algn="l">
              <a:buNone/>
            </a:pPr>
            <a:r>
              <a:rPr lang="en-US" sz="1125" kern="0" spc="34" dirty="0">
                <a:solidFill>
                  <a:srgbClr val="A6A6A6"/>
                </a:solidFill>
                <a:latin typeface="Helvetica Neue" pitchFamily="34" charset="0"/>
                <a:ea typeface="Helvetica Neue" pitchFamily="34" charset="-122"/>
                <a:cs typeface="Helvetica Neue" pitchFamily="34" charset="-120"/>
              </a:rPr>
              <a:t>16th International LISA Symposium</a:t>
            </a:r>
            <a:endParaRPr lang="en-US" sz="1125" dirty="0"/>
          </a:p>
        </p:txBody>
      </p:sp>
      <p:sp>
        <p:nvSpPr>
          <p:cNvPr id="15" name="Text 9"/>
          <p:cNvSpPr/>
          <p:nvPr/>
        </p:nvSpPr>
        <p:spPr>
          <a:xfrm>
            <a:off x="15798105" y="9734252"/>
            <a:ext cx="1773317" cy="200025"/>
          </a:xfrm>
          <a:prstGeom prst="rect">
            <a:avLst/>
          </a:prstGeom>
          <a:noFill/>
          <a:ln/>
        </p:spPr>
        <p:txBody>
          <a:bodyPr wrap="square" lIns="25400" tIns="25400" rIns="25400" bIns="25400" rtlCol="0" anchor="t">
            <a:normAutofit fontScale="92500" lnSpcReduction="10000"/>
          </a:bodyPr>
          <a:lstStyle/>
          <a:p>
            <a:pPr marL="0" indent="0" algn="l">
              <a:buNone/>
            </a:pPr>
            <a:r>
              <a:rPr lang="en-US" sz="1125" kern="0" spc="34" dirty="0">
                <a:solidFill>
                  <a:srgbClr val="A6A6A6"/>
                </a:solidFill>
                <a:latin typeface="Helvetica Neue" pitchFamily="34" charset="0"/>
                <a:ea typeface="Helvetica Neue" pitchFamily="34" charset="-122"/>
                <a:cs typeface="Helvetica Neue" pitchFamily="34" charset="-120"/>
              </a:rPr>
              <a:t>23 June 2026 · 10 / 16</a:t>
            </a:r>
            <a:endParaRPr lang="en-US" sz="1125" dirty="0"/>
          </a:p>
        </p:txBody>
      </p:sp>
      <p:pic>
        <p:nvPicPr>
          <p:cNvPr id="17" name="Picture 16">
            <a:extLst>
              <a:ext uri="{FF2B5EF4-FFF2-40B4-BE49-F238E27FC236}">
                <a16:creationId xmlns:a16="http://schemas.microsoft.com/office/drawing/2014/main" id="{B954DF51-94B2-2ED0-10CE-898C4F430049}"/>
              </a:ext>
            </a:extLst>
          </p:cNvPr>
          <p:cNvPicPr>
            <a:picLocks noChangeAspect="1"/>
          </p:cNvPicPr>
          <p:nvPr/>
        </p:nvPicPr>
        <p:blipFill>
          <a:blip r:embed="rId4"/>
          <a:stretch>
            <a:fillRect/>
          </a:stretch>
        </p:blipFill>
        <p:spPr>
          <a:xfrm>
            <a:off x="8625027" y="2686050"/>
            <a:ext cx="9169132" cy="6212087"/>
          </a:xfrm>
          <a:prstGeom prst="rect">
            <a:avLst/>
          </a:prstGeom>
        </p:spPr>
      </p:pic>
      <p:pic>
        <p:nvPicPr>
          <p:cNvPr id="19" name="Graphic 18">
            <a:extLst>
              <a:ext uri="{FF2B5EF4-FFF2-40B4-BE49-F238E27FC236}">
                <a16:creationId xmlns:a16="http://schemas.microsoft.com/office/drawing/2014/main" id="{497E3155-537D-D3FC-3190-D1318C1BADD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93841" y="5681859"/>
            <a:ext cx="2714580" cy="435674"/>
          </a:xfrm>
          <a:prstGeom prst="rect">
            <a:avLst/>
          </a:prstGeom>
        </p:spPr>
      </p:pic>
      <p:pic>
        <p:nvPicPr>
          <p:cNvPr id="24" name="Graphic 23">
            <a:extLst>
              <a:ext uri="{FF2B5EF4-FFF2-40B4-BE49-F238E27FC236}">
                <a16:creationId xmlns:a16="http://schemas.microsoft.com/office/drawing/2014/main" id="{353F65C7-070D-26B6-1080-5949ACE71CA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00064" y="8807845"/>
            <a:ext cx="2714579" cy="435673"/>
          </a:xfrm>
          <a:prstGeom prst="rect">
            <a:avLst/>
          </a:prstGeom>
        </p:spPr>
      </p:pic>
      <p:pic>
        <p:nvPicPr>
          <p:cNvPr id="26" name="Graphic 25">
            <a:extLst>
              <a:ext uri="{FF2B5EF4-FFF2-40B4-BE49-F238E27FC236}">
                <a16:creationId xmlns:a16="http://schemas.microsoft.com/office/drawing/2014/main" id="{B402B887-94F3-2117-BDB8-FEF7E7C5A332}"/>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98520" y="3870502"/>
            <a:ext cx="12103615" cy="1038594"/>
          </a:xfrm>
          <a:prstGeom prst="rect">
            <a:avLst/>
          </a:prstGeom>
        </p:spPr>
      </p:pic>
      <p:sp>
        <p:nvSpPr>
          <p:cNvPr id="27" name="Shape 4">
            <a:extLst>
              <a:ext uri="{FF2B5EF4-FFF2-40B4-BE49-F238E27FC236}">
                <a16:creationId xmlns:a16="http://schemas.microsoft.com/office/drawing/2014/main" id="{0A2A94FF-024B-52A9-5F5F-7187DD5E8F9F}"/>
              </a:ext>
            </a:extLst>
          </p:cNvPr>
          <p:cNvSpPr/>
          <p:nvPr/>
        </p:nvSpPr>
        <p:spPr>
          <a:xfrm>
            <a:off x="877788" y="1648031"/>
            <a:ext cx="7200000" cy="45719"/>
          </a:xfrm>
          <a:prstGeom prst="rect">
            <a:avLst/>
          </a:prstGeom>
          <a:solidFill>
            <a:srgbClr val="ECECEC"/>
          </a:solidFill>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77788" y="555427"/>
            <a:ext cx="18185666" cy="209550"/>
          </a:xfrm>
          <a:prstGeom prst="rect">
            <a:avLst/>
          </a:prstGeom>
          <a:noFill/>
          <a:ln/>
        </p:spPr>
        <p:txBody>
          <a:bodyPr wrap="square" lIns="25400" tIns="25400" rIns="25400" bIns="25400" rtlCol="0" anchor="t">
            <a:normAutofit lnSpcReduction="10000"/>
          </a:bodyPr>
          <a:lstStyle/>
          <a:p>
            <a:pPr marL="0" indent="0" algn="l">
              <a:buNone/>
            </a:pPr>
            <a:r>
              <a:rPr lang="en-US" sz="1125" b="1" kern="0" spc="225" dirty="0">
                <a:solidFill>
                  <a:srgbClr val="9A9A9A"/>
                </a:solidFill>
                <a:latin typeface="Helvetica Neue" pitchFamily="34" charset="0"/>
                <a:ea typeface="Helvetica Neue" pitchFamily="34" charset="-122"/>
                <a:cs typeface="Helvetica Neue" pitchFamily="34" charset="-120"/>
              </a:rPr>
              <a:t>LASER NOISE RESULTS</a:t>
            </a:r>
            <a:endParaRPr lang="en-US" sz="1125" dirty="0"/>
          </a:p>
        </p:txBody>
      </p:sp>
      <p:sp>
        <p:nvSpPr>
          <p:cNvPr id="3" name="Text 1"/>
          <p:cNvSpPr/>
          <p:nvPr/>
        </p:nvSpPr>
        <p:spPr>
          <a:xfrm>
            <a:off x="877788" y="822127"/>
            <a:ext cx="18185666" cy="485775"/>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3450" b="1" kern="0" spc="-52" dirty="0">
                <a:solidFill>
                  <a:srgbClr val="141414"/>
                </a:solidFill>
                <a:latin typeface="Helvetica Neue" pitchFamily="34" charset="0"/>
                <a:ea typeface="Helvetica Neue" pitchFamily="34" charset="-122"/>
                <a:cs typeface="Helvetica Neue" pitchFamily="34" charset="-120"/>
              </a:rPr>
              <a:t>Recovering the Transfer Function</a:t>
            </a:r>
            <a:endParaRPr lang="en-US" sz="3450" dirty="0"/>
          </a:p>
        </p:txBody>
      </p:sp>
      <p:pic>
        <p:nvPicPr>
          <p:cNvPr id="7" name="Image 1" descr="preencoded.png"/>
          <p:cNvPicPr>
            <a:picLocks noChangeAspect="1"/>
          </p:cNvPicPr>
          <p:nvPr/>
        </p:nvPicPr>
        <p:blipFill>
          <a:blip r:embed="rId3"/>
          <a:srcRect t="-2908" b="-2908"/>
          <a:stretch/>
        </p:blipFill>
        <p:spPr>
          <a:xfrm>
            <a:off x="36463" y="5452021"/>
            <a:ext cx="8778180" cy="4011811"/>
          </a:xfrm>
          <a:prstGeom prst="rect">
            <a:avLst/>
          </a:prstGeom>
        </p:spPr>
      </p:pic>
      <p:pic>
        <p:nvPicPr>
          <p:cNvPr id="9" name="Image 3" descr="preencoded.png"/>
          <p:cNvPicPr>
            <a:picLocks noChangeAspect="1"/>
          </p:cNvPicPr>
          <p:nvPr/>
        </p:nvPicPr>
        <p:blipFill>
          <a:blip r:embed="rId4"/>
          <a:srcRect t="-80" b="-80"/>
          <a:stretch/>
        </p:blipFill>
        <p:spPr>
          <a:xfrm>
            <a:off x="8595271" y="2571750"/>
            <a:ext cx="9326761" cy="6377880"/>
          </a:xfrm>
          <a:prstGeom prst="rect">
            <a:avLst/>
          </a:prstGeom>
        </p:spPr>
      </p:pic>
      <p:sp>
        <p:nvSpPr>
          <p:cNvPr id="10" name="Text 4"/>
          <p:cNvSpPr/>
          <p:nvPr/>
        </p:nvSpPr>
        <p:spPr>
          <a:xfrm>
            <a:off x="9473156" y="8949630"/>
            <a:ext cx="8851359" cy="209550"/>
          </a:xfrm>
          <a:prstGeom prst="rect">
            <a:avLst/>
          </a:prstGeom>
          <a:noFill/>
          <a:ln/>
        </p:spPr>
        <p:txBody>
          <a:bodyPr wrap="square" lIns="25400" tIns="25400" rIns="25400" bIns="25400" rtlCol="0" anchor="t">
            <a:normAutofit fontScale="92500" lnSpcReduction="10000"/>
          </a:bodyPr>
          <a:lstStyle/>
          <a:p>
            <a:pPr marL="0" indent="0" algn="ctr">
              <a:buNone/>
            </a:pPr>
            <a:r>
              <a:rPr lang="en-US" sz="1200" dirty="0">
                <a:solidFill>
                  <a:srgbClr val="A0A0A0"/>
                </a:solidFill>
                <a:latin typeface="Helvetica Neue" pitchFamily="34" charset="0"/>
                <a:ea typeface="Helvetica Neue" pitchFamily="34" charset="-122"/>
                <a:cs typeface="Helvetica Neue" pitchFamily="34" charset="-120"/>
              </a:rPr>
              <a:t>Recovered one-way laser-noise transfer function</a:t>
            </a:r>
            <a:endParaRPr lang="en-US" sz="1200" dirty="0"/>
          </a:p>
        </p:txBody>
      </p:sp>
      <p:sp>
        <p:nvSpPr>
          <p:cNvPr id="11" name="Shape 5"/>
          <p:cNvSpPr/>
          <p:nvPr/>
        </p:nvSpPr>
        <p:spPr>
          <a:xfrm>
            <a:off x="877788" y="9591377"/>
            <a:ext cx="16532423" cy="9525"/>
          </a:xfrm>
          <a:prstGeom prst="rect">
            <a:avLst/>
          </a:prstGeom>
          <a:solidFill>
            <a:srgbClr val="ECECEC"/>
          </a:solidFill>
          <a:ln/>
        </p:spPr>
      </p:sp>
      <p:sp>
        <p:nvSpPr>
          <p:cNvPr id="12" name="Text 6"/>
          <p:cNvSpPr/>
          <p:nvPr/>
        </p:nvSpPr>
        <p:spPr>
          <a:xfrm>
            <a:off x="877788" y="9734252"/>
            <a:ext cx="2633127" cy="200025"/>
          </a:xfrm>
          <a:prstGeom prst="rect">
            <a:avLst/>
          </a:prstGeom>
          <a:noFill/>
          <a:ln/>
        </p:spPr>
        <p:txBody>
          <a:bodyPr wrap="square" lIns="25400" tIns="25400" rIns="25400" bIns="25400" rtlCol="0" anchor="t">
            <a:normAutofit fontScale="92500" lnSpcReduction="10000"/>
          </a:bodyPr>
          <a:lstStyle/>
          <a:p>
            <a:pPr marL="0" indent="0" algn="l">
              <a:buNone/>
            </a:pPr>
            <a:r>
              <a:rPr lang="en-US" sz="1125" kern="0" spc="34" dirty="0">
                <a:solidFill>
                  <a:srgbClr val="A6A6A6"/>
                </a:solidFill>
                <a:latin typeface="Helvetica Neue" pitchFamily="34" charset="0"/>
                <a:ea typeface="Helvetica Neue" pitchFamily="34" charset="-122"/>
                <a:cs typeface="Helvetica Neue" pitchFamily="34" charset="-120"/>
              </a:rPr>
              <a:t>16th International LISA Symposium</a:t>
            </a:r>
            <a:endParaRPr lang="en-US" sz="1125" dirty="0"/>
          </a:p>
        </p:txBody>
      </p:sp>
      <p:sp>
        <p:nvSpPr>
          <p:cNvPr id="13" name="Text 7"/>
          <p:cNvSpPr/>
          <p:nvPr/>
        </p:nvSpPr>
        <p:spPr>
          <a:xfrm>
            <a:off x="15798105" y="9734252"/>
            <a:ext cx="1773317" cy="200025"/>
          </a:xfrm>
          <a:prstGeom prst="rect">
            <a:avLst/>
          </a:prstGeom>
          <a:noFill/>
          <a:ln/>
        </p:spPr>
        <p:txBody>
          <a:bodyPr wrap="square" lIns="25400" tIns="25400" rIns="25400" bIns="25400" rtlCol="0" anchor="t">
            <a:normAutofit fontScale="92500" lnSpcReduction="10000"/>
          </a:bodyPr>
          <a:lstStyle/>
          <a:p>
            <a:pPr marL="0" indent="0" algn="l">
              <a:buNone/>
            </a:pPr>
            <a:r>
              <a:rPr lang="en-US" sz="1125" kern="0" spc="34" dirty="0">
                <a:solidFill>
                  <a:srgbClr val="A6A6A6"/>
                </a:solidFill>
                <a:latin typeface="Helvetica Neue" pitchFamily="34" charset="0"/>
                <a:ea typeface="Helvetica Neue" pitchFamily="34" charset="-122"/>
                <a:cs typeface="Helvetica Neue" pitchFamily="34" charset="-120"/>
              </a:rPr>
              <a:t>23 June 2026 · 11 / 16</a:t>
            </a:r>
            <a:endParaRPr lang="en-US" sz="1125" dirty="0"/>
          </a:p>
        </p:txBody>
      </p:sp>
      <p:pic>
        <p:nvPicPr>
          <p:cNvPr id="14" name="Graphic 13">
            <a:extLst>
              <a:ext uri="{FF2B5EF4-FFF2-40B4-BE49-F238E27FC236}">
                <a16:creationId xmlns:a16="http://schemas.microsoft.com/office/drawing/2014/main" id="{310F34BD-67DD-85C8-D0FB-764D1FD8717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93841" y="5681859"/>
            <a:ext cx="2714580" cy="435674"/>
          </a:xfrm>
          <a:prstGeom prst="rect">
            <a:avLst/>
          </a:prstGeom>
        </p:spPr>
      </p:pic>
      <p:pic>
        <p:nvPicPr>
          <p:cNvPr id="15" name="Graphic 14">
            <a:extLst>
              <a:ext uri="{FF2B5EF4-FFF2-40B4-BE49-F238E27FC236}">
                <a16:creationId xmlns:a16="http://schemas.microsoft.com/office/drawing/2014/main" id="{A2D6E5AD-FBB4-A9DF-0EAE-FCE503FB47A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00064" y="8807845"/>
            <a:ext cx="2714579" cy="435673"/>
          </a:xfrm>
          <a:prstGeom prst="rect">
            <a:avLst/>
          </a:prstGeom>
        </p:spPr>
      </p:pic>
      <p:sp>
        <p:nvSpPr>
          <p:cNvPr id="19" name="Text 3">
            <a:extLst>
              <a:ext uri="{FF2B5EF4-FFF2-40B4-BE49-F238E27FC236}">
                <a16:creationId xmlns:a16="http://schemas.microsoft.com/office/drawing/2014/main" id="{6D2B2A5B-1A6E-BBD7-1059-63F18EF37D25}"/>
              </a:ext>
            </a:extLst>
          </p:cNvPr>
          <p:cNvSpPr/>
          <p:nvPr/>
        </p:nvSpPr>
        <p:spPr>
          <a:xfrm>
            <a:off x="880594" y="2129116"/>
            <a:ext cx="9102457" cy="628650"/>
          </a:xfrm>
          <a:prstGeom prst="rect">
            <a:avLst/>
          </a:prstGeom>
          <a:noFill/>
          <a:ln/>
        </p:spPr>
        <p:txBody>
          <a:bodyPr wrap="square" lIns="25400" tIns="25400" rIns="25400" bIns="25400" rtlCol="0" anchor="t">
            <a:noAutofit/>
          </a:bodyPr>
          <a:lstStyle/>
          <a:p>
            <a:r>
              <a:rPr lang="en-US" sz="2400" dirty="0">
                <a:solidFill>
                  <a:srgbClr val="1A1A1A"/>
                </a:solidFill>
                <a:latin typeface="Helvetica Neue" pitchFamily="34" charset="0"/>
                <a:ea typeface="Helvetica Neue" pitchFamily="34" charset="-122"/>
                <a:cs typeface="Helvetica Neue" pitchFamily="34" charset="-120"/>
              </a:rPr>
              <a:t>We can recover a LISA-like one-way laser-noise transfer function.</a:t>
            </a:r>
            <a:endParaRPr lang="en-US" sz="2400" dirty="0"/>
          </a:p>
        </p:txBody>
      </p:sp>
      <p:pic>
        <p:nvPicPr>
          <p:cNvPr id="23" name="Graphic 22">
            <a:extLst>
              <a:ext uri="{FF2B5EF4-FFF2-40B4-BE49-F238E27FC236}">
                <a16:creationId xmlns:a16="http://schemas.microsoft.com/office/drawing/2014/main" id="{5274CFEB-4447-4A39-9E5D-FEB77392FDD8}"/>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836821" y="3747247"/>
            <a:ext cx="5625546" cy="1087732"/>
          </a:xfrm>
          <a:prstGeom prst="rect">
            <a:avLst/>
          </a:prstGeom>
        </p:spPr>
      </p:pic>
      <p:sp>
        <p:nvSpPr>
          <p:cNvPr id="25" name="Shape 4">
            <a:extLst>
              <a:ext uri="{FF2B5EF4-FFF2-40B4-BE49-F238E27FC236}">
                <a16:creationId xmlns:a16="http://schemas.microsoft.com/office/drawing/2014/main" id="{6784980C-C4F1-9AA7-4DFF-8CDAD0FCE30D}"/>
              </a:ext>
            </a:extLst>
          </p:cNvPr>
          <p:cNvSpPr/>
          <p:nvPr/>
        </p:nvSpPr>
        <p:spPr>
          <a:xfrm>
            <a:off x="877788" y="1648031"/>
            <a:ext cx="7200000" cy="45719"/>
          </a:xfrm>
          <a:prstGeom prst="rect">
            <a:avLst/>
          </a:prstGeom>
          <a:solidFill>
            <a:srgbClr val="ECECEC"/>
          </a:solidFill>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64127E64-05E0-72E9-9B71-34E8FBDA4F6D}"/>
              </a:ext>
            </a:extLst>
          </p:cNvPr>
          <p:cNvPicPr>
            <a:picLocks noChangeAspect="1"/>
          </p:cNvPicPr>
          <p:nvPr/>
        </p:nvPicPr>
        <p:blipFill>
          <a:blip r:embed="rId3"/>
          <a:srcRect t="422"/>
          <a:stretch>
            <a:fillRect/>
          </a:stretch>
        </p:blipFill>
        <p:spPr>
          <a:xfrm>
            <a:off x="5185992" y="3179905"/>
            <a:ext cx="12961934" cy="5765045"/>
          </a:xfrm>
          <a:prstGeom prst="rect">
            <a:avLst/>
          </a:prstGeom>
        </p:spPr>
      </p:pic>
      <p:sp>
        <p:nvSpPr>
          <p:cNvPr id="2" name="Text 0"/>
          <p:cNvSpPr/>
          <p:nvPr/>
        </p:nvSpPr>
        <p:spPr>
          <a:xfrm>
            <a:off x="877788" y="555427"/>
            <a:ext cx="18185666" cy="209550"/>
          </a:xfrm>
          <a:prstGeom prst="rect">
            <a:avLst/>
          </a:prstGeom>
          <a:noFill/>
          <a:ln/>
        </p:spPr>
        <p:txBody>
          <a:bodyPr wrap="square" lIns="25400" tIns="25400" rIns="25400" bIns="25400" rtlCol="0" anchor="t">
            <a:normAutofit lnSpcReduction="10000"/>
          </a:bodyPr>
          <a:lstStyle/>
          <a:p>
            <a:pPr marL="0" indent="0" algn="l">
              <a:buNone/>
            </a:pPr>
            <a:r>
              <a:rPr lang="en-US" sz="1125" b="1" kern="0" spc="225" dirty="0">
                <a:solidFill>
                  <a:srgbClr val="9A9A9A"/>
                </a:solidFill>
                <a:latin typeface="Helvetica Neue" pitchFamily="34" charset="0"/>
                <a:ea typeface="Helvetica Neue" pitchFamily="34" charset="-122"/>
                <a:cs typeface="Helvetica Neue" pitchFamily="34" charset="-120"/>
              </a:rPr>
              <a:t>LASER NOISE RESULTS</a:t>
            </a:r>
            <a:endParaRPr lang="en-US" sz="1125" dirty="0"/>
          </a:p>
        </p:txBody>
      </p:sp>
      <p:sp>
        <p:nvSpPr>
          <p:cNvPr id="3" name="Text 1"/>
          <p:cNvSpPr/>
          <p:nvPr/>
        </p:nvSpPr>
        <p:spPr>
          <a:xfrm>
            <a:off x="877788" y="822127"/>
            <a:ext cx="18185666" cy="485775"/>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3450" b="1" kern="0" spc="-52" dirty="0">
                <a:solidFill>
                  <a:srgbClr val="141414"/>
                </a:solidFill>
                <a:latin typeface="Helvetica Neue" pitchFamily="34" charset="0"/>
                <a:ea typeface="Helvetica Neue" pitchFamily="34" charset="-122"/>
                <a:cs typeface="Helvetica Neue" pitchFamily="34" charset="-120"/>
              </a:rPr>
              <a:t>Tests of TDI so Far</a:t>
            </a:r>
            <a:endParaRPr lang="en-US" sz="3450" dirty="0"/>
          </a:p>
        </p:txBody>
      </p:sp>
      <p:sp>
        <p:nvSpPr>
          <p:cNvPr id="9" name="Text 5"/>
          <p:cNvSpPr/>
          <p:nvPr/>
        </p:nvSpPr>
        <p:spPr>
          <a:xfrm>
            <a:off x="13311507" y="9097351"/>
            <a:ext cx="3373256" cy="503551"/>
          </a:xfrm>
          <a:prstGeom prst="rect">
            <a:avLst/>
          </a:prstGeom>
          <a:noFill/>
          <a:ln/>
        </p:spPr>
        <p:txBody>
          <a:bodyPr wrap="square" lIns="25400" tIns="25400" rIns="25400" bIns="25400" rtlCol="0" anchor="t">
            <a:noAutofit/>
          </a:bodyPr>
          <a:lstStyle/>
          <a:p>
            <a:pPr marL="0" indent="0" algn="l">
              <a:buNone/>
            </a:pPr>
            <a:r>
              <a:rPr lang="en-US" dirty="0">
                <a:solidFill>
                  <a:srgbClr val="A0A0A0"/>
                </a:solidFill>
                <a:latin typeface="Helvetica Neue" pitchFamily="34" charset="0"/>
                <a:ea typeface="Helvetica Neue" pitchFamily="34" charset="-122"/>
                <a:cs typeface="Helvetica Neue" pitchFamily="34" charset="-120"/>
              </a:rPr>
              <a:t>Credit: R. Ferguson </a:t>
            </a:r>
            <a:r>
              <a:rPr lang="en-US" i="1" dirty="0">
                <a:solidFill>
                  <a:srgbClr val="A0A0A0"/>
                </a:solidFill>
                <a:latin typeface="Helvetica Neue" pitchFamily="34" charset="0"/>
                <a:ea typeface="Helvetica Neue" pitchFamily="34" charset="-122"/>
                <a:cs typeface="Helvetica Neue" pitchFamily="34" charset="-120"/>
              </a:rPr>
              <a:t>et al</a:t>
            </a:r>
            <a:r>
              <a:rPr lang="en-US" dirty="0">
                <a:solidFill>
                  <a:srgbClr val="A0A0A0"/>
                </a:solidFill>
                <a:latin typeface="Helvetica Neue" pitchFamily="34" charset="0"/>
                <a:ea typeface="Helvetica Neue" pitchFamily="34" charset="-122"/>
                <a:cs typeface="Helvetica Neue" pitchFamily="34" charset="-120"/>
              </a:rPr>
              <a:t>. (2026)</a:t>
            </a:r>
            <a:endParaRPr lang="en-US" dirty="0"/>
          </a:p>
        </p:txBody>
      </p:sp>
      <p:sp>
        <p:nvSpPr>
          <p:cNvPr id="10" name="Shape 6"/>
          <p:cNvSpPr/>
          <p:nvPr/>
        </p:nvSpPr>
        <p:spPr>
          <a:xfrm>
            <a:off x="877788" y="9591377"/>
            <a:ext cx="16532423" cy="9525"/>
          </a:xfrm>
          <a:prstGeom prst="rect">
            <a:avLst/>
          </a:prstGeom>
          <a:solidFill>
            <a:srgbClr val="ECECEC"/>
          </a:solidFill>
          <a:ln/>
        </p:spPr>
      </p:sp>
      <p:sp>
        <p:nvSpPr>
          <p:cNvPr id="11" name="Text 7"/>
          <p:cNvSpPr/>
          <p:nvPr/>
        </p:nvSpPr>
        <p:spPr>
          <a:xfrm>
            <a:off x="877788" y="9734252"/>
            <a:ext cx="2633127" cy="200025"/>
          </a:xfrm>
          <a:prstGeom prst="rect">
            <a:avLst/>
          </a:prstGeom>
          <a:noFill/>
          <a:ln/>
        </p:spPr>
        <p:txBody>
          <a:bodyPr wrap="square" lIns="25400" tIns="25400" rIns="25400" bIns="25400" rtlCol="0" anchor="t">
            <a:normAutofit fontScale="92500" lnSpcReduction="10000"/>
          </a:bodyPr>
          <a:lstStyle/>
          <a:p>
            <a:pPr marL="0" indent="0" algn="l">
              <a:buNone/>
            </a:pPr>
            <a:r>
              <a:rPr lang="en-US" sz="1125" kern="0" spc="34" dirty="0">
                <a:solidFill>
                  <a:srgbClr val="A6A6A6"/>
                </a:solidFill>
                <a:latin typeface="Helvetica Neue" pitchFamily="34" charset="0"/>
                <a:ea typeface="Helvetica Neue" pitchFamily="34" charset="-122"/>
                <a:cs typeface="Helvetica Neue" pitchFamily="34" charset="-120"/>
              </a:rPr>
              <a:t>16th International LISA Symposium</a:t>
            </a:r>
            <a:endParaRPr lang="en-US" sz="1125" dirty="0"/>
          </a:p>
        </p:txBody>
      </p:sp>
      <p:sp>
        <p:nvSpPr>
          <p:cNvPr id="12" name="Text 8"/>
          <p:cNvSpPr/>
          <p:nvPr/>
        </p:nvSpPr>
        <p:spPr>
          <a:xfrm>
            <a:off x="15798105" y="9734252"/>
            <a:ext cx="1773317" cy="200025"/>
          </a:xfrm>
          <a:prstGeom prst="rect">
            <a:avLst/>
          </a:prstGeom>
          <a:noFill/>
          <a:ln/>
        </p:spPr>
        <p:txBody>
          <a:bodyPr wrap="square" lIns="25400" tIns="25400" rIns="25400" bIns="25400" rtlCol="0" anchor="t">
            <a:normAutofit fontScale="92500" lnSpcReduction="10000"/>
          </a:bodyPr>
          <a:lstStyle/>
          <a:p>
            <a:pPr marL="0" indent="0" algn="l">
              <a:buNone/>
            </a:pPr>
            <a:r>
              <a:rPr lang="en-US" sz="1125" kern="0" spc="34" dirty="0">
                <a:solidFill>
                  <a:srgbClr val="A6A6A6"/>
                </a:solidFill>
                <a:latin typeface="Helvetica Neue" pitchFamily="34" charset="0"/>
                <a:ea typeface="Helvetica Neue" pitchFamily="34" charset="-122"/>
                <a:cs typeface="Helvetica Neue" pitchFamily="34" charset="-120"/>
              </a:rPr>
              <a:t>23 June 2026 · 12 / 16</a:t>
            </a:r>
            <a:endParaRPr lang="en-US" sz="1125" dirty="0"/>
          </a:p>
        </p:txBody>
      </p:sp>
      <p:sp>
        <p:nvSpPr>
          <p:cNvPr id="6" name="Text 4"/>
          <p:cNvSpPr/>
          <p:nvPr/>
        </p:nvSpPr>
        <p:spPr>
          <a:xfrm>
            <a:off x="527300" y="8502038"/>
            <a:ext cx="7262165" cy="771823"/>
          </a:xfrm>
          <a:prstGeom prst="rect">
            <a:avLst/>
          </a:prstGeom>
          <a:noFill/>
          <a:ln/>
        </p:spPr>
        <p:txBody>
          <a:bodyPr wrap="square" lIns="25400" tIns="25400" rIns="25400" bIns="25400" rtlCol="0" anchor="t">
            <a:noAutofit/>
          </a:bodyPr>
          <a:lstStyle/>
          <a:p>
            <a:pPr marL="0" indent="0" algn="l">
              <a:lnSpc>
                <a:spcPct val="145000"/>
              </a:lnSpc>
              <a:buNone/>
            </a:pPr>
            <a:endParaRPr lang="en-US" sz="2000" dirty="0"/>
          </a:p>
        </p:txBody>
      </p:sp>
      <p:pic>
        <p:nvPicPr>
          <p:cNvPr id="14" name="Graphic 13">
            <a:extLst>
              <a:ext uri="{FF2B5EF4-FFF2-40B4-BE49-F238E27FC236}">
                <a16:creationId xmlns:a16="http://schemas.microsoft.com/office/drawing/2014/main" id="{8BD7B5C4-8A3D-12A9-042F-E4EDD070027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594489" y="2357546"/>
            <a:ext cx="7815722" cy="793784"/>
          </a:xfrm>
          <a:prstGeom prst="rect">
            <a:avLst/>
          </a:prstGeom>
        </p:spPr>
      </p:pic>
      <p:sp>
        <p:nvSpPr>
          <p:cNvPr id="15" name="Text 2">
            <a:extLst>
              <a:ext uri="{FF2B5EF4-FFF2-40B4-BE49-F238E27FC236}">
                <a16:creationId xmlns:a16="http://schemas.microsoft.com/office/drawing/2014/main" id="{0762D40D-AE7F-268C-AAC8-E9643BFA01BF}"/>
              </a:ext>
            </a:extLst>
          </p:cNvPr>
          <p:cNvSpPr/>
          <p:nvPr/>
        </p:nvSpPr>
        <p:spPr>
          <a:xfrm>
            <a:off x="877788" y="2078106"/>
            <a:ext cx="8851359" cy="381000"/>
          </a:xfrm>
          <a:prstGeom prst="rect">
            <a:avLst/>
          </a:prstGeom>
          <a:noFill/>
          <a:ln/>
        </p:spPr>
        <p:txBody>
          <a:bodyPr wrap="square" lIns="25400" tIns="25400" rIns="25400" bIns="25400" rtlCol="0" anchor="t">
            <a:noAutofit/>
          </a:bodyPr>
          <a:lstStyle/>
          <a:p>
            <a:pPr>
              <a:lnSpc>
                <a:spcPct val="145000"/>
              </a:lnSpc>
            </a:pPr>
            <a:r>
              <a:rPr lang="en-US" sz="2400" dirty="0">
                <a:solidFill>
                  <a:schemeClr val="tx1">
                    <a:lumMod val="85000"/>
                    <a:lumOff val="15000"/>
                  </a:schemeClr>
                </a:solidFill>
                <a:latin typeface="Helvetica Neue" pitchFamily="34" charset="0"/>
                <a:ea typeface="Helvetica Neue" pitchFamily="34" charset="-122"/>
                <a:cs typeface="Helvetica Neue" pitchFamily="34" charset="-120"/>
              </a:rPr>
              <a:t>Fully electronic testbed can already demonstrate noise suppression with TDI</a:t>
            </a:r>
            <a:endParaRPr lang="en-US" sz="2400" dirty="0">
              <a:solidFill>
                <a:schemeClr val="tx1">
                  <a:lumMod val="85000"/>
                  <a:lumOff val="15000"/>
                </a:schemeClr>
              </a:solidFill>
            </a:endParaRPr>
          </a:p>
        </p:txBody>
      </p:sp>
      <p:sp>
        <p:nvSpPr>
          <p:cNvPr id="16" name="Text 3">
            <a:extLst>
              <a:ext uri="{FF2B5EF4-FFF2-40B4-BE49-F238E27FC236}">
                <a16:creationId xmlns:a16="http://schemas.microsoft.com/office/drawing/2014/main" id="{AD2558AD-AD7F-7BD4-A4B4-C6CB852D1A12}"/>
              </a:ext>
            </a:extLst>
          </p:cNvPr>
          <p:cNvSpPr/>
          <p:nvPr/>
        </p:nvSpPr>
        <p:spPr>
          <a:xfrm>
            <a:off x="877789" y="3332029"/>
            <a:ext cx="5092705" cy="723900"/>
          </a:xfrm>
          <a:prstGeom prst="rect">
            <a:avLst/>
          </a:prstGeom>
          <a:noFill/>
          <a:ln/>
        </p:spPr>
        <p:txBody>
          <a:bodyPr wrap="square" lIns="25400" tIns="25400" rIns="25400" bIns="25400" rtlCol="0" anchor="t">
            <a:noAutofit/>
          </a:bodyPr>
          <a:lstStyle/>
          <a:p>
            <a:pPr>
              <a:lnSpc>
                <a:spcPct val="145000"/>
              </a:lnSpc>
            </a:pPr>
            <a:r>
              <a:rPr lang="en-US" sz="2400" dirty="0">
                <a:solidFill>
                  <a:schemeClr val="tx1">
                    <a:lumMod val="85000"/>
                    <a:lumOff val="15000"/>
                  </a:schemeClr>
                </a:solidFill>
                <a:latin typeface="Helvetica Neue" pitchFamily="34" charset="0"/>
                <a:ea typeface="Helvetica Neue" pitchFamily="34" charset="-122"/>
                <a:cs typeface="Helvetica Neue" pitchFamily="34" charset="-120"/>
              </a:rPr>
              <a:t>Static TDI has been demonstrated — the next step is to add the clock noise correction.</a:t>
            </a:r>
            <a:endParaRPr lang="en-US" sz="2400" dirty="0">
              <a:solidFill>
                <a:schemeClr val="tx1">
                  <a:lumMod val="85000"/>
                  <a:lumOff val="15000"/>
                </a:schemeClr>
              </a:solidFill>
            </a:endParaRPr>
          </a:p>
        </p:txBody>
      </p:sp>
      <p:sp>
        <p:nvSpPr>
          <p:cNvPr id="18" name="Shape 4">
            <a:extLst>
              <a:ext uri="{FF2B5EF4-FFF2-40B4-BE49-F238E27FC236}">
                <a16:creationId xmlns:a16="http://schemas.microsoft.com/office/drawing/2014/main" id="{41C87290-51B9-2D6E-B143-156EDEB5D971}"/>
              </a:ext>
            </a:extLst>
          </p:cNvPr>
          <p:cNvSpPr/>
          <p:nvPr/>
        </p:nvSpPr>
        <p:spPr>
          <a:xfrm>
            <a:off x="877788" y="1648031"/>
            <a:ext cx="7200000" cy="45719"/>
          </a:xfrm>
          <a:prstGeom prst="rect">
            <a:avLst/>
          </a:prstGeom>
          <a:solidFill>
            <a:srgbClr val="ECECEC"/>
          </a:solidFill>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77788" y="555427"/>
            <a:ext cx="18185666" cy="209550"/>
          </a:xfrm>
          <a:prstGeom prst="rect">
            <a:avLst/>
          </a:prstGeom>
          <a:noFill/>
          <a:ln/>
        </p:spPr>
        <p:txBody>
          <a:bodyPr wrap="square" lIns="25400" tIns="25400" rIns="25400" bIns="25400" rtlCol="0" anchor="t">
            <a:normAutofit lnSpcReduction="10000"/>
          </a:bodyPr>
          <a:lstStyle/>
          <a:p>
            <a:pPr marL="0" indent="0" algn="l">
              <a:buNone/>
            </a:pPr>
            <a:r>
              <a:rPr lang="en-US" sz="1125" b="1" kern="0" spc="225" dirty="0">
                <a:solidFill>
                  <a:srgbClr val="9A9A9A"/>
                </a:solidFill>
                <a:latin typeface="Helvetica Neue" pitchFamily="34" charset="0"/>
                <a:ea typeface="Helvetica Neue" pitchFamily="34" charset="-122"/>
                <a:cs typeface="Helvetica Neue" pitchFamily="34" charset="-120"/>
              </a:rPr>
              <a:t>CLOCK-TONE TRANSFER</a:t>
            </a:r>
            <a:endParaRPr lang="en-US" sz="1125" dirty="0"/>
          </a:p>
        </p:txBody>
      </p:sp>
      <p:sp>
        <p:nvSpPr>
          <p:cNvPr id="3" name="Text 1"/>
          <p:cNvSpPr/>
          <p:nvPr/>
        </p:nvSpPr>
        <p:spPr>
          <a:xfrm>
            <a:off x="877788" y="822127"/>
            <a:ext cx="18185666" cy="485775"/>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3450" b="1" kern="0" spc="-52" dirty="0">
                <a:solidFill>
                  <a:srgbClr val="141414"/>
                </a:solidFill>
                <a:latin typeface="Helvetica Neue" pitchFamily="34" charset="0"/>
                <a:ea typeface="Helvetica Neue" pitchFamily="34" charset="-122"/>
                <a:cs typeface="Helvetica Neue" pitchFamily="34" charset="-120"/>
              </a:rPr>
              <a:t>Sidebands in the Lab</a:t>
            </a:r>
            <a:endParaRPr lang="en-US" sz="3450" dirty="0"/>
          </a:p>
        </p:txBody>
      </p:sp>
      <p:pic>
        <p:nvPicPr>
          <p:cNvPr id="4" name="Image 0" descr="preencoded.png"/>
          <p:cNvPicPr>
            <a:picLocks noChangeAspect="1"/>
          </p:cNvPicPr>
          <p:nvPr/>
        </p:nvPicPr>
        <p:blipFill>
          <a:blip r:embed="rId3"/>
          <a:srcRect t="-75" b="-75"/>
          <a:stretch/>
        </p:blipFill>
        <p:spPr>
          <a:xfrm>
            <a:off x="786259" y="1851571"/>
            <a:ext cx="9601200" cy="2684859"/>
          </a:xfrm>
          <a:prstGeom prst="rect">
            <a:avLst/>
          </a:prstGeom>
        </p:spPr>
      </p:pic>
      <p:pic>
        <p:nvPicPr>
          <p:cNvPr id="6" name="Image 2" descr="preencoded.png"/>
          <p:cNvPicPr>
            <a:picLocks noChangeAspect="1"/>
          </p:cNvPicPr>
          <p:nvPr/>
        </p:nvPicPr>
        <p:blipFill>
          <a:blip r:embed="rId4"/>
          <a:srcRect l="-6" r="-6"/>
          <a:stretch/>
        </p:blipFill>
        <p:spPr>
          <a:xfrm>
            <a:off x="914400" y="5472559"/>
            <a:ext cx="9966871" cy="3497461"/>
          </a:xfrm>
          <a:prstGeom prst="rect">
            <a:avLst/>
          </a:prstGeom>
        </p:spPr>
      </p:pic>
      <p:sp>
        <p:nvSpPr>
          <p:cNvPr id="8" name="Text 2"/>
          <p:cNvSpPr/>
          <p:nvPr/>
        </p:nvSpPr>
        <p:spPr>
          <a:xfrm>
            <a:off x="14996071" y="3343275"/>
            <a:ext cx="3218557" cy="314325"/>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141414"/>
                </a:solidFill>
                <a:latin typeface="Helvetica Neue" pitchFamily="34" charset="0"/>
                <a:ea typeface="Helvetica Neue" pitchFamily="34" charset="-122"/>
                <a:cs typeface="Helvetica Neue" pitchFamily="34" charset="-120"/>
              </a:rPr>
              <a:t>LISA arm</a:t>
            </a:r>
            <a:endParaRPr lang="en-US" sz="1800" dirty="0"/>
          </a:p>
        </p:txBody>
      </p:sp>
      <p:sp>
        <p:nvSpPr>
          <p:cNvPr id="9" name="Text 3"/>
          <p:cNvSpPr/>
          <p:nvPr/>
        </p:nvSpPr>
        <p:spPr>
          <a:xfrm>
            <a:off x="14996071" y="3638550"/>
            <a:ext cx="3218557" cy="209550"/>
          </a:xfrm>
          <a:prstGeom prst="rect">
            <a:avLst/>
          </a:prstGeom>
          <a:noFill/>
          <a:ln/>
        </p:spPr>
        <p:txBody>
          <a:bodyPr wrap="square" lIns="25400" tIns="25400" rIns="25400" bIns="25400" rtlCol="0" anchor="t">
            <a:normAutofit fontScale="92500" lnSpcReduction="10000"/>
          </a:bodyPr>
          <a:lstStyle/>
          <a:p>
            <a:pPr marL="0" indent="0" algn="l">
              <a:buNone/>
            </a:pPr>
            <a:r>
              <a:rPr lang="en-US" sz="1200" dirty="0">
                <a:solidFill>
                  <a:srgbClr val="9A9A9A"/>
                </a:solidFill>
                <a:latin typeface="Helvetica Neue" pitchFamily="34" charset="0"/>
                <a:ea typeface="Helvetica Neue" pitchFamily="34" charset="-122"/>
                <a:cs typeface="Helvetica Neue" pitchFamily="34" charset="-120"/>
              </a:rPr>
              <a:t>In-flight link</a:t>
            </a:r>
            <a:endParaRPr lang="en-US" sz="1200" dirty="0"/>
          </a:p>
        </p:txBody>
      </p:sp>
      <p:sp>
        <p:nvSpPr>
          <p:cNvPr id="10" name="Text 4"/>
          <p:cNvSpPr/>
          <p:nvPr/>
        </p:nvSpPr>
        <p:spPr>
          <a:xfrm>
            <a:off x="14996071" y="7097911"/>
            <a:ext cx="3218557" cy="314325"/>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141414"/>
                </a:solidFill>
                <a:latin typeface="Helvetica Neue" pitchFamily="34" charset="0"/>
                <a:ea typeface="Helvetica Neue" pitchFamily="34" charset="-122"/>
                <a:cs typeface="Helvetica Neue" pitchFamily="34" charset="-120"/>
              </a:rPr>
              <a:t>Testbed arm</a:t>
            </a:r>
            <a:endParaRPr lang="en-US" sz="1800" dirty="0"/>
          </a:p>
        </p:txBody>
      </p:sp>
      <p:sp>
        <p:nvSpPr>
          <p:cNvPr id="11" name="Text 5"/>
          <p:cNvSpPr/>
          <p:nvPr/>
        </p:nvSpPr>
        <p:spPr>
          <a:xfrm>
            <a:off x="14996071" y="7393186"/>
            <a:ext cx="3218557" cy="209550"/>
          </a:xfrm>
          <a:prstGeom prst="rect">
            <a:avLst/>
          </a:prstGeom>
          <a:noFill/>
          <a:ln/>
        </p:spPr>
        <p:txBody>
          <a:bodyPr wrap="square" lIns="25400" tIns="25400" rIns="25400" bIns="25400" rtlCol="0" anchor="t">
            <a:normAutofit fontScale="92500" lnSpcReduction="10000"/>
          </a:bodyPr>
          <a:lstStyle/>
          <a:p>
            <a:pPr marL="0" indent="0" algn="l">
              <a:buNone/>
            </a:pPr>
            <a:r>
              <a:rPr lang="en-US" sz="1200" dirty="0">
                <a:solidFill>
                  <a:srgbClr val="9A9A9A"/>
                </a:solidFill>
                <a:latin typeface="Helvetica Neue" pitchFamily="34" charset="0"/>
                <a:ea typeface="Helvetica Neue" pitchFamily="34" charset="-122"/>
                <a:cs typeface="Helvetica Neue" pitchFamily="34" charset="-120"/>
              </a:rPr>
              <a:t>Benchtop analogue</a:t>
            </a:r>
            <a:endParaRPr lang="en-US" sz="1200" dirty="0"/>
          </a:p>
        </p:txBody>
      </p:sp>
      <p:sp>
        <p:nvSpPr>
          <p:cNvPr id="12" name="Shape 6"/>
          <p:cNvSpPr/>
          <p:nvPr/>
        </p:nvSpPr>
        <p:spPr>
          <a:xfrm>
            <a:off x="877788" y="9591377"/>
            <a:ext cx="16532423" cy="9525"/>
          </a:xfrm>
          <a:prstGeom prst="rect">
            <a:avLst/>
          </a:prstGeom>
          <a:solidFill>
            <a:srgbClr val="ECECEC"/>
          </a:solidFill>
          <a:ln/>
        </p:spPr>
      </p:sp>
      <p:sp>
        <p:nvSpPr>
          <p:cNvPr id="13" name="Text 7"/>
          <p:cNvSpPr/>
          <p:nvPr/>
        </p:nvSpPr>
        <p:spPr>
          <a:xfrm>
            <a:off x="877788" y="9734252"/>
            <a:ext cx="2633127" cy="200025"/>
          </a:xfrm>
          <a:prstGeom prst="rect">
            <a:avLst/>
          </a:prstGeom>
          <a:noFill/>
          <a:ln/>
        </p:spPr>
        <p:txBody>
          <a:bodyPr wrap="square" lIns="25400" tIns="25400" rIns="25400" bIns="25400" rtlCol="0" anchor="t">
            <a:normAutofit fontScale="92500" lnSpcReduction="10000"/>
          </a:bodyPr>
          <a:lstStyle/>
          <a:p>
            <a:pPr marL="0" indent="0" algn="l">
              <a:buNone/>
            </a:pPr>
            <a:r>
              <a:rPr lang="en-US" sz="1125" kern="0" spc="34" dirty="0">
                <a:solidFill>
                  <a:srgbClr val="A6A6A6"/>
                </a:solidFill>
                <a:latin typeface="Helvetica Neue" pitchFamily="34" charset="0"/>
                <a:ea typeface="Helvetica Neue" pitchFamily="34" charset="-122"/>
                <a:cs typeface="Helvetica Neue" pitchFamily="34" charset="-120"/>
              </a:rPr>
              <a:t>16th International LISA Symposium</a:t>
            </a:r>
            <a:endParaRPr lang="en-US" sz="1125" dirty="0"/>
          </a:p>
        </p:txBody>
      </p:sp>
      <p:sp>
        <p:nvSpPr>
          <p:cNvPr id="14" name="Text 8"/>
          <p:cNvSpPr/>
          <p:nvPr/>
        </p:nvSpPr>
        <p:spPr>
          <a:xfrm>
            <a:off x="15798105" y="9734252"/>
            <a:ext cx="1773317" cy="200025"/>
          </a:xfrm>
          <a:prstGeom prst="rect">
            <a:avLst/>
          </a:prstGeom>
          <a:noFill/>
          <a:ln/>
        </p:spPr>
        <p:txBody>
          <a:bodyPr wrap="square" lIns="25400" tIns="25400" rIns="25400" bIns="25400" rtlCol="0" anchor="t">
            <a:normAutofit fontScale="92500" lnSpcReduction="10000"/>
          </a:bodyPr>
          <a:lstStyle/>
          <a:p>
            <a:pPr marL="0" indent="0" algn="l">
              <a:buNone/>
            </a:pPr>
            <a:r>
              <a:rPr lang="en-US" sz="1125" kern="0" spc="34" dirty="0">
                <a:solidFill>
                  <a:srgbClr val="A6A6A6"/>
                </a:solidFill>
                <a:latin typeface="Helvetica Neue" pitchFamily="34" charset="0"/>
                <a:ea typeface="Helvetica Neue" pitchFamily="34" charset="-122"/>
                <a:cs typeface="Helvetica Neue" pitchFamily="34" charset="-120"/>
              </a:rPr>
              <a:t>23 June 2026 · 13 / 16</a:t>
            </a:r>
            <a:endParaRPr lang="en-US" sz="1125" dirty="0"/>
          </a:p>
        </p:txBody>
      </p:sp>
      <p:pic>
        <p:nvPicPr>
          <p:cNvPr id="16" name="Graphic 15">
            <a:extLst>
              <a:ext uri="{FF2B5EF4-FFF2-40B4-BE49-F238E27FC236}">
                <a16:creationId xmlns:a16="http://schemas.microsoft.com/office/drawing/2014/main" id="{9FC99449-5110-2A54-FC17-35CB1935BAC7}"/>
              </a:ext>
            </a:extLst>
          </p:cNvPr>
          <p:cNvPicPr>
            <a:picLocks noChangeAspect="1"/>
          </p:cNvPicPr>
          <p:nvPr/>
        </p:nvPicPr>
        <p:blipFill>
          <a:blip r:embed="rId5">
            <a:extLst>
              <a:ext uri="{96DAC541-7B7A-43D3-8B79-37D633B846F1}">
                <asvg:svgBlip xmlns:asvg="http://schemas.microsoft.com/office/drawing/2016/SVG/main" r:embed="rId6"/>
              </a:ext>
            </a:extLst>
          </a:blip>
          <a:srcRect r="46966"/>
          <a:stretch>
            <a:fillRect/>
          </a:stretch>
        </p:blipFill>
        <p:spPr>
          <a:xfrm>
            <a:off x="10700948" y="3667943"/>
            <a:ext cx="6198641" cy="1851571"/>
          </a:xfrm>
          <a:prstGeom prst="rect">
            <a:avLst/>
          </a:prstGeom>
        </p:spPr>
      </p:pic>
      <p:pic>
        <p:nvPicPr>
          <p:cNvPr id="18" name="Graphic 17">
            <a:extLst>
              <a:ext uri="{FF2B5EF4-FFF2-40B4-BE49-F238E27FC236}">
                <a16:creationId xmlns:a16="http://schemas.microsoft.com/office/drawing/2014/main" id="{13DF5016-2B9E-8507-8D9C-34B5E1AD7BAB}"/>
              </a:ext>
            </a:extLst>
          </p:cNvPr>
          <p:cNvPicPr>
            <a:picLocks noChangeAspect="1"/>
          </p:cNvPicPr>
          <p:nvPr/>
        </p:nvPicPr>
        <p:blipFill>
          <a:blip r:embed="rId7">
            <a:extLst>
              <a:ext uri="{96DAC541-7B7A-43D3-8B79-37D633B846F1}">
                <asvg:svgBlip xmlns:asvg="http://schemas.microsoft.com/office/drawing/2016/SVG/main" r:embed="rId8"/>
              </a:ext>
            </a:extLst>
          </a:blip>
          <a:srcRect t="537" r="26754"/>
          <a:stretch>
            <a:fillRect/>
          </a:stretch>
        </p:blipFill>
        <p:spPr>
          <a:xfrm>
            <a:off x="9143999" y="7602736"/>
            <a:ext cx="9044978" cy="170393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pic>
        <p:nvPicPr>
          <p:cNvPr id="8" name="Image 0" descr="preencoded.png"/>
          <p:cNvPicPr>
            <a:picLocks noChangeAspect="1"/>
          </p:cNvPicPr>
          <p:nvPr/>
        </p:nvPicPr>
        <p:blipFill>
          <a:blip r:embed="rId3"/>
          <a:srcRect t="-7079" b="-7079"/>
          <a:stretch/>
        </p:blipFill>
        <p:spPr>
          <a:xfrm>
            <a:off x="8705091" y="2556593"/>
            <a:ext cx="8778180" cy="6377880"/>
          </a:xfrm>
          <a:prstGeom prst="rect">
            <a:avLst/>
          </a:prstGeom>
        </p:spPr>
      </p:pic>
      <p:sp>
        <p:nvSpPr>
          <p:cNvPr id="2" name="Text 0"/>
          <p:cNvSpPr/>
          <p:nvPr/>
        </p:nvSpPr>
        <p:spPr>
          <a:xfrm>
            <a:off x="877788" y="555427"/>
            <a:ext cx="18185666" cy="209550"/>
          </a:xfrm>
          <a:prstGeom prst="rect">
            <a:avLst/>
          </a:prstGeom>
          <a:noFill/>
          <a:ln/>
        </p:spPr>
        <p:txBody>
          <a:bodyPr wrap="square" lIns="25400" tIns="25400" rIns="25400" bIns="25400" rtlCol="0" anchor="t">
            <a:normAutofit lnSpcReduction="10000"/>
          </a:bodyPr>
          <a:lstStyle/>
          <a:p>
            <a:pPr marL="0" indent="0" algn="l">
              <a:buNone/>
            </a:pPr>
            <a:r>
              <a:rPr lang="en-US" sz="1125" b="1" kern="0" spc="225" dirty="0">
                <a:solidFill>
                  <a:srgbClr val="9A9A9A"/>
                </a:solidFill>
                <a:latin typeface="Helvetica Neue" pitchFamily="34" charset="0"/>
                <a:ea typeface="Helvetica Neue" pitchFamily="34" charset="-122"/>
                <a:cs typeface="Helvetica Neue" pitchFamily="34" charset="-120"/>
              </a:rPr>
              <a:t>CLOCK-TONE TRANSFER</a:t>
            </a:r>
            <a:endParaRPr lang="en-US" sz="1125" dirty="0"/>
          </a:p>
        </p:txBody>
      </p:sp>
      <p:sp>
        <p:nvSpPr>
          <p:cNvPr id="3" name="Text 1"/>
          <p:cNvSpPr/>
          <p:nvPr/>
        </p:nvSpPr>
        <p:spPr>
          <a:xfrm>
            <a:off x="877788" y="822127"/>
            <a:ext cx="18185666" cy="485775"/>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3450" b="1" kern="0" spc="-52" dirty="0">
                <a:solidFill>
                  <a:srgbClr val="141414"/>
                </a:solidFill>
                <a:latin typeface="Helvetica Neue" pitchFamily="34" charset="0"/>
                <a:ea typeface="Helvetica Neue" pitchFamily="34" charset="-122"/>
                <a:cs typeface="Helvetica Neue" pitchFamily="34" charset="-120"/>
              </a:rPr>
              <a:t>Clock Tone Transfer Limitation</a:t>
            </a:r>
            <a:endParaRPr lang="en-US" sz="3450" dirty="0"/>
          </a:p>
        </p:txBody>
      </p:sp>
      <p:sp>
        <p:nvSpPr>
          <p:cNvPr id="4" name="Text 2"/>
          <p:cNvSpPr/>
          <p:nvPr/>
        </p:nvSpPr>
        <p:spPr>
          <a:xfrm>
            <a:off x="877788" y="2042243"/>
            <a:ext cx="8851359" cy="381000"/>
          </a:xfrm>
          <a:prstGeom prst="rect">
            <a:avLst/>
          </a:prstGeom>
          <a:noFill/>
          <a:ln/>
        </p:spPr>
        <p:txBody>
          <a:bodyPr wrap="square" lIns="25400" tIns="25400" rIns="25400" bIns="25400" rtlCol="0" anchor="t">
            <a:noAutofit/>
          </a:bodyPr>
          <a:lstStyle/>
          <a:p>
            <a:pPr marL="0" indent="0" algn="l">
              <a:lnSpc>
                <a:spcPct val="145000"/>
              </a:lnSpc>
              <a:buNone/>
            </a:pPr>
            <a:r>
              <a:rPr lang="en-US" sz="2400" dirty="0">
                <a:solidFill>
                  <a:srgbClr val="222222"/>
                </a:solidFill>
                <a:latin typeface="Helvetica Neue" pitchFamily="34" charset="0"/>
                <a:ea typeface="Helvetica Neue" pitchFamily="34" charset="-122"/>
                <a:cs typeface="Helvetica Neue" pitchFamily="34" charset="-120"/>
              </a:rPr>
              <a:t>Modulator noise remains too loud if MHz modulation is used.</a:t>
            </a:r>
            <a:endParaRPr lang="en-US" sz="2400" dirty="0"/>
          </a:p>
        </p:txBody>
      </p:sp>
      <p:sp>
        <p:nvSpPr>
          <p:cNvPr id="5" name="Text 3"/>
          <p:cNvSpPr/>
          <p:nvPr/>
        </p:nvSpPr>
        <p:spPr>
          <a:xfrm>
            <a:off x="877788" y="2830012"/>
            <a:ext cx="8288091" cy="723900"/>
          </a:xfrm>
          <a:prstGeom prst="rect">
            <a:avLst/>
          </a:prstGeom>
          <a:noFill/>
          <a:ln/>
        </p:spPr>
        <p:txBody>
          <a:bodyPr wrap="square" lIns="25400" tIns="25400" rIns="25400" bIns="25400" rtlCol="0" anchor="t">
            <a:noAutofit/>
          </a:bodyPr>
          <a:lstStyle/>
          <a:p>
            <a:pPr marL="0" indent="0" algn="l">
              <a:lnSpc>
                <a:spcPct val="145000"/>
              </a:lnSpc>
              <a:buNone/>
            </a:pPr>
            <a:r>
              <a:rPr lang="en-US" sz="2400" dirty="0">
                <a:solidFill>
                  <a:srgbClr val="222222"/>
                </a:solidFill>
                <a:latin typeface="Helvetica Neue" pitchFamily="34" charset="0"/>
                <a:ea typeface="Helvetica Neue" pitchFamily="34" charset="-122"/>
                <a:cs typeface="Helvetica Neue" pitchFamily="34" charset="-120"/>
              </a:rPr>
              <a:t>The RF sideband phase-noise requirement should be adjusted for the modulating frequency used.</a:t>
            </a:r>
            <a:endParaRPr lang="en-US" sz="2400" dirty="0"/>
          </a:p>
        </p:txBody>
      </p:sp>
      <p:sp>
        <p:nvSpPr>
          <p:cNvPr id="7" name="Text 5"/>
          <p:cNvSpPr/>
          <p:nvPr/>
        </p:nvSpPr>
        <p:spPr>
          <a:xfrm>
            <a:off x="877788" y="4122042"/>
            <a:ext cx="7827303" cy="647700"/>
          </a:xfrm>
          <a:prstGeom prst="rect">
            <a:avLst/>
          </a:prstGeom>
          <a:noFill/>
          <a:ln/>
        </p:spPr>
        <p:txBody>
          <a:bodyPr wrap="square" lIns="25400" tIns="25400" rIns="25400" bIns="25400" rtlCol="0" anchor="t">
            <a:noAutofit/>
          </a:bodyPr>
          <a:lstStyle/>
          <a:p>
            <a:pPr marL="0" indent="0" algn="l">
              <a:lnSpc>
                <a:spcPct val="140000"/>
              </a:lnSpc>
              <a:buNone/>
            </a:pPr>
            <a:r>
              <a:rPr lang="en-US" sz="2400" dirty="0">
                <a:solidFill>
                  <a:srgbClr val="1A1A1A"/>
                </a:solidFill>
                <a:latin typeface="Helvetica Neue" pitchFamily="34" charset="0"/>
                <a:ea typeface="Helvetica Neue" pitchFamily="34" charset="-122"/>
                <a:cs typeface="Helvetica Neue" pitchFamily="34" charset="-120"/>
              </a:rPr>
              <a:t>This limitation needs a solution before the clock noise removal can be done with LISA-like performance.</a:t>
            </a:r>
            <a:endParaRPr lang="en-US" sz="2400" dirty="0"/>
          </a:p>
        </p:txBody>
      </p:sp>
      <p:sp>
        <p:nvSpPr>
          <p:cNvPr id="9" name="Text 6"/>
          <p:cNvSpPr/>
          <p:nvPr/>
        </p:nvSpPr>
        <p:spPr>
          <a:xfrm>
            <a:off x="8603225" y="8791598"/>
            <a:ext cx="9655999" cy="209550"/>
          </a:xfrm>
          <a:prstGeom prst="rect">
            <a:avLst/>
          </a:prstGeom>
          <a:noFill/>
          <a:ln/>
        </p:spPr>
        <p:txBody>
          <a:bodyPr wrap="square" lIns="25400" tIns="25400" rIns="25400" bIns="25400" rtlCol="0" anchor="t">
            <a:noAutofit/>
          </a:bodyPr>
          <a:lstStyle/>
          <a:p>
            <a:pPr marL="0" indent="0" algn="ctr">
              <a:buNone/>
            </a:pPr>
            <a:r>
              <a:rPr lang="en-US" sz="1400" dirty="0">
                <a:solidFill>
                  <a:srgbClr val="A0A0A0"/>
                </a:solidFill>
                <a:latin typeface="Helvetica Neue" pitchFamily="34" charset="0"/>
                <a:ea typeface="Helvetica Neue" pitchFamily="34" charset="-122"/>
                <a:cs typeface="Helvetica Neue" pitchFamily="34" charset="-120"/>
              </a:rPr>
              <a:t>Modulator phase noise against the requirement</a:t>
            </a:r>
            <a:endParaRPr lang="en-US" sz="1400" dirty="0"/>
          </a:p>
        </p:txBody>
      </p:sp>
      <p:sp>
        <p:nvSpPr>
          <p:cNvPr id="10" name="Shape 7"/>
          <p:cNvSpPr/>
          <p:nvPr/>
        </p:nvSpPr>
        <p:spPr>
          <a:xfrm>
            <a:off x="877788" y="9591377"/>
            <a:ext cx="16532423" cy="9525"/>
          </a:xfrm>
          <a:prstGeom prst="rect">
            <a:avLst/>
          </a:prstGeom>
          <a:solidFill>
            <a:srgbClr val="ECECEC"/>
          </a:solidFill>
          <a:ln/>
        </p:spPr>
      </p:sp>
      <p:sp>
        <p:nvSpPr>
          <p:cNvPr id="11" name="Text 8"/>
          <p:cNvSpPr/>
          <p:nvPr/>
        </p:nvSpPr>
        <p:spPr>
          <a:xfrm>
            <a:off x="877788" y="9734252"/>
            <a:ext cx="2633127" cy="200025"/>
          </a:xfrm>
          <a:prstGeom prst="rect">
            <a:avLst/>
          </a:prstGeom>
          <a:noFill/>
          <a:ln/>
        </p:spPr>
        <p:txBody>
          <a:bodyPr wrap="square" lIns="25400" tIns="25400" rIns="25400" bIns="25400" rtlCol="0" anchor="t">
            <a:normAutofit fontScale="92500" lnSpcReduction="10000"/>
          </a:bodyPr>
          <a:lstStyle/>
          <a:p>
            <a:pPr marL="0" indent="0" algn="l">
              <a:buNone/>
            </a:pPr>
            <a:r>
              <a:rPr lang="en-US" sz="1125" kern="0" spc="34" dirty="0">
                <a:solidFill>
                  <a:srgbClr val="A6A6A6"/>
                </a:solidFill>
                <a:latin typeface="Helvetica Neue" pitchFamily="34" charset="0"/>
                <a:ea typeface="Helvetica Neue" pitchFamily="34" charset="-122"/>
                <a:cs typeface="Helvetica Neue" pitchFamily="34" charset="-120"/>
              </a:rPr>
              <a:t>16th International LISA Symposium</a:t>
            </a:r>
            <a:endParaRPr lang="en-US" sz="1125" dirty="0"/>
          </a:p>
        </p:txBody>
      </p:sp>
      <p:sp>
        <p:nvSpPr>
          <p:cNvPr id="12" name="Text 9"/>
          <p:cNvSpPr/>
          <p:nvPr/>
        </p:nvSpPr>
        <p:spPr>
          <a:xfrm>
            <a:off x="15798105" y="9734252"/>
            <a:ext cx="1773317" cy="200025"/>
          </a:xfrm>
          <a:prstGeom prst="rect">
            <a:avLst/>
          </a:prstGeom>
          <a:noFill/>
          <a:ln/>
        </p:spPr>
        <p:txBody>
          <a:bodyPr wrap="square" lIns="25400" tIns="25400" rIns="25400" bIns="25400" rtlCol="0" anchor="t">
            <a:normAutofit fontScale="92500" lnSpcReduction="10000"/>
          </a:bodyPr>
          <a:lstStyle/>
          <a:p>
            <a:pPr marL="0" indent="0" algn="l">
              <a:buNone/>
            </a:pPr>
            <a:r>
              <a:rPr lang="en-US" sz="1125" kern="0" spc="34" dirty="0">
                <a:solidFill>
                  <a:srgbClr val="A6A6A6"/>
                </a:solidFill>
                <a:latin typeface="Helvetica Neue" pitchFamily="34" charset="0"/>
                <a:ea typeface="Helvetica Neue" pitchFamily="34" charset="-122"/>
                <a:cs typeface="Helvetica Neue" pitchFamily="34" charset="-120"/>
              </a:rPr>
              <a:t>23 June 2026 · 14 / 16</a:t>
            </a:r>
            <a:endParaRPr lang="en-US" sz="1125" dirty="0"/>
          </a:p>
        </p:txBody>
      </p:sp>
      <p:sp>
        <p:nvSpPr>
          <p:cNvPr id="13" name="Shape 4">
            <a:extLst>
              <a:ext uri="{FF2B5EF4-FFF2-40B4-BE49-F238E27FC236}">
                <a16:creationId xmlns:a16="http://schemas.microsoft.com/office/drawing/2014/main" id="{A94C83FC-3D13-1A0A-F100-2168CF7FAEB6}"/>
              </a:ext>
            </a:extLst>
          </p:cNvPr>
          <p:cNvSpPr/>
          <p:nvPr/>
        </p:nvSpPr>
        <p:spPr>
          <a:xfrm>
            <a:off x="877788" y="1683884"/>
            <a:ext cx="7200000" cy="45719"/>
          </a:xfrm>
          <a:prstGeom prst="rect">
            <a:avLst/>
          </a:prstGeom>
          <a:solidFill>
            <a:srgbClr val="ECECEC"/>
          </a:solidFill>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76300" y="571500"/>
            <a:ext cx="18188940" cy="209550"/>
          </a:xfrm>
          <a:prstGeom prst="rect">
            <a:avLst/>
          </a:prstGeom>
          <a:noFill/>
          <a:ln/>
        </p:spPr>
        <p:txBody>
          <a:bodyPr wrap="square" lIns="25400" tIns="25400" rIns="25400" bIns="25400" rtlCol="0" anchor="t">
            <a:normAutofit lnSpcReduction="10000"/>
          </a:bodyPr>
          <a:lstStyle/>
          <a:p>
            <a:pPr marL="0" indent="0" algn="l">
              <a:buNone/>
            </a:pPr>
            <a:r>
              <a:rPr lang="en-US" sz="1125" b="1" kern="0" spc="225" dirty="0">
                <a:solidFill>
                  <a:srgbClr val="9A9A9A"/>
                </a:solidFill>
                <a:latin typeface="Helvetica Neue" pitchFamily="34" charset="0"/>
                <a:ea typeface="Helvetica Neue" pitchFamily="34" charset="-122"/>
                <a:cs typeface="Helvetica Neue" pitchFamily="34" charset="-120"/>
              </a:rPr>
              <a:t>CLOCK-TONE TRANSFER</a:t>
            </a:r>
            <a:endParaRPr lang="en-US" sz="1125" dirty="0"/>
          </a:p>
        </p:txBody>
      </p:sp>
      <p:sp>
        <p:nvSpPr>
          <p:cNvPr id="3" name="Text 1"/>
          <p:cNvSpPr/>
          <p:nvPr/>
        </p:nvSpPr>
        <p:spPr>
          <a:xfrm>
            <a:off x="876300" y="847725"/>
            <a:ext cx="18188940" cy="485775"/>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3450" b="1" kern="0" spc="-52" dirty="0">
                <a:solidFill>
                  <a:srgbClr val="141414"/>
                </a:solidFill>
                <a:latin typeface="Helvetica Neue" pitchFamily="34" charset="0"/>
                <a:ea typeface="Helvetica Neue" pitchFamily="34" charset="-122"/>
                <a:cs typeface="Helvetica Neue" pitchFamily="34" charset="-120"/>
              </a:rPr>
              <a:t>GHz Modulation</a:t>
            </a:r>
            <a:endParaRPr lang="en-US" sz="3450" dirty="0"/>
          </a:p>
        </p:txBody>
      </p:sp>
      <p:sp>
        <p:nvSpPr>
          <p:cNvPr id="5" name="Text 3"/>
          <p:cNvSpPr/>
          <p:nvPr/>
        </p:nvSpPr>
        <p:spPr>
          <a:xfrm>
            <a:off x="876300" y="3283622"/>
            <a:ext cx="4277931" cy="200025"/>
          </a:xfrm>
          <a:prstGeom prst="rect">
            <a:avLst/>
          </a:prstGeom>
          <a:noFill/>
          <a:ln/>
        </p:spPr>
        <p:txBody>
          <a:bodyPr wrap="square" lIns="25400" tIns="25400" rIns="25400" bIns="25400" rtlCol="0" anchor="t">
            <a:normAutofit fontScale="92500" lnSpcReduction="10000"/>
          </a:bodyPr>
          <a:lstStyle/>
          <a:p>
            <a:pPr marL="0" indent="0" algn="l">
              <a:buNone/>
            </a:pPr>
            <a:r>
              <a:rPr lang="en-US" sz="1050" b="1" kern="0" spc="147" dirty="0">
                <a:solidFill>
                  <a:srgbClr val="9A9A9A"/>
                </a:solidFill>
                <a:latin typeface="Helvetica Neue" pitchFamily="34" charset="0"/>
                <a:ea typeface="Helvetica Neue" pitchFamily="34" charset="-122"/>
                <a:cs typeface="Helvetica Neue" pitchFamily="34" charset="-120"/>
              </a:rPr>
              <a:t>POTENTIAL SOLUTIONS UNDER INVESTIGATION</a:t>
            </a:r>
            <a:endParaRPr lang="en-US" sz="1050" dirty="0"/>
          </a:p>
        </p:txBody>
      </p:sp>
      <p:sp>
        <p:nvSpPr>
          <p:cNvPr id="6" name="Shape 4"/>
          <p:cNvSpPr/>
          <p:nvPr/>
        </p:nvSpPr>
        <p:spPr>
          <a:xfrm>
            <a:off x="4860578" y="3359822"/>
            <a:ext cx="2117738" cy="45719"/>
          </a:xfrm>
          <a:prstGeom prst="rect">
            <a:avLst/>
          </a:prstGeom>
          <a:solidFill>
            <a:srgbClr val="ECECEC"/>
          </a:solidFill>
          <a:ln/>
        </p:spPr>
      </p:sp>
      <p:sp>
        <p:nvSpPr>
          <p:cNvPr id="7" name="Shape 5"/>
          <p:cNvSpPr/>
          <p:nvPr/>
        </p:nvSpPr>
        <p:spPr>
          <a:xfrm>
            <a:off x="876300" y="3683672"/>
            <a:ext cx="209550" cy="209550"/>
          </a:xfrm>
          <a:prstGeom prst="ellipse">
            <a:avLst/>
          </a:prstGeom>
          <a:ln w="19050">
            <a:solidFill>
              <a:srgbClr val="B6B6B6"/>
            </a:solidFill>
            <a:prstDash val="solid"/>
          </a:ln>
        </p:spPr>
      </p:sp>
      <p:sp>
        <p:nvSpPr>
          <p:cNvPr id="8" name="Text 6"/>
          <p:cNvSpPr/>
          <p:nvPr/>
        </p:nvSpPr>
        <p:spPr>
          <a:xfrm>
            <a:off x="1238250" y="3655097"/>
            <a:ext cx="4607808" cy="304800"/>
          </a:xfrm>
          <a:prstGeom prst="rect">
            <a:avLst/>
          </a:prstGeom>
          <a:noFill/>
          <a:ln/>
        </p:spPr>
        <p:txBody>
          <a:bodyPr wrap="square" lIns="25400" tIns="25400" rIns="25400" bIns="25400" rtlCol="0" anchor="t">
            <a:normAutofit fontScale="92500" lnSpcReduction="20000"/>
          </a:bodyPr>
          <a:lstStyle/>
          <a:p>
            <a:pPr marL="0" indent="0" algn="l">
              <a:lnSpc>
                <a:spcPct val="125000"/>
              </a:lnSpc>
              <a:buNone/>
            </a:pPr>
            <a:r>
              <a:rPr lang="en-US" sz="1725" b="1" dirty="0">
                <a:solidFill>
                  <a:srgbClr val="1A1A1A"/>
                </a:solidFill>
                <a:latin typeface="Helvetica Neue" pitchFamily="34" charset="0"/>
                <a:ea typeface="Helvetica Neue" pitchFamily="34" charset="-122"/>
                <a:cs typeface="Helvetica Neue" pitchFamily="34" charset="-120"/>
              </a:rPr>
              <a:t>Driving the PM from the sidebands</a:t>
            </a:r>
            <a:endParaRPr lang="en-US" sz="1725" dirty="0"/>
          </a:p>
        </p:txBody>
      </p:sp>
      <p:sp>
        <p:nvSpPr>
          <p:cNvPr id="9" name="Text 7"/>
          <p:cNvSpPr/>
          <p:nvPr/>
        </p:nvSpPr>
        <p:spPr>
          <a:xfrm>
            <a:off x="1238250" y="3921797"/>
            <a:ext cx="4607808" cy="266700"/>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350" dirty="0">
                <a:solidFill>
                  <a:srgbClr val="7A7A7A"/>
                </a:solidFill>
                <a:latin typeface="Helvetica Neue" pitchFamily="34" charset="0"/>
                <a:ea typeface="Helvetica Neue" pitchFamily="34" charset="-122"/>
                <a:cs typeface="Helvetica Neue" pitchFamily="34" charset="-120"/>
              </a:rPr>
              <a:t>Derive the clock phase directly from the RF sidebands.</a:t>
            </a:r>
            <a:endParaRPr lang="en-US" sz="1350" dirty="0"/>
          </a:p>
        </p:txBody>
      </p:sp>
      <p:sp>
        <p:nvSpPr>
          <p:cNvPr id="10" name="Shape 8"/>
          <p:cNvSpPr/>
          <p:nvPr/>
        </p:nvSpPr>
        <p:spPr>
          <a:xfrm>
            <a:off x="876300" y="4369472"/>
            <a:ext cx="209550" cy="209550"/>
          </a:xfrm>
          <a:prstGeom prst="ellipse">
            <a:avLst/>
          </a:prstGeom>
          <a:ln w="19050">
            <a:solidFill>
              <a:srgbClr val="B6B6B6"/>
            </a:solidFill>
            <a:prstDash val="solid"/>
          </a:ln>
        </p:spPr>
      </p:sp>
      <p:sp>
        <p:nvSpPr>
          <p:cNvPr id="11" name="Text 9"/>
          <p:cNvSpPr/>
          <p:nvPr/>
        </p:nvSpPr>
        <p:spPr>
          <a:xfrm>
            <a:off x="1238250" y="4340897"/>
            <a:ext cx="4216866" cy="304800"/>
          </a:xfrm>
          <a:prstGeom prst="rect">
            <a:avLst/>
          </a:prstGeom>
          <a:noFill/>
          <a:ln/>
        </p:spPr>
        <p:txBody>
          <a:bodyPr wrap="square" lIns="25400" tIns="25400" rIns="25400" bIns="25400" rtlCol="0" anchor="t">
            <a:normAutofit fontScale="92500" lnSpcReduction="20000"/>
          </a:bodyPr>
          <a:lstStyle/>
          <a:p>
            <a:pPr marL="0" indent="0" algn="l">
              <a:lnSpc>
                <a:spcPct val="125000"/>
              </a:lnSpc>
              <a:buNone/>
            </a:pPr>
            <a:r>
              <a:rPr lang="en-US" sz="1725" b="1" dirty="0">
                <a:solidFill>
                  <a:srgbClr val="1A1A1A"/>
                </a:solidFill>
                <a:latin typeface="Helvetica Neue" pitchFamily="34" charset="0"/>
                <a:ea typeface="Helvetica Neue" pitchFamily="34" charset="-122"/>
                <a:cs typeface="Helvetica Neue" pitchFamily="34" charset="-120"/>
              </a:rPr>
              <a:t>Reference measurement</a:t>
            </a:r>
            <a:endParaRPr lang="en-US" sz="1725" dirty="0"/>
          </a:p>
        </p:txBody>
      </p:sp>
      <p:sp>
        <p:nvSpPr>
          <p:cNvPr id="12" name="Text 10"/>
          <p:cNvSpPr/>
          <p:nvPr/>
        </p:nvSpPr>
        <p:spPr>
          <a:xfrm>
            <a:off x="1238250" y="4607597"/>
            <a:ext cx="4216866" cy="266700"/>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350" dirty="0">
                <a:solidFill>
                  <a:srgbClr val="7A7A7A"/>
                </a:solidFill>
                <a:latin typeface="Helvetica Neue" pitchFamily="34" charset="0"/>
                <a:ea typeface="Helvetica Neue" pitchFamily="34" charset="-122"/>
                <a:cs typeface="Helvetica Neue" pitchFamily="34" charset="-120"/>
              </a:rPr>
              <a:t>A dedicated channel to track the modulation tone.</a:t>
            </a:r>
            <a:endParaRPr lang="en-US" sz="1350" dirty="0"/>
          </a:p>
        </p:txBody>
      </p:sp>
      <p:sp>
        <p:nvSpPr>
          <p:cNvPr id="13" name="Shape 11"/>
          <p:cNvSpPr/>
          <p:nvPr/>
        </p:nvSpPr>
        <p:spPr>
          <a:xfrm>
            <a:off x="876300" y="5055272"/>
            <a:ext cx="209550" cy="209550"/>
          </a:xfrm>
          <a:prstGeom prst="ellipse">
            <a:avLst/>
          </a:prstGeom>
          <a:ln w="19050">
            <a:solidFill>
              <a:srgbClr val="B6B6B6"/>
            </a:solidFill>
            <a:prstDash val="solid"/>
          </a:ln>
        </p:spPr>
      </p:sp>
      <p:sp>
        <p:nvSpPr>
          <p:cNvPr id="14" name="Text 12"/>
          <p:cNvSpPr/>
          <p:nvPr/>
        </p:nvSpPr>
        <p:spPr>
          <a:xfrm>
            <a:off x="1238250" y="5026697"/>
            <a:ext cx="4617794" cy="304800"/>
          </a:xfrm>
          <a:prstGeom prst="rect">
            <a:avLst/>
          </a:prstGeom>
          <a:noFill/>
          <a:ln/>
        </p:spPr>
        <p:txBody>
          <a:bodyPr wrap="square" lIns="25400" tIns="25400" rIns="25400" bIns="25400" rtlCol="0" anchor="t">
            <a:normAutofit fontScale="92500" lnSpcReduction="20000"/>
          </a:bodyPr>
          <a:lstStyle/>
          <a:p>
            <a:pPr marL="0" indent="0" algn="l">
              <a:lnSpc>
                <a:spcPct val="125000"/>
              </a:lnSpc>
              <a:buNone/>
            </a:pPr>
            <a:r>
              <a:rPr lang="en-US" sz="1725" b="1" dirty="0">
                <a:solidFill>
                  <a:srgbClr val="1A1A1A"/>
                </a:solidFill>
                <a:latin typeface="Helvetica Neue" pitchFamily="34" charset="0"/>
                <a:ea typeface="Helvetica Neue" pitchFamily="34" charset="-122"/>
                <a:cs typeface="Helvetica Neue" pitchFamily="34" charset="-120"/>
              </a:rPr>
              <a:t>ADC mixing</a:t>
            </a:r>
            <a:endParaRPr lang="en-US" sz="1725" dirty="0"/>
          </a:p>
        </p:txBody>
      </p:sp>
      <p:sp>
        <p:nvSpPr>
          <p:cNvPr id="15" name="Text 13"/>
          <p:cNvSpPr/>
          <p:nvPr/>
        </p:nvSpPr>
        <p:spPr>
          <a:xfrm>
            <a:off x="1238250" y="5293397"/>
            <a:ext cx="4617794" cy="266700"/>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350" dirty="0">
                <a:solidFill>
                  <a:srgbClr val="7A7A7A"/>
                </a:solidFill>
                <a:latin typeface="Helvetica Neue" pitchFamily="34" charset="0"/>
                <a:ea typeface="Helvetica Neue" pitchFamily="34" charset="-122"/>
                <a:cs typeface="Helvetica Neue" pitchFamily="34" charset="-120"/>
              </a:rPr>
              <a:t>Down-mix the GHz tone inside the ADC.</a:t>
            </a:r>
            <a:endParaRPr lang="en-US" sz="1350" dirty="0"/>
          </a:p>
        </p:txBody>
      </p:sp>
      <p:sp>
        <p:nvSpPr>
          <p:cNvPr id="16" name="Shape 14"/>
          <p:cNvSpPr/>
          <p:nvPr/>
        </p:nvSpPr>
        <p:spPr>
          <a:xfrm>
            <a:off x="876300" y="5741072"/>
            <a:ext cx="209550" cy="209550"/>
          </a:xfrm>
          <a:prstGeom prst="ellipse">
            <a:avLst/>
          </a:prstGeom>
          <a:ln w="19050">
            <a:solidFill>
              <a:srgbClr val="B6B6B6"/>
            </a:solidFill>
            <a:prstDash val="solid"/>
          </a:ln>
        </p:spPr>
      </p:sp>
      <p:sp>
        <p:nvSpPr>
          <p:cNvPr id="17" name="Text 15"/>
          <p:cNvSpPr/>
          <p:nvPr/>
        </p:nvSpPr>
        <p:spPr>
          <a:xfrm>
            <a:off x="1238250" y="5712497"/>
            <a:ext cx="4236839" cy="304800"/>
          </a:xfrm>
          <a:prstGeom prst="rect">
            <a:avLst/>
          </a:prstGeom>
          <a:noFill/>
          <a:ln/>
        </p:spPr>
        <p:txBody>
          <a:bodyPr wrap="square" lIns="25400" tIns="25400" rIns="25400" bIns="25400" rtlCol="0" anchor="t">
            <a:normAutofit fontScale="92500" lnSpcReduction="20000"/>
          </a:bodyPr>
          <a:lstStyle/>
          <a:p>
            <a:pPr marL="0" indent="0" algn="l">
              <a:lnSpc>
                <a:spcPct val="125000"/>
              </a:lnSpc>
              <a:buNone/>
            </a:pPr>
            <a:r>
              <a:rPr lang="en-US" sz="1725" b="1" dirty="0">
                <a:solidFill>
                  <a:srgbClr val="1A1A1A"/>
                </a:solidFill>
                <a:latin typeface="Helvetica Neue" pitchFamily="34" charset="0"/>
                <a:ea typeface="Helvetica Neue" pitchFamily="34" charset="-122"/>
                <a:cs typeface="Helvetica Neue" pitchFamily="34" charset="-120"/>
              </a:rPr>
              <a:t>Aliasing</a:t>
            </a:r>
            <a:endParaRPr lang="en-US" sz="1725" dirty="0"/>
          </a:p>
        </p:txBody>
      </p:sp>
      <p:sp>
        <p:nvSpPr>
          <p:cNvPr id="18" name="Text 16"/>
          <p:cNvSpPr/>
          <p:nvPr/>
        </p:nvSpPr>
        <p:spPr>
          <a:xfrm>
            <a:off x="1238250" y="5979197"/>
            <a:ext cx="4236839" cy="266700"/>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350" dirty="0">
                <a:solidFill>
                  <a:srgbClr val="7A7A7A"/>
                </a:solidFill>
                <a:latin typeface="Helvetica Neue" pitchFamily="34" charset="0"/>
                <a:ea typeface="Helvetica Neue" pitchFamily="34" charset="-122"/>
                <a:cs typeface="Helvetica Neue" pitchFamily="34" charset="-120"/>
              </a:rPr>
              <a:t>Controlled aliasing of a MHz signal.</a:t>
            </a:r>
            <a:endParaRPr lang="en-US" sz="1350" dirty="0"/>
          </a:p>
        </p:txBody>
      </p:sp>
      <p:pic>
        <p:nvPicPr>
          <p:cNvPr id="22" name="Image 0" descr="preencoded.png"/>
          <p:cNvPicPr>
            <a:picLocks noChangeAspect="1"/>
          </p:cNvPicPr>
          <p:nvPr/>
        </p:nvPicPr>
        <p:blipFill>
          <a:blip r:embed="rId3"/>
          <a:srcRect l="-3" r="-3"/>
          <a:stretch/>
        </p:blipFill>
        <p:spPr>
          <a:xfrm>
            <a:off x="6716498" y="2955943"/>
            <a:ext cx="10856413" cy="3919223"/>
          </a:xfrm>
          <a:prstGeom prst="rect">
            <a:avLst/>
          </a:prstGeom>
        </p:spPr>
      </p:pic>
      <p:sp>
        <p:nvSpPr>
          <p:cNvPr id="23" name="Text 20"/>
          <p:cNvSpPr/>
          <p:nvPr/>
        </p:nvSpPr>
        <p:spPr>
          <a:xfrm>
            <a:off x="8170784" y="6901030"/>
            <a:ext cx="7947839" cy="200025"/>
          </a:xfrm>
          <a:prstGeom prst="rect">
            <a:avLst/>
          </a:prstGeom>
          <a:noFill/>
          <a:ln/>
        </p:spPr>
        <p:txBody>
          <a:bodyPr wrap="square" lIns="25400" tIns="25400" rIns="25400" bIns="25400" rtlCol="0" anchor="t">
            <a:noAutofit/>
          </a:bodyPr>
          <a:lstStyle/>
          <a:p>
            <a:pPr marL="0" indent="0" algn="ctr">
              <a:buNone/>
            </a:pPr>
            <a:r>
              <a:rPr lang="en-US" sz="1200" dirty="0">
                <a:solidFill>
                  <a:srgbClr val="A0A0A0"/>
                </a:solidFill>
                <a:latin typeface="Helvetica Neue" pitchFamily="34" charset="0"/>
                <a:ea typeface="Helvetica Neue" pitchFamily="34" charset="-122"/>
                <a:cs typeface="Helvetica Neue" pitchFamily="34" charset="-120"/>
              </a:rPr>
              <a:t>GHz modulation measurement scheme</a:t>
            </a:r>
            <a:endParaRPr lang="en-US" sz="1200" dirty="0"/>
          </a:p>
        </p:txBody>
      </p:sp>
      <p:sp>
        <p:nvSpPr>
          <p:cNvPr id="24" name="Shape 21"/>
          <p:cNvSpPr/>
          <p:nvPr/>
        </p:nvSpPr>
        <p:spPr>
          <a:xfrm>
            <a:off x="876300" y="9505950"/>
            <a:ext cx="16535400" cy="9525"/>
          </a:xfrm>
          <a:prstGeom prst="rect">
            <a:avLst/>
          </a:prstGeom>
          <a:solidFill>
            <a:srgbClr val="ECECEC"/>
          </a:solidFill>
          <a:ln/>
        </p:spPr>
      </p:sp>
      <p:sp>
        <p:nvSpPr>
          <p:cNvPr id="25" name="Text 22"/>
          <p:cNvSpPr/>
          <p:nvPr/>
        </p:nvSpPr>
        <p:spPr>
          <a:xfrm>
            <a:off x="876300" y="9667875"/>
            <a:ext cx="2633127" cy="200025"/>
          </a:xfrm>
          <a:prstGeom prst="rect">
            <a:avLst/>
          </a:prstGeom>
          <a:noFill/>
          <a:ln/>
        </p:spPr>
        <p:txBody>
          <a:bodyPr wrap="square" lIns="25400" tIns="25400" rIns="25400" bIns="25400" rtlCol="0" anchor="t">
            <a:normAutofit fontScale="92500" lnSpcReduction="10000"/>
          </a:bodyPr>
          <a:lstStyle/>
          <a:p>
            <a:pPr marL="0" indent="0" algn="l">
              <a:buNone/>
            </a:pPr>
            <a:r>
              <a:rPr lang="en-US" sz="1125" kern="0" spc="34" dirty="0">
                <a:solidFill>
                  <a:srgbClr val="A6A6A6"/>
                </a:solidFill>
                <a:latin typeface="Helvetica Neue" pitchFamily="34" charset="0"/>
                <a:ea typeface="Helvetica Neue" pitchFamily="34" charset="-122"/>
                <a:cs typeface="Helvetica Neue" pitchFamily="34" charset="-120"/>
              </a:rPr>
              <a:t>16th International LISA Symposium</a:t>
            </a:r>
            <a:endParaRPr lang="en-US" sz="1125" dirty="0"/>
          </a:p>
        </p:txBody>
      </p:sp>
      <p:sp>
        <p:nvSpPr>
          <p:cNvPr id="26" name="Text 23"/>
          <p:cNvSpPr/>
          <p:nvPr/>
        </p:nvSpPr>
        <p:spPr>
          <a:xfrm>
            <a:off x="15799594" y="9667875"/>
            <a:ext cx="1773317" cy="200025"/>
          </a:xfrm>
          <a:prstGeom prst="rect">
            <a:avLst/>
          </a:prstGeom>
          <a:noFill/>
          <a:ln/>
        </p:spPr>
        <p:txBody>
          <a:bodyPr wrap="square" lIns="25400" tIns="25400" rIns="25400" bIns="25400" rtlCol="0" anchor="t">
            <a:normAutofit fontScale="92500" lnSpcReduction="10000"/>
          </a:bodyPr>
          <a:lstStyle/>
          <a:p>
            <a:pPr marL="0" indent="0" algn="l">
              <a:buNone/>
            </a:pPr>
            <a:r>
              <a:rPr lang="en-US" sz="1125" kern="0" spc="34" dirty="0">
                <a:solidFill>
                  <a:srgbClr val="A6A6A6"/>
                </a:solidFill>
                <a:latin typeface="Helvetica Neue" pitchFamily="34" charset="0"/>
                <a:ea typeface="Helvetica Neue" pitchFamily="34" charset="-122"/>
                <a:cs typeface="Helvetica Neue" pitchFamily="34" charset="-120"/>
              </a:rPr>
              <a:t>23 June 2026 · 15 / 16</a:t>
            </a:r>
            <a:endParaRPr lang="en-US" sz="112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76300" y="571500"/>
            <a:ext cx="18188940" cy="209550"/>
          </a:xfrm>
          <a:prstGeom prst="rect">
            <a:avLst/>
          </a:prstGeom>
          <a:noFill/>
          <a:ln/>
        </p:spPr>
        <p:txBody>
          <a:bodyPr wrap="square" lIns="25400" tIns="25400" rIns="25400" bIns="25400" rtlCol="0" anchor="t">
            <a:normAutofit lnSpcReduction="10000"/>
          </a:bodyPr>
          <a:lstStyle/>
          <a:p>
            <a:pPr marL="0" indent="0" algn="l">
              <a:buNone/>
            </a:pPr>
            <a:r>
              <a:rPr lang="en-US" sz="1125" b="1" kern="0" spc="225" dirty="0">
                <a:solidFill>
                  <a:srgbClr val="9A9A9A"/>
                </a:solidFill>
                <a:latin typeface="Helvetica Neue" pitchFamily="34" charset="0"/>
                <a:ea typeface="Helvetica Neue" pitchFamily="34" charset="-122"/>
                <a:cs typeface="Helvetica Neue" pitchFamily="34" charset="-120"/>
              </a:rPr>
              <a:t>SUMMARY</a:t>
            </a:r>
            <a:endParaRPr lang="en-US" sz="1125" dirty="0"/>
          </a:p>
        </p:txBody>
      </p:sp>
      <p:sp>
        <p:nvSpPr>
          <p:cNvPr id="3" name="Text 1"/>
          <p:cNvSpPr/>
          <p:nvPr/>
        </p:nvSpPr>
        <p:spPr>
          <a:xfrm>
            <a:off x="876300" y="847725"/>
            <a:ext cx="18188940" cy="485775"/>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3450" b="1" kern="0" spc="-52" dirty="0">
                <a:solidFill>
                  <a:srgbClr val="141414"/>
                </a:solidFill>
                <a:latin typeface="Helvetica Neue" pitchFamily="34" charset="0"/>
                <a:ea typeface="Helvetica Neue" pitchFamily="34" charset="-122"/>
                <a:cs typeface="Helvetica Neue" pitchFamily="34" charset="-120"/>
              </a:rPr>
              <a:t>Conclusions &amp; Next Steps</a:t>
            </a:r>
            <a:endParaRPr lang="en-US" sz="3450" dirty="0"/>
          </a:p>
        </p:txBody>
      </p:sp>
      <p:sp>
        <p:nvSpPr>
          <p:cNvPr id="4" name="Text 2"/>
          <p:cNvSpPr/>
          <p:nvPr/>
        </p:nvSpPr>
        <p:spPr>
          <a:xfrm>
            <a:off x="876300" y="1562100"/>
            <a:ext cx="7557715" cy="200025"/>
          </a:xfrm>
          <a:prstGeom prst="rect">
            <a:avLst/>
          </a:prstGeom>
          <a:noFill/>
          <a:ln/>
        </p:spPr>
        <p:txBody>
          <a:bodyPr wrap="square" lIns="25400" tIns="25400" rIns="25400" bIns="25400" rtlCol="0" anchor="t">
            <a:noAutofit/>
          </a:bodyPr>
          <a:lstStyle/>
          <a:p>
            <a:pPr marL="0" indent="0" algn="l">
              <a:buNone/>
            </a:pPr>
            <a:r>
              <a:rPr lang="en-US" sz="1400" b="1" kern="0" spc="147" dirty="0">
                <a:solidFill>
                  <a:srgbClr val="9A9A9A"/>
                </a:solidFill>
                <a:latin typeface="Helvetica Neue" pitchFamily="34" charset="0"/>
                <a:ea typeface="Helvetica Neue" pitchFamily="34" charset="-122"/>
                <a:cs typeface="Helvetica Neue" pitchFamily="34" charset="-120"/>
              </a:rPr>
              <a:t>DEMONSTRATED</a:t>
            </a:r>
            <a:endParaRPr lang="en-US" sz="1400" dirty="0"/>
          </a:p>
        </p:txBody>
      </p:sp>
      <p:sp>
        <p:nvSpPr>
          <p:cNvPr id="5" name="Shape 3"/>
          <p:cNvSpPr/>
          <p:nvPr/>
        </p:nvSpPr>
        <p:spPr>
          <a:xfrm>
            <a:off x="876300" y="2029827"/>
            <a:ext cx="247650" cy="247650"/>
          </a:xfrm>
          <a:prstGeom prst="ellipse">
            <a:avLst/>
          </a:prstGeom>
          <a:solidFill>
            <a:srgbClr val="141414"/>
          </a:solidFill>
          <a:ln/>
        </p:spPr>
      </p:sp>
      <p:sp>
        <p:nvSpPr>
          <p:cNvPr id="6" name="Text 4"/>
          <p:cNvSpPr/>
          <p:nvPr/>
        </p:nvSpPr>
        <p:spPr>
          <a:xfrm>
            <a:off x="838200" y="2029827"/>
            <a:ext cx="323850" cy="285750"/>
          </a:xfrm>
          <a:prstGeom prst="rect">
            <a:avLst/>
          </a:prstGeom>
          <a:noFill/>
          <a:ln/>
        </p:spPr>
        <p:txBody>
          <a:bodyPr wrap="square" lIns="25400" tIns="25400" rIns="25400" bIns="25400" rtlCol="0" anchor="ctr">
            <a:normAutofit/>
          </a:bodyPr>
          <a:lstStyle/>
          <a:p>
            <a:pPr marL="0" indent="0" algn="ctr">
              <a:buNone/>
            </a:pPr>
            <a:r>
              <a:rPr lang="en-US" sz="1125" b="1" dirty="0">
                <a:solidFill>
                  <a:srgbClr val="FFFFFF"/>
                </a:solidFill>
                <a:latin typeface="Helvetica Neue" pitchFamily="34" charset="0"/>
                <a:ea typeface="Helvetica Neue" pitchFamily="34" charset="-122"/>
                <a:cs typeface="Helvetica Neue" pitchFamily="34" charset="-120"/>
              </a:rPr>
              <a:t>✓</a:t>
            </a:r>
            <a:endParaRPr lang="en-US" sz="1125" dirty="0"/>
          </a:p>
        </p:txBody>
      </p:sp>
      <p:sp>
        <p:nvSpPr>
          <p:cNvPr id="7" name="Text 5"/>
          <p:cNvSpPr/>
          <p:nvPr/>
        </p:nvSpPr>
        <p:spPr>
          <a:xfrm>
            <a:off x="1276349" y="1914525"/>
            <a:ext cx="5318967" cy="342900"/>
          </a:xfrm>
          <a:prstGeom prst="rect">
            <a:avLst/>
          </a:prstGeom>
          <a:noFill/>
          <a:ln/>
        </p:spPr>
        <p:txBody>
          <a:bodyPr wrap="square" lIns="25400" tIns="25400" rIns="25400" bIns="25400" rtlCol="0" anchor="t">
            <a:noAutofit/>
          </a:bodyPr>
          <a:lstStyle/>
          <a:p>
            <a:pPr marL="0" indent="0" algn="l">
              <a:lnSpc>
                <a:spcPct val="135000"/>
              </a:lnSpc>
              <a:buNone/>
            </a:pPr>
            <a:r>
              <a:rPr lang="en-US" sz="2000" dirty="0">
                <a:solidFill>
                  <a:srgbClr val="202020"/>
                </a:solidFill>
                <a:latin typeface="Helvetica Neue" pitchFamily="34" charset="0"/>
                <a:ea typeface="Helvetica Neue" pitchFamily="34" charset="-122"/>
                <a:cs typeface="Helvetica Neue" pitchFamily="34" charset="-120"/>
              </a:rPr>
              <a:t>Delay line — working, below requirement</a:t>
            </a:r>
            <a:endParaRPr lang="en-US" sz="2000" dirty="0"/>
          </a:p>
        </p:txBody>
      </p:sp>
      <p:sp>
        <p:nvSpPr>
          <p:cNvPr id="8" name="Shape 6"/>
          <p:cNvSpPr/>
          <p:nvPr/>
        </p:nvSpPr>
        <p:spPr>
          <a:xfrm>
            <a:off x="876300" y="2525127"/>
            <a:ext cx="247650" cy="247650"/>
          </a:xfrm>
          <a:prstGeom prst="ellipse">
            <a:avLst/>
          </a:prstGeom>
          <a:solidFill>
            <a:srgbClr val="141414"/>
          </a:solidFill>
          <a:ln/>
        </p:spPr>
      </p:sp>
      <p:sp>
        <p:nvSpPr>
          <p:cNvPr id="9" name="Text 7"/>
          <p:cNvSpPr/>
          <p:nvPr/>
        </p:nvSpPr>
        <p:spPr>
          <a:xfrm>
            <a:off x="838200" y="2525127"/>
            <a:ext cx="323850" cy="285750"/>
          </a:xfrm>
          <a:prstGeom prst="rect">
            <a:avLst/>
          </a:prstGeom>
          <a:noFill/>
          <a:ln/>
        </p:spPr>
        <p:txBody>
          <a:bodyPr wrap="square" lIns="25400" tIns="25400" rIns="25400" bIns="25400" rtlCol="0" anchor="ctr">
            <a:normAutofit/>
          </a:bodyPr>
          <a:lstStyle/>
          <a:p>
            <a:pPr marL="0" indent="0" algn="ctr">
              <a:buNone/>
            </a:pPr>
            <a:r>
              <a:rPr lang="en-US" sz="1125" b="1" dirty="0">
                <a:solidFill>
                  <a:srgbClr val="FFFFFF"/>
                </a:solidFill>
                <a:latin typeface="Helvetica Neue" pitchFamily="34" charset="0"/>
                <a:ea typeface="Helvetica Neue" pitchFamily="34" charset="-122"/>
                <a:cs typeface="Helvetica Neue" pitchFamily="34" charset="-120"/>
              </a:rPr>
              <a:t>✓</a:t>
            </a:r>
            <a:endParaRPr lang="en-US" sz="1125" dirty="0"/>
          </a:p>
        </p:txBody>
      </p:sp>
      <p:sp>
        <p:nvSpPr>
          <p:cNvPr id="10" name="Text 8"/>
          <p:cNvSpPr/>
          <p:nvPr/>
        </p:nvSpPr>
        <p:spPr>
          <a:xfrm>
            <a:off x="1276349" y="2409825"/>
            <a:ext cx="5618745" cy="323850"/>
          </a:xfrm>
          <a:prstGeom prst="rect">
            <a:avLst/>
          </a:prstGeom>
          <a:noFill/>
          <a:ln/>
        </p:spPr>
        <p:txBody>
          <a:bodyPr wrap="square" lIns="25400" tIns="25400" rIns="25400" bIns="25400" rtlCol="0" anchor="t">
            <a:noAutofit/>
          </a:bodyPr>
          <a:lstStyle/>
          <a:p>
            <a:pPr marL="0" indent="0" algn="l">
              <a:lnSpc>
                <a:spcPct val="135000"/>
              </a:lnSpc>
              <a:buNone/>
            </a:pPr>
            <a:r>
              <a:rPr lang="en-US" sz="2000" dirty="0">
                <a:solidFill>
                  <a:srgbClr val="202020"/>
                </a:solidFill>
                <a:latin typeface="Helvetica Neue" pitchFamily="34" charset="0"/>
                <a:ea typeface="Helvetica Neue" pitchFamily="34" charset="-122"/>
                <a:cs typeface="Helvetica Neue" pitchFamily="34" charset="-120"/>
              </a:rPr>
              <a:t>PLL lock demonstrated with free-running lasers</a:t>
            </a:r>
            <a:endParaRPr lang="en-US" sz="2000" dirty="0"/>
          </a:p>
        </p:txBody>
      </p:sp>
      <p:sp>
        <p:nvSpPr>
          <p:cNvPr id="11" name="Shape 9"/>
          <p:cNvSpPr/>
          <p:nvPr/>
        </p:nvSpPr>
        <p:spPr>
          <a:xfrm>
            <a:off x="876300" y="3020427"/>
            <a:ext cx="247650" cy="247650"/>
          </a:xfrm>
          <a:prstGeom prst="ellipse">
            <a:avLst/>
          </a:prstGeom>
          <a:solidFill>
            <a:srgbClr val="141414"/>
          </a:solidFill>
          <a:ln/>
        </p:spPr>
      </p:sp>
      <p:sp>
        <p:nvSpPr>
          <p:cNvPr id="12" name="Text 10"/>
          <p:cNvSpPr/>
          <p:nvPr/>
        </p:nvSpPr>
        <p:spPr>
          <a:xfrm>
            <a:off x="838200" y="3020427"/>
            <a:ext cx="323850" cy="285750"/>
          </a:xfrm>
          <a:prstGeom prst="rect">
            <a:avLst/>
          </a:prstGeom>
          <a:noFill/>
          <a:ln/>
        </p:spPr>
        <p:txBody>
          <a:bodyPr wrap="square" lIns="25400" tIns="25400" rIns="25400" bIns="25400" rtlCol="0" anchor="ctr">
            <a:normAutofit/>
          </a:bodyPr>
          <a:lstStyle/>
          <a:p>
            <a:pPr marL="0" indent="0" algn="ctr">
              <a:buNone/>
            </a:pPr>
            <a:r>
              <a:rPr lang="en-US" sz="1125" b="1" dirty="0">
                <a:solidFill>
                  <a:srgbClr val="FFFFFF"/>
                </a:solidFill>
                <a:latin typeface="Helvetica Neue" pitchFamily="34" charset="0"/>
                <a:ea typeface="Helvetica Neue" pitchFamily="34" charset="-122"/>
                <a:cs typeface="Helvetica Neue" pitchFamily="34" charset="-120"/>
              </a:rPr>
              <a:t>✓</a:t>
            </a:r>
            <a:endParaRPr lang="en-US" sz="1125" dirty="0"/>
          </a:p>
        </p:txBody>
      </p:sp>
      <p:sp>
        <p:nvSpPr>
          <p:cNvPr id="13" name="Text 11"/>
          <p:cNvSpPr/>
          <p:nvPr/>
        </p:nvSpPr>
        <p:spPr>
          <a:xfrm>
            <a:off x="1276349" y="2905125"/>
            <a:ext cx="4534399" cy="323850"/>
          </a:xfrm>
          <a:prstGeom prst="rect">
            <a:avLst/>
          </a:prstGeom>
          <a:noFill/>
          <a:ln/>
        </p:spPr>
        <p:txBody>
          <a:bodyPr wrap="square" lIns="25400" tIns="25400" rIns="25400" bIns="25400" rtlCol="0" anchor="t">
            <a:noAutofit/>
          </a:bodyPr>
          <a:lstStyle/>
          <a:p>
            <a:pPr marL="0" indent="0" algn="l">
              <a:lnSpc>
                <a:spcPct val="135000"/>
              </a:lnSpc>
              <a:buNone/>
            </a:pPr>
            <a:r>
              <a:rPr lang="en-US" sz="2000" dirty="0">
                <a:solidFill>
                  <a:srgbClr val="202020"/>
                </a:solidFill>
                <a:latin typeface="Helvetica Neue" pitchFamily="34" charset="0"/>
                <a:ea typeface="Helvetica Neue" pitchFamily="34" charset="-122"/>
                <a:cs typeface="Helvetica Neue" pitchFamily="34" charset="-120"/>
              </a:rPr>
              <a:t>Gravitational wave recovery with TDI</a:t>
            </a:r>
            <a:endParaRPr lang="en-US" sz="2000" dirty="0"/>
          </a:p>
        </p:txBody>
      </p:sp>
      <p:sp>
        <p:nvSpPr>
          <p:cNvPr id="14" name="Shape 12"/>
          <p:cNvSpPr/>
          <p:nvPr/>
        </p:nvSpPr>
        <p:spPr>
          <a:xfrm>
            <a:off x="8280350" y="1562100"/>
            <a:ext cx="9525" cy="7458075"/>
          </a:xfrm>
          <a:prstGeom prst="rect">
            <a:avLst/>
          </a:prstGeom>
          <a:solidFill>
            <a:srgbClr val="ECECEC"/>
          </a:solidFill>
          <a:ln/>
        </p:spPr>
      </p:sp>
      <p:sp>
        <p:nvSpPr>
          <p:cNvPr id="15" name="Text 13"/>
          <p:cNvSpPr/>
          <p:nvPr/>
        </p:nvSpPr>
        <p:spPr>
          <a:xfrm>
            <a:off x="8823275" y="1562100"/>
            <a:ext cx="9447267" cy="200025"/>
          </a:xfrm>
          <a:prstGeom prst="rect">
            <a:avLst/>
          </a:prstGeom>
          <a:noFill/>
          <a:ln/>
        </p:spPr>
        <p:txBody>
          <a:bodyPr wrap="square" lIns="25400" tIns="25400" rIns="25400" bIns="25400" rtlCol="0" anchor="t">
            <a:noAutofit/>
          </a:bodyPr>
          <a:lstStyle/>
          <a:p>
            <a:pPr marL="0" indent="0" algn="l">
              <a:buNone/>
            </a:pPr>
            <a:r>
              <a:rPr lang="en-US" sz="1400" b="1" kern="0" spc="147" dirty="0">
                <a:solidFill>
                  <a:srgbClr val="9A9A9A"/>
                </a:solidFill>
                <a:latin typeface="Helvetica Neue" pitchFamily="34" charset="0"/>
                <a:ea typeface="Helvetica Neue" pitchFamily="34" charset="-122"/>
                <a:cs typeface="Helvetica Neue" pitchFamily="34" charset="-120"/>
              </a:rPr>
              <a:t>IN PROGRESS</a:t>
            </a:r>
            <a:endParaRPr lang="en-US" sz="1400" dirty="0"/>
          </a:p>
        </p:txBody>
      </p:sp>
      <p:sp>
        <p:nvSpPr>
          <p:cNvPr id="16" name="Shape 14"/>
          <p:cNvSpPr/>
          <p:nvPr/>
        </p:nvSpPr>
        <p:spPr>
          <a:xfrm>
            <a:off x="8823275" y="2029827"/>
            <a:ext cx="247650" cy="247650"/>
          </a:xfrm>
          <a:prstGeom prst="ellipse">
            <a:avLst/>
          </a:prstGeom>
          <a:ln w="19050">
            <a:solidFill>
              <a:srgbClr val="B6B6B6"/>
            </a:solidFill>
            <a:prstDash val="solid"/>
          </a:ln>
        </p:spPr>
      </p:sp>
      <p:sp>
        <p:nvSpPr>
          <p:cNvPr id="17" name="Text 15"/>
          <p:cNvSpPr/>
          <p:nvPr/>
        </p:nvSpPr>
        <p:spPr>
          <a:xfrm>
            <a:off x="9223325" y="1914524"/>
            <a:ext cx="5474753" cy="428621"/>
          </a:xfrm>
          <a:prstGeom prst="rect">
            <a:avLst/>
          </a:prstGeom>
          <a:noFill/>
          <a:ln/>
        </p:spPr>
        <p:txBody>
          <a:bodyPr wrap="square" lIns="25400" tIns="25400" rIns="25400" bIns="25400" rtlCol="0" anchor="t">
            <a:noAutofit/>
          </a:bodyPr>
          <a:lstStyle/>
          <a:p>
            <a:pPr marL="0" indent="0" algn="l">
              <a:lnSpc>
                <a:spcPct val="135000"/>
              </a:lnSpc>
              <a:buNone/>
            </a:pPr>
            <a:r>
              <a:rPr lang="en-US" sz="2000" dirty="0">
                <a:solidFill>
                  <a:srgbClr val="404040"/>
                </a:solidFill>
                <a:latin typeface="Helvetica Neue" pitchFamily="34" charset="0"/>
                <a:ea typeface="Helvetica Neue" pitchFamily="34" charset="-122"/>
                <a:cs typeface="Helvetica Neue" pitchFamily="34" charset="-120"/>
              </a:rPr>
              <a:t>Assembling the optical layout and cavities</a:t>
            </a:r>
            <a:endParaRPr lang="en-US" sz="2000" dirty="0"/>
          </a:p>
        </p:txBody>
      </p:sp>
      <p:sp>
        <p:nvSpPr>
          <p:cNvPr id="18" name="Shape 16"/>
          <p:cNvSpPr/>
          <p:nvPr/>
        </p:nvSpPr>
        <p:spPr>
          <a:xfrm>
            <a:off x="8823275" y="2506077"/>
            <a:ext cx="247650" cy="247650"/>
          </a:xfrm>
          <a:prstGeom prst="ellipse">
            <a:avLst/>
          </a:prstGeom>
          <a:ln w="19050">
            <a:solidFill>
              <a:srgbClr val="B6B6B6"/>
            </a:solidFill>
            <a:prstDash val="solid"/>
          </a:ln>
        </p:spPr>
      </p:sp>
      <p:sp>
        <p:nvSpPr>
          <p:cNvPr id="19" name="Text 17"/>
          <p:cNvSpPr/>
          <p:nvPr/>
        </p:nvSpPr>
        <p:spPr>
          <a:xfrm>
            <a:off x="9223325" y="2390775"/>
            <a:ext cx="5474752" cy="342900"/>
          </a:xfrm>
          <a:prstGeom prst="rect">
            <a:avLst/>
          </a:prstGeom>
          <a:noFill/>
          <a:ln/>
        </p:spPr>
        <p:txBody>
          <a:bodyPr wrap="square" lIns="25400" tIns="25400" rIns="25400" bIns="25400" rtlCol="0" anchor="t">
            <a:noAutofit/>
          </a:bodyPr>
          <a:lstStyle/>
          <a:p>
            <a:pPr marL="0" indent="0" algn="l">
              <a:lnSpc>
                <a:spcPct val="135000"/>
              </a:lnSpc>
              <a:buNone/>
            </a:pPr>
            <a:r>
              <a:rPr lang="en-US" sz="2000" dirty="0">
                <a:solidFill>
                  <a:srgbClr val="404040"/>
                </a:solidFill>
                <a:latin typeface="Helvetica Neue" pitchFamily="34" charset="0"/>
                <a:ea typeface="Helvetica Neue" pitchFamily="34" charset="-122"/>
                <a:cs typeface="Helvetica Neue" pitchFamily="34" charset="-120"/>
              </a:rPr>
              <a:t>GHz sideband chain — under investigation</a:t>
            </a:r>
            <a:endParaRPr lang="en-US" sz="2000" dirty="0"/>
          </a:p>
        </p:txBody>
      </p:sp>
      <p:sp>
        <p:nvSpPr>
          <p:cNvPr id="20" name="Shape 18"/>
          <p:cNvSpPr/>
          <p:nvPr/>
        </p:nvSpPr>
        <p:spPr>
          <a:xfrm>
            <a:off x="8823275" y="2982327"/>
            <a:ext cx="247650" cy="247650"/>
          </a:xfrm>
          <a:prstGeom prst="ellipse">
            <a:avLst/>
          </a:prstGeom>
          <a:ln w="19050">
            <a:solidFill>
              <a:srgbClr val="B6B6B6"/>
            </a:solidFill>
            <a:prstDash val="solid"/>
          </a:ln>
        </p:spPr>
      </p:sp>
      <p:sp>
        <p:nvSpPr>
          <p:cNvPr id="21" name="Text 19"/>
          <p:cNvSpPr/>
          <p:nvPr/>
        </p:nvSpPr>
        <p:spPr>
          <a:xfrm>
            <a:off x="9223324" y="2867025"/>
            <a:ext cx="4521749" cy="428620"/>
          </a:xfrm>
          <a:prstGeom prst="rect">
            <a:avLst/>
          </a:prstGeom>
          <a:noFill/>
          <a:ln/>
        </p:spPr>
        <p:txBody>
          <a:bodyPr wrap="square" lIns="25400" tIns="25400" rIns="25400" bIns="25400" rtlCol="0" anchor="t">
            <a:noAutofit/>
          </a:bodyPr>
          <a:lstStyle/>
          <a:p>
            <a:pPr marL="0" indent="0" algn="l">
              <a:lnSpc>
                <a:spcPct val="135000"/>
              </a:lnSpc>
              <a:buNone/>
            </a:pPr>
            <a:r>
              <a:rPr lang="en-US" sz="2000" dirty="0">
                <a:solidFill>
                  <a:srgbClr val="404040"/>
                </a:solidFill>
                <a:latin typeface="Helvetica Neue" pitchFamily="34" charset="0"/>
                <a:ea typeface="Helvetica Neue" pitchFamily="34" charset="-122"/>
                <a:cs typeface="Helvetica Neue" pitchFamily="34" charset="-120"/>
              </a:rPr>
              <a:t>Delay-board clock-noise removal</a:t>
            </a:r>
            <a:endParaRPr lang="en-US" sz="2000" dirty="0"/>
          </a:p>
        </p:txBody>
      </p:sp>
      <p:sp>
        <p:nvSpPr>
          <p:cNvPr id="22" name="Shape 20"/>
          <p:cNvSpPr/>
          <p:nvPr/>
        </p:nvSpPr>
        <p:spPr>
          <a:xfrm>
            <a:off x="8823275" y="3458577"/>
            <a:ext cx="247650" cy="247650"/>
          </a:xfrm>
          <a:prstGeom prst="ellipse">
            <a:avLst/>
          </a:prstGeom>
          <a:ln w="19050">
            <a:solidFill>
              <a:srgbClr val="B6B6B6"/>
            </a:solidFill>
            <a:prstDash val="solid"/>
          </a:ln>
        </p:spPr>
      </p:sp>
      <p:sp>
        <p:nvSpPr>
          <p:cNvPr id="23" name="Text 21"/>
          <p:cNvSpPr/>
          <p:nvPr/>
        </p:nvSpPr>
        <p:spPr>
          <a:xfrm>
            <a:off x="9223325" y="3343275"/>
            <a:ext cx="4521748" cy="495300"/>
          </a:xfrm>
          <a:prstGeom prst="rect">
            <a:avLst/>
          </a:prstGeom>
          <a:noFill/>
          <a:ln/>
        </p:spPr>
        <p:txBody>
          <a:bodyPr wrap="square" lIns="25400" tIns="25400" rIns="25400" bIns="25400" rtlCol="0" anchor="t">
            <a:noAutofit/>
          </a:bodyPr>
          <a:lstStyle/>
          <a:p>
            <a:pPr marL="0" indent="0" algn="l">
              <a:lnSpc>
                <a:spcPct val="135000"/>
              </a:lnSpc>
              <a:buNone/>
            </a:pPr>
            <a:r>
              <a:rPr lang="en-US" sz="2000" dirty="0">
                <a:solidFill>
                  <a:srgbClr val="404040"/>
                </a:solidFill>
                <a:latin typeface="Helvetica Neue" pitchFamily="34" charset="0"/>
                <a:ea typeface="Helvetica Neue" pitchFamily="34" charset="-122"/>
                <a:cs typeface="Helvetica Neue" pitchFamily="34" charset="-120"/>
              </a:rPr>
              <a:t>Full TDI and clock-noise removal</a:t>
            </a:r>
            <a:endParaRPr lang="en-US" sz="2000" dirty="0"/>
          </a:p>
        </p:txBody>
      </p:sp>
      <p:sp>
        <p:nvSpPr>
          <p:cNvPr id="24" name="Shape 22"/>
          <p:cNvSpPr/>
          <p:nvPr/>
        </p:nvSpPr>
        <p:spPr>
          <a:xfrm>
            <a:off x="876300" y="9210675"/>
            <a:ext cx="16535400" cy="9525"/>
          </a:xfrm>
          <a:prstGeom prst="rect">
            <a:avLst/>
          </a:prstGeom>
          <a:solidFill>
            <a:srgbClr val="ECECEC"/>
          </a:solidFill>
          <a:ln/>
        </p:spPr>
      </p:sp>
      <p:sp>
        <p:nvSpPr>
          <p:cNvPr id="25" name="Text 23"/>
          <p:cNvSpPr/>
          <p:nvPr/>
        </p:nvSpPr>
        <p:spPr>
          <a:xfrm>
            <a:off x="876300" y="9477375"/>
            <a:ext cx="3428434" cy="390525"/>
          </a:xfrm>
          <a:prstGeom prst="rect">
            <a:avLst/>
          </a:prstGeom>
          <a:noFill/>
          <a:ln/>
        </p:spPr>
        <p:txBody>
          <a:bodyPr wrap="square" lIns="25400" tIns="25400" rIns="25400" bIns="25400" rtlCol="0" anchor="t">
            <a:normAutofit lnSpcReduction="10000"/>
          </a:bodyPr>
          <a:lstStyle/>
          <a:p>
            <a:pPr marL="0" indent="0" algn="l">
              <a:buNone/>
            </a:pPr>
            <a:r>
              <a:rPr lang="en-US" sz="2250" b="1" kern="0" spc="-22" dirty="0">
                <a:solidFill>
                  <a:srgbClr val="141414"/>
                </a:solidFill>
                <a:latin typeface="Helvetica Neue" pitchFamily="34" charset="0"/>
                <a:ea typeface="Helvetica Neue" pitchFamily="34" charset="-122"/>
                <a:cs typeface="Helvetica Neue" pitchFamily="34" charset="-120"/>
              </a:rPr>
              <a:t>Thank you for listening!</a:t>
            </a:r>
            <a:endParaRPr lang="en-US" sz="2250" dirty="0"/>
          </a:p>
        </p:txBody>
      </p:sp>
      <p:pic>
        <p:nvPicPr>
          <p:cNvPr id="26" name="Image 0" descr="preencoded.png"/>
          <p:cNvPicPr>
            <a:picLocks noChangeAspect="1"/>
          </p:cNvPicPr>
          <p:nvPr/>
        </p:nvPicPr>
        <p:blipFill>
          <a:blip r:embed="rId3"/>
          <a:srcRect t="-4" b="-4"/>
          <a:stretch/>
        </p:blipFill>
        <p:spPr>
          <a:xfrm>
            <a:off x="13399294" y="9458325"/>
            <a:ext cx="1608534" cy="361950"/>
          </a:xfrm>
          <a:prstGeom prst="rect">
            <a:avLst/>
          </a:prstGeom>
        </p:spPr>
      </p:pic>
      <p:pic>
        <p:nvPicPr>
          <p:cNvPr id="27" name="Image 1" descr="preencoded.png"/>
          <p:cNvPicPr>
            <a:picLocks noChangeAspect="1"/>
          </p:cNvPicPr>
          <p:nvPr/>
        </p:nvPicPr>
        <p:blipFill>
          <a:blip r:embed="rId4"/>
          <a:srcRect t="-5" b="-5"/>
          <a:stretch/>
        </p:blipFill>
        <p:spPr>
          <a:xfrm>
            <a:off x="15312628" y="9448800"/>
            <a:ext cx="1319361" cy="381000"/>
          </a:xfrm>
          <a:prstGeom prst="rect">
            <a:avLst/>
          </a:prstGeom>
        </p:spPr>
      </p:pic>
      <p:sp>
        <p:nvSpPr>
          <p:cNvPr id="28" name="Text 24"/>
          <p:cNvSpPr/>
          <p:nvPr/>
        </p:nvSpPr>
        <p:spPr>
          <a:xfrm>
            <a:off x="16936789" y="9558338"/>
            <a:ext cx="551111" cy="200025"/>
          </a:xfrm>
          <a:prstGeom prst="rect">
            <a:avLst/>
          </a:prstGeom>
          <a:noFill/>
          <a:ln/>
        </p:spPr>
        <p:txBody>
          <a:bodyPr wrap="square" lIns="25400" tIns="25400" rIns="25400" bIns="25400" rtlCol="0" anchor="t">
            <a:normAutofit fontScale="92500" lnSpcReduction="10000"/>
          </a:bodyPr>
          <a:lstStyle/>
          <a:p>
            <a:pPr marL="0" indent="0" algn="l">
              <a:buNone/>
            </a:pPr>
            <a:r>
              <a:rPr lang="en-US" sz="1125" kern="0" spc="34" dirty="0">
                <a:solidFill>
                  <a:srgbClr val="A6A6A6"/>
                </a:solidFill>
                <a:latin typeface="Helvetica Neue" pitchFamily="34" charset="0"/>
                <a:ea typeface="Helvetica Neue" pitchFamily="34" charset="-122"/>
                <a:cs typeface="Helvetica Neue" pitchFamily="34" charset="-120"/>
              </a:rPr>
              <a:t>16 / 16</a:t>
            </a:r>
            <a:endParaRPr lang="en-US" sz="11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2831</Words>
  <Application>Microsoft Office PowerPoint</Application>
  <PresentationFormat>Custom</PresentationFormat>
  <Paragraphs>197</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Helvetica Neue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kakruu</cp:lastModifiedBy>
  <cp:revision>15</cp:revision>
  <dcterms:created xsi:type="dcterms:W3CDTF">2026-06-21T16:48:27Z</dcterms:created>
  <dcterms:modified xsi:type="dcterms:W3CDTF">2026-08-17T12:23:23Z</dcterms:modified>
</cp:coreProperties>
</file>