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8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18288000" cy="10287000"/>
  <p:notesSz cx="10287000" cy="18288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009"/>
    <p:restoredTop sz="74014"/>
  </p:normalViewPr>
  <p:slideViewPr>
    <p:cSldViewPr snapToGrid="0" snapToObjects="1">
      <p:cViewPr varScale="1">
        <p:scale>
          <a:sx n="62" d="100"/>
          <a:sy n="62" d="100"/>
        </p:scale>
        <p:origin x="2024" y="2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0719686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sz="1200" b="0" i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sz="1200" b="0" i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sz="1200" b="0" i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sz="1200" b="0" i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sz="1200" b="0" i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sz="1200" b="0" i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sz="1200" b="0" i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svg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svg"/><Relationship Id="rId3" Type="http://schemas.openxmlformats.org/officeDocument/2006/relationships/image" Target="../media/image3.png"/><Relationship Id="rId7" Type="http://schemas.openxmlformats.org/officeDocument/2006/relationships/image" Target="../media/image8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svg"/><Relationship Id="rId5" Type="http://schemas.openxmlformats.org/officeDocument/2006/relationships/image" Target="../media/image4.png"/><Relationship Id="rId4" Type="http://schemas.openxmlformats.org/officeDocument/2006/relationships/image" Target="../media/image7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2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svg"/><Relationship Id="rId3" Type="http://schemas.openxmlformats.org/officeDocument/2006/relationships/image" Target="../media/image16.png"/><Relationship Id="rId7" Type="http://schemas.openxmlformats.org/officeDocument/2006/relationships/image" Target="../media/image2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9.svg"/><Relationship Id="rId5" Type="http://schemas.openxmlformats.org/officeDocument/2006/relationships/image" Target="../media/image18.png"/><Relationship Id="rId10" Type="http://schemas.openxmlformats.org/officeDocument/2006/relationships/image" Target="../media/image23.svg"/><Relationship Id="rId4" Type="http://schemas.openxmlformats.org/officeDocument/2006/relationships/image" Target="../media/image17.jpg"/><Relationship Id="rId9" Type="http://schemas.openxmlformats.org/officeDocument/2006/relationships/image" Target="../media/image22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svg"/><Relationship Id="rId3" Type="http://schemas.openxmlformats.org/officeDocument/2006/relationships/image" Target="../media/image16.png"/><Relationship Id="rId7" Type="http://schemas.openxmlformats.org/officeDocument/2006/relationships/image" Target="../media/image20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9.svg"/><Relationship Id="rId5" Type="http://schemas.openxmlformats.org/officeDocument/2006/relationships/image" Target="../media/image18.png"/><Relationship Id="rId10" Type="http://schemas.openxmlformats.org/officeDocument/2006/relationships/image" Target="../media/image26.svg"/><Relationship Id="rId4" Type="http://schemas.openxmlformats.org/officeDocument/2006/relationships/image" Target="../media/image24.png"/><Relationship Id="rId9" Type="http://schemas.openxmlformats.org/officeDocument/2006/relationships/image" Target="../media/image25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9.svg"/><Relationship Id="rId4" Type="http://schemas.openxmlformats.org/officeDocument/2006/relationships/image" Target="../media/image28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33.svg"/><Relationship Id="rId3" Type="http://schemas.openxmlformats.org/officeDocument/2006/relationships/image" Target="../media/image3.png"/><Relationship Id="rId7" Type="http://schemas.openxmlformats.org/officeDocument/2006/relationships/image" Target="../media/image3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1.svg"/><Relationship Id="rId5" Type="http://schemas.openxmlformats.org/officeDocument/2006/relationships/image" Target="../media/image30.png"/><Relationship Id="rId4" Type="http://schemas.openxmlformats.org/officeDocument/2006/relationships/image" Target="../media/image7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6800" y="914400"/>
            <a:ext cx="17769840" cy="2381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275" b="1" kern="0" spc="281" dirty="0">
                <a:solidFill>
                  <a:srgbClr val="9A9A9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THESIS ADVISORY COMMITTEE MEETING· 27 AUGUST 2026</a:t>
            </a:r>
            <a:endParaRPr lang="en-US" sz="1275" dirty="0"/>
          </a:p>
        </p:txBody>
      </p:sp>
      <p:sp>
        <p:nvSpPr>
          <p:cNvPr id="3" name="Text 1"/>
          <p:cNvSpPr/>
          <p:nvPr/>
        </p:nvSpPr>
        <p:spPr>
          <a:xfrm>
            <a:off x="1066800" y="3805237"/>
            <a:ext cx="14519910" cy="12763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lnSpc>
                <a:spcPct val="106000"/>
              </a:lnSpc>
              <a:buNone/>
            </a:pPr>
            <a:r>
              <a:rPr lang="en-US" sz="4800" b="1" kern="0" spc="-93" dirty="0">
                <a:solidFill>
                  <a:srgbClr val="141414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Testbed for Validating Second-Generation TDI and Clock-Noise Correction for LISA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1066800" y="5367338"/>
            <a:ext cx="15506700" cy="4095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2400" b="1" dirty="0">
                <a:solidFill>
                  <a:srgbClr val="141414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Karin </a:t>
            </a:r>
            <a:r>
              <a:rPr lang="en-US" sz="2400" b="1" dirty="0" err="1">
                <a:solidFill>
                  <a:srgbClr val="141414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Kruuse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1066800" y="5964913"/>
            <a:ext cx="15506700" cy="266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500" dirty="0">
                <a:solidFill>
                  <a:srgbClr val="8A8A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Max Planck Institute for Gravitational Physics (AEI) · Leibniz Universität Hannover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1066800" y="8734425"/>
            <a:ext cx="16154400" cy="9525"/>
          </a:xfrm>
          <a:prstGeom prst="rect">
            <a:avLst/>
          </a:prstGeom>
          <a:solidFill>
            <a:srgbClr val="ECECEC"/>
          </a:solidFill>
          <a:ln/>
        </p:spPr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rcRect t="-3" b="-3"/>
          <a:stretch/>
        </p:blipFill>
        <p:spPr>
          <a:xfrm>
            <a:off x="1066800" y="9048750"/>
            <a:ext cx="2370534" cy="533400"/>
          </a:xfrm>
          <a:prstGeom prst="rect">
            <a:avLst/>
          </a:prstGeom>
        </p:spPr>
      </p:pic>
      <p:pic>
        <p:nvPicPr>
          <p:cNvPr id="8" name="Image 1" descr="preencoded.png"/>
          <p:cNvPicPr>
            <a:picLocks noChangeAspect="1"/>
          </p:cNvPicPr>
          <p:nvPr/>
        </p:nvPicPr>
        <p:blipFill>
          <a:blip r:embed="rId4"/>
          <a:srcRect t="-3" b="-3"/>
          <a:stretch/>
        </p:blipFill>
        <p:spPr>
          <a:xfrm>
            <a:off x="3856434" y="9029700"/>
            <a:ext cx="1979116" cy="57150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6746289" y="9439275"/>
            <a:ext cx="551111" cy="2000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125" kern="0" spc="34" dirty="0">
                <a:solidFill>
                  <a:srgbClr val="A6A6A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01 / 16</a:t>
            </a:r>
            <a:endParaRPr lang="en-US" sz="1125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76300" y="571500"/>
            <a:ext cx="18188940" cy="2095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125" b="1" kern="0" spc="225" dirty="0">
                <a:solidFill>
                  <a:srgbClr val="9A9A9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THE LISA MEASUREMENT</a:t>
            </a:r>
            <a:endParaRPr lang="en-US" sz="1125" dirty="0"/>
          </a:p>
        </p:txBody>
      </p:sp>
      <p:sp>
        <p:nvSpPr>
          <p:cNvPr id="3" name="Text 1"/>
          <p:cNvSpPr/>
          <p:nvPr/>
        </p:nvSpPr>
        <p:spPr>
          <a:xfrm>
            <a:off x="876300" y="847725"/>
            <a:ext cx="18188940" cy="4857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450" b="1" kern="0" spc="-52" dirty="0">
                <a:solidFill>
                  <a:srgbClr val="141414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LISA Science Interferometer</a:t>
            </a:r>
            <a:endParaRPr lang="en-US" sz="345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rcRect l="-1" r="-1" b="6895"/>
          <a:stretch>
            <a:fillRect/>
          </a:stretch>
        </p:blipFill>
        <p:spPr>
          <a:xfrm>
            <a:off x="1918689" y="2394642"/>
            <a:ext cx="14450467" cy="3756543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2836605" y="8473901"/>
            <a:ext cx="12614639" cy="3524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2400" dirty="0">
                <a:solidFill>
                  <a:srgbClr val="2A2A2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The two primary noises in the raw data are </a:t>
            </a:r>
            <a:r>
              <a:rPr lang="en-US" sz="2400" b="1" dirty="0">
                <a:solidFill>
                  <a:srgbClr val="2A2A2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laser frequency noise </a:t>
            </a:r>
            <a:r>
              <a:rPr lang="en-US" sz="2400" dirty="0">
                <a:solidFill>
                  <a:srgbClr val="2A2A2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and </a:t>
            </a:r>
            <a:r>
              <a:rPr lang="en-US" sz="2400" b="1" dirty="0">
                <a:solidFill>
                  <a:srgbClr val="2A2A2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clock timing jitter</a:t>
            </a:r>
            <a:r>
              <a:rPr lang="en-US" sz="2400" dirty="0">
                <a:solidFill>
                  <a:srgbClr val="2A2A2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.</a:t>
            </a:r>
            <a:endParaRPr lang="en-US" sz="2400" dirty="0"/>
          </a:p>
        </p:txBody>
      </p:sp>
      <p:sp>
        <p:nvSpPr>
          <p:cNvPr id="8" name="Shape 4"/>
          <p:cNvSpPr/>
          <p:nvPr/>
        </p:nvSpPr>
        <p:spPr>
          <a:xfrm>
            <a:off x="876300" y="9505950"/>
            <a:ext cx="16535400" cy="9525"/>
          </a:xfrm>
          <a:prstGeom prst="rect">
            <a:avLst/>
          </a:prstGeom>
          <a:solidFill>
            <a:srgbClr val="ECECEC"/>
          </a:solidFill>
          <a:ln/>
        </p:spPr>
      </p:sp>
      <p:sp>
        <p:nvSpPr>
          <p:cNvPr id="9" name="Text 5"/>
          <p:cNvSpPr/>
          <p:nvPr/>
        </p:nvSpPr>
        <p:spPr>
          <a:xfrm>
            <a:off x="876300" y="9667875"/>
            <a:ext cx="2633127" cy="2000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125" kern="0" spc="34" dirty="0">
                <a:solidFill>
                  <a:srgbClr val="A6A6A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16th International LISA Symposium</a:t>
            </a:r>
            <a:endParaRPr lang="en-US" sz="1125" dirty="0"/>
          </a:p>
        </p:txBody>
      </p:sp>
      <p:sp>
        <p:nvSpPr>
          <p:cNvPr id="10" name="Text 6"/>
          <p:cNvSpPr/>
          <p:nvPr/>
        </p:nvSpPr>
        <p:spPr>
          <a:xfrm>
            <a:off x="15799594" y="9667875"/>
            <a:ext cx="1773317" cy="2000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125" kern="0" spc="34" dirty="0">
                <a:solidFill>
                  <a:srgbClr val="A6A6A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23 June 2026 · 02 / 16</a:t>
            </a:r>
            <a:endParaRPr lang="en-US" sz="1125" dirty="0"/>
          </a:p>
        </p:txBody>
      </p:sp>
      <p:pic>
        <p:nvPicPr>
          <p:cNvPr id="20" name="Graphic 19">
            <a:extLst>
              <a:ext uri="{FF2B5EF4-FFF2-40B4-BE49-F238E27FC236}">
                <a16:creationId xmlns:a16="http://schemas.microsoft.com/office/drawing/2014/main" id="{8E5F7403-794F-42E0-8015-A5ADD919C88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410659" y="6703635"/>
            <a:ext cx="7466529" cy="1341293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77788" y="555427"/>
            <a:ext cx="18185666" cy="2095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125" b="1" kern="0" spc="225" dirty="0">
                <a:solidFill>
                  <a:srgbClr val="9A9A9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TESTBED CONCEPT</a:t>
            </a:r>
            <a:endParaRPr lang="en-US" sz="1125" dirty="0"/>
          </a:p>
        </p:txBody>
      </p:sp>
      <p:sp>
        <p:nvSpPr>
          <p:cNvPr id="3" name="Text 1"/>
          <p:cNvSpPr/>
          <p:nvPr/>
        </p:nvSpPr>
        <p:spPr>
          <a:xfrm>
            <a:off x="877788" y="822127"/>
            <a:ext cx="18185666" cy="4857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450" b="1" kern="0" spc="-52" dirty="0">
                <a:solidFill>
                  <a:srgbClr val="141414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Replicating the LISA Arm in the Lab</a:t>
            </a:r>
            <a:endParaRPr lang="en-US" sz="345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rcRect t="-40" b="-40"/>
          <a:stretch/>
        </p:blipFill>
        <p:spPr>
          <a:xfrm>
            <a:off x="3163788" y="1738461"/>
            <a:ext cx="12911286" cy="7766596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005780" y="2983111"/>
            <a:ext cx="2615119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75" b="1" dirty="0">
                <a:solidFill>
                  <a:srgbClr val="141414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LISA arm</a:t>
            </a:r>
            <a:endParaRPr lang="en-US" sz="1875" dirty="0"/>
          </a:p>
        </p:txBody>
      </p:sp>
      <p:sp>
        <p:nvSpPr>
          <p:cNvPr id="6" name="Text 3"/>
          <p:cNvSpPr/>
          <p:nvPr/>
        </p:nvSpPr>
        <p:spPr>
          <a:xfrm>
            <a:off x="1005780" y="3287911"/>
            <a:ext cx="2615119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200" dirty="0">
                <a:solidFill>
                  <a:srgbClr val="9A9A9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In-flight inter-satellite link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1005780" y="6737896"/>
            <a:ext cx="2615119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75" b="1" dirty="0">
                <a:solidFill>
                  <a:srgbClr val="141414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Testbed arm</a:t>
            </a:r>
            <a:endParaRPr lang="en-US" sz="1875" dirty="0"/>
          </a:p>
        </p:txBody>
      </p:sp>
      <p:sp>
        <p:nvSpPr>
          <p:cNvPr id="8" name="Text 5"/>
          <p:cNvSpPr/>
          <p:nvPr/>
        </p:nvSpPr>
        <p:spPr>
          <a:xfrm>
            <a:off x="1005780" y="7042696"/>
            <a:ext cx="2615119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200" dirty="0">
                <a:solidFill>
                  <a:srgbClr val="9A9A9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Benchtop analogue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877788" y="9591377"/>
            <a:ext cx="16532423" cy="9525"/>
          </a:xfrm>
          <a:prstGeom prst="rect">
            <a:avLst/>
          </a:prstGeom>
          <a:solidFill>
            <a:srgbClr val="ECECEC"/>
          </a:solidFill>
          <a:ln/>
        </p:spPr>
      </p:sp>
      <p:sp>
        <p:nvSpPr>
          <p:cNvPr id="10" name="Text 7"/>
          <p:cNvSpPr/>
          <p:nvPr/>
        </p:nvSpPr>
        <p:spPr>
          <a:xfrm>
            <a:off x="877788" y="9734252"/>
            <a:ext cx="2633127" cy="2000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125" kern="0" spc="34" dirty="0">
                <a:solidFill>
                  <a:srgbClr val="A6A6A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16th International LISA Symposium</a:t>
            </a:r>
            <a:endParaRPr lang="en-US" sz="1125" dirty="0"/>
          </a:p>
        </p:txBody>
      </p:sp>
      <p:sp>
        <p:nvSpPr>
          <p:cNvPr id="11" name="Text 8"/>
          <p:cNvSpPr/>
          <p:nvPr/>
        </p:nvSpPr>
        <p:spPr>
          <a:xfrm>
            <a:off x="15798105" y="9734252"/>
            <a:ext cx="1773317" cy="2000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125" kern="0" spc="34" dirty="0">
                <a:solidFill>
                  <a:srgbClr val="A6A6A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23 June 2026 · 03 / 16</a:t>
            </a:r>
            <a:endParaRPr lang="en-US" sz="1125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77788" y="555427"/>
            <a:ext cx="18185666" cy="2095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125" b="1" kern="0" spc="225" dirty="0">
                <a:solidFill>
                  <a:srgbClr val="9A9A9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TESTBED CONCEPT</a:t>
            </a:r>
            <a:endParaRPr lang="en-US" sz="1125" dirty="0"/>
          </a:p>
        </p:txBody>
      </p:sp>
      <p:sp>
        <p:nvSpPr>
          <p:cNvPr id="3" name="Text 1"/>
          <p:cNvSpPr/>
          <p:nvPr/>
        </p:nvSpPr>
        <p:spPr>
          <a:xfrm>
            <a:off x="877788" y="822127"/>
            <a:ext cx="18185666" cy="4857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450" b="1" kern="0" spc="-52" dirty="0">
                <a:solidFill>
                  <a:srgbClr val="141414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Replicating the LISA Arm in the Lab</a:t>
            </a:r>
            <a:endParaRPr lang="en-US" sz="345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rcRect t="-40" b="-40"/>
          <a:stretch/>
        </p:blipFill>
        <p:spPr>
          <a:xfrm>
            <a:off x="3163788" y="1735136"/>
            <a:ext cx="12911286" cy="776659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6931075" y="5761256"/>
            <a:ext cx="1737271" cy="843409"/>
          </a:xfrm>
          <a:prstGeom prst="roundRect">
            <a:avLst>
              <a:gd name="adj" fmla="val 2259"/>
            </a:avLst>
          </a:prstGeom>
          <a:ln w="50800">
            <a:solidFill>
              <a:srgbClr val="C00000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11159292" y="7381292"/>
            <a:ext cx="1865263" cy="843409"/>
          </a:xfrm>
          <a:prstGeom prst="roundRect">
            <a:avLst>
              <a:gd name="adj" fmla="val 2259"/>
            </a:avLst>
          </a:prstGeom>
          <a:ln w="50800">
            <a:solidFill>
              <a:srgbClr val="C0000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772501" y="5334022"/>
            <a:ext cx="6035040" cy="285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C0000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Carrier from 281 THz to ~50 MHz</a:t>
            </a:r>
            <a:endParaRPr lang="en-US" sz="2000" dirty="0"/>
          </a:p>
        </p:txBody>
      </p:sp>
      <p:sp>
        <p:nvSpPr>
          <p:cNvPr id="8" name="Text 5"/>
          <p:cNvSpPr/>
          <p:nvPr/>
        </p:nvSpPr>
        <p:spPr>
          <a:xfrm>
            <a:off x="1005780" y="2983111"/>
            <a:ext cx="2615119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75" b="1" dirty="0">
                <a:solidFill>
                  <a:srgbClr val="141414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LISA arm</a:t>
            </a:r>
            <a:endParaRPr lang="en-US" sz="1875" dirty="0"/>
          </a:p>
        </p:txBody>
      </p:sp>
      <p:sp>
        <p:nvSpPr>
          <p:cNvPr id="9" name="Text 6"/>
          <p:cNvSpPr/>
          <p:nvPr/>
        </p:nvSpPr>
        <p:spPr>
          <a:xfrm>
            <a:off x="1005780" y="3287911"/>
            <a:ext cx="2615119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200" dirty="0">
                <a:solidFill>
                  <a:srgbClr val="9A9A9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In-flight inter-satellite link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005780" y="6737896"/>
            <a:ext cx="2615119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75" b="1" dirty="0">
                <a:solidFill>
                  <a:srgbClr val="141414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Testbed arm</a:t>
            </a:r>
            <a:endParaRPr lang="en-US" sz="1875" dirty="0"/>
          </a:p>
        </p:txBody>
      </p:sp>
      <p:sp>
        <p:nvSpPr>
          <p:cNvPr id="11" name="Text 8"/>
          <p:cNvSpPr/>
          <p:nvPr/>
        </p:nvSpPr>
        <p:spPr>
          <a:xfrm>
            <a:off x="1005780" y="7042696"/>
            <a:ext cx="2615119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200" dirty="0">
                <a:solidFill>
                  <a:srgbClr val="9A9A9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Benchtop analogue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877788" y="9591377"/>
            <a:ext cx="16532423" cy="9525"/>
          </a:xfrm>
          <a:prstGeom prst="rect">
            <a:avLst/>
          </a:prstGeom>
          <a:solidFill>
            <a:srgbClr val="ECECEC"/>
          </a:solidFill>
          <a:ln/>
        </p:spPr>
      </p:sp>
      <p:sp>
        <p:nvSpPr>
          <p:cNvPr id="13" name="Text 10"/>
          <p:cNvSpPr/>
          <p:nvPr/>
        </p:nvSpPr>
        <p:spPr>
          <a:xfrm>
            <a:off x="877788" y="9734252"/>
            <a:ext cx="2633127" cy="2000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125" kern="0" spc="34" dirty="0">
                <a:solidFill>
                  <a:srgbClr val="A6A6A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16th International LISA Symposium</a:t>
            </a:r>
            <a:endParaRPr lang="en-US" sz="1125" dirty="0"/>
          </a:p>
        </p:txBody>
      </p:sp>
      <p:sp>
        <p:nvSpPr>
          <p:cNvPr id="14" name="Text 11"/>
          <p:cNvSpPr/>
          <p:nvPr/>
        </p:nvSpPr>
        <p:spPr>
          <a:xfrm>
            <a:off x="15798105" y="9734252"/>
            <a:ext cx="1773317" cy="2000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125" kern="0" spc="34" dirty="0">
                <a:solidFill>
                  <a:srgbClr val="A6A6A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23 June 2026 · 04 / 16</a:t>
            </a:r>
            <a:endParaRPr lang="en-US" sz="1125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77788" y="555427"/>
            <a:ext cx="18185666" cy="2095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125" b="1" kern="0" spc="225" dirty="0">
                <a:solidFill>
                  <a:srgbClr val="9A9A9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TESTBED CONCEPT</a:t>
            </a:r>
            <a:endParaRPr lang="en-US" sz="1125" dirty="0"/>
          </a:p>
        </p:txBody>
      </p:sp>
      <p:sp>
        <p:nvSpPr>
          <p:cNvPr id="3" name="Text 1"/>
          <p:cNvSpPr/>
          <p:nvPr/>
        </p:nvSpPr>
        <p:spPr>
          <a:xfrm>
            <a:off x="877788" y="822127"/>
            <a:ext cx="18185666" cy="4857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450" b="1" kern="0" spc="-52" dirty="0">
                <a:solidFill>
                  <a:srgbClr val="141414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Replicating the LISA Arm in the Lab</a:t>
            </a:r>
            <a:endParaRPr lang="en-US" sz="345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rcRect t="-40" b="-40"/>
          <a:stretch/>
        </p:blipFill>
        <p:spPr>
          <a:xfrm>
            <a:off x="3163788" y="1738461"/>
            <a:ext cx="12911286" cy="776659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6821388" y="7314009"/>
            <a:ext cx="1828800" cy="843409"/>
          </a:xfrm>
          <a:prstGeom prst="roundRect">
            <a:avLst>
              <a:gd name="adj" fmla="val 2259"/>
            </a:avLst>
          </a:prstGeom>
          <a:ln w="50800">
            <a:solidFill>
              <a:srgbClr val="C00000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11356777" y="5729734"/>
            <a:ext cx="1737271" cy="843409"/>
          </a:xfrm>
          <a:prstGeom prst="roundRect">
            <a:avLst>
              <a:gd name="adj" fmla="val 2259"/>
            </a:avLst>
          </a:prstGeom>
          <a:ln w="50800">
            <a:solidFill>
              <a:srgbClr val="C00000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205513" y="4009896"/>
            <a:ext cx="530275" cy="720030"/>
          </a:xfrm>
          <a:prstGeom prst="roundRect">
            <a:avLst>
              <a:gd name="adj" fmla="val 3592"/>
            </a:avLst>
          </a:prstGeom>
          <a:ln w="38100">
            <a:solidFill>
              <a:srgbClr val="C00000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2161490" y="2293888"/>
            <a:ext cx="530275" cy="720030"/>
          </a:xfrm>
          <a:prstGeom prst="roundRect">
            <a:avLst>
              <a:gd name="adj" fmla="val 3592"/>
            </a:avLst>
          </a:prstGeom>
          <a:ln w="38100">
            <a:solidFill>
              <a:srgbClr val="C0000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9268003" y="5257799"/>
            <a:ext cx="5230237" cy="285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C0000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Inter-satellite interferometers</a:t>
            </a:r>
            <a:endParaRPr lang="en-US" sz="2000" dirty="0"/>
          </a:p>
        </p:txBody>
      </p:sp>
      <p:sp>
        <p:nvSpPr>
          <p:cNvPr id="10" name="Text 7"/>
          <p:cNvSpPr/>
          <p:nvPr/>
        </p:nvSpPr>
        <p:spPr>
          <a:xfrm>
            <a:off x="1005780" y="2983111"/>
            <a:ext cx="2615119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75" b="1" dirty="0">
                <a:solidFill>
                  <a:srgbClr val="141414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LISA arm</a:t>
            </a:r>
            <a:endParaRPr lang="en-US" sz="1875" dirty="0"/>
          </a:p>
        </p:txBody>
      </p:sp>
      <p:sp>
        <p:nvSpPr>
          <p:cNvPr id="11" name="Text 8"/>
          <p:cNvSpPr/>
          <p:nvPr/>
        </p:nvSpPr>
        <p:spPr>
          <a:xfrm>
            <a:off x="1005780" y="3287911"/>
            <a:ext cx="2615119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200" dirty="0">
                <a:solidFill>
                  <a:srgbClr val="9A9A9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In-flight inter-satellite link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1005780" y="6737896"/>
            <a:ext cx="2615119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75" b="1" dirty="0">
                <a:solidFill>
                  <a:srgbClr val="141414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Testbed arm</a:t>
            </a:r>
            <a:endParaRPr lang="en-US" sz="1875" dirty="0"/>
          </a:p>
        </p:txBody>
      </p:sp>
      <p:sp>
        <p:nvSpPr>
          <p:cNvPr id="13" name="Text 10"/>
          <p:cNvSpPr/>
          <p:nvPr/>
        </p:nvSpPr>
        <p:spPr>
          <a:xfrm>
            <a:off x="1005780" y="7042696"/>
            <a:ext cx="2615119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200" dirty="0">
                <a:solidFill>
                  <a:srgbClr val="9A9A9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Benchtop analogue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877788" y="9591377"/>
            <a:ext cx="16532423" cy="9525"/>
          </a:xfrm>
          <a:prstGeom prst="rect">
            <a:avLst/>
          </a:prstGeom>
          <a:solidFill>
            <a:srgbClr val="ECECEC"/>
          </a:solidFill>
          <a:ln/>
        </p:spPr>
      </p:sp>
      <p:sp>
        <p:nvSpPr>
          <p:cNvPr id="15" name="Text 12"/>
          <p:cNvSpPr/>
          <p:nvPr/>
        </p:nvSpPr>
        <p:spPr>
          <a:xfrm>
            <a:off x="877788" y="9734252"/>
            <a:ext cx="2633127" cy="2000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125" kern="0" spc="34" dirty="0">
                <a:solidFill>
                  <a:srgbClr val="A6A6A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16th International LISA Symposium</a:t>
            </a:r>
            <a:endParaRPr lang="en-US" sz="1125" dirty="0"/>
          </a:p>
        </p:txBody>
      </p:sp>
      <p:sp>
        <p:nvSpPr>
          <p:cNvPr id="16" name="Text 13"/>
          <p:cNvSpPr/>
          <p:nvPr/>
        </p:nvSpPr>
        <p:spPr>
          <a:xfrm>
            <a:off x="15798105" y="9734252"/>
            <a:ext cx="1773317" cy="2000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125" kern="0" spc="34" dirty="0">
                <a:solidFill>
                  <a:srgbClr val="A6A6A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23 June 2026 · 05 / 16</a:t>
            </a:r>
            <a:endParaRPr lang="en-US" sz="1125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77788" y="555427"/>
            <a:ext cx="18185666" cy="2095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125" b="1" kern="0" spc="225" dirty="0">
                <a:solidFill>
                  <a:srgbClr val="9A9A9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TESTBED CONCEPT</a:t>
            </a:r>
            <a:endParaRPr lang="en-US" sz="1125" dirty="0"/>
          </a:p>
        </p:txBody>
      </p:sp>
      <p:sp>
        <p:nvSpPr>
          <p:cNvPr id="3" name="Text 1"/>
          <p:cNvSpPr/>
          <p:nvPr/>
        </p:nvSpPr>
        <p:spPr>
          <a:xfrm>
            <a:off x="877788" y="822127"/>
            <a:ext cx="18185666" cy="4857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450" b="1" kern="0" spc="-52" dirty="0">
                <a:solidFill>
                  <a:srgbClr val="141414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Matching the Interferometric Signal Model</a:t>
            </a:r>
            <a:endParaRPr lang="en-US" sz="345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rcRect t="-75" b="-75"/>
          <a:stretch/>
        </p:blipFill>
        <p:spPr>
          <a:xfrm>
            <a:off x="786259" y="1851571"/>
            <a:ext cx="9601200" cy="2684859"/>
          </a:xfrm>
          <a:prstGeom prst="rect">
            <a:avLst/>
          </a:prstGeom>
        </p:spPr>
      </p:pic>
      <p:pic>
        <p:nvPicPr>
          <p:cNvPr id="6" name="Image 2" descr="preencoded.png"/>
          <p:cNvPicPr>
            <a:picLocks noChangeAspect="1"/>
          </p:cNvPicPr>
          <p:nvPr/>
        </p:nvPicPr>
        <p:blipFill>
          <a:blip r:embed="rId4"/>
          <a:srcRect l="-6" r="-6"/>
          <a:stretch/>
        </p:blipFill>
        <p:spPr>
          <a:xfrm>
            <a:off x="914400" y="5472559"/>
            <a:ext cx="9966871" cy="3497461"/>
          </a:xfrm>
          <a:prstGeom prst="rect">
            <a:avLst/>
          </a:prstGeom>
        </p:spPr>
      </p:pic>
      <p:sp>
        <p:nvSpPr>
          <p:cNvPr id="8" name="Text 2"/>
          <p:cNvSpPr/>
          <p:nvPr/>
        </p:nvSpPr>
        <p:spPr>
          <a:xfrm>
            <a:off x="14996071" y="3597081"/>
            <a:ext cx="3218557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141414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LISA arm</a:t>
            </a:r>
            <a:endParaRPr lang="en-US" sz="1800" dirty="0"/>
          </a:p>
        </p:txBody>
      </p:sp>
      <p:sp>
        <p:nvSpPr>
          <p:cNvPr id="9" name="Text 3"/>
          <p:cNvSpPr/>
          <p:nvPr/>
        </p:nvSpPr>
        <p:spPr>
          <a:xfrm>
            <a:off x="14996071" y="3892356"/>
            <a:ext cx="3218557" cy="2095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200" dirty="0">
                <a:solidFill>
                  <a:srgbClr val="9A9A9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In-flight link</a:t>
            </a:r>
            <a:endParaRPr lang="en-US" sz="1200" dirty="0"/>
          </a:p>
        </p:txBody>
      </p:sp>
      <p:sp>
        <p:nvSpPr>
          <p:cNvPr id="10" name="Text 4"/>
          <p:cNvSpPr/>
          <p:nvPr/>
        </p:nvSpPr>
        <p:spPr>
          <a:xfrm>
            <a:off x="14996071" y="7464160"/>
            <a:ext cx="3218557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141414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Testbed arm</a:t>
            </a:r>
            <a:endParaRPr lang="en-US" sz="1800" dirty="0"/>
          </a:p>
        </p:txBody>
      </p:sp>
      <p:sp>
        <p:nvSpPr>
          <p:cNvPr id="11" name="Text 5"/>
          <p:cNvSpPr/>
          <p:nvPr/>
        </p:nvSpPr>
        <p:spPr>
          <a:xfrm>
            <a:off x="14996071" y="7759435"/>
            <a:ext cx="3218557" cy="2095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200" dirty="0">
                <a:solidFill>
                  <a:srgbClr val="9A9A9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Benchtop analogue</a:t>
            </a:r>
            <a:endParaRPr lang="en-US" sz="1200" dirty="0"/>
          </a:p>
        </p:txBody>
      </p:sp>
      <p:sp>
        <p:nvSpPr>
          <p:cNvPr id="12" name="Shape 6"/>
          <p:cNvSpPr/>
          <p:nvPr/>
        </p:nvSpPr>
        <p:spPr>
          <a:xfrm>
            <a:off x="877788" y="9591377"/>
            <a:ext cx="16532423" cy="9525"/>
          </a:xfrm>
          <a:prstGeom prst="rect">
            <a:avLst/>
          </a:prstGeom>
          <a:solidFill>
            <a:srgbClr val="ECECEC"/>
          </a:solidFill>
          <a:ln/>
        </p:spPr>
      </p:sp>
      <p:sp>
        <p:nvSpPr>
          <p:cNvPr id="13" name="Text 7"/>
          <p:cNvSpPr/>
          <p:nvPr/>
        </p:nvSpPr>
        <p:spPr>
          <a:xfrm>
            <a:off x="877788" y="9734252"/>
            <a:ext cx="2633127" cy="2000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125" kern="0" spc="34" dirty="0">
                <a:solidFill>
                  <a:srgbClr val="A6A6A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16th International LISA Symposium</a:t>
            </a:r>
            <a:endParaRPr lang="en-US" sz="1125" dirty="0"/>
          </a:p>
        </p:txBody>
      </p:sp>
      <p:sp>
        <p:nvSpPr>
          <p:cNvPr id="14" name="Text 8"/>
          <p:cNvSpPr/>
          <p:nvPr/>
        </p:nvSpPr>
        <p:spPr>
          <a:xfrm>
            <a:off x="15798105" y="9734252"/>
            <a:ext cx="1773317" cy="2000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125" kern="0" spc="34" dirty="0">
                <a:solidFill>
                  <a:srgbClr val="A6A6A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23 June 2026 · 06 / 16</a:t>
            </a:r>
            <a:endParaRPr lang="en-US" sz="1125" dirty="0"/>
          </a:p>
        </p:txBody>
      </p:sp>
      <p:pic>
        <p:nvPicPr>
          <p:cNvPr id="16" name="Graphic 15">
            <a:extLst>
              <a:ext uri="{FF2B5EF4-FFF2-40B4-BE49-F238E27FC236}">
                <a16:creationId xmlns:a16="http://schemas.microsoft.com/office/drawing/2014/main" id="{6AAAFCDA-ED6E-97A8-8D44-47E59DAA2806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929736" y="4255311"/>
            <a:ext cx="7443864" cy="1337221"/>
          </a:xfrm>
          <a:prstGeom prst="rect">
            <a:avLst/>
          </a:prstGeom>
        </p:spPr>
      </p:pic>
      <p:pic>
        <p:nvPicPr>
          <p:cNvPr id="18" name="Graphic 17">
            <a:extLst>
              <a:ext uri="{FF2B5EF4-FFF2-40B4-BE49-F238E27FC236}">
                <a16:creationId xmlns:a16="http://schemas.microsoft.com/office/drawing/2014/main" id="{0272B11E-E04F-0371-E640-35FD155FC3C5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010783" y="8429922"/>
            <a:ext cx="9362817" cy="1141807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77788" y="555427"/>
            <a:ext cx="18185666" cy="2095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r>
              <a:rPr lang="en-US" sz="1125" b="1" kern="0" spc="225" dirty="0">
                <a:solidFill>
                  <a:srgbClr val="9A9A9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TESTBED CONCEPT</a:t>
            </a:r>
            <a:endParaRPr lang="en-US" sz="1125" dirty="0"/>
          </a:p>
          <a:p>
            <a:pPr marL="0" indent="0" algn="l">
              <a:buNone/>
            </a:pPr>
            <a:endParaRPr lang="en-US" sz="1125" dirty="0"/>
          </a:p>
        </p:txBody>
      </p:sp>
      <p:sp>
        <p:nvSpPr>
          <p:cNvPr id="3" name="Text 1"/>
          <p:cNvSpPr/>
          <p:nvPr/>
        </p:nvSpPr>
        <p:spPr>
          <a:xfrm>
            <a:off x="877788" y="822127"/>
            <a:ext cx="18185666" cy="4857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450" b="1" kern="0" spc="-52" dirty="0">
                <a:solidFill>
                  <a:srgbClr val="141414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Full Testbed</a:t>
            </a:r>
            <a:endParaRPr lang="en-US" sz="345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rcRect l="-2293" r="-2293"/>
          <a:stretch/>
        </p:blipFill>
        <p:spPr>
          <a:xfrm>
            <a:off x="6912769" y="1337221"/>
            <a:ext cx="10606980" cy="84352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296888" y="2571750"/>
            <a:ext cx="3161913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875" b="1" dirty="0">
                <a:solidFill>
                  <a:srgbClr val="1A1A1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One laser per spacecraft</a:t>
            </a:r>
            <a:endParaRPr lang="en-US" sz="1875" dirty="0"/>
          </a:p>
        </p:txBody>
      </p:sp>
      <p:sp>
        <p:nvSpPr>
          <p:cNvPr id="7" name="Text 4"/>
          <p:cNvSpPr/>
          <p:nvPr/>
        </p:nvSpPr>
        <p:spPr>
          <a:xfrm>
            <a:off x="1296888" y="2895600"/>
            <a:ext cx="3161913" cy="2571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350" dirty="0">
                <a:solidFill>
                  <a:srgbClr val="8A8A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An independent source on each satellite</a:t>
            </a:r>
            <a:endParaRPr lang="en-US" sz="1350" dirty="0"/>
          </a:p>
        </p:txBody>
      </p:sp>
      <p:sp>
        <p:nvSpPr>
          <p:cNvPr id="9" name="Text 6"/>
          <p:cNvSpPr/>
          <p:nvPr/>
        </p:nvSpPr>
        <p:spPr>
          <a:xfrm>
            <a:off x="1296888" y="3400425"/>
            <a:ext cx="3433346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875" b="1" dirty="0">
                <a:solidFill>
                  <a:srgbClr val="1A1A1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Cavity-locked primary laser</a:t>
            </a:r>
            <a:endParaRPr lang="en-US" sz="1875" dirty="0"/>
          </a:p>
        </p:txBody>
      </p:sp>
      <p:sp>
        <p:nvSpPr>
          <p:cNvPr id="10" name="Text 7"/>
          <p:cNvSpPr/>
          <p:nvPr/>
        </p:nvSpPr>
        <p:spPr>
          <a:xfrm>
            <a:off x="1296888" y="3724275"/>
            <a:ext cx="3433346" cy="2571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350" dirty="0">
                <a:solidFill>
                  <a:srgbClr val="8A8A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Provides LISA-like laser frequency noise</a:t>
            </a:r>
            <a:endParaRPr lang="en-US" sz="1350" dirty="0"/>
          </a:p>
        </p:txBody>
      </p:sp>
      <p:sp>
        <p:nvSpPr>
          <p:cNvPr id="12" name="Text 9"/>
          <p:cNvSpPr/>
          <p:nvPr/>
        </p:nvSpPr>
        <p:spPr>
          <a:xfrm>
            <a:off x="1296888" y="4229100"/>
            <a:ext cx="2997056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875" b="1" dirty="0">
                <a:solidFill>
                  <a:srgbClr val="1A1A1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Independent clocks</a:t>
            </a:r>
            <a:endParaRPr lang="en-US" sz="1875" dirty="0"/>
          </a:p>
        </p:txBody>
      </p:sp>
      <p:sp>
        <p:nvSpPr>
          <p:cNvPr id="13" name="Text 10"/>
          <p:cNvSpPr/>
          <p:nvPr/>
        </p:nvSpPr>
        <p:spPr>
          <a:xfrm>
            <a:off x="1296888" y="4552950"/>
            <a:ext cx="2997056" cy="2571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350" dirty="0">
                <a:solidFill>
                  <a:srgbClr val="8A8A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Allows to demonstrate clock noise removal</a:t>
            </a:r>
            <a:endParaRPr lang="en-US" sz="1350" dirty="0"/>
          </a:p>
        </p:txBody>
      </p:sp>
      <p:sp>
        <p:nvSpPr>
          <p:cNvPr id="15" name="Text 12"/>
          <p:cNvSpPr/>
          <p:nvPr/>
        </p:nvSpPr>
        <p:spPr>
          <a:xfrm>
            <a:off x="1296888" y="5057775"/>
            <a:ext cx="2938775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875" b="1" dirty="0">
                <a:solidFill>
                  <a:srgbClr val="1A1A1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Six separate delay lines</a:t>
            </a:r>
            <a:endParaRPr lang="en-US" sz="1875" dirty="0"/>
          </a:p>
        </p:txBody>
      </p:sp>
      <p:sp>
        <p:nvSpPr>
          <p:cNvPr id="16" name="Text 13"/>
          <p:cNvSpPr/>
          <p:nvPr/>
        </p:nvSpPr>
        <p:spPr>
          <a:xfrm>
            <a:off x="1296888" y="5381625"/>
            <a:ext cx="2938775" cy="2571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350" dirty="0">
                <a:solidFill>
                  <a:srgbClr val="8A8A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Two per inter-spacecraft link</a:t>
            </a:r>
            <a:endParaRPr lang="en-US" sz="1350" dirty="0"/>
          </a:p>
        </p:txBody>
      </p:sp>
      <p:sp>
        <p:nvSpPr>
          <p:cNvPr id="17" name="Shape 14"/>
          <p:cNvSpPr/>
          <p:nvPr/>
        </p:nvSpPr>
        <p:spPr>
          <a:xfrm>
            <a:off x="877788" y="9591377"/>
            <a:ext cx="16532423" cy="9525"/>
          </a:xfrm>
          <a:prstGeom prst="rect">
            <a:avLst/>
          </a:prstGeom>
          <a:solidFill>
            <a:srgbClr val="ECECEC"/>
          </a:solidFill>
          <a:ln/>
        </p:spPr>
      </p:sp>
      <p:sp>
        <p:nvSpPr>
          <p:cNvPr id="18" name="Text 15"/>
          <p:cNvSpPr/>
          <p:nvPr/>
        </p:nvSpPr>
        <p:spPr>
          <a:xfrm>
            <a:off x="877788" y="9734252"/>
            <a:ext cx="2633127" cy="2000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125" kern="0" spc="34" dirty="0">
                <a:solidFill>
                  <a:srgbClr val="A6A6A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16th International LISA Symposium</a:t>
            </a:r>
            <a:endParaRPr lang="en-US" sz="1125" dirty="0"/>
          </a:p>
        </p:txBody>
      </p:sp>
      <p:sp>
        <p:nvSpPr>
          <p:cNvPr id="19" name="Text 16"/>
          <p:cNvSpPr/>
          <p:nvPr/>
        </p:nvSpPr>
        <p:spPr>
          <a:xfrm>
            <a:off x="15798105" y="9734252"/>
            <a:ext cx="1773317" cy="2000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125" kern="0" spc="34" dirty="0">
                <a:solidFill>
                  <a:srgbClr val="A6A6A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23 June 2026 · 07 / 16</a:t>
            </a:r>
            <a:endParaRPr lang="en-US" sz="1125" dirty="0"/>
          </a:p>
        </p:txBody>
      </p:sp>
      <p:sp>
        <p:nvSpPr>
          <p:cNvPr id="20" name="Shape 4">
            <a:extLst>
              <a:ext uri="{FF2B5EF4-FFF2-40B4-BE49-F238E27FC236}">
                <a16:creationId xmlns:a16="http://schemas.microsoft.com/office/drawing/2014/main" id="{AC247FFB-A56B-A5DF-C0E3-76E3472E01AD}"/>
              </a:ext>
            </a:extLst>
          </p:cNvPr>
          <p:cNvSpPr/>
          <p:nvPr/>
        </p:nvSpPr>
        <p:spPr>
          <a:xfrm>
            <a:off x="877788" y="1648031"/>
            <a:ext cx="7200000" cy="45719"/>
          </a:xfrm>
          <a:prstGeom prst="rect">
            <a:avLst/>
          </a:prstGeom>
          <a:solidFill>
            <a:srgbClr val="ECECEC"/>
          </a:solidFill>
          <a:ln/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77788" y="555427"/>
            <a:ext cx="18185666" cy="2095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125" b="1" kern="0" spc="225" dirty="0">
                <a:solidFill>
                  <a:srgbClr val="9A9A9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HARDWARE</a:t>
            </a:r>
            <a:endParaRPr lang="en-US" sz="1125" dirty="0"/>
          </a:p>
        </p:txBody>
      </p:sp>
      <p:sp>
        <p:nvSpPr>
          <p:cNvPr id="3" name="Text 1"/>
          <p:cNvSpPr/>
          <p:nvPr/>
        </p:nvSpPr>
        <p:spPr>
          <a:xfrm>
            <a:off x="877788" y="822127"/>
            <a:ext cx="18185666" cy="4857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450" b="1" kern="0" spc="-52" dirty="0">
                <a:solidFill>
                  <a:srgbClr val="141414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Cavity Locking Two Lasers</a:t>
            </a:r>
            <a:endParaRPr lang="en-US" sz="3450" dirty="0"/>
          </a:p>
        </p:txBody>
      </p:sp>
      <p:sp>
        <p:nvSpPr>
          <p:cNvPr id="4" name="Shape 2"/>
          <p:cNvSpPr/>
          <p:nvPr/>
        </p:nvSpPr>
        <p:spPr>
          <a:xfrm>
            <a:off x="877788" y="2275500"/>
            <a:ext cx="66675" cy="66675"/>
          </a:xfrm>
          <a:prstGeom prst="ellipse">
            <a:avLst/>
          </a:prstGeom>
          <a:solidFill>
            <a:srgbClr val="141414"/>
          </a:solidFill>
          <a:ln/>
        </p:spPr>
      </p:sp>
      <p:sp>
        <p:nvSpPr>
          <p:cNvPr id="5" name="Text 3"/>
          <p:cNvSpPr/>
          <p:nvPr/>
        </p:nvSpPr>
        <p:spPr>
          <a:xfrm>
            <a:off x="1077812" y="2057400"/>
            <a:ext cx="9500541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lnSpc>
                <a:spcPct val="135000"/>
              </a:lnSpc>
              <a:buNone/>
            </a:pPr>
            <a:r>
              <a:rPr lang="en-US" sz="2400" dirty="0">
                <a:solidFill>
                  <a:srgbClr val="252525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For LISA-like laser noise, the primary laser should be cavity-locked.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877788" y="2796012"/>
            <a:ext cx="66675" cy="66675"/>
          </a:xfrm>
          <a:prstGeom prst="ellipse">
            <a:avLst/>
          </a:prstGeom>
          <a:solidFill>
            <a:srgbClr val="141414"/>
          </a:solidFill>
          <a:ln/>
        </p:spPr>
      </p:sp>
      <p:sp>
        <p:nvSpPr>
          <p:cNvPr id="7" name="Text 5"/>
          <p:cNvSpPr/>
          <p:nvPr/>
        </p:nvSpPr>
        <p:spPr>
          <a:xfrm>
            <a:off x="1077813" y="2577912"/>
            <a:ext cx="8814654" cy="53771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lnSpc>
                <a:spcPct val="135000"/>
              </a:lnSpc>
              <a:buNone/>
            </a:pPr>
            <a:r>
              <a:rPr lang="en-US" sz="2400" dirty="0">
                <a:solidFill>
                  <a:srgbClr val="252525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Two lasers locked to separate cavities — </a:t>
            </a:r>
            <a:r>
              <a:rPr lang="en-US" sz="2400" b="1" dirty="0">
                <a:solidFill>
                  <a:srgbClr val="252525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25 cm </a:t>
            </a:r>
            <a:r>
              <a:rPr lang="en-US" sz="2400" dirty="0">
                <a:solidFill>
                  <a:srgbClr val="252525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and </a:t>
            </a:r>
            <a:r>
              <a:rPr lang="en-US" sz="2400" b="1" dirty="0">
                <a:solidFill>
                  <a:srgbClr val="252525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30 cm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877788" y="3316524"/>
            <a:ext cx="66675" cy="66675"/>
          </a:xfrm>
          <a:prstGeom prst="ellipse">
            <a:avLst/>
          </a:prstGeom>
          <a:solidFill>
            <a:srgbClr val="141414"/>
          </a:solidFill>
          <a:ln/>
        </p:spPr>
      </p:sp>
      <p:sp>
        <p:nvSpPr>
          <p:cNvPr id="9" name="Text 7"/>
          <p:cNvSpPr/>
          <p:nvPr/>
        </p:nvSpPr>
        <p:spPr>
          <a:xfrm>
            <a:off x="1077812" y="3098424"/>
            <a:ext cx="7384397" cy="42207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lnSpc>
                <a:spcPct val="135000"/>
              </a:lnSpc>
              <a:buNone/>
            </a:pPr>
            <a:r>
              <a:rPr lang="en-US" sz="2400" dirty="0">
                <a:solidFill>
                  <a:srgbClr val="252525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Two separate Pound–Drever–Hall (PDH) locks</a:t>
            </a:r>
            <a:endParaRPr lang="en-US" sz="2400" dirty="0"/>
          </a:p>
        </p:txBody>
      </p:sp>
      <p:sp>
        <p:nvSpPr>
          <p:cNvPr id="10" name="Shape 8"/>
          <p:cNvSpPr/>
          <p:nvPr/>
        </p:nvSpPr>
        <p:spPr>
          <a:xfrm>
            <a:off x="877788" y="3819107"/>
            <a:ext cx="66675" cy="66675"/>
          </a:xfrm>
          <a:prstGeom prst="ellipse">
            <a:avLst/>
          </a:prstGeom>
          <a:solidFill>
            <a:srgbClr val="141414"/>
          </a:solidFill>
          <a:ln/>
        </p:spPr>
      </p:sp>
      <p:sp>
        <p:nvSpPr>
          <p:cNvPr id="11" name="Text 9"/>
          <p:cNvSpPr/>
          <p:nvPr/>
        </p:nvSpPr>
        <p:spPr>
          <a:xfrm>
            <a:off x="1077812" y="3601006"/>
            <a:ext cx="5399747" cy="49827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lnSpc>
                <a:spcPct val="135000"/>
              </a:lnSpc>
              <a:buNone/>
            </a:pPr>
            <a:r>
              <a:rPr lang="en-US" sz="2400" dirty="0">
                <a:solidFill>
                  <a:srgbClr val="252525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Beat note needs to be below </a:t>
            </a:r>
            <a:r>
              <a:rPr lang="en-US" sz="2400" b="1" dirty="0">
                <a:solidFill>
                  <a:srgbClr val="252525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60 MHz</a:t>
            </a:r>
            <a:endParaRPr lang="en-US" sz="2400" dirty="0"/>
          </a:p>
        </p:txBody>
      </p:sp>
      <p:sp>
        <p:nvSpPr>
          <p:cNvPr id="13" name="Text 10"/>
          <p:cNvSpPr/>
          <p:nvPr/>
        </p:nvSpPr>
        <p:spPr>
          <a:xfrm>
            <a:off x="668280" y="5038725"/>
            <a:ext cx="3084225" cy="2095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buNone/>
            </a:pPr>
            <a:r>
              <a:rPr lang="en-US" sz="1600" dirty="0">
                <a:solidFill>
                  <a:srgbClr val="9A9A9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Illustrative cavity resonances</a:t>
            </a:r>
            <a:endParaRPr lang="en-US" sz="1600" dirty="0"/>
          </a:p>
        </p:txBody>
      </p:sp>
      <p:sp>
        <p:nvSpPr>
          <p:cNvPr id="15" name="Shape 11"/>
          <p:cNvSpPr/>
          <p:nvPr/>
        </p:nvSpPr>
        <p:spPr>
          <a:xfrm>
            <a:off x="877788" y="9591377"/>
            <a:ext cx="16532423" cy="9525"/>
          </a:xfrm>
          <a:prstGeom prst="rect">
            <a:avLst/>
          </a:prstGeom>
          <a:solidFill>
            <a:srgbClr val="ECECEC"/>
          </a:solidFill>
          <a:ln/>
        </p:spPr>
      </p:sp>
      <p:sp>
        <p:nvSpPr>
          <p:cNvPr id="16" name="Text 12"/>
          <p:cNvSpPr/>
          <p:nvPr/>
        </p:nvSpPr>
        <p:spPr>
          <a:xfrm>
            <a:off x="877788" y="9734252"/>
            <a:ext cx="2633127" cy="2000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125" kern="0" spc="34" dirty="0">
                <a:solidFill>
                  <a:srgbClr val="A6A6A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16th International LISA Symposium</a:t>
            </a:r>
            <a:endParaRPr lang="en-US" sz="1125" dirty="0"/>
          </a:p>
        </p:txBody>
      </p:sp>
      <p:sp>
        <p:nvSpPr>
          <p:cNvPr id="17" name="Text 13"/>
          <p:cNvSpPr/>
          <p:nvPr/>
        </p:nvSpPr>
        <p:spPr>
          <a:xfrm>
            <a:off x="15798105" y="9734252"/>
            <a:ext cx="1773317" cy="2000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125" kern="0" spc="34" dirty="0">
                <a:solidFill>
                  <a:srgbClr val="A6A6A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23 June 2026 · 08 / 16</a:t>
            </a:r>
            <a:endParaRPr lang="en-US" sz="1125" dirty="0"/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7F14BDC2-31DF-7058-DD00-E15A3B3DA81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5372099"/>
            <a:ext cx="12272211" cy="4387315"/>
          </a:xfrm>
          <a:prstGeom prst="rect">
            <a:avLst/>
          </a:prstGeom>
        </p:spPr>
      </p:pic>
      <p:pic>
        <p:nvPicPr>
          <p:cNvPr id="12" name="Image 0" descr="preencoded.png"/>
          <p:cNvPicPr>
            <a:picLocks noChangeAspect="1"/>
          </p:cNvPicPr>
          <p:nvPr/>
        </p:nvPicPr>
        <p:blipFill>
          <a:blip r:embed="rId4"/>
          <a:srcRect l="-26065" r="-26065"/>
          <a:stretch/>
        </p:blipFill>
        <p:spPr>
          <a:xfrm>
            <a:off x="9825792" y="898327"/>
            <a:ext cx="9371012" cy="5676616"/>
          </a:xfrm>
          <a:prstGeom prst="rect">
            <a:avLst/>
          </a:prstGeom>
        </p:spPr>
      </p:pic>
      <p:sp>
        <p:nvSpPr>
          <p:cNvPr id="20" name="Shape 4">
            <a:extLst>
              <a:ext uri="{FF2B5EF4-FFF2-40B4-BE49-F238E27FC236}">
                <a16:creationId xmlns:a16="http://schemas.microsoft.com/office/drawing/2014/main" id="{6CD83E5F-FD80-1F63-EB42-EC613B27349E}"/>
              </a:ext>
            </a:extLst>
          </p:cNvPr>
          <p:cNvSpPr/>
          <p:nvPr/>
        </p:nvSpPr>
        <p:spPr>
          <a:xfrm>
            <a:off x="877788" y="1648031"/>
            <a:ext cx="7200000" cy="45719"/>
          </a:xfrm>
          <a:prstGeom prst="rect">
            <a:avLst/>
          </a:prstGeom>
          <a:solidFill>
            <a:srgbClr val="ECECEC"/>
          </a:solidFill>
          <a:ln/>
        </p:spPr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77788" y="555427"/>
            <a:ext cx="18185666" cy="2095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125" b="1" kern="0" spc="225" dirty="0">
                <a:solidFill>
                  <a:srgbClr val="9A9A9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HARDWARE</a:t>
            </a:r>
            <a:endParaRPr lang="en-US" sz="1125" dirty="0"/>
          </a:p>
        </p:txBody>
      </p:sp>
      <p:sp>
        <p:nvSpPr>
          <p:cNvPr id="3" name="Text 1"/>
          <p:cNvSpPr/>
          <p:nvPr/>
        </p:nvSpPr>
        <p:spPr>
          <a:xfrm>
            <a:off x="877788" y="822127"/>
            <a:ext cx="18185666" cy="4857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450" b="1" kern="0" spc="-52" dirty="0">
                <a:solidFill>
                  <a:srgbClr val="141414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Delay Line</a:t>
            </a:r>
            <a:endParaRPr lang="en-US" sz="3450" dirty="0"/>
          </a:p>
        </p:txBody>
      </p:sp>
      <p:sp>
        <p:nvSpPr>
          <p:cNvPr id="4" name="Shape 2"/>
          <p:cNvSpPr/>
          <p:nvPr/>
        </p:nvSpPr>
        <p:spPr>
          <a:xfrm>
            <a:off x="877788" y="2288695"/>
            <a:ext cx="66675" cy="66675"/>
          </a:xfrm>
          <a:prstGeom prst="ellipse">
            <a:avLst/>
          </a:prstGeom>
          <a:solidFill>
            <a:srgbClr val="141414"/>
          </a:solidFill>
          <a:ln/>
        </p:spPr>
      </p:sp>
      <p:sp>
        <p:nvSpPr>
          <p:cNvPr id="5" name="Text 3"/>
          <p:cNvSpPr/>
          <p:nvPr/>
        </p:nvSpPr>
        <p:spPr>
          <a:xfrm>
            <a:off x="1077812" y="2077650"/>
            <a:ext cx="3319937" cy="34007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2400" dirty="0">
                <a:solidFill>
                  <a:srgbClr val="252525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Time-varying delays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877788" y="2766212"/>
            <a:ext cx="66675" cy="66675"/>
          </a:xfrm>
          <a:prstGeom prst="ellipse">
            <a:avLst/>
          </a:prstGeom>
          <a:solidFill>
            <a:srgbClr val="141414"/>
          </a:solidFill>
          <a:ln/>
        </p:spPr>
      </p:sp>
      <p:sp>
        <p:nvSpPr>
          <p:cNvPr id="7" name="Text 5"/>
          <p:cNvSpPr/>
          <p:nvPr/>
        </p:nvSpPr>
        <p:spPr>
          <a:xfrm>
            <a:off x="1077812" y="2564107"/>
            <a:ext cx="6636877" cy="28360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2400" dirty="0">
                <a:solidFill>
                  <a:srgbClr val="252525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Doppler shifts for both carrier and sidebands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877788" y="3225800"/>
            <a:ext cx="66675" cy="66675"/>
          </a:xfrm>
          <a:prstGeom prst="ellipse">
            <a:avLst/>
          </a:prstGeom>
          <a:solidFill>
            <a:srgbClr val="141414"/>
          </a:solidFill>
          <a:ln/>
        </p:spPr>
      </p:sp>
      <p:sp>
        <p:nvSpPr>
          <p:cNvPr id="9" name="Text 7"/>
          <p:cNvSpPr/>
          <p:nvPr/>
        </p:nvSpPr>
        <p:spPr>
          <a:xfrm>
            <a:off x="1077812" y="3045801"/>
            <a:ext cx="4574561" cy="28360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2400" dirty="0">
                <a:solidFill>
                  <a:srgbClr val="252525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Gravitational-wave injection</a:t>
            </a:r>
            <a:endParaRPr lang="en-US" sz="2400" dirty="0"/>
          </a:p>
        </p:txBody>
      </p:sp>
      <p:pic>
        <p:nvPicPr>
          <p:cNvPr id="10" name="Image 0" descr="preencoded.png"/>
          <p:cNvPicPr>
            <a:picLocks noChangeAspect="1"/>
          </p:cNvPicPr>
          <p:nvPr/>
        </p:nvPicPr>
        <p:blipFill>
          <a:blip r:embed="rId3"/>
          <a:srcRect l="-3543" r="-3543"/>
          <a:stretch/>
        </p:blipFill>
        <p:spPr>
          <a:xfrm>
            <a:off x="5824910" y="3280836"/>
            <a:ext cx="2890421" cy="3251757"/>
          </a:xfrm>
          <a:prstGeom prst="rect">
            <a:avLst/>
          </a:prstGeom>
        </p:spPr>
      </p:pic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rcRect t="-915" b="-915"/>
          <a:stretch/>
        </p:blipFill>
        <p:spPr>
          <a:xfrm>
            <a:off x="736040" y="4318907"/>
            <a:ext cx="5486400" cy="432048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914400" y="8538121"/>
            <a:ext cx="6437278" cy="2476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600" dirty="0">
                <a:solidFill>
                  <a:srgbClr val="8A8A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AMD Zynq™ UltraScale+™ RFSoC ZCU208 Evaluation Kit</a:t>
            </a:r>
            <a:endParaRPr lang="en-US" sz="1600" dirty="0"/>
          </a:p>
        </p:txBody>
      </p:sp>
      <p:pic>
        <p:nvPicPr>
          <p:cNvPr id="13" name="Image 2" descr="preencoded.png"/>
          <p:cNvPicPr>
            <a:picLocks noChangeAspect="1"/>
          </p:cNvPicPr>
          <p:nvPr/>
        </p:nvPicPr>
        <p:blipFill>
          <a:blip r:embed="rId5"/>
          <a:srcRect t="-719" b="-719"/>
          <a:stretch/>
        </p:blipFill>
        <p:spPr>
          <a:xfrm>
            <a:off x="8887867" y="2468761"/>
            <a:ext cx="9144000" cy="6377880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9665211" y="8898136"/>
            <a:ext cx="8650159" cy="2095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ctr">
              <a:buNone/>
            </a:pPr>
            <a:r>
              <a:rPr lang="en-US" sz="1600" dirty="0">
                <a:solidFill>
                  <a:srgbClr val="A0A0A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Intrinsic noise floor of one board (purple)</a:t>
            </a:r>
            <a:endParaRPr lang="en-US" sz="1600" dirty="0"/>
          </a:p>
        </p:txBody>
      </p:sp>
      <p:sp>
        <p:nvSpPr>
          <p:cNvPr id="15" name="Shape 10"/>
          <p:cNvSpPr/>
          <p:nvPr/>
        </p:nvSpPr>
        <p:spPr>
          <a:xfrm>
            <a:off x="877788" y="9591377"/>
            <a:ext cx="16532423" cy="9525"/>
          </a:xfrm>
          <a:prstGeom prst="rect">
            <a:avLst/>
          </a:prstGeom>
          <a:solidFill>
            <a:srgbClr val="ECECEC"/>
          </a:solidFill>
          <a:ln/>
        </p:spPr>
      </p:sp>
      <p:sp>
        <p:nvSpPr>
          <p:cNvPr id="16" name="Text 11"/>
          <p:cNvSpPr/>
          <p:nvPr/>
        </p:nvSpPr>
        <p:spPr>
          <a:xfrm>
            <a:off x="877788" y="9734252"/>
            <a:ext cx="2633127" cy="2000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125" kern="0" spc="34" dirty="0">
                <a:solidFill>
                  <a:srgbClr val="A6A6A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16th International LISA Symposium</a:t>
            </a:r>
            <a:endParaRPr lang="en-US" sz="1125" dirty="0"/>
          </a:p>
        </p:txBody>
      </p:sp>
      <p:sp>
        <p:nvSpPr>
          <p:cNvPr id="17" name="Text 12"/>
          <p:cNvSpPr/>
          <p:nvPr/>
        </p:nvSpPr>
        <p:spPr>
          <a:xfrm>
            <a:off x="15798105" y="9734252"/>
            <a:ext cx="1773317" cy="2000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125" kern="0" spc="34" dirty="0">
                <a:solidFill>
                  <a:srgbClr val="A6A6A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23 June 2026 · 09 / 16</a:t>
            </a:r>
            <a:endParaRPr lang="en-US" sz="1125" dirty="0"/>
          </a:p>
        </p:txBody>
      </p:sp>
      <p:sp>
        <p:nvSpPr>
          <p:cNvPr id="18" name="Shape 4">
            <a:extLst>
              <a:ext uri="{FF2B5EF4-FFF2-40B4-BE49-F238E27FC236}">
                <a16:creationId xmlns:a16="http://schemas.microsoft.com/office/drawing/2014/main" id="{B7FA015C-3486-5268-2AE3-F6EF060E876C}"/>
              </a:ext>
            </a:extLst>
          </p:cNvPr>
          <p:cNvSpPr/>
          <p:nvPr/>
        </p:nvSpPr>
        <p:spPr>
          <a:xfrm>
            <a:off x="877788" y="1648031"/>
            <a:ext cx="7200000" cy="45719"/>
          </a:xfrm>
          <a:prstGeom prst="rect">
            <a:avLst/>
          </a:prstGeom>
          <a:solidFill>
            <a:srgbClr val="ECECEC"/>
          </a:solidFill>
          <a:ln/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77788" y="555427"/>
            <a:ext cx="18185666" cy="2095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125" b="1" kern="0" spc="225" dirty="0">
                <a:solidFill>
                  <a:srgbClr val="9A9A9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LASER NOISE RESULTS</a:t>
            </a:r>
            <a:endParaRPr lang="en-US" sz="1125" dirty="0"/>
          </a:p>
        </p:txBody>
      </p:sp>
      <p:sp>
        <p:nvSpPr>
          <p:cNvPr id="3" name="Text 1"/>
          <p:cNvSpPr/>
          <p:nvPr/>
        </p:nvSpPr>
        <p:spPr>
          <a:xfrm>
            <a:off x="877788" y="822127"/>
            <a:ext cx="18185666" cy="4857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450" b="1" kern="0" spc="-52" dirty="0">
                <a:solidFill>
                  <a:srgbClr val="141414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PLL Lock of Far Spacecraft</a:t>
            </a:r>
            <a:endParaRPr lang="en-US" sz="3450" dirty="0"/>
          </a:p>
        </p:txBody>
      </p:sp>
      <p:sp>
        <p:nvSpPr>
          <p:cNvPr id="5" name="Text 3"/>
          <p:cNvSpPr/>
          <p:nvPr/>
        </p:nvSpPr>
        <p:spPr>
          <a:xfrm>
            <a:off x="898520" y="2057400"/>
            <a:ext cx="9102457" cy="6286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lnSpc>
                <a:spcPct val="135000"/>
              </a:lnSpc>
              <a:buNone/>
            </a:pPr>
            <a:r>
              <a:rPr lang="en-US" sz="2400" dirty="0">
                <a:solidFill>
                  <a:srgbClr val="252525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Photodetector readings are dominated by free-running laser frequency noise.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898520" y="3158934"/>
            <a:ext cx="7547214" cy="470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lnSpc>
                <a:spcPct val="135000"/>
              </a:lnSpc>
              <a:buNone/>
            </a:pPr>
            <a:r>
              <a:rPr lang="en-US" sz="2400" dirty="0">
                <a:solidFill>
                  <a:srgbClr val="252525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The mixed output is orders of magnitude lower.</a:t>
            </a:r>
            <a:endParaRPr lang="en-US" sz="2400" dirty="0"/>
          </a:p>
        </p:txBody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3"/>
          <a:srcRect t="-2908" b="-2908"/>
          <a:stretch/>
        </p:blipFill>
        <p:spPr>
          <a:xfrm>
            <a:off x="36463" y="5452021"/>
            <a:ext cx="8778180" cy="4011811"/>
          </a:xfrm>
          <a:prstGeom prst="rect">
            <a:avLst/>
          </a:prstGeom>
        </p:spPr>
      </p:pic>
      <p:sp>
        <p:nvSpPr>
          <p:cNvPr id="12" name="Text 6"/>
          <p:cNvSpPr/>
          <p:nvPr/>
        </p:nvSpPr>
        <p:spPr>
          <a:xfrm>
            <a:off x="9665211" y="8898136"/>
            <a:ext cx="8650159" cy="2095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ctr">
              <a:buNone/>
            </a:pPr>
            <a:r>
              <a:rPr lang="en-US" sz="1400" dirty="0">
                <a:solidFill>
                  <a:srgbClr val="A0A0A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Free-running photodetector noise vs. mixed output</a:t>
            </a:r>
            <a:endParaRPr lang="en-US" sz="1400" dirty="0"/>
          </a:p>
        </p:txBody>
      </p:sp>
      <p:sp>
        <p:nvSpPr>
          <p:cNvPr id="13" name="Shape 7"/>
          <p:cNvSpPr/>
          <p:nvPr/>
        </p:nvSpPr>
        <p:spPr>
          <a:xfrm>
            <a:off x="877788" y="9591377"/>
            <a:ext cx="16532423" cy="9525"/>
          </a:xfrm>
          <a:prstGeom prst="rect">
            <a:avLst/>
          </a:prstGeom>
          <a:solidFill>
            <a:srgbClr val="ECECEC"/>
          </a:solidFill>
          <a:ln/>
        </p:spPr>
      </p:sp>
      <p:sp>
        <p:nvSpPr>
          <p:cNvPr id="14" name="Text 8"/>
          <p:cNvSpPr/>
          <p:nvPr/>
        </p:nvSpPr>
        <p:spPr>
          <a:xfrm>
            <a:off x="877788" y="9734252"/>
            <a:ext cx="2633127" cy="2000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125" kern="0" spc="34" dirty="0">
                <a:solidFill>
                  <a:srgbClr val="A6A6A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16th International LISA Symposium</a:t>
            </a:r>
            <a:endParaRPr lang="en-US" sz="1125" dirty="0"/>
          </a:p>
        </p:txBody>
      </p:sp>
      <p:sp>
        <p:nvSpPr>
          <p:cNvPr id="15" name="Text 9"/>
          <p:cNvSpPr/>
          <p:nvPr/>
        </p:nvSpPr>
        <p:spPr>
          <a:xfrm>
            <a:off x="15798105" y="9734252"/>
            <a:ext cx="1773317" cy="2000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125" kern="0" spc="34" dirty="0">
                <a:solidFill>
                  <a:srgbClr val="A6A6A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23 June 2026 · 10 / 16</a:t>
            </a:r>
            <a:endParaRPr lang="en-US" sz="1125" dirty="0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B954DF51-94B2-2ED0-10CE-898C4F43004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25027" y="2686050"/>
            <a:ext cx="9169132" cy="6212087"/>
          </a:xfrm>
          <a:prstGeom prst="rect">
            <a:avLst/>
          </a:prstGeom>
        </p:spPr>
      </p:pic>
      <p:pic>
        <p:nvPicPr>
          <p:cNvPr id="19" name="Graphic 18">
            <a:extLst>
              <a:ext uri="{FF2B5EF4-FFF2-40B4-BE49-F238E27FC236}">
                <a16:creationId xmlns:a16="http://schemas.microsoft.com/office/drawing/2014/main" id="{497E3155-537D-D3FC-3190-D1318C1BADDF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93841" y="5681859"/>
            <a:ext cx="2714580" cy="435674"/>
          </a:xfrm>
          <a:prstGeom prst="rect">
            <a:avLst/>
          </a:prstGeom>
        </p:spPr>
      </p:pic>
      <p:pic>
        <p:nvPicPr>
          <p:cNvPr id="24" name="Graphic 23">
            <a:extLst>
              <a:ext uri="{FF2B5EF4-FFF2-40B4-BE49-F238E27FC236}">
                <a16:creationId xmlns:a16="http://schemas.microsoft.com/office/drawing/2014/main" id="{353F65C7-070D-26B6-1080-5949ACE71CA1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100064" y="8807845"/>
            <a:ext cx="2714579" cy="435673"/>
          </a:xfrm>
          <a:prstGeom prst="rect">
            <a:avLst/>
          </a:prstGeom>
        </p:spPr>
      </p:pic>
      <p:pic>
        <p:nvPicPr>
          <p:cNvPr id="26" name="Graphic 25">
            <a:extLst>
              <a:ext uri="{FF2B5EF4-FFF2-40B4-BE49-F238E27FC236}">
                <a16:creationId xmlns:a16="http://schemas.microsoft.com/office/drawing/2014/main" id="{B402B887-94F3-2117-BDB8-FEF7E7C5A332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898520" y="3870502"/>
            <a:ext cx="12103615" cy="1038594"/>
          </a:xfrm>
          <a:prstGeom prst="rect">
            <a:avLst/>
          </a:prstGeom>
        </p:spPr>
      </p:pic>
      <p:sp>
        <p:nvSpPr>
          <p:cNvPr id="27" name="Shape 4">
            <a:extLst>
              <a:ext uri="{FF2B5EF4-FFF2-40B4-BE49-F238E27FC236}">
                <a16:creationId xmlns:a16="http://schemas.microsoft.com/office/drawing/2014/main" id="{0A2A94FF-024B-52A9-5F5F-7187DD5E8F9F}"/>
              </a:ext>
            </a:extLst>
          </p:cNvPr>
          <p:cNvSpPr/>
          <p:nvPr/>
        </p:nvSpPr>
        <p:spPr>
          <a:xfrm>
            <a:off x="877788" y="1648031"/>
            <a:ext cx="7200000" cy="45719"/>
          </a:xfrm>
          <a:prstGeom prst="rect">
            <a:avLst/>
          </a:prstGeom>
          <a:solidFill>
            <a:srgbClr val="ECECEC"/>
          </a:solidFill>
          <a:ln/>
        </p:spPr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77788" y="555427"/>
            <a:ext cx="18185666" cy="2095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125" b="1" kern="0" spc="225" dirty="0">
                <a:solidFill>
                  <a:srgbClr val="9A9A9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LASER NOISE RESULTS</a:t>
            </a:r>
            <a:endParaRPr lang="en-US" sz="1125" dirty="0"/>
          </a:p>
        </p:txBody>
      </p:sp>
      <p:sp>
        <p:nvSpPr>
          <p:cNvPr id="3" name="Text 1"/>
          <p:cNvSpPr/>
          <p:nvPr/>
        </p:nvSpPr>
        <p:spPr>
          <a:xfrm>
            <a:off x="877788" y="822127"/>
            <a:ext cx="18185666" cy="4857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450" b="1" kern="0" spc="-52" dirty="0">
                <a:solidFill>
                  <a:srgbClr val="141414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Recovering the Transfer Function</a:t>
            </a:r>
            <a:endParaRPr lang="en-US" sz="3450" dirty="0"/>
          </a:p>
        </p:txBody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 r:embed="rId3"/>
          <a:srcRect t="-2908" b="-2908"/>
          <a:stretch/>
        </p:blipFill>
        <p:spPr>
          <a:xfrm>
            <a:off x="36463" y="5452021"/>
            <a:ext cx="8778180" cy="4011811"/>
          </a:xfrm>
          <a:prstGeom prst="rect">
            <a:avLst/>
          </a:prstGeom>
        </p:spPr>
      </p:pic>
      <p:pic>
        <p:nvPicPr>
          <p:cNvPr id="9" name="Image 3" descr="preencoded.png"/>
          <p:cNvPicPr>
            <a:picLocks noChangeAspect="1"/>
          </p:cNvPicPr>
          <p:nvPr/>
        </p:nvPicPr>
        <p:blipFill>
          <a:blip r:embed="rId4"/>
          <a:srcRect t="-80" b="-80"/>
          <a:stretch/>
        </p:blipFill>
        <p:spPr>
          <a:xfrm>
            <a:off x="8595271" y="2571750"/>
            <a:ext cx="9326761" cy="6377880"/>
          </a:xfrm>
          <a:prstGeom prst="rect">
            <a:avLst/>
          </a:prstGeom>
        </p:spPr>
      </p:pic>
      <p:sp>
        <p:nvSpPr>
          <p:cNvPr id="10" name="Text 4"/>
          <p:cNvSpPr/>
          <p:nvPr/>
        </p:nvSpPr>
        <p:spPr>
          <a:xfrm>
            <a:off x="9473156" y="8949630"/>
            <a:ext cx="8851359" cy="2095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sz="1200" dirty="0">
                <a:solidFill>
                  <a:srgbClr val="A0A0A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Recovered one-way laser-noise transfer function</a:t>
            </a:r>
            <a:endParaRPr lang="en-US" sz="1200" dirty="0"/>
          </a:p>
        </p:txBody>
      </p:sp>
      <p:sp>
        <p:nvSpPr>
          <p:cNvPr id="11" name="Shape 5"/>
          <p:cNvSpPr/>
          <p:nvPr/>
        </p:nvSpPr>
        <p:spPr>
          <a:xfrm>
            <a:off x="877788" y="9591377"/>
            <a:ext cx="16532423" cy="9525"/>
          </a:xfrm>
          <a:prstGeom prst="rect">
            <a:avLst/>
          </a:prstGeom>
          <a:solidFill>
            <a:srgbClr val="ECECEC"/>
          </a:solidFill>
          <a:ln/>
        </p:spPr>
      </p:sp>
      <p:sp>
        <p:nvSpPr>
          <p:cNvPr id="12" name="Text 6"/>
          <p:cNvSpPr/>
          <p:nvPr/>
        </p:nvSpPr>
        <p:spPr>
          <a:xfrm>
            <a:off x="877788" y="9734252"/>
            <a:ext cx="2633127" cy="2000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125" kern="0" spc="34" dirty="0">
                <a:solidFill>
                  <a:srgbClr val="A6A6A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16th International LISA Symposium</a:t>
            </a:r>
            <a:endParaRPr lang="en-US" sz="1125" dirty="0"/>
          </a:p>
        </p:txBody>
      </p:sp>
      <p:sp>
        <p:nvSpPr>
          <p:cNvPr id="13" name="Text 7"/>
          <p:cNvSpPr/>
          <p:nvPr/>
        </p:nvSpPr>
        <p:spPr>
          <a:xfrm>
            <a:off x="15798105" y="9734252"/>
            <a:ext cx="1773317" cy="2000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125" kern="0" spc="34" dirty="0">
                <a:solidFill>
                  <a:srgbClr val="A6A6A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23 June 2026 · 11 / 16</a:t>
            </a:r>
            <a:endParaRPr lang="en-US" sz="1125" dirty="0"/>
          </a:p>
        </p:txBody>
      </p:sp>
      <p:pic>
        <p:nvPicPr>
          <p:cNvPr id="14" name="Graphic 13">
            <a:extLst>
              <a:ext uri="{FF2B5EF4-FFF2-40B4-BE49-F238E27FC236}">
                <a16:creationId xmlns:a16="http://schemas.microsoft.com/office/drawing/2014/main" id="{310F34BD-67DD-85C8-D0FB-764D1FD87171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93841" y="5681859"/>
            <a:ext cx="2714580" cy="435674"/>
          </a:xfrm>
          <a:prstGeom prst="rect">
            <a:avLst/>
          </a:prstGeom>
        </p:spPr>
      </p:pic>
      <p:pic>
        <p:nvPicPr>
          <p:cNvPr id="15" name="Graphic 14">
            <a:extLst>
              <a:ext uri="{FF2B5EF4-FFF2-40B4-BE49-F238E27FC236}">
                <a16:creationId xmlns:a16="http://schemas.microsoft.com/office/drawing/2014/main" id="{A2D6E5AD-FBB4-A9DF-0EAE-FCE503FB47A5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100064" y="8807845"/>
            <a:ext cx="2714579" cy="435673"/>
          </a:xfrm>
          <a:prstGeom prst="rect">
            <a:avLst/>
          </a:prstGeom>
        </p:spPr>
      </p:pic>
      <p:sp>
        <p:nvSpPr>
          <p:cNvPr id="19" name="Text 3">
            <a:extLst>
              <a:ext uri="{FF2B5EF4-FFF2-40B4-BE49-F238E27FC236}">
                <a16:creationId xmlns:a16="http://schemas.microsoft.com/office/drawing/2014/main" id="{6D2B2A5B-1A6E-BBD7-1059-63F18EF37D25}"/>
              </a:ext>
            </a:extLst>
          </p:cNvPr>
          <p:cNvSpPr/>
          <p:nvPr/>
        </p:nvSpPr>
        <p:spPr>
          <a:xfrm>
            <a:off x="880594" y="2129116"/>
            <a:ext cx="9102457" cy="6286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r>
              <a:rPr lang="en-US" sz="2400" dirty="0">
                <a:solidFill>
                  <a:srgbClr val="1A1A1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We can recover a LISA-like one-way laser-noise transfer function.</a:t>
            </a:r>
            <a:endParaRPr lang="en-US" sz="2400" dirty="0"/>
          </a:p>
        </p:txBody>
      </p:sp>
      <p:pic>
        <p:nvPicPr>
          <p:cNvPr id="23" name="Graphic 22">
            <a:extLst>
              <a:ext uri="{FF2B5EF4-FFF2-40B4-BE49-F238E27FC236}">
                <a16:creationId xmlns:a16="http://schemas.microsoft.com/office/drawing/2014/main" id="{5274CFEB-4447-4A39-9E5D-FEB77392FDD8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836821" y="3747247"/>
            <a:ext cx="5625546" cy="1087732"/>
          </a:xfrm>
          <a:prstGeom prst="rect">
            <a:avLst/>
          </a:prstGeom>
        </p:spPr>
      </p:pic>
      <p:sp>
        <p:nvSpPr>
          <p:cNvPr id="25" name="Shape 4">
            <a:extLst>
              <a:ext uri="{FF2B5EF4-FFF2-40B4-BE49-F238E27FC236}">
                <a16:creationId xmlns:a16="http://schemas.microsoft.com/office/drawing/2014/main" id="{6784980C-C4F1-9AA7-4DFF-8CDAD0FCE30D}"/>
              </a:ext>
            </a:extLst>
          </p:cNvPr>
          <p:cNvSpPr/>
          <p:nvPr/>
        </p:nvSpPr>
        <p:spPr>
          <a:xfrm>
            <a:off x="877788" y="1648031"/>
            <a:ext cx="7200000" cy="45719"/>
          </a:xfrm>
          <a:prstGeom prst="rect">
            <a:avLst/>
          </a:prstGeom>
          <a:solidFill>
            <a:srgbClr val="ECECEC"/>
          </a:solidFill>
          <a:ln/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Picture 19">
            <a:extLst>
              <a:ext uri="{FF2B5EF4-FFF2-40B4-BE49-F238E27FC236}">
                <a16:creationId xmlns:a16="http://schemas.microsoft.com/office/drawing/2014/main" id="{64127E64-05E0-72E9-9B71-34E8FBDA4F6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422"/>
          <a:stretch>
            <a:fillRect/>
          </a:stretch>
        </p:blipFill>
        <p:spPr>
          <a:xfrm>
            <a:off x="5185992" y="3179905"/>
            <a:ext cx="12961934" cy="5765045"/>
          </a:xfrm>
          <a:prstGeom prst="rect">
            <a:avLst/>
          </a:prstGeom>
        </p:spPr>
      </p:pic>
      <p:sp>
        <p:nvSpPr>
          <p:cNvPr id="2" name="Text 0"/>
          <p:cNvSpPr/>
          <p:nvPr/>
        </p:nvSpPr>
        <p:spPr>
          <a:xfrm>
            <a:off x="877788" y="555427"/>
            <a:ext cx="18185666" cy="2095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125" b="1" kern="0" spc="225" dirty="0">
                <a:solidFill>
                  <a:srgbClr val="9A9A9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LASER NOISE RESULTS</a:t>
            </a:r>
            <a:endParaRPr lang="en-US" sz="1125" dirty="0"/>
          </a:p>
        </p:txBody>
      </p:sp>
      <p:sp>
        <p:nvSpPr>
          <p:cNvPr id="3" name="Text 1"/>
          <p:cNvSpPr/>
          <p:nvPr/>
        </p:nvSpPr>
        <p:spPr>
          <a:xfrm>
            <a:off x="877788" y="822127"/>
            <a:ext cx="18185666" cy="4857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450" b="1" kern="0" spc="-52" dirty="0">
                <a:solidFill>
                  <a:srgbClr val="141414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Tests of TDI so Far</a:t>
            </a:r>
            <a:endParaRPr lang="en-US" sz="3450" dirty="0"/>
          </a:p>
        </p:txBody>
      </p:sp>
      <p:sp>
        <p:nvSpPr>
          <p:cNvPr id="9" name="Text 5"/>
          <p:cNvSpPr/>
          <p:nvPr/>
        </p:nvSpPr>
        <p:spPr>
          <a:xfrm>
            <a:off x="13311507" y="9097351"/>
            <a:ext cx="3373256" cy="50355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buNone/>
            </a:pPr>
            <a:r>
              <a:rPr lang="en-US" dirty="0">
                <a:solidFill>
                  <a:srgbClr val="A0A0A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Credit: R. Ferguson </a:t>
            </a:r>
            <a:r>
              <a:rPr lang="en-US" i="1" dirty="0">
                <a:solidFill>
                  <a:srgbClr val="A0A0A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et al</a:t>
            </a:r>
            <a:r>
              <a:rPr lang="en-US" dirty="0">
                <a:solidFill>
                  <a:srgbClr val="A0A0A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. (2026)</a:t>
            </a:r>
            <a:endParaRPr lang="en-US" dirty="0"/>
          </a:p>
        </p:txBody>
      </p:sp>
      <p:sp>
        <p:nvSpPr>
          <p:cNvPr id="10" name="Shape 6"/>
          <p:cNvSpPr/>
          <p:nvPr/>
        </p:nvSpPr>
        <p:spPr>
          <a:xfrm>
            <a:off x="877788" y="9591377"/>
            <a:ext cx="16532423" cy="9525"/>
          </a:xfrm>
          <a:prstGeom prst="rect">
            <a:avLst/>
          </a:prstGeom>
          <a:solidFill>
            <a:srgbClr val="ECECEC"/>
          </a:solidFill>
          <a:ln/>
        </p:spPr>
      </p:sp>
      <p:sp>
        <p:nvSpPr>
          <p:cNvPr id="11" name="Text 7"/>
          <p:cNvSpPr/>
          <p:nvPr/>
        </p:nvSpPr>
        <p:spPr>
          <a:xfrm>
            <a:off x="877788" y="9734252"/>
            <a:ext cx="2633127" cy="2000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125" kern="0" spc="34" dirty="0">
                <a:solidFill>
                  <a:srgbClr val="A6A6A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16th International LISA Symposium</a:t>
            </a:r>
            <a:endParaRPr lang="en-US" sz="1125" dirty="0"/>
          </a:p>
        </p:txBody>
      </p:sp>
      <p:sp>
        <p:nvSpPr>
          <p:cNvPr id="12" name="Text 8"/>
          <p:cNvSpPr/>
          <p:nvPr/>
        </p:nvSpPr>
        <p:spPr>
          <a:xfrm>
            <a:off x="15798105" y="9734252"/>
            <a:ext cx="1773317" cy="2000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125" kern="0" spc="34" dirty="0">
                <a:solidFill>
                  <a:srgbClr val="A6A6A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23 June 2026 · 12 / 16</a:t>
            </a:r>
            <a:endParaRPr lang="en-US" sz="1125" dirty="0"/>
          </a:p>
        </p:txBody>
      </p:sp>
      <p:sp>
        <p:nvSpPr>
          <p:cNvPr id="6" name="Text 4"/>
          <p:cNvSpPr/>
          <p:nvPr/>
        </p:nvSpPr>
        <p:spPr>
          <a:xfrm>
            <a:off x="527300" y="8502038"/>
            <a:ext cx="7262165" cy="77182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lnSpc>
                <a:spcPct val="145000"/>
              </a:lnSpc>
              <a:buNone/>
            </a:pPr>
            <a:endParaRPr lang="en-US" sz="2000" dirty="0"/>
          </a:p>
        </p:txBody>
      </p:sp>
      <p:pic>
        <p:nvPicPr>
          <p:cNvPr id="14" name="Graphic 13">
            <a:extLst>
              <a:ext uri="{FF2B5EF4-FFF2-40B4-BE49-F238E27FC236}">
                <a16:creationId xmlns:a16="http://schemas.microsoft.com/office/drawing/2014/main" id="{8BD7B5C4-8A3D-12A9-042F-E4EDD070027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594489" y="2357546"/>
            <a:ext cx="7815722" cy="793784"/>
          </a:xfrm>
          <a:prstGeom prst="rect">
            <a:avLst/>
          </a:prstGeom>
        </p:spPr>
      </p:pic>
      <p:sp>
        <p:nvSpPr>
          <p:cNvPr id="15" name="Text 2">
            <a:extLst>
              <a:ext uri="{FF2B5EF4-FFF2-40B4-BE49-F238E27FC236}">
                <a16:creationId xmlns:a16="http://schemas.microsoft.com/office/drawing/2014/main" id="{0762D40D-AE7F-268C-AAC8-E9643BFA01BF}"/>
              </a:ext>
            </a:extLst>
          </p:cNvPr>
          <p:cNvSpPr/>
          <p:nvPr/>
        </p:nvSpPr>
        <p:spPr>
          <a:xfrm>
            <a:off x="877788" y="2078106"/>
            <a:ext cx="8851359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>
              <a:lnSpc>
                <a:spcPct val="145000"/>
              </a:lnSpc>
            </a:pPr>
            <a:r>
              <a:rPr lang="en-US" sz="2400" dirty="0">
                <a:solidFill>
                  <a:schemeClr val="tx1">
                    <a:lumMod val="85000"/>
                    <a:lumOff val="15000"/>
                  </a:schemeClr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Fully electronic testbed can already demonstrate noise suppression with TDI</a:t>
            </a:r>
            <a:endParaRPr lang="en-US" sz="2400" dirty="0">
              <a:solidFill>
                <a:schemeClr val="tx1">
                  <a:lumMod val="85000"/>
                  <a:lumOff val="15000"/>
                </a:schemeClr>
              </a:solidFill>
            </a:endParaRPr>
          </a:p>
        </p:txBody>
      </p:sp>
      <p:sp>
        <p:nvSpPr>
          <p:cNvPr id="16" name="Text 3">
            <a:extLst>
              <a:ext uri="{FF2B5EF4-FFF2-40B4-BE49-F238E27FC236}">
                <a16:creationId xmlns:a16="http://schemas.microsoft.com/office/drawing/2014/main" id="{AD2558AD-AD7F-7BD4-A4B4-C6CB852D1A12}"/>
              </a:ext>
            </a:extLst>
          </p:cNvPr>
          <p:cNvSpPr/>
          <p:nvPr/>
        </p:nvSpPr>
        <p:spPr>
          <a:xfrm>
            <a:off x="877789" y="3332029"/>
            <a:ext cx="5092705" cy="723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>
              <a:lnSpc>
                <a:spcPct val="145000"/>
              </a:lnSpc>
            </a:pPr>
            <a:r>
              <a:rPr lang="en-US" sz="2400" dirty="0">
                <a:solidFill>
                  <a:schemeClr val="tx1">
                    <a:lumMod val="85000"/>
                    <a:lumOff val="15000"/>
                  </a:schemeClr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Static TDI has been demonstrated — the next step is to add the clock noise correction.</a:t>
            </a:r>
            <a:endParaRPr lang="en-US" sz="2400" dirty="0">
              <a:solidFill>
                <a:schemeClr val="tx1">
                  <a:lumMod val="85000"/>
                  <a:lumOff val="15000"/>
                </a:schemeClr>
              </a:solidFill>
            </a:endParaRPr>
          </a:p>
        </p:txBody>
      </p:sp>
      <p:sp>
        <p:nvSpPr>
          <p:cNvPr id="18" name="Shape 4">
            <a:extLst>
              <a:ext uri="{FF2B5EF4-FFF2-40B4-BE49-F238E27FC236}">
                <a16:creationId xmlns:a16="http://schemas.microsoft.com/office/drawing/2014/main" id="{41C87290-51B9-2D6E-B143-156EDEB5D971}"/>
              </a:ext>
            </a:extLst>
          </p:cNvPr>
          <p:cNvSpPr/>
          <p:nvPr/>
        </p:nvSpPr>
        <p:spPr>
          <a:xfrm>
            <a:off x="877788" y="1648031"/>
            <a:ext cx="7200000" cy="45719"/>
          </a:xfrm>
          <a:prstGeom prst="rect">
            <a:avLst/>
          </a:prstGeom>
          <a:solidFill>
            <a:srgbClr val="ECECEC"/>
          </a:solidFill>
          <a:ln/>
        </p:spPr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77788" y="555427"/>
            <a:ext cx="18185666" cy="2095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125" b="1" kern="0" spc="225" dirty="0">
                <a:solidFill>
                  <a:srgbClr val="9A9A9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CLOCK-TONE TRANSFER</a:t>
            </a:r>
            <a:endParaRPr lang="en-US" sz="1125" dirty="0"/>
          </a:p>
        </p:txBody>
      </p:sp>
      <p:sp>
        <p:nvSpPr>
          <p:cNvPr id="3" name="Text 1"/>
          <p:cNvSpPr/>
          <p:nvPr/>
        </p:nvSpPr>
        <p:spPr>
          <a:xfrm>
            <a:off x="877788" y="822127"/>
            <a:ext cx="18185666" cy="4857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450" b="1" kern="0" spc="-52" dirty="0">
                <a:solidFill>
                  <a:srgbClr val="141414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Sidebands in the Lab</a:t>
            </a:r>
            <a:endParaRPr lang="en-US" sz="345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rcRect t="-75" b="-75"/>
          <a:stretch/>
        </p:blipFill>
        <p:spPr>
          <a:xfrm>
            <a:off x="786259" y="1851571"/>
            <a:ext cx="9601200" cy="2684859"/>
          </a:xfrm>
          <a:prstGeom prst="rect">
            <a:avLst/>
          </a:prstGeom>
        </p:spPr>
      </p:pic>
      <p:pic>
        <p:nvPicPr>
          <p:cNvPr id="6" name="Image 2" descr="preencoded.png"/>
          <p:cNvPicPr>
            <a:picLocks noChangeAspect="1"/>
          </p:cNvPicPr>
          <p:nvPr/>
        </p:nvPicPr>
        <p:blipFill>
          <a:blip r:embed="rId4"/>
          <a:srcRect l="-6" r="-6"/>
          <a:stretch/>
        </p:blipFill>
        <p:spPr>
          <a:xfrm>
            <a:off x="914400" y="5472559"/>
            <a:ext cx="9966871" cy="3497461"/>
          </a:xfrm>
          <a:prstGeom prst="rect">
            <a:avLst/>
          </a:prstGeom>
        </p:spPr>
      </p:pic>
      <p:sp>
        <p:nvSpPr>
          <p:cNvPr id="8" name="Text 2"/>
          <p:cNvSpPr/>
          <p:nvPr/>
        </p:nvSpPr>
        <p:spPr>
          <a:xfrm>
            <a:off x="14996071" y="3343275"/>
            <a:ext cx="3218557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141414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LISA arm</a:t>
            </a:r>
            <a:endParaRPr lang="en-US" sz="1800" dirty="0"/>
          </a:p>
        </p:txBody>
      </p:sp>
      <p:sp>
        <p:nvSpPr>
          <p:cNvPr id="9" name="Text 3"/>
          <p:cNvSpPr/>
          <p:nvPr/>
        </p:nvSpPr>
        <p:spPr>
          <a:xfrm>
            <a:off x="14996071" y="3638550"/>
            <a:ext cx="3218557" cy="2095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200" dirty="0">
                <a:solidFill>
                  <a:srgbClr val="9A9A9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In-flight link</a:t>
            </a:r>
            <a:endParaRPr lang="en-US" sz="1200" dirty="0"/>
          </a:p>
        </p:txBody>
      </p:sp>
      <p:sp>
        <p:nvSpPr>
          <p:cNvPr id="10" name="Text 4"/>
          <p:cNvSpPr/>
          <p:nvPr/>
        </p:nvSpPr>
        <p:spPr>
          <a:xfrm>
            <a:off x="14996071" y="7097911"/>
            <a:ext cx="3218557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141414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Testbed arm</a:t>
            </a:r>
            <a:endParaRPr lang="en-US" sz="1800" dirty="0"/>
          </a:p>
        </p:txBody>
      </p:sp>
      <p:sp>
        <p:nvSpPr>
          <p:cNvPr id="11" name="Text 5"/>
          <p:cNvSpPr/>
          <p:nvPr/>
        </p:nvSpPr>
        <p:spPr>
          <a:xfrm>
            <a:off x="14996071" y="7393186"/>
            <a:ext cx="3218557" cy="2095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200" dirty="0">
                <a:solidFill>
                  <a:srgbClr val="9A9A9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Benchtop analogue</a:t>
            </a:r>
            <a:endParaRPr lang="en-US" sz="1200" dirty="0"/>
          </a:p>
        </p:txBody>
      </p:sp>
      <p:sp>
        <p:nvSpPr>
          <p:cNvPr id="12" name="Shape 6"/>
          <p:cNvSpPr/>
          <p:nvPr/>
        </p:nvSpPr>
        <p:spPr>
          <a:xfrm>
            <a:off x="877788" y="9591377"/>
            <a:ext cx="16532423" cy="9525"/>
          </a:xfrm>
          <a:prstGeom prst="rect">
            <a:avLst/>
          </a:prstGeom>
          <a:solidFill>
            <a:srgbClr val="ECECEC"/>
          </a:solidFill>
          <a:ln/>
        </p:spPr>
      </p:sp>
      <p:sp>
        <p:nvSpPr>
          <p:cNvPr id="13" name="Text 7"/>
          <p:cNvSpPr/>
          <p:nvPr/>
        </p:nvSpPr>
        <p:spPr>
          <a:xfrm>
            <a:off x="877788" y="9734252"/>
            <a:ext cx="2633127" cy="2000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125" kern="0" spc="34" dirty="0">
                <a:solidFill>
                  <a:srgbClr val="A6A6A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16th International LISA Symposium</a:t>
            </a:r>
            <a:endParaRPr lang="en-US" sz="1125" dirty="0"/>
          </a:p>
        </p:txBody>
      </p:sp>
      <p:sp>
        <p:nvSpPr>
          <p:cNvPr id="14" name="Text 8"/>
          <p:cNvSpPr/>
          <p:nvPr/>
        </p:nvSpPr>
        <p:spPr>
          <a:xfrm>
            <a:off x="15798105" y="9734252"/>
            <a:ext cx="1773317" cy="2000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125" kern="0" spc="34" dirty="0">
                <a:solidFill>
                  <a:srgbClr val="A6A6A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23 June 2026 · 13 / 16</a:t>
            </a:r>
            <a:endParaRPr lang="en-US" sz="1125" dirty="0"/>
          </a:p>
        </p:txBody>
      </p:sp>
      <p:pic>
        <p:nvPicPr>
          <p:cNvPr id="16" name="Graphic 15">
            <a:extLst>
              <a:ext uri="{FF2B5EF4-FFF2-40B4-BE49-F238E27FC236}">
                <a16:creationId xmlns:a16="http://schemas.microsoft.com/office/drawing/2014/main" id="{9FC99449-5110-2A54-FC17-35CB1935BAC7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rcRect r="46966"/>
          <a:stretch>
            <a:fillRect/>
          </a:stretch>
        </p:blipFill>
        <p:spPr>
          <a:xfrm>
            <a:off x="10700948" y="3667943"/>
            <a:ext cx="6198641" cy="1851571"/>
          </a:xfrm>
          <a:prstGeom prst="rect">
            <a:avLst/>
          </a:prstGeom>
        </p:spPr>
      </p:pic>
      <p:pic>
        <p:nvPicPr>
          <p:cNvPr id="18" name="Graphic 17">
            <a:extLst>
              <a:ext uri="{FF2B5EF4-FFF2-40B4-BE49-F238E27FC236}">
                <a16:creationId xmlns:a16="http://schemas.microsoft.com/office/drawing/2014/main" id="{13DF5016-2B9E-8507-8D9C-34B5E1AD7BAB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rcRect t="537" r="26754"/>
          <a:stretch>
            <a:fillRect/>
          </a:stretch>
        </p:blipFill>
        <p:spPr>
          <a:xfrm>
            <a:off x="9143999" y="7602736"/>
            <a:ext cx="9044978" cy="1703933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rcRect t="-7079" b="-7079"/>
          <a:stretch/>
        </p:blipFill>
        <p:spPr>
          <a:xfrm>
            <a:off x="8705091" y="2556593"/>
            <a:ext cx="8778180" cy="6377880"/>
          </a:xfrm>
          <a:prstGeom prst="rect">
            <a:avLst/>
          </a:prstGeom>
        </p:spPr>
      </p:pic>
      <p:sp>
        <p:nvSpPr>
          <p:cNvPr id="2" name="Text 0"/>
          <p:cNvSpPr/>
          <p:nvPr/>
        </p:nvSpPr>
        <p:spPr>
          <a:xfrm>
            <a:off x="877788" y="555427"/>
            <a:ext cx="18185666" cy="2095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125" b="1" kern="0" spc="225" dirty="0">
                <a:solidFill>
                  <a:srgbClr val="9A9A9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CLOCK-TONE TRANSFER</a:t>
            </a:r>
            <a:endParaRPr lang="en-US" sz="1125" dirty="0"/>
          </a:p>
        </p:txBody>
      </p:sp>
      <p:sp>
        <p:nvSpPr>
          <p:cNvPr id="3" name="Text 1"/>
          <p:cNvSpPr/>
          <p:nvPr/>
        </p:nvSpPr>
        <p:spPr>
          <a:xfrm>
            <a:off x="877788" y="822127"/>
            <a:ext cx="18185666" cy="4857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450" b="1" kern="0" spc="-52" dirty="0">
                <a:solidFill>
                  <a:srgbClr val="141414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Clock Tone Transfer Limitation</a:t>
            </a:r>
            <a:endParaRPr lang="en-US" sz="3450" dirty="0"/>
          </a:p>
        </p:txBody>
      </p:sp>
      <p:sp>
        <p:nvSpPr>
          <p:cNvPr id="4" name="Text 2"/>
          <p:cNvSpPr/>
          <p:nvPr/>
        </p:nvSpPr>
        <p:spPr>
          <a:xfrm>
            <a:off x="877788" y="2042243"/>
            <a:ext cx="8851359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2400" dirty="0">
                <a:solidFill>
                  <a:srgbClr val="22222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Modulator noise remains too loud if MHz modulation is used.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877788" y="2830012"/>
            <a:ext cx="8288091" cy="723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2400" dirty="0">
                <a:solidFill>
                  <a:srgbClr val="22222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The RF sideband phase-noise requirement should be adjusted for the modulating frequency used.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877788" y="4122042"/>
            <a:ext cx="7827303" cy="647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2400" dirty="0">
                <a:solidFill>
                  <a:srgbClr val="1A1A1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This limitation needs a solution before the clock noise removal can be done with LISA-like performance.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8603225" y="8791598"/>
            <a:ext cx="9655999" cy="2095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ctr">
              <a:buNone/>
            </a:pPr>
            <a:r>
              <a:rPr lang="en-US" sz="1400" dirty="0">
                <a:solidFill>
                  <a:srgbClr val="A0A0A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Modulator phase noise against the requirement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877788" y="9591377"/>
            <a:ext cx="16532423" cy="9525"/>
          </a:xfrm>
          <a:prstGeom prst="rect">
            <a:avLst/>
          </a:prstGeom>
          <a:solidFill>
            <a:srgbClr val="ECECEC"/>
          </a:solidFill>
          <a:ln/>
        </p:spPr>
      </p:sp>
      <p:sp>
        <p:nvSpPr>
          <p:cNvPr id="11" name="Text 8"/>
          <p:cNvSpPr/>
          <p:nvPr/>
        </p:nvSpPr>
        <p:spPr>
          <a:xfrm>
            <a:off x="877788" y="9734252"/>
            <a:ext cx="2633127" cy="2000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125" kern="0" spc="34" dirty="0">
                <a:solidFill>
                  <a:srgbClr val="A6A6A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16th International LISA Symposium</a:t>
            </a:r>
            <a:endParaRPr lang="en-US" sz="1125" dirty="0"/>
          </a:p>
        </p:txBody>
      </p:sp>
      <p:sp>
        <p:nvSpPr>
          <p:cNvPr id="12" name="Text 9"/>
          <p:cNvSpPr/>
          <p:nvPr/>
        </p:nvSpPr>
        <p:spPr>
          <a:xfrm>
            <a:off x="15798105" y="9734252"/>
            <a:ext cx="1773317" cy="2000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125" kern="0" spc="34" dirty="0">
                <a:solidFill>
                  <a:srgbClr val="A6A6A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23 June 2026 · 14 / 16</a:t>
            </a:r>
            <a:endParaRPr lang="en-US" sz="1125" dirty="0"/>
          </a:p>
        </p:txBody>
      </p:sp>
      <p:sp>
        <p:nvSpPr>
          <p:cNvPr id="13" name="Shape 4">
            <a:extLst>
              <a:ext uri="{FF2B5EF4-FFF2-40B4-BE49-F238E27FC236}">
                <a16:creationId xmlns:a16="http://schemas.microsoft.com/office/drawing/2014/main" id="{A94C83FC-3D13-1A0A-F100-2168CF7FAEB6}"/>
              </a:ext>
            </a:extLst>
          </p:cNvPr>
          <p:cNvSpPr/>
          <p:nvPr/>
        </p:nvSpPr>
        <p:spPr>
          <a:xfrm>
            <a:off x="877788" y="1683884"/>
            <a:ext cx="7200000" cy="45719"/>
          </a:xfrm>
          <a:prstGeom prst="rect">
            <a:avLst/>
          </a:prstGeom>
          <a:solidFill>
            <a:srgbClr val="ECECEC"/>
          </a:solidFill>
          <a:ln/>
        </p:spPr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76300" y="571500"/>
            <a:ext cx="18188940" cy="2095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125" b="1" kern="0" spc="225" dirty="0">
                <a:solidFill>
                  <a:srgbClr val="9A9A9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CLOCK-TONE TRANSFER</a:t>
            </a:r>
            <a:endParaRPr lang="en-US" sz="1125" dirty="0"/>
          </a:p>
        </p:txBody>
      </p:sp>
      <p:sp>
        <p:nvSpPr>
          <p:cNvPr id="3" name="Text 1"/>
          <p:cNvSpPr/>
          <p:nvPr/>
        </p:nvSpPr>
        <p:spPr>
          <a:xfrm>
            <a:off x="876300" y="847725"/>
            <a:ext cx="18188940" cy="4857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450" b="1" kern="0" spc="-52" dirty="0">
                <a:solidFill>
                  <a:srgbClr val="141414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GHz Modulation</a:t>
            </a:r>
            <a:endParaRPr lang="en-US" sz="3450" dirty="0"/>
          </a:p>
        </p:txBody>
      </p:sp>
      <p:sp>
        <p:nvSpPr>
          <p:cNvPr id="5" name="Text 3"/>
          <p:cNvSpPr/>
          <p:nvPr/>
        </p:nvSpPr>
        <p:spPr>
          <a:xfrm>
            <a:off x="876300" y="3283622"/>
            <a:ext cx="4277931" cy="2000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050" b="1" kern="0" spc="147" dirty="0">
                <a:solidFill>
                  <a:srgbClr val="9A9A9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POTENTIAL SOLUTIONS UNDER INVESTIGATION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4860578" y="3359822"/>
            <a:ext cx="2117738" cy="45719"/>
          </a:xfrm>
          <a:prstGeom prst="rect">
            <a:avLst/>
          </a:prstGeom>
          <a:solidFill>
            <a:srgbClr val="ECECEC"/>
          </a:solidFill>
          <a:ln/>
        </p:spPr>
      </p:sp>
      <p:sp>
        <p:nvSpPr>
          <p:cNvPr id="7" name="Shape 5"/>
          <p:cNvSpPr/>
          <p:nvPr/>
        </p:nvSpPr>
        <p:spPr>
          <a:xfrm>
            <a:off x="876300" y="3683672"/>
            <a:ext cx="209550" cy="209550"/>
          </a:xfrm>
          <a:prstGeom prst="ellipse">
            <a:avLst/>
          </a:prstGeom>
          <a:ln w="19050">
            <a:solidFill>
              <a:srgbClr val="B6B6B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238250" y="3655097"/>
            <a:ext cx="4607808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725" b="1" dirty="0">
                <a:solidFill>
                  <a:srgbClr val="1A1A1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Driving the PM from the sidebands</a:t>
            </a:r>
            <a:endParaRPr lang="en-US" sz="1725" dirty="0"/>
          </a:p>
        </p:txBody>
      </p:sp>
      <p:sp>
        <p:nvSpPr>
          <p:cNvPr id="9" name="Text 7"/>
          <p:cNvSpPr/>
          <p:nvPr/>
        </p:nvSpPr>
        <p:spPr>
          <a:xfrm>
            <a:off x="1238250" y="3921797"/>
            <a:ext cx="4607808" cy="266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35000"/>
              </a:lnSpc>
              <a:buNone/>
            </a:pPr>
            <a:r>
              <a:rPr lang="en-US" sz="1350" dirty="0">
                <a:solidFill>
                  <a:srgbClr val="7A7A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Derive the clock phase directly from the RF sidebands.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876300" y="4369472"/>
            <a:ext cx="209550" cy="209550"/>
          </a:xfrm>
          <a:prstGeom prst="ellipse">
            <a:avLst/>
          </a:prstGeom>
          <a:ln w="19050">
            <a:solidFill>
              <a:srgbClr val="B6B6B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238250" y="4340897"/>
            <a:ext cx="4216866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725" b="1" dirty="0">
                <a:solidFill>
                  <a:srgbClr val="1A1A1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Reference measurement</a:t>
            </a:r>
            <a:endParaRPr lang="en-US" sz="1725" dirty="0"/>
          </a:p>
        </p:txBody>
      </p:sp>
      <p:sp>
        <p:nvSpPr>
          <p:cNvPr id="12" name="Text 10"/>
          <p:cNvSpPr/>
          <p:nvPr/>
        </p:nvSpPr>
        <p:spPr>
          <a:xfrm>
            <a:off x="1238250" y="4607597"/>
            <a:ext cx="4216866" cy="266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35000"/>
              </a:lnSpc>
              <a:buNone/>
            </a:pPr>
            <a:r>
              <a:rPr lang="en-US" sz="1350" dirty="0">
                <a:solidFill>
                  <a:srgbClr val="7A7A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 dedicated channel to track the modulation tone.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876300" y="5055272"/>
            <a:ext cx="209550" cy="209550"/>
          </a:xfrm>
          <a:prstGeom prst="ellipse">
            <a:avLst/>
          </a:prstGeom>
          <a:ln w="19050">
            <a:solidFill>
              <a:srgbClr val="B6B6B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238250" y="5026697"/>
            <a:ext cx="4617794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725" b="1" dirty="0">
                <a:solidFill>
                  <a:srgbClr val="1A1A1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ADC mixing</a:t>
            </a:r>
            <a:endParaRPr lang="en-US" sz="1725" dirty="0"/>
          </a:p>
        </p:txBody>
      </p:sp>
      <p:sp>
        <p:nvSpPr>
          <p:cNvPr id="15" name="Text 13"/>
          <p:cNvSpPr/>
          <p:nvPr/>
        </p:nvSpPr>
        <p:spPr>
          <a:xfrm>
            <a:off x="1238250" y="5293397"/>
            <a:ext cx="4617794" cy="266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35000"/>
              </a:lnSpc>
              <a:buNone/>
            </a:pPr>
            <a:r>
              <a:rPr lang="en-US" sz="1350" dirty="0">
                <a:solidFill>
                  <a:srgbClr val="7A7A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Down-mix the GHz tone inside the ADC.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876300" y="5741072"/>
            <a:ext cx="209550" cy="209550"/>
          </a:xfrm>
          <a:prstGeom prst="ellipse">
            <a:avLst/>
          </a:prstGeom>
          <a:ln w="19050">
            <a:solidFill>
              <a:srgbClr val="B6B6B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238250" y="5712497"/>
            <a:ext cx="4236839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725" b="1" dirty="0">
                <a:solidFill>
                  <a:srgbClr val="1A1A1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Aliasing</a:t>
            </a:r>
            <a:endParaRPr lang="en-US" sz="1725" dirty="0"/>
          </a:p>
        </p:txBody>
      </p:sp>
      <p:sp>
        <p:nvSpPr>
          <p:cNvPr id="18" name="Text 16"/>
          <p:cNvSpPr/>
          <p:nvPr/>
        </p:nvSpPr>
        <p:spPr>
          <a:xfrm>
            <a:off x="1238250" y="5979197"/>
            <a:ext cx="4236839" cy="266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35000"/>
              </a:lnSpc>
              <a:buNone/>
            </a:pPr>
            <a:r>
              <a:rPr lang="en-US" sz="1350" dirty="0">
                <a:solidFill>
                  <a:srgbClr val="7A7A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Controlled aliasing of a MHz signal.</a:t>
            </a:r>
            <a:endParaRPr lang="en-US" sz="1350" dirty="0"/>
          </a:p>
        </p:txBody>
      </p:sp>
      <p:pic>
        <p:nvPicPr>
          <p:cNvPr id="22" name="Image 0" descr="preencoded.png"/>
          <p:cNvPicPr>
            <a:picLocks noChangeAspect="1"/>
          </p:cNvPicPr>
          <p:nvPr/>
        </p:nvPicPr>
        <p:blipFill>
          <a:blip r:embed="rId3"/>
          <a:srcRect l="-3" r="-3"/>
          <a:stretch/>
        </p:blipFill>
        <p:spPr>
          <a:xfrm>
            <a:off x="6716498" y="2955943"/>
            <a:ext cx="10856413" cy="3919223"/>
          </a:xfrm>
          <a:prstGeom prst="rect">
            <a:avLst/>
          </a:prstGeom>
        </p:spPr>
      </p:pic>
      <p:sp>
        <p:nvSpPr>
          <p:cNvPr id="23" name="Text 20"/>
          <p:cNvSpPr/>
          <p:nvPr/>
        </p:nvSpPr>
        <p:spPr>
          <a:xfrm>
            <a:off x="8170784" y="6901030"/>
            <a:ext cx="7947839" cy="2000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ctr">
              <a:buNone/>
            </a:pPr>
            <a:r>
              <a:rPr lang="en-US" sz="1200" dirty="0">
                <a:solidFill>
                  <a:srgbClr val="A0A0A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GHz modulation measurement scheme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876300" y="9505950"/>
            <a:ext cx="16535400" cy="9525"/>
          </a:xfrm>
          <a:prstGeom prst="rect">
            <a:avLst/>
          </a:prstGeom>
          <a:solidFill>
            <a:srgbClr val="ECECEC"/>
          </a:solidFill>
          <a:ln/>
        </p:spPr>
      </p:sp>
      <p:sp>
        <p:nvSpPr>
          <p:cNvPr id="25" name="Text 22"/>
          <p:cNvSpPr/>
          <p:nvPr/>
        </p:nvSpPr>
        <p:spPr>
          <a:xfrm>
            <a:off x="876300" y="9667875"/>
            <a:ext cx="2633127" cy="2000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125" kern="0" spc="34" dirty="0">
                <a:solidFill>
                  <a:srgbClr val="A6A6A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16th International LISA Symposium</a:t>
            </a:r>
            <a:endParaRPr lang="en-US" sz="1125" dirty="0"/>
          </a:p>
        </p:txBody>
      </p:sp>
      <p:sp>
        <p:nvSpPr>
          <p:cNvPr id="26" name="Text 23"/>
          <p:cNvSpPr/>
          <p:nvPr/>
        </p:nvSpPr>
        <p:spPr>
          <a:xfrm>
            <a:off x="15799594" y="9667875"/>
            <a:ext cx="1773317" cy="2000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125" kern="0" spc="34" dirty="0">
                <a:solidFill>
                  <a:srgbClr val="A6A6A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23 June 2026 · 15 / 16</a:t>
            </a:r>
            <a:endParaRPr lang="en-US" sz="1125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76300" y="571500"/>
            <a:ext cx="18188940" cy="2095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125" b="1" kern="0" spc="225" dirty="0">
                <a:solidFill>
                  <a:srgbClr val="9A9A9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SUMMARY</a:t>
            </a:r>
            <a:endParaRPr lang="en-US" sz="1125" dirty="0"/>
          </a:p>
        </p:txBody>
      </p:sp>
      <p:sp>
        <p:nvSpPr>
          <p:cNvPr id="3" name="Text 1"/>
          <p:cNvSpPr/>
          <p:nvPr/>
        </p:nvSpPr>
        <p:spPr>
          <a:xfrm>
            <a:off x="876300" y="847725"/>
            <a:ext cx="18188940" cy="4857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450" b="1" kern="0" spc="-52" dirty="0">
                <a:solidFill>
                  <a:srgbClr val="141414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Conclusions &amp; Next Steps</a:t>
            </a:r>
            <a:endParaRPr lang="en-US" sz="3450" dirty="0"/>
          </a:p>
        </p:txBody>
      </p:sp>
      <p:sp>
        <p:nvSpPr>
          <p:cNvPr id="4" name="Text 2"/>
          <p:cNvSpPr/>
          <p:nvPr/>
        </p:nvSpPr>
        <p:spPr>
          <a:xfrm>
            <a:off x="876300" y="1562100"/>
            <a:ext cx="7557715" cy="2000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buNone/>
            </a:pPr>
            <a:r>
              <a:rPr lang="en-US" sz="1400" b="1" kern="0" spc="147" dirty="0">
                <a:solidFill>
                  <a:srgbClr val="9A9A9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DEMONSTRATED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876300" y="2029827"/>
            <a:ext cx="247650" cy="247650"/>
          </a:xfrm>
          <a:prstGeom prst="ellipse">
            <a:avLst/>
          </a:prstGeom>
          <a:solidFill>
            <a:srgbClr val="141414"/>
          </a:solidFill>
          <a:ln/>
        </p:spPr>
      </p:sp>
      <p:sp>
        <p:nvSpPr>
          <p:cNvPr id="6" name="Text 4"/>
          <p:cNvSpPr/>
          <p:nvPr/>
        </p:nvSpPr>
        <p:spPr>
          <a:xfrm>
            <a:off x="838200" y="2029827"/>
            <a:ext cx="323850" cy="285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125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✓</a:t>
            </a:r>
            <a:endParaRPr lang="en-US" sz="1125" dirty="0"/>
          </a:p>
        </p:txBody>
      </p:sp>
      <p:sp>
        <p:nvSpPr>
          <p:cNvPr id="7" name="Text 5"/>
          <p:cNvSpPr/>
          <p:nvPr/>
        </p:nvSpPr>
        <p:spPr>
          <a:xfrm>
            <a:off x="1276349" y="1914525"/>
            <a:ext cx="5318967" cy="342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lnSpc>
                <a:spcPct val="135000"/>
              </a:lnSpc>
              <a:buNone/>
            </a:pPr>
            <a:r>
              <a:rPr lang="en-US" sz="2000" dirty="0">
                <a:solidFill>
                  <a:srgbClr val="20202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Delay line — working, below requirement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876300" y="2525127"/>
            <a:ext cx="247650" cy="247650"/>
          </a:xfrm>
          <a:prstGeom prst="ellipse">
            <a:avLst/>
          </a:prstGeom>
          <a:solidFill>
            <a:srgbClr val="141414"/>
          </a:solidFill>
          <a:ln/>
        </p:spPr>
      </p:sp>
      <p:sp>
        <p:nvSpPr>
          <p:cNvPr id="9" name="Text 7"/>
          <p:cNvSpPr/>
          <p:nvPr/>
        </p:nvSpPr>
        <p:spPr>
          <a:xfrm>
            <a:off x="838200" y="2525127"/>
            <a:ext cx="323850" cy="285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125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✓</a:t>
            </a:r>
            <a:endParaRPr lang="en-US" sz="1125" dirty="0"/>
          </a:p>
        </p:txBody>
      </p:sp>
      <p:sp>
        <p:nvSpPr>
          <p:cNvPr id="10" name="Text 8"/>
          <p:cNvSpPr/>
          <p:nvPr/>
        </p:nvSpPr>
        <p:spPr>
          <a:xfrm>
            <a:off x="1276349" y="2409825"/>
            <a:ext cx="5618745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lnSpc>
                <a:spcPct val="135000"/>
              </a:lnSpc>
              <a:buNone/>
            </a:pPr>
            <a:r>
              <a:rPr lang="en-US" sz="2000" dirty="0">
                <a:solidFill>
                  <a:srgbClr val="20202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PLL lock demonstrated with free-running lasers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876300" y="3020427"/>
            <a:ext cx="247650" cy="247650"/>
          </a:xfrm>
          <a:prstGeom prst="ellipse">
            <a:avLst/>
          </a:prstGeom>
          <a:solidFill>
            <a:srgbClr val="141414"/>
          </a:solidFill>
          <a:ln/>
        </p:spPr>
      </p:sp>
      <p:sp>
        <p:nvSpPr>
          <p:cNvPr id="12" name="Text 10"/>
          <p:cNvSpPr/>
          <p:nvPr/>
        </p:nvSpPr>
        <p:spPr>
          <a:xfrm>
            <a:off x="838200" y="3020427"/>
            <a:ext cx="323850" cy="285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125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✓</a:t>
            </a:r>
            <a:endParaRPr lang="en-US" sz="1125" dirty="0"/>
          </a:p>
        </p:txBody>
      </p:sp>
      <p:sp>
        <p:nvSpPr>
          <p:cNvPr id="13" name="Text 11"/>
          <p:cNvSpPr/>
          <p:nvPr/>
        </p:nvSpPr>
        <p:spPr>
          <a:xfrm>
            <a:off x="1276349" y="2905125"/>
            <a:ext cx="4534399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lnSpc>
                <a:spcPct val="135000"/>
              </a:lnSpc>
              <a:buNone/>
            </a:pPr>
            <a:r>
              <a:rPr lang="en-US" sz="2000" dirty="0">
                <a:solidFill>
                  <a:srgbClr val="20202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Gravitational wave recovery with TDI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8280350" y="1562100"/>
            <a:ext cx="9525" cy="7458075"/>
          </a:xfrm>
          <a:prstGeom prst="rect">
            <a:avLst/>
          </a:prstGeom>
          <a:solidFill>
            <a:srgbClr val="ECECEC"/>
          </a:solidFill>
          <a:ln/>
        </p:spPr>
      </p:sp>
      <p:sp>
        <p:nvSpPr>
          <p:cNvPr id="15" name="Text 13"/>
          <p:cNvSpPr/>
          <p:nvPr/>
        </p:nvSpPr>
        <p:spPr>
          <a:xfrm>
            <a:off x="8823275" y="1562100"/>
            <a:ext cx="9447267" cy="2000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buNone/>
            </a:pPr>
            <a:r>
              <a:rPr lang="en-US" sz="1400" b="1" kern="0" spc="147" dirty="0">
                <a:solidFill>
                  <a:srgbClr val="9A9A9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IN PROGRESS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8823275" y="2029827"/>
            <a:ext cx="247650" cy="247650"/>
          </a:xfrm>
          <a:prstGeom prst="ellipse">
            <a:avLst/>
          </a:prstGeom>
          <a:ln w="19050">
            <a:solidFill>
              <a:srgbClr val="B6B6B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223325" y="1914524"/>
            <a:ext cx="5474753" cy="42862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lnSpc>
                <a:spcPct val="135000"/>
              </a:lnSpc>
              <a:buNone/>
            </a:pPr>
            <a:r>
              <a:rPr lang="en-US" sz="2000" dirty="0">
                <a:solidFill>
                  <a:srgbClr val="40404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Assembling the optical layout and cavities</a:t>
            </a:r>
            <a:endParaRPr lang="en-US" sz="2000" dirty="0"/>
          </a:p>
        </p:txBody>
      </p:sp>
      <p:sp>
        <p:nvSpPr>
          <p:cNvPr id="18" name="Shape 16"/>
          <p:cNvSpPr/>
          <p:nvPr/>
        </p:nvSpPr>
        <p:spPr>
          <a:xfrm>
            <a:off x="8823275" y="2506077"/>
            <a:ext cx="247650" cy="247650"/>
          </a:xfrm>
          <a:prstGeom prst="ellipse">
            <a:avLst/>
          </a:prstGeom>
          <a:ln w="19050">
            <a:solidFill>
              <a:srgbClr val="B6B6B6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223325" y="2390775"/>
            <a:ext cx="5474752" cy="342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lnSpc>
                <a:spcPct val="135000"/>
              </a:lnSpc>
              <a:buNone/>
            </a:pPr>
            <a:r>
              <a:rPr lang="en-US" sz="2000" dirty="0">
                <a:solidFill>
                  <a:srgbClr val="40404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GHz sideband chain — under investigation</a:t>
            </a:r>
            <a:endParaRPr lang="en-US" sz="2000" dirty="0"/>
          </a:p>
        </p:txBody>
      </p:sp>
      <p:sp>
        <p:nvSpPr>
          <p:cNvPr id="20" name="Shape 18"/>
          <p:cNvSpPr/>
          <p:nvPr/>
        </p:nvSpPr>
        <p:spPr>
          <a:xfrm>
            <a:off x="8823275" y="2982327"/>
            <a:ext cx="247650" cy="247650"/>
          </a:xfrm>
          <a:prstGeom prst="ellipse">
            <a:avLst/>
          </a:prstGeom>
          <a:ln w="19050">
            <a:solidFill>
              <a:srgbClr val="B6B6B6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223324" y="2867025"/>
            <a:ext cx="4521749" cy="4286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lnSpc>
                <a:spcPct val="135000"/>
              </a:lnSpc>
              <a:buNone/>
            </a:pPr>
            <a:r>
              <a:rPr lang="en-US" sz="2000" dirty="0">
                <a:solidFill>
                  <a:srgbClr val="40404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Delay-board clock-noise removal</a:t>
            </a:r>
            <a:endParaRPr lang="en-US" sz="2000" dirty="0"/>
          </a:p>
        </p:txBody>
      </p:sp>
      <p:sp>
        <p:nvSpPr>
          <p:cNvPr id="22" name="Shape 20"/>
          <p:cNvSpPr/>
          <p:nvPr/>
        </p:nvSpPr>
        <p:spPr>
          <a:xfrm>
            <a:off x="8823275" y="3458577"/>
            <a:ext cx="247650" cy="247650"/>
          </a:xfrm>
          <a:prstGeom prst="ellipse">
            <a:avLst/>
          </a:prstGeom>
          <a:ln w="19050">
            <a:solidFill>
              <a:srgbClr val="B6B6B6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223325" y="3343275"/>
            <a:ext cx="4521748" cy="4953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lnSpc>
                <a:spcPct val="135000"/>
              </a:lnSpc>
              <a:buNone/>
            </a:pPr>
            <a:r>
              <a:rPr lang="en-US" sz="2000" dirty="0">
                <a:solidFill>
                  <a:srgbClr val="40404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Full TDI and clock-noise removal</a:t>
            </a:r>
            <a:endParaRPr lang="en-US" sz="2000" dirty="0"/>
          </a:p>
        </p:txBody>
      </p:sp>
      <p:sp>
        <p:nvSpPr>
          <p:cNvPr id="24" name="Shape 22"/>
          <p:cNvSpPr/>
          <p:nvPr/>
        </p:nvSpPr>
        <p:spPr>
          <a:xfrm>
            <a:off x="876300" y="9210675"/>
            <a:ext cx="16535400" cy="9525"/>
          </a:xfrm>
          <a:prstGeom prst="rect">
            <a:avLst/>
          </a:prstGeom>
          <a:solidFill>
            <a:srgbClr val="ECECEC"/>
          </a:solidFill>
          <a:ln/>
        </p:spPr>
      </p:sp>
      <p:sp>
        <p:nvSpPr>
          <p:cNvPr id="25" name="Text 23"/>
          <p:cNvSpPr/>
          <p:nvPr/>
        </p:nvSpPr>
        <p:spPr>
          <a:xfrm>
            <a:off x="876300" y="9477375"/>
            <a:ext cx="3428434" cy="3905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2250" b="1" kern="0" spc="-22" dirty="0">
                <a:solidFill>
                  <a:srgbClr val="141414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Thank you for listening!</a:t>
            </a:r>
            <a:endParaRPr lang="en-US" sz="2250" dirty="0"/>
          </a:p>
        </p:txBody>
      </p:sp>
      <p:pic>
        <p:nvPicPr>
          <p:cNvPr id="26" name="Image 0" descr="preencoded.png"/>
          <p:cNvPicPr>
            <a:picLocks noChangeAspect="1"/>
          </p:cNvPicPr>
          <p:nvPr/>
        </p:nvPicPr>
        <p:blipFill>
          <a:blip r:embed="rId3"/>
          <a:srcRect t="-4" b="-4"/>
          <a:stretch/>
        </p:blipFill>
        <p:spPr>
          <a:xfrm>
            <a:off x="13399294" y="9458325"/>
            <a:ext cx="1608534" cy="361950"/>
          </a:xfrm>
          <a:prstGeom prst="rect">
            <a:avLst/>
          </a:prstGeom>
        </p:spPr>
      </p:pic>
      <p:pic>
        <p:nvPicPr>
          <p:cNvPr id="27" name="Image 1" descr="preencoded.png"/>
          <p:cNvPicPr>
            <a:picLocks noChangeAspect="1"/>
          </p:cNvPicPr>
          <p:nvPr/>
        </p:nvPicPr>
        <p:blipFill>
          <a:blip r:embed="rId4"/>
          <a:srcRect t="-5" b="-5"/>
          <a:stretch/>
        </p:blipFill>
        <p:spPr>
          <a:xfrm>
            <a:off x="15312628" y="9448800"/>
            <a:ext cx="1319361" cy="381000"/>
          </a:xfrm>
          <a:prstGeom prst="rect">
            <a:avLst/>
          </a:prstGeom>
        </p:spPr>
      </p:pic>
      <p:sp>
        <p:nvSpPr>
          <p:cNvPr id="28" name="Text 24"/>
          <p:cNvSpPr/>
          <p:nvPr/>
        </p:nvSpPr>
        <p:spPr>
          <a:xfrm>
            <a:off x="16936789" y="9558338"/>
            <a:ext cx="551111" cy="2000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125" kern="0" spc="34" dirty="0">
                <a:solidFill>
                  <a:srgbClr val="A6A6A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16 / 16</a:t>
            </a:r>
            <a:endParaRPr lang="en-US" sz="1125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714</Words>
  <Application>Microsoft Macintosh PowerPoint</Application>
  <PresentationFormat>Custom</PresentationFormat>
  <Paragraphs>156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Helvetica Neue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user</cp:lastModifiedBy>
  <cp:revision>16</cp:revision>
  <dcterms:created xsi:type="dcterms:W3CDTF">2026-06-21T16:48:27Z</dcterms:created>
  <dcterms:modified xsi:type="dcterms:W3CDTF">2026-08-20T12:18:38Z</dcterms:modified>
</cp:coreProperties>
</file>